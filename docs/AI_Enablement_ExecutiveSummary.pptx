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0F0"/>
          </a:solidFill>
          <a:ln w="12700">
            <a:solidFill>
              <a:srgbClr val="006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4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EXECUTIVE BRIEFING  ·  2026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Enablement</a:t>
            </a:r>
            <a:endParaRPr lang="en-US" sz="4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Governance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48640" y="2176272"/>
            <a:ext cx="128016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04288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program to make AI a core engineering capability — with the discipline, tooling, and guardrails to sustain it at scale.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127248"/>
            <a:ext cx="1389888" cy="1481328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127248"/>
            <a:ext cx="1389888" cy="50292"/>
          </a:xfrm>
          <a:prstGeom prst="rect">
            <a:avLst/>
          </a:prstGeom>
          <a:solidFill>
            <a:srgbClr val="0060F0"/>
          </a:solidFill>
          <a:ln w="12700">
            <a:solidFill>
              <a:srgbClr val="006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236976"/>
            <a:ext cx="329184" cy="329184"/>
          </a:xfrm>
          <a:prstGeom prst="ellipse">
            <a:avLst/>
          </a:prstGeom>
          <a:solidFill>
            <a:srgbClr val="071017"/>
          </a:solidFill>
          <a:ln w="12700">
            <a:solidFill>
              <a:srgbClr val="0060F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3300984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325526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3630168"/>
            <a:ext cx="12070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every engineer to work effectively with AI — building fluency, not just awareness.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2084832" y="3127248"/>
            <a:ext cx="1389888" cy="1481328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084832" y="3127248"/>
            <a:ext cx="1389888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176272" y="3236976"/>
            <a:ext cx="329184" cy="329184"/>
          </a:xfrm>
          <a:prstGeom prst="ellipse">
            <a:avLst/>
          </a:prstGeom>
          <a:solidFill>
            <a:srgbClr val="071017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3300984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60320" y="325526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176272" y="3630168"/>
            <a:ext cx="12070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templates and ICEA standards that embed AI-ready intent into every work item.</a:t>
            </a:r>
            <a:endParaRPr lang="en-US" sz="780" dirty="0"/>
          </a:p>
        </p:txBody>
      </p:sp>
      <p:sp>
        <p:nvSpPr>
          <p:cNvPr id="19" name="Shape 15"/>
          <p:cNvSpPr/>
          <p:nvPr/>
        </p:nvSpPr>
        <p:spPr>
          <a:xfrm>
            <a:off x="3621024" y="3127248"/>
            <a:ext cx="1389888" cy="1481328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621024" y="3127248"/>
            <a:ext cx="1389888" cy="5029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712464" y="3236976"/>
            <a:ext cx="329184" cy="329184"/>
          </a:xfrm>
          <a:prstGeom prst="ellipse">
            <a:avLst/>
          </a:prstGeom>
          <a:solidFill>
            <a:srgbClr val="071017"/>
          </a:solidFill>
          <a:ln w="12700">
            <a:solidFill>
              <a:srgbClr val="7B5EA7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472" y="3300984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096512" y="325526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Tooling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3712464" y="3630168"/>
            <a:ext cx="12070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Claude Code plugin that automates review, memory, and quality metrics directly in the IDE.</a:t>
            </a:r>
            <a:endParaRPr lang="en-US" sz="780" dirty="0"/>
          </a:p>
        </p:txBody>
      </p:sp>
      <p:sp>
        <p:nvSpPr>
          <p:cNvPr id="25" name="Shape 20"/>
          <p:cNvSpPr/>
          <p:nvPr/>
        </p:nvSpPr>
        <p:spPr>
          <a:xfrm>
            <a:off x="5230368" y="457200"/>
            <a:ext cx="3675888" cy="4315968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230368" y="457200"/>
            <a:ext cx="3675888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394960" y="5943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Guardrails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5394960" y="1115568"/>
            <a:ext cx="310896" cy="310896"/>
          </a:xfrm>
          <a:prstGeom prst="ellipse">
            <a:avLst/>
          </a:prstGeom>
          <a:solidFill>
            <a:srgbClr val="071017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968" y="1170432"/>
            <a:ext cx="182880" cy="1828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788152" y="110642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ICEA Compliance Standard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5788152" y="1325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 item must meet the ICEA spec before AI generation. Compliance rate tracked per sprint via live ADO data.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5394960" y="1883664"/>
            <a:ext cx="310896" cy="310896"/>
          </a:xfrm>
          <a:prstGeom prst="ellipse">
            <a:avLst/>
          </a:prstGeom>
          <a:solidFill>
            <a:srgbClr val="071017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968" y="1938528"/>
            <a:ext cx="182880" cy="18288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788152" y="187452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Quality Gates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5788152" y="209397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code review flags new defects before merge. PR rejection rate monitored as a leading quality indicator.</a:t>
            </a:r>
            <a:endParaRPr lang="en-US" sz="800" dirty="0"/>
          </a:p>
        </p:txBody>
      </p:sp>
      <p:sp>
        <p:nvSpPr>
          <p:cNvPr id="36" name="Shape 29"/>
          <p:cNvSpPr/>
          <p:nvPr/>
        </p:nvSpPr>
        <p:spPr>
          <a:xfrm>
            <a:off x="5394960" y="2651760"/>
            <a:ext cx="310896" cy="310896"/>
          </a:xfrm>
          <a:prstGeom prst="ellipse">
            <a:avLst/>
          </a:prstGeom>
          <a:solidFill>
            <a:srgbClr val="071017"/>
          </a:solidFill>
          <a:ln w="12700">
            <a:solidFill>
              <a:srgbClr val="1A6FFF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8968" y="2706624"/>
            <a:ext cx="182880" cy="18288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788152" y="264261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 Accountability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5788152" y="286207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AI-generated output is traceable to a spec and an owner. Dream memory ensures context is retained, not reinvented.</a:t>
            </a:r>
            <a:endParaRPr lang="en-US" sz="800" dirty="0"/>
          </a:p>
        </p:txBody>
      </p:sp>
      <p:sp>
        <p:nvSpPr>
          <p:cNvPr id="40" name="Shape 32"/>
          <p:cNvSpPr/>
          <p:nvPr/>
        </p:nvSpPr>
        <p:spPr>
          <a:xfrm>
            <a:off x="5394960" y="3419856"/>
            <a:ext cx="310896" cy="310896"/>
          </a:xfrm>
          <a:prstGeom prst="ellipse">
            <a:avLst/>
          </a:prstGeom>
          <a:solidFill>
            <a:srgbClr val="071017"/>
          </a:solidFill>
          <a:ln w="12700">
            <a:solidFill>
              <a:srgbClr val="7B5EA7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8968" y="3474720"/>
            <a:ext cx="182880" cy="18288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5788152" y="341071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ROI Measurement</a:t>
            </a:r>
            <a:endParaRPr lang="en-US" sz="1000" dirty="0"/>
          </a:p>
        </p:txBody>
      </p:sp>
      <p:sp>
        <p:nvSpPr>
          <p:cNvPr id="43" name="Text 34"/>
          <p:cNvSpPr/>
          <p:nvPr/>
        </p:nvSpPr>
        <p:spPr>
          <a:xfrm>
            <a:off x="5788152" y="36301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hours, compliance rate, and PR rejections measured against baseline — quantified from ADO, not estimated.</a:t>
            </a:r>
            <a:endParaRPr lang="en-US" sz="800" dirty="0"/>
          </a:p>
        </p:txBody>
      </p:sp>
      <p:sp>
        <p:nvSpPr>
          <p:cNvPr id="44" name="Shape 3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71017"/>
          </a:solidFill>
          <a:ln w="12700">
            <a:solidFill>
              <a:srgbClr val="071017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548640" y="4892040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00" kern="0" dirty="0">
                <a:solidFill>
                  <a:srgbClr val="4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03   ·   NEXT: How we trained the team and built the tooling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0060F0"/>
          </a:solidFill>
          <a:ln w="12700">
            <a:solidFill>
              <a:srgbClr val="006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006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· AI ENABLEMENT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the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AI-Ready Team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892808"/>
            <a:ext cx="109728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training and spec templates that turn AI capability into measurable team output.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1325880" cy="86868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2816352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6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21208" y="3200400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Sessions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965960" y="2788920"/>
            <a:ext cx="1325880" cy="86868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29968" y="2816352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6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29968" y="3200400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Coverage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474720" y="2788920"/>
            <a:ext cx="1325880" cy="86868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38728" y="2816352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6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38728" y="3200400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Spec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Standard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57200" y="37947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Operationalized through the ai-assisted-development plugin  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74920" y="411480"/>
            <a:ext cx="3840480" cy="443484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74920" y="411480"/>
            <a:ext cx="3840480" cy="54864"/>
          </a:xfrm>
          <a:prstGeom prst="rect">
            <a:avLst/>
          </a:prstGeom>
          <a:solidFill>
            <a:srgbClr val="0060F0"/>
          </a:solidFill>
          <a:ln w="12700">
            <a:solidFill>
              <a:srgbClr val="0060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5486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Was Built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57800" y="1060704"/>
            <a:ext cx="347472" cy="347472"/>
          </a:xfrm>
          <a:prstGeom prst="ellipse">
            <a:avLst/>
          </a:prstGeom>
          <a:solidFill>
            <a:srgbClr val="0060F0"/>
          </a:solidFill>
          <a:ln w="12700">
            <a:solidFill>
              <a:srgbClr val="0060F0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08" y="1115568"/>
            <a:ext cx="219456" cy="21945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687568" y="104241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Multi-Session AI Training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687568" y="128930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sessions covering AI workflows, prompt engineering, and tool adoption across the platform team.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257800" y="1847088"/>
            <a:ext cx="347472" cy="347472"/>
          </a:xfrm>
          <a:prstGeom prst="ellipse">
            <a:avLst/>
          </a:prstGeom>
          <a:solidFill>
            <a:srgbClr val="0060F0"/>
          </a:solidFill>
          <a:ln w="12700">
            <a:solidFill>
              <a:srgbClr val="0060F0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1901952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687568" y="18288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Template Framework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5687568" y="207568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templates ensuring clear intent, consistent structure, and AI-ready inputs on every work item.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5257800" y="2633472"/>
            <a:ext cx="347472" cy="347472"/>
          </a:xfrm>
          <a:prstGeom prst="ellipse">
            <a:avLst/>
          </a:prstGeom>
          <a:solidFill>
            <a:srgbClr val="0060F0"/>
          </a:solidFill>
          <a:ln w="12700">
            <a:solidFill>
              <a:srgbClr val="0060F0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2688336"/>
            <a:ext cx="219456" cy="21945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687568" y="261518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Accelerated AI Adoption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5687568" y="286207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is now equipped to write specs that drive better AI output — reducing rework and improving PR quality.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5257800" y="3419856"/>
            <a:ext cx="347472" cy="347472"/>
          </a:xfrm>
          <a:prstGeom prst="ellipse">
            <a:avLst/>
          </a:prstGeom>
          <a:solidFill>
            <a:srgbClr val="0060F0"/>
          </a:solidFill>
          <a:ln w="12700">
            <a:solidFill>
              <a:srgbClr val="0060F0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3474720"/>
            <a:ext cx="219456" cy="21945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687568" y="340156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ROI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5687568" y="364845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ICEA compliance, PR rejection rate, and rework hours tracked from real ADO data — not estimates.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71017"/>
          </a:solidFill>
          <a:ln w="12700">
            <a:solidFill>
              <a:srgbClr val="071017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548640" y="4892040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00" kern="0" dirty="0">
                <a:solidFill>
                  <a:srgbClr val="4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03   ·   NEXT: The plugin that operationalizes everything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PLUGIN  ·  v1.5.0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ai-assisted-</a:t>
            </a:r>
            <a:endParaRPr lang="en-US" sz="38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09728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that puts governance into practice.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ICEA discipline, persistent memory, and automated review directly into every engineer's IDE workflow.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907792"/>
            <a:ext cx="2560320" cy="384048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2980944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1248" y="29260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.\install.ps1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3429000"/>
            <a:ext cx="1261872" cy="804672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" y="3447288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12064" y="3794760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1874520" y="3429000"/>
            <a:ext cx="1261872" cy="804672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929384" y="3447288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929384" y="3794760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291840" y="3429000"/>
            <a:ext cx="1261872" cy="804672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46704" y="3447288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1-click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3346704" y="3794760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5074920" y="411480"/>
            <a:ext cx="3840480" cy="443484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74920" y="411480"/>
            <a:ext cx="38404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57800" y="5486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Plugin Commands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257800" y="1051560"/>
            <a:ext cx="292608" cy="292608"/>
          </a:xfrm>
          <a:prstGeom prst="ellipse">
            <a:avLst/>
          </a:prstGeom>
          <a:solidFill>
            <a:srgbClr val="071017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1106424"/>
            <a:ext cx="164592" cy="16459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632704" y="104241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/dream  &amp;  /dream-init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5632704" y="124358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consolidation. Scores and proposes ADD/UPDATE/DELETE to project knowledge — with approval gates before writing.</a:t>
            </a:r>
            <a:endParaRPr lang="en-US" sz="780" dirty="0"/>
          </a:p>
        </p:txBody>
      </p:sp>
      <p:sp>
        <p:nvSpPr>
          <p:cNvPr id="27" name="Shape 23"/>
          <p:cNvSpPr/>
          <p:nvPr/>
        </p:nvSpPr>
        <p:spPr>
          <a:xfrm>
            <a:off x="5257800" y="1700784"/>
            <a:ext cx="292608" cy="292608"/>
          </a:xfrm>
          <a:prstGeom prst="ellipse">
            <a:avLst/>
          </a:prstGeom>
          <a:solidFill>
            <a:srgbClr val="071017"/>
          </a:solidFill>
          <a:ln w="12700">
            <a:solidFill>
              <a:srgbClr val="1A6FFF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1755648"/>
            <a:ext cx="164592" cy="16459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632704" y="16916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/code-review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5632704" y="189280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Coverity-style defect tracking with HTML + Markdown reports. New defects flagged, fixed defects auto-resolved across sprints.</a:t>
            </a:r>
            <a:endParaRPr lang="en-US" sz="780" dirty="0"/>
          </a:p>
        </p:txBody>
      </p:sp>
      <p:sp>
        <p:nvSpPr>
          <p:cNvPr id="31" name="Shape 26"/>
          <p:cNvSpPr/>
          <p:nvPr/>
        </p:nvSpPr>
        <p:spPr>
          <a:xfrm>
            <a:off x="5257800" y="2350008"/>
            <a:ext cx="292608" cy="292608"/>
          </a:xfrm>
          <a:prstGeom prst="ellipse">
            <a:avLst/>
          </a:prstGeom>
          <a:solidFill>
            <a:srgbClr val="071017"/>
          </a:solidFill>
          <a:ln w="12700">
            <a:solidFill>
              <a:srgbClr val="7B5EA7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2404872"/>
            <a:ext cx="164592" cy="16459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632704" y="234086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/security-review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5632704" y="254203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codebase security audit generating a self-contained HTML report saved to security/ in the project root.</a:t>
            </a:r>
            <a:endParaRPr lang="en-US" sz="780" dirty="0"/>
          </a:p>
        </p:txBody>
      </p:sp>
      <p:sp>
        <p:nvSpPr>
          <p:cNvPr id="35" name="Shape 29"/>
          <p:cNvSpPr/>
          <p:nvPr/>
        </p:nvSpPr>
        <p:spPr>
          <a:xfrm>
            <a:off x="5257800" y="2999232"/>
            <a:ext cx="292608" cy="292608"/>
          </a:xfrm>
          <a:prstGeom prst="ellipse">
            <a:avLst/>
          </a:prstGeom>
          <a:solidFill>
            <a:srgbClr val="071017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808" y="3054096"/>
            <a:ext cx="164592" cy="16459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632704" y="299008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/token-analysis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5632704" y="319125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token consumption across Claude Code sessions using a persistent cache — only processes new sessions on re-runs.</a:t>
            </a:r>
            <a:endParaRPr lang="en-US" sz="780" dirty="0"/>
          </a:p>
        </p:txBody>
      </p:sp>
      <p:sp>
        <p:nvSpPr>
          <p:cNvPr id="39" name="Shape 32"/>
          <p:cNvSpPr/>
          <p:nvPr/>
        </p:nvSpPr>
        <p:spPr>
          <a:xfrm>
            <a:off x="5257800" y="3648456"/>
            <a:ext cx="292608" cy="292608"/>
          </a:xfrm>
          <a:prstGeom prst="ellipse">
            <a:avLst/>
          </a:prstGeom>
          <a:solidFill>
            <a:srgbClr val="071017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1808" y="3703320"/>
            <a:ext cx="164592" cy="16459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632704" y="363931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/sprint-metrics</a:t>
            </a:r>
            <a:endParaRPr lang="en-US" sz="950" dirty="0"/>
          </a:p>
        </p:txBody>
      </p:sp>
      <p:sp>
        <p:nvSpPr>
          <p:cNvPr id="42" name="Text 34"/>
          <p:cNvSpPr/>
          <p:nvPr/>
        </p:nvSpPr>
        <p:spPr>
          <a:xfrm>
            <a:off x="5632704" y="38404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ADO live for ICEA compliance rate, PR rejection rate, and rework hours. Run post-sprint to track quality trends.</a:t>
            </a:r>
            <a:endParaRPr lang="en-US" sz="780" dirty="0"/>
          </a:p>
        </p:txBody>
      </p:sp>
      <p:sp>
        <p:nvSpPr>
          <p:cNvPr id="43" name="Shape 35"/>
          <p:cNvSpPr/>
          <p:nvPr/>
        </p:nvSpPr>
        <p:spPr>
          <a:xfrm>
            <a:off x="5257800" y="4297680"/>
            <a:ext cx="292608" cy="292608"/>
          </a:xfrm>
          <a:prstGeom prst="ellipse">
            <a:avLst/>
          </a:prstGeom>
          <a:solidFill>
            <a:srgbClr val="071017"/>
          </a:solidFill>
          <a:ln w="12700">
            <a:solidFill>
              <a:srgbClr val="1A6FFF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1808" y="4352544"/>
            <a:ext cx="164592" cy="164592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5632704" y="428853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/product-docs</a:t>
            </a:r>
            <a:endParaRPr lang="en-US" sz="950" dirty="0"/>
          </a:p>
        </p:txBody>
      </p:sp>
      <p:sp>
        <p:nvSpPr>
          <p:cNvPr id="46" name="Text 37"/>
          <p:cNvSpPr/>
          <p:nvPr/>
        </p:nvSpPr>
        <p:spPr>
          <a:xfrm>
            <a:off x="5632704" y="448970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A8B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Product Detail Document and User Guide as self-contained HTML — asks before creating each artifact.</a:t>
            </a:r>
            <a:endParaRPr lang="en-US" sz="780" dirty="0"/>
          </a:p>
        </p:txBody>
      </p:sp>
      <p:sp>
        <p:nvSpPr>
          <p:cNvPr id="47" name="Shape 38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71017"/>
          </a:solidFill>
          <a:ln w="12700">
            <a:solidFill>
              <a:srgbClr val="071017"/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548640" y="4892040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100" kern="0" dirty="0">
                <a:solidFill>
                  <a:srgbClr val="4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03   ·   AI ENABLEMENT INITIATIVE  ·  PLATFORM ENGINEERING GROUP  ·  2026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2026-06-01T05:17:18Z</dcterms:created>
  <dcterms:modified xsi:type="dcterms:W3CDTF">2026-06-01T05:17:18Z</dcterms:modified>
</cp:coreProperties>
</file>