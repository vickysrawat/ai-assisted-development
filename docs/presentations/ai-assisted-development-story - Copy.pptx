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tell you a story about a job that changed — and the job is yours. For years the deal was simple: you understood the code, you made the change, you pushed it, and you asked someone to review it. Somewhere in the last couple of years that quietly stopped being the whole job, because the AI writes the code now. So what's actually left for you? That's what this talk is about. I'll tell it in five acts, the way we really lived it — through the fifty-two decisions we made building a plugin to survive the change. Let me start with a confession.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confession — and I suspect it's yours too. This is how most of us have always worked: I understand the change, I make it, I push it, I tell the lead to review it and ping me if there's a problem. Read that line and notice how completely reasonable it sounds. I want you to sit with it for a second, because I'm about to show you why this exact sentence — the one that served us well for a decade — quietly stopped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sentence worked for years — but only because of one word we never said out loud: peer. When my reviewer was a human, they pushed back. They asked "are you sure?" They caught me heading in the wrong direction and stopped me before it cost anything. Now my peer is an AI. It's fast, it's confident — and it never hesitates, never doubts, never asks whether I actually meant what I said. So the loop still runs exactly as before: make it, push it, review it. But look at what's gone — the one node that used to check intent. Nobody is asking "are you sure?" anymore. And honestly, everything I built next was one long attempt to put that missing check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the AI is doing the typing, what is the job now? The coding got cheaper — which means the thinking got more valuable, and the thinking is now the work. There are five shifts. You wear the BA hat, turning a one-line ask into a real requirement. You understand the whole system like a solution architect, not just the file you happen to be touching. You review the AI's plan and you can say what's out of scope, and why. You stop being the coder who only looks at the impacted lines. And above all, you become the reviewer managing an agent to a result. Coder to conductor — that's the promotion. Everything that follows is what it actually takes to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thing — none of those five things are new tools. They're new responsibilities. And a responsibility with no system behind it just quietly collapses back into "someone please review the PR." So each of the five acts coming up is the machinery behind one of these: owning intent, reviewing judgment, keeping continuity, understanding the system, and proving it held. Watch them line up one to one — because at the very end, this exact mapping is how we'll close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honest version of how this got built: we did not design it up front. We took those five responsibilities, tried to actually do each one with an AI in the loop, and walked straight into a wall every single time. You can't own intent if nothing captures intent. You can't review judgment you can't see. You can't carry a decision forward if the tool forgets it by lunch. Five responsibilities, five walls, in the order we hit them. Hold onto this table — at the very end we'll read it backwards, and every wall will have a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framing before we start climbing. What we built is a plugin, not a prompt library — and that distinction is the whole game. A prompt library assists how you already work; it's a suggestion. A plugin enforces how you've agreed to work; it's a system. If your job is now to manage an AI instead of out-typing it, suggestions aren't enough — you need something that holds. Thirty-eight commands, twenty-six skills, fifty-two decisions on disk. And it did not arrive complete — it started as a single gate and kept telling us what it was still missing. Which brings us to act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one. Structure around the spec. The wall here is the simplest one and the most expensive: the AI will never ask you what you meant, so somebody has to say it first — and that somebody is now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first wall we hit. Back then the spec — if it existed at all — lived in a Slack thread, and the code lived in the pull request, and the first time anyone put the two side by side was code review, days later. By then the AI had already written confidently in whatever direction it assumed. Business logic had leaked into controllers. And nobody had actually agreed on what we were building in the first place. The expensive part was never the bugs — it was the rework. We measured it, and one decent spec written up front saved about three PRs that would otherwise have bounced. That's the number that turned "write a spec" from a nag into a business case — and it's the reason act one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go any further I owe you a definition, because I'm going to lean on this thing all talk. ICEA is four questions you answer so the AI has nothing left to guess. Intent — what are we building, and why; the one-liner from the business becomes a real goal. Context — where it lives and what constrains it: the stack, the auth, the data, the edges. Examples — you show instead of tell: given, when, then; the happy path, the error, the permission boundary. And Acceptance — a definition of done you could pass or fail without an argument. It is not a form. It's you doing the thinking. And notice each part feeds something downstream — the work item, the design, the tests, the ticket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reframe that changed everything for us. For a while people treated the ICEA step as a form the tool was making them fill in — pure friction. It isn't. It's the moment you do the part of the job that's now yours: turning a vague ask into an intent the AI can't misread. And the fascinating thing we watched happen — once developers knew a thin spec would come back and bounce their own PR, they started thinking harder up front, entirely on their own. Nobody enforced better specs. The incentive did. Now let me be honest about the floor: we wanted server-side enforcement, but the plugin never actually runs in our CI. So instead of pretending we can make bypass impossible, we make it visible. Honesty over overclaim — you'll hear me say that more than once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mechanically, act one turns into a relationship. You write the contract — Intent, Context, Examples, Acceptance. The AI is the contractor that builds against it. The word APPROVE is your signature; nothing gets built before it. And before a single file lands on disk, you see the diff and you sign again. Underneath there's a three-rung ladder — the model proposes, hooks intercept, Git and CI hold a visible floor — but the point isn't the plumbing. The point is that at every step there's a named human who owns a decision. That's the exact thing that vanished the moment the AI became the peer, and this is where we put it back. Which sets up the next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two. Trust without measurement. We had gates now — but a new problem showed up right behind them. You're told to review the AI's judgment. Fine. But how do you review judgment you can't see, from a peer you have no way to calibrate?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wall that bothered me the most. Think about when review actually happened. The ICEA review happened before any code existed. The code review happened afterwards, once the spec had already faded from everyone's memory. So the single most important comparison — does this code actually match what we agreed — had no one positioned to make it. The window was simply empty. On top of that, a generalist AI was reviewing specialist work; a security problem read through a helpful-assistant lens sails right past. And the entire feedback loop was three words: "the AI did a good job." I was being asked to extend trust with no instrument to measure it — and every task, whether it was spec drafting or a security review, hit the exact same model. That's not trust. That's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the one thing that could stand where I couldn't: the critic. I can't be in the room at the instant the AI generates code — but something can, and it can hand me a real second opinion instead of a blank diff. It fires at three moments, each one where intent and output are both fresh: on the ICEA draft, checking my intent; on the tech spec, checking my design against that intent; and on the generated code, before a single file is written. On that last gate it can actually send the work back to be redone — up to twice — before it ever reaches me. So by the time I'm reviewing, it has already survived a skeptic. And then it deliberately gets out of the way: no ledger, no bookkeeping, because its whole job is to sharpen my review, not to become another thing I have to manage.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something good reviewers do without even noticing. You read a change once as a product person — are we even building the right thing — then again as a security person, then again as the poor soul who has to maintain it in eighteen months. You switch hats. A generalist AI doesn't, unless you make it. So we split judgment on two axes: which brain is on the task, and which hat it's wearing. Same model, a completely different read when the lens changes — the security engineer notices exactly what the helpful assistant just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Taken all the way, that's thirteen lenses — the questions your best product owner, tech lead, security engineer, QA, architect, and tech writer would each ask. Nobody can hold thirteen viewpoints in their head on every single review; I certainly can't. So the plugin asks them for you and brings back what each one flagged. It's seniority, distributed — so the quality of a review stops depending on whether one particular person happened to remember the failure modes that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a second opinion is only worth something if you trust the thing giving it — so three things had to be true. One: you can see what it read. Every source file it opens, it declares first, because for a tool you're supposed to trust, opacity is poison. Two: the right brain was on the job — critical judgment routed to the stronger model, routine work to the faster one. And three: it judges risk by your domain, not by a textbook. A "medium" finding that exposes privileged client data is not medium in our world — so business context can escalate a finding, but it can never quietly downgrade one. Get those three right and the second opinion becomes something you'd actually stake your name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three. Continuity between sessions. We had good gates and a critic we could trust — and then every morning the whole thing started over from zero, because none of it survived the session that created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one concrete, because it's really an ownership problem dressed up as a memory problem. I'd approve a direction on Monday. Friday's session had no idea it ever happened, and would cheerfully recommend the opposite. My tech lead would approve a spec by email, but the plugin had already forgotten the context he was approving. Everything we decided lived inside a conversation — and conversations close. Now think about that from where you're standing: you are the one accountable for these calls. You cannot be answerable for a decision the system can't even remember you made. That's not an inconvenience — that's the floor falling out from under the whole idea of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turned out to be almost boring, and that's exactly why I trust it. We moved the source of truth off the conversation and onto disk. Your approval is a recorded state now, not a message in a thread, so closing the session resets nothing. And you drive it in plain language, from wherever you already are — you type "APPROVE ADO-1847" in Teams, on your phone, three days later, and it's actioned; "ADO-1847," "ADO #1847," or just "1847," they all resolve. You speak, in whatever channel you're in; the workflow remembers, on disk. Now — that's one kind of continuity. There's a second kind, and it's the part I'm most proud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going to pause the five acts for a moment, because this next piece deserves its own spotlight. There's a second kind of memory — not one ticket's state, but everything the team learns over time — and it turned out to be the most interesting thing we built. Here's the catch, though: memory you can't see or correct isn't an asset. It's a liability. This is Dream.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 failure first, because you've almost certainly felt it. You tell the AI on Monday: we use pnpm, we've migrated to Vitest. By Friday it's confidently suggesting npm and Jest again. Not because it got dumber — because unmanaged memory rots. It grows every single session. It starts contradicting itself: pnpm versus npm, Jest versus Vitest, both sitting there as if both are true. Stale notes pile up — "deploy to staging today," written weeks ago. And past a couple hundred lines, the model literally cannot see the bottom of the file. At that point your memory isn't neutral, it's harmful — it's feeding the AI wrong signal with total confidence. A bad memory is genuinely worse than no memory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gave memory something like sleep — and I mean that as the actual design, not a cute metaphor. Every five to eight sessions, Dream does what your brain does overnight: it keeps what proved true, prunes what's stale, and strengthens the patterns worth keeping. Six phases — it takes inventory of what's there, scores each fact's confidence, proposes changes, stops for your review, applies them in a safe order, and logs everything it did. It runs periodically, and — this matters — it never writes a single thing without showing you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whole life of a single fact, because this is the part I'm proudest of. It's born automatically — you never type "remember this." At five natural moments in your work — a plan approved, a task finished, an error fixed, an approach abandoned, an architecture decision made — the important "why" gets captured while it's still fresh. Then it has to earn its keep. Every fact carries a confidence score, and every cycle it isn't used, it loses a tenth of a point. So "deploy to staging today," written in session three, quietly fades — 0.7, 0.6, 0.5 — until it drops below the line and deletes itself around session sixteen. Nobody went hunting for it. Born automatically, retired automatically. You don't feed it and you don't weed it — it curates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part that makes it safe to trust: you are never not in control. Dream sorts every change into three tiers. Trivial things apply silently. Content changes show you a before-and-after and wait. And anything that touches your always-loaded CLAUDE.md — promoting a fact to permanent, or demoting one out of it — always stops for an explicit yes or no, no matter how high the confidence score is. Every run is written to an append-only log with its reasoning and its sources, and any run can be rolled back. That's the whole point: it's your project's memory, and you sign off on what it's allowed to remember. If you want the full mechanics, there's a nineteen-slide deep-dive deck just on Dream. Now — back to the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four. Structured knowledge of the codebase. This is the biggest act, because it's the thing your new role leans on the hardest: you cannot review a change well if you can't place it inside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two developers you already know. Same team, same bug handed to both. The first finds it in twenty minutes, fixes it cleanly, and it never comes back. The second spends two days, patches the symptom, and quietly breaks something else. Same seniority, same intelligence — so what's the difference? It isn't talent. The first developer understands the system. They carry a model of how the whole thing fits together, so a change is just a small edit to a structure they already know. The second is reading code cold, one file at a time, hoping to find the thread. Now here's the uncomfortable part, and it's the whole reason this act exists: your AI is that second developer. Fast, confident, and completely without a model of your system — unless you give it one. And honestly, so are you, the first time you open an unfamiliar codebase. This act is about turning both of you into the first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 could prove the AI was that second developer. Three months in, we ran a token analysis, and the number was ugly: it was treating every single run as a cold start, re-scanning fifty files when forty-eight of them hadn't changed in a week. Reading cold, file by file, exactly like the developer who struggles. Cache-aware scanning fixed the cost — eighty to ninety-five percent off after the first run. But the deeper lesson is the one that matters here: re-reading raw text was never going to make it, or you, the developer who understands the system. For that you need a model — not a bigger pile of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build the map once, and we keep it current. It's a knowledge graph, and it's the map the machine reads: what depends on what, which modules are the hubs, what's gone stale — traversed and searched in milliseconds, one read instead of a hundred. On disk it's three things: a lean index that's always loaded, per-module detail files that only load when you're actually working in that area, and a graph.json underneath that is the real source of truth. And every relationship carries a confidence level — extracted means a parser knows it for a fact, inferred means the model judged it, ambiguous means a human should look. So the map doesn't just tell you the shape of the system; it tells you how much to trust each line on it. This retired the old per-feature domain-map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principle underneath that graph that I care about a lot. The part a machine can know for certain — which file imports which — should be computed by a parser, not guessed by a language model. So we extract the import graph deterministically: same code in, same graph out, every time, for free, completely offline. The model's judgment is reserved only for the genuinely ambiguous relationships a parser can't resolve. Before, the graph was non-deterministic, token-expensive, and approximate — the same file could produce different edges on different runs. After, it's identical every time, free, and accurate. What a parser can know, a parser should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graph tells you what connects to what. But that's not actually the question you ask when you put on the architect hat. You ask: what is the data? Who do we depend on, and what happens when they fall over? Who's allowed to do what? And why did we build it this way in the first place? So the graph is only half the knowledge system. The other half is the architecture documents — and unlike the graph, these are written for a human to read, and they're generated from your actual application. We grew the set from four documents to eight, and the four new ones each answer a real architect's question: the data model, the integrations and how they fail, the security and authorization model, and the decision log — the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these documents worth relying on instead of rotting on a shelf. First, how they're written: the AI fills in only what the code actually proves, and everything it can't verify — an authorization rule, an SLA, a retry policy, the rationale behind a decision — it flags as "needs manual input" rather than inventing it. It never makes up the parts a human has to own. Second, they don't go stale, because they aren't decoration: they're committed and pull-request-reviewed like source, their diagrams render right inside the PR, and four different skills read them on every run — security, ICEA planning, reviews, readiness. A document that's actually consumed stays honest. And notice that decision log — the why, written down — because that is the exact principle this whole talk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detour between acts, because I keep saying the AI "behaves" — and behavior doesn't happen by accident. This one is about consistency: the AI acting the same way for every developer, every session, regardless of who's driving. Because you are not the only person managing this AI, and it cannot be allowed to drift into a different personality for each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keep it on the rails, and you don't have to police either one. The first is the always-on system prompt — CLAUDE.md, loaded every session — carrying the rules that apply everywhere: the write gate, "Dapper with parameterised SQL, never EF Core," the commit and branch format. The second is forty-three scoped rule files, each of which only wakes up when you touch a matching file: open a C# file and the .NET and data-access rules appear, open a React component and the React rules appear, and they cost nothing the rest of the time. And there's a real difference in how these bind — a prompt instructs the model, which is flexible but ultimately a suggestion; a hook intercepts the actual tool call, mechanically, and it does not negotiate. Flexible guidance everywhere, hard guardrails exactly where the risk is real. Which brings us to the final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five, the last one. Observability. And notice I did not call it enforcement — we already did enforcement, back in act one with the gate and just now with the guardrails. This act is about something else entirely. You are accountable for what ships, and "the AI said it's fine" is not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last wall, and it's the one an auditor would walk straight into. For everything we'd built, one question still had no answer: what did the AI actually do, and can you prove it was right? There was no trail of its decisions. There was no line you could draw from a requirement to the code that satisfies it. There was no evidence that what shipped matched what we agreed. And when somebody decided a finding didn't matter and waved it off, the reason went with them — just gone. So there I was, accountable for the quality of everything that shipped, with trust as my only instrument. And trust, as we'd already learned the hard way, does not survive an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started with the biggest question of all: can you prove you built what you agreed to — and only what you agreed to? Every acceptance criterion in the ICEA now maps forward: to the tasks, to the changed files, all the way down to the exact lines that implement it. The PR compliance report draws that line for you — this criterion, satisfied right here. And it works in reverse too, which is the part reviewers love: if a file changes behavior that traces back to no criterion at all, that's scope creep, and it gets flagged. So "did we build what we agreed, and nothing we didn't?" stops being a matter of opinion in a review meeting and becomes a matter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findings. Every one gets a fingerprint and a permanent home — a ledger, with one shared schema across code review, security, and dynamic scanning. A finding is Open; or Fixed, with the actual commit and author that closed it; or Dismissed, with a written reason you can go back and challenge; or Baseline — inherited debt we track but never block you on. And here's my favorite detail: a dismissal is a claim about a specific piece of code, so the instant that code changes, the finding re-opens itself. You cannot quietly bury a problem by dismissing it once. You can even see how each finding was caught — parsers first for what's provable, then model judgment for intent, then a capped architectural pass for the cross-file risks, clearly labelled as hypotheses. Full visibility into every issue, and how it surfaced.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zoom all the way out, because observability isn't only about one finding or one PR — it's about the trend. After every sprint, the numbers come straight out of Azure DevOps: how often the ICEA workflow was actually followed, how often PRs got rejected, how many hours went to rework. Health dashboards show memory confidence and decay, how stale the graph has drifted, and open findings across every ledger. So the question stops being "is this one change clean" and becomes "is the whole way we work with AI getting better, month over month" — answered with numbers instead of anecdotes. That's the last act. Let me bring it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before I land this, and it's about credibility. A tool that demands you be accountable had better be accountable itself — so the plugin turns its whole philosophy inward. Setup used to be thirty to sixty sequential AI calls before any real work even began; we collapsed it into a single deterministic bootstrap script, because what can be mechanical should be. And it refuses to overclaim: there was a point where a hidden dependency could quietly fail and still report success — that's gone now, replaced by one honest resolver that either knows the answer or tells you it doesn't. It practices exactly what it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Fifty-two decisions, and honestly a handful of lessons that outlived any single feature. Gates are incentive structures — they change what people do before anyone else has to review the work. Honesty over overclaim — never promise a floor you can't hold; make bypass visible instead of pretending it's impossible. One source of truth per concept, because duplication is the enemy. You don't grant trust, you measure it. What a parser can know, a parser should know. Friction is multiplicative across fifty sessions a month, so the small wins compound. And design for the deployment reality you actually have, not the tidy one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go back to where we started. Remember that table of five walls? Read it forward, it was a list of everything that was broken. Read it backward, and it's the whole talk. You have to own the intent — the spec gate makes that the path of least resistance. You have to review the AI's judgment — the critic gives you a real second opinion at the one moment it's possible. You have to carry decisions forward — disk state and Dream mean they survive the session. You have to understand the whole system — the graph and the architecture docs hand you the map. And you have to prove it held — traceability and the ledgers give you the evidence. Every one of those walls only became visible after we'd climbed the one before it. That's not tidy design. That's just how it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whole thing in a breath. You are not the coder anymore — the coding got cheaper, and it's not where your value lives now. You're the reviewer who manages an AI to a result: wearing the BA hat, holding the system in your head, judging the plan, owning the decisions, proving what shipped. That is a role, not a tool — and honestly it's a bigger job than the one you had. Everything we built, all fifty-two decisions on disk, exists for exactly one reason: to make that role trustworthy, so that when you sign off, you're signing off on evidence and not on faith. The decisions are all in docs/adr. The principles live in CLAUDE.md, loaded every session. And if you want to go deeper on the memory system, there's a whole deck on Dream. That's the story — from coder to conductor. Let's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A STORY IN FIVE ACTS · ALL AUDIENCES</a:t>
            </a:r>
            <a:endParaRPr lang="en-US" sz="900" dirty="0"/>
          </a:p>
        </p:txBody>
      </p:sp>
      <p:sp>
        <p:nvSpPr>
          <p:cNvPr id="3" name="Text 1"/>
          <p:cNvSpPr/>
          <p:nvPr/>
        </p:nvSpPr>
        <p:spPr>
          <a:xfrm>
            <a:off x="548640" y="868680"/>
            <a:ext cx="10972800" cy="1371600"/>
          </a:xfrm>
          <a:prstGeom prst="rect">
            <a:avLst/>
          </a:prstGeom>
          <a:noFill/>
          <a:ln/>
        </p:spPr>
        <p:txBody>
          <a:bodyPr wrap="square"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From Coder to Conductor</a:t>
            </a:r>
            <a:endParaRPr lang="en-US" sz="4800" dirty="0"/>
          </a:p>
        </p:txBody>
      </p:sp>
      <p:sp>
        <p:nvSpPr>
          <p:cNvPr id="4" name="Text 2"/>
          <p:cNvSpPr/>
          <p:nvPr/>
        </p:nvSpPr>
        <p:spPr>
          <a:xfrm>
            <a:off x="548640" y="2468880"/>
            <a:ext cx="10058400" cy="1005840"/>
          </a:xfrm>
          <a:prstGeom prst="rect">
            <a:avLst/>
          </a:prstGeom>
          <a:noFill/>
          <a:ln/>
        </p:spPr>
        <p:txBody>
          <a:bodyPr wrap="square" rtlCol="0" anchor="ctr"/>
          <a:lstStyle/>
          <a:p>
            <a:pPr indent="0" marL="0">
              <a:buNone/>
            </a:pPr>
            <a:r>
              <a:rPr lang="en-US" sz="1800" dirty="0">
                <a:solidFill>
                  <a:srgbClr val="CDD9E6"/>
                </a:solidFill>
                <a:latin typeface="Segoe UI" pitchFamily="34" charset="0"/>
                <a:ea typeface="Segoe UI" pitchFamily="34" charset="-122"/>
                <a:cs typeface="Segoe UI" pitchFamily="34" charset="-120"/>
              </a:rPr>
              <a:t>What your job becomes when the AI writes the code —</a:t>
            </a:r>
            <a:endParaRPr lang="en-US" sz="1800" dirty="0"/>
          </a:p>
          <a:p>
            <a:pPr indent="0" marL="0">
              <a:buNone/>
            </a:pPr>
            <a:r>
              <a:rPr lang="en-US" sz="1800" dirty="0">
                <a:solidFill>
                  <a:srgbClr val="CDD9E6"/>
                </a:solidFill>
                <a:latin typeface="Segoe UI" pitchFamily="34" charset="0"/>
                <a:ea typeface="Segoe UI" pitchFamily="34" charset="-122"/>
                <a:cs typeface="Segoe UI" pitchFamily="34" charset="-120"/>
              </a:rPr>
              <a:t>and the system that makes that new role trustworthy.</a:t>
            </a:r>
            <a:endParaRPr lang="en-US" sz="1800" dirty="0"/>
          </a:p>
        </p:txBody>
      </p:sp>
      <p:sp>
        <p:nvSpPr>
          <p:cNvPr id="5" name="Shape 3"/>
          <p:cNvSpPr/>
          <p:nvPr/>
        </p:nvSpPr>
        <p:spPr>
          <a:xfrm>
            <a:off x="548640" y="3749040"/>
            <a:ext cx="2514600" cy="347472"/>
          </a:xfrm>
          <a:prstGeom prst="roundRect">
            <a:avLst>
              <a:gd name="adj" fmla="val 50000"/>
            </a:avLst>
          </a:prstGeom>
          <a:solidFill>
            <a:srgbClr val="1E4870"/>
          </a:solidFill>
          <a:ln w="12700">
            <a:solidFill>
              <a:srgbClr val="4A7AAA"/>
            </a:solidFill>
            <a:prstDash val="solid"/>
          </a:ln>
        </p:spPr>
      </p:sp>
      <p:sp>
        <p:nvSpPr>
          <p:cNvPr id="6" name="Text 4"/>
          <p:cNvSpPr/>
          <p:nvPr/>
        </p:nvSpPr>
        <p:spPr>
          <a:xfrm>
            <a:off x="548640" y="3749040"/>
            <a:ext cx="2514600" cy="347472"/>
          </a:xfrm>
          <a:prstGeom prst="rect">
            <a:avLst/>
          </a:prstGeom>
          <a:noFill/>
          <a:ln/>
        </p:spPr>
        <p:txBody>
          <a:bodyPr wrap="square" rtlCol="0" anchor="ctr"/>
          <a:lstStyle/>
          <a:p>
            <a:pPr algn="ctr" indent="0" marL="0">
              <a:buNone/>
            </a:pPr>
            <a:r>
              <a:rPr lang="en-US" sz="1100" dirty="0">
                <a:solidFill>
                  <a:srgbClr val="EAF1F8"/>
                </a:solidFill>
                <a:latin typeface="Segoe UI" pitchFamily="34" charset="0"/>
                <a:ea typeface="Segoe UI" pitchFamily="34" charset="-122"/>
                <a:cs typeface="Segoe UI" pitchFamily="34" charset="-120"/>
              </a:rPr>
              <a:t>v3.9.0</a:t>
            </a:r>
            <a:endParaRPr lang="en-US" sz="1100" dirty="0"/>
          </a:p>
        </p:txBody>
      </p:sp>
      <p:sp>
        <p:nvSpPr>
          <p:cNvPr id="7" name="Shape 5"/>
          <p:cNvSpPr/>
          <p:nvPr/>
        </p:nvSpPr>
        <p:spPr>
          <a:xfrm>
            <a:off x="3200400" y="3749040"/>
            <a:ext cx="2514600" cy="347472"/>
          </a:xfrm>
          <a:prstGeom prst="roundRect">
            <a:avLst>
              <a:gd name="adj" fmla="val 50000"/>
            </a:avLst>
          </a:prstGeom>
          <a:solidFill>
            <a:srgbClr val="1E4870"/>
          </a:solidFill>
          <a:ln w="12700">
            <a:solidFill>
              <a:srgbClr val="4A7AAA"/>
            </a:solidFill>
            <a:prstDash val="solid"/>
          </a:ln>
        </p:spPr>
      </p:sp>
      <p:sp>
        <p:nvSpPr>
          <p:cNvPr id="8" name="Text 6"/>
          <p:cNvSpPr/>
          <p:nvPr/>
        </p:nvSpPr>
        <p:spPr>
          <a:xfrm>
            <a:off x="3200400" y="3749040"/>
            <a:ext cx="2514600" cy="347472"/>
          </a:xfrm>
          <a:prstGeom prst="rect">
            <a:avLst/>
          </a:prstGeom>
          <a:noFill/>
          <a:ln/>
        </p:spPr>
        <p:txBody>
          <a:bodyPr wrap="square" rtlCol="0" anchor="ctr"/>
          <a:lstStyle/>
          <a:p>
            <a:pPr algn="ctr" indent="0" marL="0">
              <a:buNone/>
            </a:pPr>
            <a:r>
              <a:rPr lang="en-US" sz="1100" dirty="0">
                <a:solidFill>
                  <a:srgbClr val="EAF1F8"/>
                </a:solidFill>
                <a:latin typeface="Segoe UI" pitchFamily="34" charset="0"/>
                <a:ea typeface="Segoe UI" pitchFamily="34" charset="-122"/>
                <a:cs typeface="Segoe UI" pitchFamily="34" charset="-120"/>
              </a:rPr>
              <a:t>52 ADRs on disk</a:t>
            </a:r>
            <a:endParaRPr lang="en-US" sz="1100" dirty="0"/>
          </a:p>
        </p:txBody>
      </p:sp>
      <p:sp>
        <p:nvSpPr>
          <p:cNvPr id="9" name="Shape 7"/>
          <p:cNvSpPr/>
          <p:nvPr/>
        </p:nvSpPr>
        <p:spPr>
          <a:xfrm>
            <a:off x="5852160" y="3749040"/>
            <a:ext cx="2514600" cy="347472"/>
          </a:xfrm>
          <a:prstGeom prst="roundRect">
            <a:avLst>
              <a:gd name="adj" fmla="val 50000"/>
            </a:avLst>
          </a:prstGeom>
          <a:solidFill>
            <a:srgbClr val="1E4870"/>
          </a:solidFill>
          <a:ln w="12700">
            <a:solidFill>
              <a:srgbClr val="4A7AAA"/>
            </a:solidFill>
            <a:prstDash val="solid"/>
          </a:ln>
        </p:spPr>
      </p:sp>
      <p:sp>
        <p:nvSpPr>
          <p:cNvPr id="10" name="Text 8"/>
          <p:cNvSpPr/>
          <p:nvPr/>
        </p:nvSpPr>
        <p:spPr>
          <a:xfrm>
            <a:off x="5852160" y="3749040"/>
            <a:ext cx="2514600" cy="347472"/>
          </a:xfrm>
          <a:prstGeom prst="rect">
            <a:avLst/>
          </a:prstGeom>
          <a:noFill/>
          <a:ln/>
        </p:spPr>
        <p:txBody>
          <a:bodyPr wrap="square" rtlCol="0" anchor="ctr"/>
          <a:lstStyle/>
          <a:p>
            <a:pPr algn="ctr" indent="0" marL="0">
              <a:buNone/>
            </a:pPr>
            <a:r>
              <a:rPr lang="en-US" sz="1100" dirty="0">
                <a:solidFill>
                  <a:srgbClr val="EAF1F8"/>
                </a:solidFill>
                <a:latin typeface="Segoe UI" pitchFamily="34" charset="0"/>
                <a:ea typeface="Segoe UI" pitchFamily="34" charset="-122"/>
                <a:cs typeface="Segoe UI" pitchFamily="34" charset="-120"/>
              </a:rPr>
              <a:t>5 acts · 5 absences</a:t>
            </a:r>
            <a:endParaRPr lang="en-US" sz="1100" dirty="0"/>
          </a:p>
        </p:txBody>
      </p:sp>
      <p:sp>
        <p:nvSpPr>
          <p:cNvPr id="11" name="Shape 9"/>
          <p:cNvSpPr/>
          <p:nvPr/>
        </p:nvSpPr>
        <p:spPr>
          <a:xfrm>
            <a:off x="8503920" y="3749040"/>
            <a:ext cx="2514600" cy="347472"/>
          </a:xfrm>
          <a:prstGeom prst="roundRect">
            <a:avLst>
              <a:gd name="adj" fmla="val 50000"/>
            </a:avLst>
          </a:prstGeom>
          <a:solidFill>
            <a:srgbClr val="1E4870"/>
          </a:solidFill>
          <a:ln w="12700">
            <a:solidFill>
              <a:srgbClr val="4A7AAA"/>
            </a:solidFill>
            <a:prstDash val="solid"/>
          </a:ln>
        </p:spPr>
      </p:sp>
      <p:sp>
        <p:nvSpPr>
          <p:cNvPr id="12" name="Text 10"/>
          <p:cNvSpPr/>
          <p:nvPr/>
        </p:nvSpPr>
        <p:spPr>
          <a:xfrm>
            <a:off x="8503920" y="3749040"/>
            <a:ext cx="2514600" cy="347472"/>
          </a:xfrm>
          <a:prstGeom prst="rect">
            <a:avLst/>
          </a:prstGeom>
          <a:noFill/>
          <a:ln/>
        </p:spPr>
        <p:txBody>
          <a:bodyPr wrap="square" rtlCol="0" anchor="ctr"/>
          <a:lstStyle/>
          <a:p>
            <a:pPr algn="ctr" indent="0" marL="0">
              <a:buNone/>
            </a:pPr>
            <a:r>
              <a:rPr lang="en-US" sz="1100" dirty="0">
                <a:solidFill>
                  <a:srgbClr val="EAF1F8"/>
                </a:solidFill>
                <a:latin typeface="Segoe UI" pitchFamily="34" charset="0"/>
                <a:ea typeface="Segoe UI" pitchFamily="34" charset="-122"/>
                <a:cs typeface="Segoe UI" pitchFamily="34" charset="-120"/>
              </a:rPr>
              <a:t>38 commands · 26 skills</a:t>
            </a:r>
            <a:endParaRPr lang="en-US" sz="1100" dirty="0"/>
          </a:p>
        </p:txBody>
      </p:sp>
      <p:sp>
        <p:nvSpPr>
          <p:cNvPr id="13" name="Text 11"/>
          <p:cNvSpPr/>
          <p:nvPr/>
        </p:nvSpPr>
        <p:spPr>
          <a:xfrm>
            <a:off x="548640" y="4343400"/>
            <a:ext cx="10972800" cy="274320"/>
          </a:xfrm>
          <a:prstGeom prst="rect">
            <a:avLst/>
          </a:prstGeom>
          <a:noFill/>
          <a:ln/>
        </p:spPr>
        <p:txBody>
          <a:bodyPr wrap="square" rtlCol="0" anchor="ctr"/>
          <a:lstStyle/>
          <a:p>
            <a:pPr indent="0" marL="0">
              <a:buNone/>
            </a:pPr>
            <a:r>
              <a:rPr lang="en-US" sz="1100" dirty="0">
                <a:solidFill>
                  <a:srgbClr val="C8A951"/>
                </a:solidFill>
                <a:latin typeface="Segoe UI" pitchFamily="34" charset="0"/>
                <a:ea typeface="Segoe UI" pitchFamily="34" charset="-122"/>
                <a:cs typeface="Segoe UI" pitchFamily="34" charset="-120"/>
              </a:rPr>
              <a:t>Act I: Spec  ·  Act II: Trust  ·  Act III: Continuity  ·  Act IV: Knowledge  ·  Act V: Observability</a:t>
            </a:r>
            <a:endParaRPr lang="en-US" sz="1100" dirty="0"/>
          </a:p>
        </p:txBody>
      </p:sp>
      <p:sp>
        <p:nvSpPr>
          <p:cNvPr id="14" name="Text 12"/>
          <p:cNvSpPr/>
          <p:nvPr/>
        </p:nvSpPr>
        <p:spPr>
          <a:xfrm>
            <a:off x="548640" y="6446520"/>
            <a:ext cx="10972800" cy="228600"/>
          </a:xfrm>
          <a:prstGeom prst="rect">
            <a:avLst/>
          </a:prstGeom>
          <a:noFill/>
          <a:ln/>
        </p:spPr>
        <p:txBody>
          <a:bodyPr wrap="square" rtlCol="0" anchor="ctr"/>
          <a:lstStyle/>
          <a:p>
            <a:pPr indent="0" marL="0">
              <a:buNone/>
            </a:pPr>
            <a:r>
              <a:rPr lang="en-US" sz="900" dirty="0">
                <a:solidFill>
                  <a:srgbClr val="7A92A8"/>
                </a:solidFill>
                <a:latin typeface="Segoe UI" pitchFamily="34" charset="0"/>
                <a:ea typeface="Segoe UI" pitchFamily="34" charset="-122"/>
                <a:cs typeface="Segoe UI" pitchFamily="34" charset="-120"/>
              </a:rPr>
              <a:t>Vivek Rawat  ·  July 2026  ·  ai-assisted-development plugin</a:t>
            </a:r>
            <a:endParaRPr lang="en-US" sz="900" dirty="0"/>
          </a:p>
        </p:txBody>
      </p:sp>
      <p:sp>
        <p:nvSpPr>
          <p:cNvPr id="15" name="Text 13"/>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 / 44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35"/>
        </a:solidFill>
      </p:bgPr>
    </p:bg>
    <p:spTree>
      <p:nvGrpSpPr>
        <p:cNvPr id="1" name=""/>
        <p:cNvGrpSpPr/>
        <p:nvPr/>
      </p:nvGrpSpPr>
      <p:grpSpPr>
        <a:xfrm>
          <a:off x="0" y="0"/>
          <a:ext cx="0" cy="0"/>
          <a:chOff x="0" y="0"/>
          <a:chExt cx="0" cy="0"/>
        </a:xfrm>
      </p:grpSpPr>
      <p:sp>
        <p:nvSpPr>
          <p:cNvPr id="2" name="Text 0"/>
          <p:cNvSpPr/>
          <p:nvPr/>
        </p:nvSpPr>
        <p:spPr>
          <a:xfrm>
            <a:off x="914400" y="2103120"/>
            <a:ext cx="10332720" cy="2194560"/>
          </a:xfrm>
          <a:prstGeom prst="rect">
            <a:avLst/>
          </a:prstGeom>
          <a:noFill/>
          <a:ln/>
        </p:spPr>
        <p:txBody>
          <a:bodyPr wrap="square" rtlCol="0" anchor="ctr"/>
          <a:lstStyle/>
          <a:p>
            <a:pPr algn="ctr" indent="0" marL="0">
              <a:buNone/>
            </a:pPr>
            <a:r>
              <a:rPr lang="en-US" sz="3000" i="1" dirty="0">
                <a:solidFill>
                  <a:srgbClr val="EEF4FB"/>
                </a:solidFill>
                <a:latin typeface="Georgia" pitchFamily="34" charset="0"/>
                <a:ea typeface="Georgia" pitchFamily="34" charset="-122"/>
                <a:cs typeface="Georgia" pitchFamily="34" charset="-120"/>
              </a:rPr>
              <a:t>“I understand the change, I make it, I push it,</a:t>
            </a:r>
            <a:endParaRPr lang="en-US" sz="3000" dirty="0"/>
          </a:p>
          <a:p>
            <a:pPr algn="ctr" indent="0" marL="0">
              <a:buNone/>
            </a:pPr>
            <a:r>
              <a:rPr lang="en-US" sz="3000" i="1" dirty="0">
                <a:solidFill>
                  <a:srgbClr val="EEF4FB"/>
                </a:solidFill>
                <a:latin typeface="Georgia" pitchFamily="34" charset="0"/>
                <a:ea typeface="Georgia" pitchFamily="34" charset="-122"/>
                <a:cs typeface="Georgia" pitchFamily="34" charset="-120"/>
              </a:rPr>
              <a:t>I tell the lead — review it, ping me if there’s a problem.”</a:t>
            </a:r>
            <a:endParaRPr lang="en-US" sz="3000" dirty="0"/>
          </a:p>
        </p:txBody>
      </p:sp>
      <p:sp>
        <p:nvSpPr>
          <p:cNvPr id="3" name="Text 1"/>
          <p:cNvSpPr/>
          <p:nvPr/>
        </p:nvSpPr>
        <p:spPr>
          <a:xfrm>
            <a:off x="914400" y="4480560"/>
            <a:ext cx="10332720" cy="365760"/>
          </a:xfrm>
          <a:prstGeom prst="rect">
            <a:avLst/>
          </a:prstGeom>
          <a:noFill/>
          <a:ln/>
        </p:spPr>
        <p:txBody>
          <a:bodyPr wrap="square" rtlCol="0" anchor="ctr"/>
          <a:lstStyle/>
          <a:p>
            <a:pPr algn="ctr" indent="0" marL="0">
              <a:buNone/>
            </a:pPr>
            <a:r>
              <a:rPr lang="en-US" sz="1300" dirty="0">
                <a:solidFill>
                  <a:srgbClr val="6B8199"/>
                </a:solidFill>
                <a:latin typeface="Segoe UI" pitchFamily="34" charset="0"/>
                <a:ea typeface="Segoe UI" pitchFamily="34" charset="-122"/>
                <a:cs typeface="Segoe UI" pitchFamily="34" charset="-120"/>
              </a:rPr>
              <a:t>— how we work today</a:t>
            </a:r>
            <a:endParaRPr lang="en-US" sz="1300" dirty="0"/>
          </a:p>
        </p:txBody>
      </p:sp>
      <p:sp>
        <p:nvSpPr>
          <p:cNvPr id="4" name="Text 2"/>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 / 44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That worked — when your peer was human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914400"/>
            <a:ext cx="11064240" cy="914400"/>
          </a:xfrm>
          <a:prstGeom prst="rect">
            <a:avLst/>
          </a:prstGeom>
          <a:noFill/>
          <a:ln/>
        </p:spPr>
        <p:txBody>
          <a:bodyPr wrap="square" rtlCol="0" anchor="ctr"/>
          <a:lstStyle/>
          <a:p>
            <a:pPr indent="0" marL="0">
              <a:buNone/>
            </a:pPr>
            <a:r>
              <a:rPr lang="en-US" sz="1500" dirty="0">
                <a:solidFill>
                  <a:srgbClr val="2D3436"/>
                </a:solidFill>
                <a:latin typeface="Segoe UI" pitchFamily="34" charset="0"/>
                <a:ea typeface="Segoe UI" pitchFamily="34" charset="-122"/>
                <a:cs typeface="Segoe UI" pitchFamily="34" charset="-120"/>
              </a:rPr>
              <a:t>A human peer pushes back. Asks “are you sure?”. Spots the wrong direction and stops you.</a:t>
            </a:r>
            <a:endParaRPr lang="en-US" sz="1500" dirty="0"/>
          </a:p>
          <a:p>
            <a:pPr indent="0" marL="0">
              <a:buNone/>
            </a:pPr>
            <a:r>
              <a:rPr lang="en-US" sz="1500" dirty="0">
                <a:solidFill>
                  <a:srgbClr val="2D3436"/>
                </a:solidFill>
                <a:latin typeface="Segoe UI" pitchFamily="34" charset="0"/>
                <a:ea typeface="Segoe UI" pitchFamily="34" charset="-122"/>
                <a:cs typeface="Segoe UI" pitchFamily="34" charset="-120"/>
              </a:rPr>
              <a:t>Your peer is now an AI that writes confidently in the wrong direction — and never hesitates.</a:t>
            </a:r>
            <a:endParaRPr lang="en-US" sz="1500" dirty="0"/>
          </a:p>
        </p:txBody>
      </p:sp>
      <p:sp>
        <p:nvSpPr>
          <p:cNvPr id="6" name="Shape 4"/>
          <p:cNvSpPr/>
          <p:nvPr/>
        </p:nvSpPr>
        <p:spPr>
          <a:xfrm>
            <a:off x="4069080" y="2560320"/>
            <a:ext cx="4023360" cy="2834640"/>
          </a:xfrm>
          <a:prstGeom prst="ellipse">
            <a:avLst/>
          </a:prstGeom>
          <a:solidFill>
            <a:srgbClr val="FFFFFF"/>
          </a:solidFill>
          <a:ln w="12700">
            <a:solidFill>
              <a:srgbClr val="DFE6E9"/>
            </a:solidFill>
            <a:prstDash val="solid"/>
          </a:ln>
        </p:spPr>
      </p:sp>
      <p:sp>
        <p:nvSpPr>
          <p:cNvPr id="7" name="Shape 5"/>
          <p:cNvSpPr/>
          <p:nvPr/>
        </p:nvSpPr>
        <p:spPr>
          <a:xfrm>
            <a:off x="2971800" y="3291840"/>
            <a:ext cx="1645920" cy="731520"/>
          </a:xfrm>
          <a:prstGeom prst="roundRect">
            <a:avLst>
              <a:gd name="adj" fmla="val 12500"/>
            </a:avLst>
          </a:prstGeom>
          <a:solidFill>
            <a:srgbClr val="EAF4FF"/>
          </a:solidFill>
          <a:ln w="12700">
            <a:solidFill>
              <a:srgbClr val="74B9FF"/>
            </a:solidFill>
            <a:prstDash val="solid"/>
          </a:ln>
        </p:spPr>
      </p:sp>
      <p:sp>
        <p:nvSpPr>
          <p:cNvPr id="8" name="Text 6"/>
          <p:cNvSpPr/>
          <p:nvPr/>
        </p:nvSpPr>
        <p:spPr>
          <a:xfrm>
            <a:off x="2971800" y="3291840"/>
            <a:ext cx="1645920" cy="731520"/>
          </a:xfrm>
          <a:prstGeom prst="rect">
            <a:avLst/>
          </a:prstGeom>
          <a:noFill/>
          <a:ln/>
        </p:spPr>
        <p:txBody>
          <a:bodyPr wrap="square" rtlCol="0" anchor="ctr"/>
          <a:lstStyle/>
          <a:p>
            <a:pPr algn="ctr" indent="0" marL="0">
              <a:buNone/>
            </a:pPr>
            <a:r>
              <a:rPr lang="en-US" sz="1000" b="1" dirty="0">
                <a:solidFill>
                  <a:srgbClr val="1A3A5C"/>
                </a:solidFill>
                <a:latin typeface="Segoe UI" pitchFamily="34" charset="0"/>
                <a:ea typeface="Segoe UI" pitchFamily="34" charset="-122"/>
                <a:cs typeface="Segoe UI" pitchFamily="34" charset="-120"/>
              </a:rPr>
              <a:t>you make</a:t>
            </a:r>
            <a:endParaRPr lang="en-US" sz="1000" dirty="0"/>
          </a:p>
          <a:p>
            <a:pPr algn="ctr" indent="0" marL="0">
              <a:buNone/>
            </a:pPr>
            <a:r>
              <a:rPr lang="en-US" sz="1000" b="1" dirty="0">
                <a:solidFill>
                  <a:srgbClr val="1A3A5C"/>
                </a:solidFill>
                <a:latin typeface="Segoe UI" pitchFamily="34" charset="0"/>
                <a:ea typeface="Segoe UI" pitchFamily="34" charset="-122"/>
                <a:cs typeface="Segoe UI" pitchFamily="34" charset="-120"/>
              </a:rPr>
              <a:t>the change</a:t>
            </a:r>
            <a:endParaRPr lang="en-US" sz="1000" dirty="0"/>
          </a:p>
        </p:txBody>
      </p:sp>
      <p:sp>
        <p:nvSpPr>
          <p:cNvPr id="9" name="Shape 7"/>
          <p:cNvSpPr/>
          <p:nvPr/>
        </p:nvSpPr>
        <p:spPr>
          <a:xfrm>
            <a:off x="5257800" y="1828800"/>
            <a:ext cx="1645920" cy="731520"/>
          </a:xfrm>
          <a:prstGeom prst="roundRect">
            <a:avLst>
              <a:gd name="adj" fmla="val 12500"/>
            </a:avLst>
          </a:prstGeom>
          <a:solidFill>
            <a:srgbClr val="EAF4FF"/>
          </a:solidFill>
          <a:ln w="12700">
            <a:solidFill>
              <a:srgbClr val="74B9FF"/>
            </a:solidFill>
            <a:prstDash val="solid"/>
          </a:ln>
        </p:spPr>
      </p:sp>
      <p:sp>
        <p:nvSpPr>
          <p:cNvPr id="10" name="Text 8"/>
          <p:cNvSpPr/>
          <p:nvPr/>
        </p:nvSpPr>
        <p:spPr>
          <a:xfrm>
            <a:off x="5257800" y="1828800"/>
            <a:ext cx="1645920" cy="731520"/>
          </a:xfrm>
          <a:prstGeom prst="rect">
            <a:avLst/>
          </a:prstGeom>
          <a:noFill/>
          <a:ln/>
        </p:spPr>
        <p:txBody>
          <a:bodyPr wrap="square" rtlCol="0" anchor="ctr"/>
          <a:lstStyle/>
          <a:p>
            <a:pPr algn="ctr" indent="0" marL="0">
              <a:buNone/>
            </a:pPr>
            <a:r>
              <a:rPr lang="en-US" sz="1000" b="1" dirty="0">
                <a:solidFill>
                  <a:srgbClr val="1A3A5C"/>
                </a:solidFill>
                <a:latin typeface="Segoe UI" pitchFamily="34" charset="0"/>
                <a:ea typeface="Segoe UI" pitchFamily="34" charset="-122"/>
                <a:cs typeface="Segoe UI" pitchFamily="34" charset="-120"/>
              </a:rPr>
              <a:t>you push it</a:t>
            </a:r>
            <a:endParaRPr lang="en-US" sz="1000" dirty="0"/>
          </a:p>
        </p:txBody>
      </p:sp>
      <p:sp>
        <p:nvSpPr>
          <p:cNvPr id="11" name="Shape 9"/>
          <p:cNvSpPr/>
          <p:nvPr/>
        </p:nvSpPr>
        <p:spPr>
          <a:xfrm>
            <a:off x="7543800" y="3291840"/>
            <a:ext cx="1645920" cy="731520"/>
          </a:xfrm>
          <a:prstGeom prst="roundRect">
            <a:avLst>
              <a:gd name="adj" fmla="val 12500"/>
            </a:avLst>
          </a:prstGeom>
          <a:solidFill>
            <a:srgbClr val="FFF0ED"/>
          </a:solidFill>
          <a:ln w="12700">
            <a:solidFill>
              <a:srgbClr val="E17055"/>
            </a:solidFill>
            <a:prstDash val="solid"/>
          </a:ln>
        </p:spPr>
      </p:sp>
      <p:sp>
        <p:nvSpPr>
          <p:cNvPr id="12" name="Text 10"/>
          <p:cNvSpPr/>
          <p:nvPr/>
        </p:nvSpPr>
        <p:spPr>
          <a:xfrm>
            <a:off x="7543800" y="3291840"/>
            <a:ext cx="1645920" cy="731520"/>
          </a:xfrm>
          <a:prstGeom prst="rect">
            <a:avLst/>
          </a:prstGeom>
          <a:noFill/>
          <a:ln/>
        </p:spPr>
        <p:txBody>
          <a:bodyPr wrap="square" rtlCol="0" anchor="ctr"/>
          <a:lstStyle/>
          <a:p>
            <a:pPr algn="ctr" indent="0" marL="0">
              <a:buNone/>
            </a:pPr>
            <a:r>
              <a:rPr lang="en-US" sz="1000" b="1" dirty="0">
                <a:solidFill>
                  <a:srgbClr val="E17055"/>
                </a:solidFill>
                <a:latin typeface="Segoe UI" pitchFamily="34" charset="0"/>
                <a:ea typeface="Segoe UI" pitchFamily="34" charset="-122"/>
                <a:cs typeface="Segoe UI" pitchFamily="34" charset="-120"/>
              </a:rPr>
              <a:t>human peer</a:t>
            </a:r>
            <a:endParaRPr lang="en-US" sz="1000" dirty="0"/>
          </a:p>
          <a:p>
            <a:pPr algn="ctr" indent="0" marL="0">
              <a:buNone/>
            </a:pPr>
            <a:r>
              <a:rPr lang="en-US" sz="1000" b="1" dirty="0">
                <a:solidFill>
                  <a:srgbClr val="E17055"/>
                </a:solidFill>
                <a:latin typeface="Segoe UI" pitchFamily="34" charset="0"/>
                <a:ea typeface="Segoe UI" pitchFamily="34" charset="-122"/>
                <a:cs typeface="Segoe UI" pitchFamily="34" charset="-120"/>
              </a:rPr>
              <a:t>pushes back</a:t>
            </a:r>
            <a:endParaRPr lang="en-US" sz="1000" dirty="0"/>
          </a:p>
        </p:txBody>
      </p:sp>
      <p:sp>
        <p:nvSpPr>
          <p:cNvPr id="13" name="Shape 11"/>
          <p:cNvSpPr/>
          <p:nvPr/>
        </p:nvSpPr>
        <p:spPr>
          <a:xfrm>
            <a:off x="7543800" y="3291840"/>
            <a:ext cx="1645920" cy="731520"/>
          </a:xfrm>
          <a:prstGeom prst="line">
            <a:avLst/>
          </a:prstGeom>
          <a:noFill/>
          <a:ln w="12700">
            <a:solidFill>
              <a:srgbClr val="E17055"/>
            </a:solidFill>
            <a:prstDash val="solid"/>
          </a:ln>
        </p:spPr>
      </p:sp>
      <p:sp>
        <p:nvSpPr>
          <p:cNvPr id="14" name="Shape 12"/>
          <p:cNvSpPr/>
          <p:nvPr/>
        </p:nvSpPr>
        <p:spPr>
          <a:xfrm>
            <a:off x="5257800" y="4754880"/>
            <a:ext cx="1645920" cy="731520"/>
          </a:xfrm>
          <a:prstGeom prst="roundRect">
            <a:avLst>
              <a:gd name="adj" fmla="val 12500"/>
            </a:avLst>
          </a:prstGeom>
          <a:solidFill>
            <a:srgbClr val="EAFAF4"/>
          </a:solidFill>
          <a:ln w="12700">
            <a:solidFill>
              <a:srgbClr val="00B894"/>
            </a:solidFill>
            <a:prstDash val="solid"/>
          </a:ln>
        </p:spPr>
      </p:sp>
      <p:sp>
        <p:nvSpPr>
          <p:cNvPr id="15" name="Text 13"/>
          <p:cNvSpPr/>
          <p:nvPr/>
        </p:nvSpPr>
        <p:spPr>
          <a:xfrm>
            <a:off x="5257800" y="4754880"/>
            <a:ext cx="1645920" cy="731520"/>
          </a:xfrm>
          <a:prstGeom prst="rect">
            <a:avLst/>
          </a:prstGeom>
          <a:noFill/>
          <a:ln/>
        </p:spPr>
        <p:txBody>
          <a:bodyPr wrap="square" rtlCol="0" anchor="ctr"/>
          <a:lstStyle/>
          <a:p>
            <a:pPr algn="ctr" indent="0" marL="0">
              <a:buNone/>
            </a:pPr>
            <a:r>
              <a:rPr lang="en-US" sz="1000" b="1" dirty="0">
                <a:solidFill>
                  <a:srgbClr val="1A3A5C"/>
                </a:solidFill>
                <a:latin typeface="Segoe UI" pitchFamily="34" charset="0"/>
                <a:ea typeface="Segoe UI" pitchFamily="34" charset="-122"/>
                <a:cs typeface="Segoe UI" pitchFamily="34" charset="-120"/>
              </a:rPr>
              <a:t>ship</a:t>
            </a:r>
            <a:endParaRPr lang="en-US" sz="1000" dirty="0"/>
          </a:p>
        </p:txBody>
      </p:sp>
      <p:sp>
        <p:nvSpPr>
          <p:cNvPr id="16" name="Text 14"/>
          <p:cNvSpPr/>
          <p:nvPr/>
        </p:nvSpPr>
        <p:spPr>
          <a:xfrm>
            <a:off x="7543800" y="4480560"/>
            <a:ext cx="2194560" cy="365760"/>
          </a:xfrm>
          <a:prstGeom prst="rect">
            <a:avLst/>
          </a:prstGeom>
          <a:noFill/>
          <a:ln/>
        </p:spPr>
        <p:txBody>
          <a:bodyPr wrap="square" rtlCol="0" anchor="ctr"/>
          <a:lstStyle/>
          <a:p>
            <a:pPr algn="ctr" indent="0" marL="0">
              <a:buNone/>
            </a:pPr>
            <a:r>
              <a:rPr lang="en-US" sz="1000" b="1" dirty="0">
                <a:solidFill>
                  <a:srgbClr val="E17055"/>
                </a:solidFill>
                <a:latin typeface="Cascadia Code" pitchFamily="34" charset="0"/>
                <a:ea typeface="Cascadia Code" pitchFamily="34" charset="-122"/>
                <a:cs typeface="Cascadia Code" pitchFamily="34" charset="-120"/>
              </a:rPr>
              <a:t>AI — never says no</a:t>
            </a:r>
            <a:endParaRPr lang="en-US" sz="1000" dirty="0"/>
          </a:p>
        </p:txBody>
      </p:sp>
      <p:sp>
        <p:nvSpPr>
          <p:cNvPr id="17" name="Text 15"/>
          <p:cNvSpPr/>
          <p:nvPr/>
        </p:nvSpPr>
        <p:spPr>
          <a:xfrm>
            <a:off x="548640" y="5989320"/>
            <a:ext cx="11064240" cy="365760"/>
          </a:xfrm>
          <a:prstGeom prst="rect">
            <a:avLst/>
          </a:prstGeom>
          <a:noFill/>
          <a:ln/>
        </p:spPr>
        <p:txBody>
          <a:bodyPr wrap="square" rtlCol="0" anchor="ctr"/>
          <a:lstStyle/>
          <a:p>
            <a:pPr algn="ctr" indent="0" marL="0">
              <a:buNone/>
            </a:pPr>
            <a:r>
              <a:rPr lang="en-US" sz="1300" i="1" dirty="0">
                <a:solidFill>
                  <a:srgbClr val="636E72"/>
                </a:solidFill>
                <a:latin typeface="Segoe UI" pitchFamily="34" charset="0"/>
                <a:ea typeface="Segoe UI" pitchFamily="34" charset="-122"/>
                <a:cs typeface="Segoe UI" pitchFamily="34" charset="-120"/>
              </a:rPr>
              <a:t>The loop still runs. But no one is checking intent anymore.</a:t>
            </a:r>
            <a:endParaRPr lang="en-US" sz="1300" dirty="0"/>
          </a:p>
        </p:txBody>
      </p:sp>
      <p:sp>
        <p:nvSpPr>
          <p:cNvPr id="18" name="Text 16"/>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 / 44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So what is your role now?</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914400"/>
            <a:ext cx="11064240" cy="457200"/>
          </a:xfrm>
          <a:prstGeom prst="rect">
            <a:avLst/>
          </a:prstGeom>
          <a:noFill/>
          <a:ln/>
        </p:spPr>
        <p:txBody>
          <a:bodyPr wrap="square" rtlCol="0" anchor="ctr"/>
          <a:lstStyle/>
          <a:p>
            <a:pPr indent="0" marL="0">
              <a:buNone/>
            </a:pPr>
            <a:r>
              <a:rPr lang="en-US" sz="1500" i="1" dirty="0">
                <a:solidFill>
                  <a:srgbClr val="636E72"/>
                </a:solidFill>
                <a:latin typeface="Segoe UI" pitchFamily="34" charset="0"/>
                <a:ea typeface="Segoe UI" pitchFamily="34" charset="-122"/>
                <a:cs typeface="Segoe UI" pitchFamily="34" charset="-120"/>
              </a:rPr>
              <a:t>The coding got cheaper. So the thinking got more valuable — and the thinking is now your job.</a:t>
            </a:r>
            <a:endParaRPr lang="en-US" sz="1500" dirty="0"/>
          </a:p>
        </p:txBody>
      </p:sp>
      <p:sp>
        <p:nvSpPr>
          <p:cNvPr id="6" name="Shape 4"/>
          <p:cNvSpPr/>
          <p:nvPr/>
        </p:nvSpPr>
        <p:spPr>
          <a:xfrm>
            <a:off x="457200" y="1600200"/>
            <a:ext cx="2194560" cy="4023360"/>
          </a:xfrm>
          <a:prstGeom prst="roundRect">
            <a:avLst>
              <a:gd name="adj" fmla="val 4167"/>
            </a:avLst>
          </a:prstGeom>
          <a:solidFill>
            <a:srgbClr val="FFFFFF"/>
          </a:solidFill>
          <a:ln w="12700">
            <a:solidFill>
              <a:srgbClr val="DFE6E9"/>
            </a:solidFill>
            <a:prstDash val="solid"/>
          </a:ln>
        </p:spPr>
      </p:sp>
      <p:sp>
        <p:nvSpPr>
          <p:cNvPr id="7" name="Shape 5"/>
          <p:cNvSpPr/>
          <p:nvPr/>
        </p:nvSpPr>
        <p:spPr>
          <a:xfrm>
            <a:off x="457200" y="1600200"/>
            <a:ext cx="2194560" cy="64008"/>
          </a:xfrm>
          <a:prstGeom prst="rect">
            <a:avLst/>
          </a:prstGeom>
          <a:solidFill>
            <a:srgbClr val="C8A951"/>
          </a:solidFill>
          <a:ln w="12700">
            <a:solidFill>
              <a:srgbClr val="C8A951"/>
            </a:solidFill>
            <a:prstDash val="solid"/>
          </a:ln>
        </p:spPr>
      </p:sp>
      <p:sp>
        <p:nvSpPr>
          <p:cNvPr id="8" name="Text 6"/>
          <p:cNvSpPr/>
          <p:nvPr/>
        </p:nvSpPr>
        <p:spPr>
          <a:xfrm>
            <a:off x="594360" y="1783080"/>
            <a:ext cx="1920240" cy="365760"/>
          </a:xfrm>
          <a:prstGeom prst="rect">
            <a:avLst/>
          </a:prstGeom>
          <a:noFill/>
          <a:ln/>
        </p:spPr>
        <p:txBody>
          <a:bodyPr wrap="square" rtlCol="0" anchor="ctr"/>
          <a:lstStyle/>
          <a:p>
            <a:pPr indent="0" marL="0">
              <a:buNone/>
            </a:pPr>
            <a:r>
              <a:rPr lang="en-US" sz="1400" b="1" dirty="0">
                <a:solidFill>
                  <a:srgbClr val="C8A951"/>
                </a:solidFill>
                <a:latin typeface="Cascadia Code" pitchFamily="34" charset="0"/>
                <a:ea typeface="Cascadia Code" pitchFamily="34" charset="-122"/>
                <a:cs typeface="Cascadia Code" pitchFamily="34" charset="-120"/>
              </a:rPr>
              <a:t>01</a:t>
            </a:r>
            <a:endParaRPr lang="en-US" sz="1400" dirty="0"/>
          </a:p>
        </p:txBody>
      </p:sp>
      <p:sp>
        <p:nvSpPr>
          <p:cNvPr id="9" name="Text 7"/>
          <p:cNvSpPr/>
          <p:nvPr/>
        </p:nvSpPr>
        <p:spPr>
          <a:xfrm>
            <a:off x="594360" y="2240280"/>
            <a:ext cx="1920240" cy="822960"/>
          </a:xfrm>
          <a:prstGeom prst="rect">
            <a:avLst/>
          </a:prstGeom>
          <a:noFill/>
          <a:ln/>
        </p:spPr>
        <p:txBody>
          <a:bodyPr wrap="square" rtlCol="0" anchor="ctr"/>
          <a:lstStyle/>
          <a:p>
            <a:pPr indent="0" marL="0">
              <a:buNone/>
            </a:pPr>
            <a:r>
              <a:rPr lang="en-US" sz="1400" b="1" dirty="0">
                <a:solidFill>
                  <a:srgbClr val="1A3A5C"/>
                </a:solidFill>
                <a:latin typeface="Segoe UI" pitchFamily="34" charset="0"/>
                <a:ea typeface="Segoe UI" pitchFamily="34" charset="-122"/>
                <a:cs typeface="Segoe UI" pitchFamily="34" charset="-120"/>
              </a:rPr>
              <a:t>Wear the BA hat</a:t>
            </a:r>
            <a:endParaRPr lang="en-US" sz="1400" dirty="0"/>
          </a:p>
        </p:txBody>
      </p:sp>
      <p:sp>
        <p:nvSpPr>
          <p:cNvPr id="10" name="Text 8"/>
          <p:cNvSpPr/>
          <p:nvPr/>
        </p:nvSpPr>
        <p:spPr>
          <a:xfrm>
            <a:off x="594360" y="3108960"/>
            <a:ext cx="1920240" cy="237744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Turn a one-line ask from the business into a complete, end-to-end requirement.</a:t>
            </a:r>
            <a:endParaRPr lang="en-US" sz="1100" dirty="0"/>
          </a:p>
        </p:txBody>
      </p:sp>
      <p:sp>
        <p:nvSpPr>
          <p:cNvPr id="11" name="Shape 9"/>
          <p:cNvSpPr/>
          <p:nvPr/>
        </p:nvSpPr>
        <p:spPr>
          <a:xfrm>
            <a:off x="2743200" y="1600200"/>
            <a:ext cx="2194560" cy="4023360"/>
          </a:xfrm>
          <a:prstGeom prst="roundRect">
            <a:avLst>
              <a:gd name="adj" fmla="val 4167"/>
            </a:avLst>
          </a:prstGeom>
          <a:solidFill>
            <a:srgbClr val="FFFFFF"/>
          </a:solidFill>
          <a:ln w="12700">
            <a:solidFill>
              <a:srgbClr val="DFE6E9"/>
            </a:solidFill>
            <a:prstDash val="solid"/>
          </a:ln>
        </p:spPr>
      </p:sp>
      <p:sp>
        <p:nvSpPr>
          <p:cNvPr id="12" name="Shape 10"/>
          <p:cNvSpPr/>
          <p:nvPr/>
        </p:nvSpPr>
        <p:spPr>
          <a:xfrm>
            <a:off x="2743200" y="1600200"/>
            <a:ext cx="2194560" cy="64008"/>
          </a:xfrm>
          <a:prstGeom prst="rect">
            <a:avLst/>
          </a:prstGeom>
          <a:solidFill>
            <a:srgbClr val="C8A951"/>
          </a:solidFill>
          <a:ln w="12700">
            <a:solidFill>
              <a:srgbClr val="C8A951"/>
            </a:solidFill>
            <a:prstDash val="solid"/>
          </a:ln>
        </p:spPr>
      </p:sp>
      <p:sp>
        <p:nvSpPr>
          <p:cNvPr id="13" name="Text 11"/>
          <p:cNvSpPr/>
          <p:nvPr/>
        </p:nvSpPr>
        <p:spPr>
          <a:xfrm>
            <a:off x="2880360" y="1783080"/>
            <a:ext cx="1920240" cy="365760"/>
          </a:xfrm>
          <a:prstGeom prst="rect">
            <a:avLst/>
          </a:prstGeom>
          <a:noFill/>
          <a:ln/>
        </p:spPr>
        <p:txBody>
          <a:bodyPr wrap="square" rtlCol="0" anchor="ctr"/>
          <a:lstStyle/>
          <a:p>
            <a:pPr indent="0" marL="0">
              <a:buNone/>
            </a:pPr>
            <a:r>
              <a:rPr lang="en-US" sz="1400" b="1" dirty="0">
                <a:solidFill>
                  <a:srgbClr val="C8A951"/>
                </a:solidFill>
                <a:latin typeface="Cascadia Code" pitchFamily="34" charset="0"/>
                <a:ea typeface="Cascadia Code" pitchFamily="34" charset="-122"/>
                <a:cs typeface="Cascadia Code" pitchFamily="34" charset="-120"/>
              </a:rPr>
              <a:t>02</a:t>
            </a:r>
            <a:endParaRPr lang="en-US" sz="1400" dirty="0"/>
          </a:p>
        </p:txBody>
      </p:sp>
      <p:sp>
        <p:nvSpPr>
          <p:cNvPr id="14" name="Text 12"/>
          <p:cNvSpPr/>
          <p:nvPr/>
        </p:nvSpPr>
        <p:spPr>
          <a:xfrm>
            <a:off x="2880360" y="2240280"/>
            <a:ext cx="1920240" cy="822960"/>
          </a:xfrm>
          <a:prstGeom prst="rect">
            <a:avLst/>
          </a:prstGeom>
          <a:noFill/>
          <a:ln/>
        </p:spPr>
        <p:txBody>
          <a:bodyPr wrap="square" rtlCol="0" anchor="ctr"/>
          <a:lstStyle/>
          <a:p>
            <a:pPr indent="0" marL="0">
              <a:buNone/>
            </a:pPr>
            <a:r>
              <a:rPr lang="en-US" sz="1400" b="1" dirty="0">
                <a:solidFill>
                  <a:srgbClr val="1A3A5C"/>
                </a:solidFill>
                <a:latin typeface="Segoe UI" pitchFamily="34" charset="0"/>
                <a:ea typeface="Segoe UI" pitchFamily="34" charset="-122"/>
                <a:cs typeface="Segoe UI" pitchFamily="34" charset="-120"/>
              </a:rPr>
              <a:t>Understand the whole system</a:t>
            </a:r>
            <a:endParaRPr lang="en-US" sz="1400" dirty="0"/>
          </a:p>
        </p:txBody>
      </p:sp>
      <p:sp>
        <p:nvSpPr>
          <p:cNvPr id="15" name="Text 13"/>
          <p:cNvSpPr/>
          <p:nvPr/>
        </p:nvSpPr>
        <p:spPr>
          <a:xfrm>
            <a:off x="2880360" y="3108960"/>
            <a:ext cx="1920240" cy="237744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Functionally and as a solution architect — not just the file you’re touching.</a:t>
            </a:r>
            <a:endParaRPr lang="en-US" sz="1100" dirty="0"/>
          </a:p>
        </p:txBody>
      </p:sp>
      <p:sp>
        <p:nvSpPr>
          <p:cNvPr id="16" name="Shape 14"/>
          <p:cNvSpPr/>
          <p:nvPr/>
        </p:nvSpPr>
        <p:spPr>
          <a:xfrm>
            <a:off x="5029200" y="1600200"/>
            <a:ext cx="2194560" cy="4023360"/>
          </a:xfrm>
          <a:prstGeom prst="roundRect">
            <a:avLst>
              <a:gd name="adj" fmla="val 4167"/>
            </a:avLst>
          </a:prstGeom>
          <a:solidFill>
            <a:srgbClr val="FFFFFF"/>
          </a:solidFill>
          <a:ln w="12700">
            <a:solidFill>
              <a:srgbClr val="DFE6E9"/>
            </a:solidFill>
            <a:prstDash val="solid"/>
          </a:ln>
        </p:spPr>
      </p:sp>
      <p:sp>
        <p:nvSpPr>
          <p:cNvPr id="17" name="Shape 15"/>
          <p:cNvSpPr/>
          <p:nvPr/>
        </p:nvSpPr>
        <p:spPr>
          <a:xfrm>
            <a:off x="5029200" y="1600200"/>
            <a:ext cx="2194560" cy="64008"/>
          </a:xfrm>
          <a:prstGeom prst="rect">
            <a:avLst/>
          </a:prstGeom>
          <a:solidFill>
            <a:srgbClr val="C8A951"/>
          </a:solidFill>
          <a:ln w="12700">
            <a:solidFill>
              <a:srgbClr val="C8A951"/>
            </a:solidFill>
            <a:prstDash val="solid"/>
          </a:ln>
        </p:spPr>
      </p:sp>
      <p:sp>
        <p:nvSpPr>
          <p:cNvPr id="18" name="Text 16"/>
          <p:cNvSpPr/>
          <p:nvPr/>
        </p:nvSpPr>
        <p:spPr>
          <a:xfrm>
            <a:off x="5166360" y="1783080"/>
            <a:ext cx="1920240" cy="365760"/>
          </a:xfrm>
          <a:prstGeom prst="rect">
            <a:avLst/>
          </a:prstGeom>
          <a:noFill/>
          <a:ln/>
        </p:spPr>
        <p:txBody>
          <a:bodyPr wrap="square" rtlCol="0" anchor="ctr"/>
          <a:lstStyle/>
          <a:p>
            <a:pPr indent="0" marL="0">
              <a:buNone/>
            </a:pPr>
            <a:r>
              <a:rPr lang="en-US" sz="1400" b="1" dirty="0">
                <a:solidFill>
                  <a:srgbClr val="C8A951"/>
                </a:solidFill>
                <a:latin typeface="Cascadia Code" pitchFamily="34" charset="0"/>
                <a:ea typeface="Cascadia Code" pitchFamily="34" charset="-122"/>
                <a:cs typeface="Cascadia Code" pitchFamily="34" charset="-120"/>
              </a:rPr>
              <a:t>03</a:t>
            </a:r>
            <a:endParaRPr lang="en-US" sz="1400" dirty="0"/>
          </a:p>
        </p:txBody>
      </p:sp>
      <p:sp>
        <p:nvSpPr>
          <p:cNvPr id="19" name="Text 17"/>
          <p:cNvSpPr/>
          <p:nvPr/>
        </p:nvSpPr>
        <p:spPr>
          <a:xfrm>
            <a:off x="5166360" y="2240280"/>
            <a:ext cx="1920240" cy="822960"/>
          </a:xfrm>
          <a:prstGeom prst="rect">
            <a:avLst/>
          </a:prstGeom>
          <a:noFill/>
          <a:ln/>
        </p:spPr>
        <p:txBody>
          <a:bodyPr wrap="square" rtlCol="0" anchor="ctr"/>
          <a:lstStyle/>
          <a:p>
            <a:pPr indent="0" marL="0">
              <a:buNone/>
            </a:pPr>
            <a:r>
              <a:rPr lang="en-US" sz="1400" b="1" dirty="0">
                <a:solidFill>
                  <a:srgbClr val="1A3A5C"/>
                </a:solidFill>
                <a:latin typeface="Segoe UI" pitchFamily="34" charset="0"/>
                <a:ea typeface="Segoe UI" pitchFamily="34" charset="-122"/>
                <a:cs typeface="Segoe UI" pitchFamily="34" charset="-120"/>
              </a:rPr>
              <a:t>Review the AI’s plan</a:t>
            </a:r>
            <a:endParaRPr lang="en-US" sz="1400" dirty="0"/>
          </a:p>
        </p:txBody>
      </p:sp>
      <p:sp>
        <p:nvSpPr>
          <p:cNvPr id="20" name="Text 18"/>
          <p:cNvSpPr/>
          <p:nvPr/>
        </p:nvSpPr>
        <p:spPr>
          <a:xfrm>
            <a:off x="5166360" y="3108960"/>
            <a:ext cx="1920240" cy="237744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Identify what’s out of scope — and be able to say why.</a:t>
            </a:r>
            <a:endParaRPr lang="en-US" sz="1100" dirty="0"/>
          </a:p>
        </p:txBody>
      </p:sp>
      <p:sp>
        <p:nvSpPr>
          <p:cNvPr id="21" name="Shape 19"/>
          <p:cNvSpPr/>
          <p:nvPr/>
        </p:nvSpPr>
        <p:spPr>
          <a:xfrm>
            <a:off x="7315200" y="1600200"/>
            <a:ext cx="2194560" cy="4023360"/>
          </a:xfrm>
          <a:prstGeom prst="roundRect">
            <a:avLst>
              <a:gd name="adj" fmla="val 4167"/>
            </a:avLst>
          </a:prstGeom>
          <a:solidFill>
            <a:srgbClr val="FFFFFF"/>
          </a:solidFill>
          <a:ln w="12700">
            <a:solidFill>
              <a:srgbClr val="DFE6E9"/>
            </a:solidFill>
            <a:prstDash val="solid"/>
          </a:ln>
        </p:spPr>
      </p:sp>
      <p:sp>
        <p:nvSpPr>
          <p:cNvPr id="22" name="Shape 20"/>
          <p:cNvSpPr/>
          <p:nvPr/>
        </p:nvSpPr>
        <p:spPr>
          <a:xfrm>
            <a:off x="7315200" y="1600200"/>
            <a:ext cx="2194560" cy="64008"/>
          </a:xfrm>
          <a:prstGeom prst="rect">
            <a:avLst/>
          </a:prstGeom>
          <a:solidFill>
            <a:srgbClr val="C8A951"/>
          </a:solidFill>
          <a:ln w="12700">
            <a:solidFill>
              <a:srgbClr val="C8A951"/>
            </a:solidFill>
            <a:prstDash val="solid"/>
          </a:ln>
        </p:spPr>
      </p:sp>
      <p:sp>
        <p:nvSpPr>
          <p:cNvPr id="23" name="Text 21"/>
          <p:cNvSpPr/>
          <p:nvPr/>
        </p:nvSpPr>
        <p:spPr>
          <a:xfrm>
            <a:off x="7452360" y="1783080"/>
            <a:ext cx="1920240" cy="365760"/>
          </a:xfrm>
          <a:prstGeom prst="rect">
            <a:avLst/>
          </a:prstGeom>
          <a:noFill/>
          <a:ln/>
        </p:spPr>
        <p:txBody>
          <a:bodyPr wrap="square" rtlCol="0" anchor="ctr"/>
          <a:lstStyle/>
          <a:p>
            <a:pPr indent="0" marL="0">
              <a:buNone/>
            </a:pPr>
            <a:r>
              <a:rPr lang="en-US" sz="1400" b="1" dirty="0">
                <a:solidFill>
                  <a:srgbClr val="C8A951"/>
                </a:solidFill>
                <a:latin typeface="Cascadia Code" pitchFamily="34" charset="0"/>
                <a:ea typeface="Cascadia Code" pitchFamily="34" charset="-122"/>
                <a:cs typeface="Cascadia Code" pitchFamily="34" charset="-120"/>
              </a:rPr>
              <a:t>04</a:t>
            </a:r>
            <a:endParaRPr lang="en-US" sz="1400" dirty="0"/>
          </a:p>
        </p:txBody>
      </p:sp>
      <p:sp>
        <p:nvSpPr>
          <p:cNvPr id="24" name="Text 22"/>
          <p:cNvSpPr/>
          <p:nvPr/>
        </p:nvSpPr>
        <p:spPr>
          <a:xfrm>
            <a:off x="7452360" y="2240280"/>
            <a:ext cx="1920240" cy="822960"/>
          </a:xfrm>
          <a:prstGeom prst="rect">
            <a:avLst/>
          </a:prstGeom>
          <a:noFill/>
          <a:ln/>
        </p:spPr>
        <p:txBody>
          <a:bodyPr wrap="square" rtlCol="0" anchor="ctr"/>
          <a:lstStyle/>
          <a:p>
            <a:pPr indent="0" marL="0">
              <a:buNone/>
            </a:pPr>
            <a:r>
              <a:rPr lang="en-US" sz="1400" b="1" dirty="0">
                <a:solidFill>
                  <a:srgbClr val="1A3A5C"/>
                </a:solidFill>
                <a:latin typeface="Segoe UI" pitchFamily="34" charset="0"/>
                <a:ea typeface="Segoe UI" pitchFamily="34" charset="-122"/>
                <a:cs typeface="Segoe UI" pitchFamily="34" charset="-120"/>
              </a:rPr>
              <a:t>Stop coding line-by-line</a:t>
            </a:r>
            <a:endParaRPr lang="en-US" sz="1400" dirty="0"/>
          </a:p>
        </p:txBody>
      </p:sp>
      <p:sp>
        <p:nvSpPr>
          <p:cNvPr id="25" name="Text 23"/>
          <p:cNvSpPr/>
          <p:nvPr/>
        </p:nvSpPr>
        <p:spPr>
          <a:xfrm>
            <a:off x="7452360" y="3108960"/>
            <a:ext cx="1920240" cy="237744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You no longer just look at the part of the code the change touches.</a:t>
            </a:r>
            <a:endParaRPr lang="en-US" sz="1100" dirty="0"/>
          </a:p>
        </p:txBody>
      </p:sp>
      <p:sp>
        <p:nvSpPr>
          <p:cNvPr id="26" name="Shape 24"/>
          <p:cNvSpPr/>
          <p:nvPr/>
        </p:nvSpPr>
        <p:spPr>
          <a:xfrm>
            <a:off x="9601200" y="1600200"/>
            <a:ext cx="2194560" cy="4023360"/>
          </a:xfrm>
          <a:prstGeom prst="roundRect">
            <a:avLst>
              <a:gd name="adj" fmla="val 4167"/>
            </a:avLst>
          </a:prstGeom>
          <a:solidFill>
            <a:srgbClr val="FFFFFF"/>
          </a:solidFill>
          <a:ln w="12700">
            <a:solidFill>
              <a:srgbClr val="DFE6E9"/>
            </a:solidFill>
            <a:prstDash val="solid"/>
          </a:ln>
        </p:spPr>
      </p:sp>
      <p:sp>
        <p:nvSpPr>
          <p:cNvPr id="27" name="Shape 25"/>
          <p:cNvSpPr/>
          <p:nvPr/>
        </p:nvSpPr>
        <p:spPr>
          <a:xfrm>
            <a:off x="9601200" y="1600200"/>
            <a:ext cx="2194560" cy="64008"/>
          </a:xfrm>
          <a:prstGeom prst="rect">
            <a:avLst/>
          </a:prstGeom>
          <a:solidFill>
            <a:srgbClr val="C8A951"/>
          </a:solidFill>
          <a:ln w="12700">
            <a:solidFill>
              <a:srgbClr val="C8A951"/>
            </a:solidFill>
            <a:prstDash val="solid"/>
          </a:ln>
        </p:spPr>
      </p:sp>
      <p:sp>
        <p:nvSpPr>
          <p:cNvPr id="28" name="Text 26"/>
          <p:cNvSpPr/>
          <p:nvPr/>
        </p:nvSpPr>
        <p:spPr>
          <a:xfrm>
            <a:off x="9738360" y="1783080"/>
            <a:ext cx="1920240" cy="365760"/>
          </a:xfrm>
          <a:prstGeom prst="rect">
            <a:avLst/>
          </a:prstGeom>
          <a:noFill/>
          <a:ln/>
        </p:spPr>
        <p:txBody>
          <a:bodyPr wrap="square" rtlCol="0" anchor="ctr"/>
          <a:lstStyle/>
          <a:p>
            <a:pPr indent="0" marL="0">
              <a:buNone/>
            </a:pPr>
            <a:r>
              <a:rPr lang="en-US" sz="1400" b="1" dirty="0">
                <a:solidFill>
                  <a:srgbClr val="C8A951"/>
                </a:solidFill>
                <a:latin typeface="Cascadia Code" pitchFamily="34" charset="0"/>
                <a:ea typeface="Cascadia Code" pitchFamily="34" charset="-122"/>
                <a:cs typeface="Cascadia Code" pitchFamily="34" charset="-120"/>
              </a:rPr>
              <a:t>05</a:t>
            </a:r>
            <a:endParaRPr lang="en-US" sz="1400" dirty="0"/>
          </a:p>
        </p:txBody>
      </p:sp>
      <p:sp>
        <p:nvSpPr>
          <p:cNvPr id="29" name="Text 27"/>
          <p:cNvSpPr/>
          <p:nvPr/>
        </p:nvSpPr>
        <p:spPr>
          <a:xfrm>
            <a:off x="9738360" y="2240280"/>
            <a:ext cx="1920240" cy="822960"/>
          </a:xfrm>
          <a:prstGeom prst="rect">
            <a:avLst/>
          </a:prstGeom>
          <a:noFill/>
          <a:ln/>
        </p:spPr>
        <p:txBody>
          <a:bodyPr wrap="square" rtlCol="0" anchor="ctr"/>
          <a:lstStyle/>
          <a:p>
            <a:pPr indent="0" marL="0">
              <a:buNone/>
            </a:pPr>
            <a:r>
              <a:rPr lang="en-US" sz="1400" b="1" dirty="0">
                <a:solidFill>
                  <a:srgbClr val="1A3A5C"/>
                </a:solidFill>
                <a:latin typeface="Segoe UI" pitchFamily="34" charset="0"/>
                <a:ea typeface="Segoe UI" pitchFamily="34" charset="-122"/>
                <a:cs typeface="Segoe UI" pitchFamily="34" charset="-120"/>
              </a:rPr>
              <a:t>Manage an agent</a:t>
            </a:r>
            <a:endParaRPr lang="en-US" sz="1400" dirty="0"/>
          </a:p>
        </p:txBody>
      </p:sp>
      <p:sp>
        <p:nvSpPr>
          <p:cNvPr id="30" name="Text 28"/>
          <p:cNvSpPr/>
          <p:nvPr/>
        </p:nvSpPr>
        <p:spPr>
          <a:xfrm>
            <a:off x="9738360" y="3108960"/>
            <a:ext cx="1920240" cy="237744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You are the reviewer, directing an AI to the result — the conductor, not the player.</a:t>
            </a:r>
            <a:endParaRPr lang="en-US" sz="1100" dirty="0"/>
          </a:p>
        </p:txBody>
      </p:sp>
      <p:sp>
        <p:nvSpPr>
          <p:cNvPr id="31" name="Text 29"/>
          <p:cNvSpPr/>
          <p:nvPr/>
        </p:nvSpPr>
        <p:spPr>
          <a:xfrm>
            <a:off x="548640" y="5897880"/>
            <a:ext cx="11064240" cy="36576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Coder  →  Conductor</a:t>
            </a:r>
            <a:endParaRPr lang="en-US" sz="1400" dirty="0"/>
          </a:p>
        </p:txBody>
      </p:sp>
      <p:sp>
        <p:nvSpPr>
          <p:cNvPr id="32" name="Text 30"/>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4 / 44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These aren’t new tools. They’re new responsibilities.</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960120"/>
            <a:ext cx="11064240" cy="914400"/>
          </a:xfrm>
          <a:prstGeom prst="rect">
            <a:avLst/>
          </a:prstGeom>
          <a:noFill/>
          <a:ln/>
        </p:spPr>
        <p:txBody>
          <a:bodyPr wrap="square" rtlCol="0" anchor="ctr"/>
          <a:lstStyle/>
          <a:p>
            <a:pPr indent="0" marL="0">
              <a:buNone/>
            </a:pPr>
            <a:r>
              <a:rPr lang="en-US" sz="1500" dirty="0">
                <a:solidFill>
                  <a:srgbClr val="2D3436"/>
                </a:solidFill>
                <a:latin typeface="Segoe UI" pitchFamily="34" charset="0"/>
                <a:ea typeface="Segoe UI" pitchFamily="34" charset="-122"/>
                <a:cs typeface="Segoe UI" pitchFamily="34" charset="-120"/>
              </a:rPr>
              <a:t>Each responsibility needs a system behind it — or it collapses back into “just review the PR.” The rest of this deck is that system: five discoveries, each the answer to “how do I do this new job safely and repeatably?”</a:t>
            </a:r>
            <a:endParaRPr lang="en-US" sz="1500" dirty="0"/>
          </a:p>
        </p:txBody>
      </p:sp>
      <p:sp>
        <p:nvSpPr>
          <p:cNvPr id="6" name="Shape 4"/>
          <p:cNvSpPr/>
          <p:nvPr/>
        </p:nvSpPr>
        <p:spPr>
          <a:xfrm>
            <a:off x="640080" y="2194560"/>
            <a:ext cx="5669280" cy="621792"/>
          </a:xfrm>
          <a:prstGeom prst="roundRect">
            <a:avLst>
              <a:gd name="adj" fmla="val 11765"/>
            </a:avLst>
          </a:prstGeom>
          <a:solidFill>
            <a:srgbClr val="F4F7FA"/>
          </a:solidFill>
          <a:ln w="12700">
            <a:solidFill>
              <a:srgbClr val="DFE6E9"/>
            </a:solidFill>
            <a:prstDash val="solid"/>
          </a:ln>
        </p:spPr>
      </p:sp>
      <p:sp>
        <p:nvSpPr>
          <p:cNvPr id="7" name="Text 5"/>
          <p:cNvSpPr/>
          <p:nvPr/>
        </p:nvSpPr>
        <p:spPr>
          <a:xfrm>
            <a:off x="822960" y="2194560"/>
            <a:ext cx="5303520" cy="621792"/>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Own the intent (BA hat)</a:t>
            </a:r>
            <a:endParaRPr lang="en-US" sz="1300" dirty="0"/>
          </a:p>
        </p:txBody>
      </p:sp>
      <p:sp>
        <p:nvSpPr>
          <p:cNvPr id="8" name="Text 6"/>
          <p:cNvSpPr/>
          <p:nvPr/>
        </p:nvSpPr>
        <p:spPr>
          <a:xfrm>
            <a:off x="6400800" y="2194560"/>
            <a:ext cx="548640" cy="621792"/>
          </a:xfrm>
          <a:prstGeom prst="rect">
            <a:avLst/>
          </a:prstGeom>
          <a:noFill/>
          <a:ln/>
        </p:spPr>
        <p:txBody>
          <a:bodyPr wrap="square" rtlCol="0" anchor="ctr"/>
          <a:lstStyle/>
          <a:p>
            <a:pPr algn="ctr" indent="0" marL="0">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9" name="Shape 7"/>
          <p:cNvSpPr/>
          <p:nvPr/>
        </p:nvSpPr>
        <p:spPr>
          <a:xfrm>
            <a:off x="7040880" y="2194560"/>
            <a:ext cx="4480560" cy="621792"/>
          </a:xfrm>
          <a:prstGeom prst="roundRect">
            <a:avLst>
              <a:gd name="adj" fmla="val 11765"/>
            </a:avLst>
          </a:prstGeom>
          <a:solidFill>
            <a:srgbClr val="1A3A5C"/>
          </a:solidFill>
          <a:ln w="12700">
            <a:solidFill>
              <a:srgbClr val="1A3A5C"/>
            </a:solidFill>
            <a:prstDash val="solid"/>
          </a:ln>
        </p:spPr>
      </p:sp>
      <p:sp>
        <p:nvSpPr>
          <p:cNvPr id="10" name="Text 8"/>
          <p:cNvSpPr/>
          <p:nvPr/>
        </p:nvSpPr>
        <p:spPr>
          <a:xfrm>
            <a:off x="7223760" y="2194560"/>
            <a:ext cx="4114800" cy="621792"/>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Act I · Spec</a:t>
            </a:r>
            <a:endParaRPr lang="en-US" sz="1300" dirty="0"/>
          </a:p>
        </p:txBody>
      </p:sp>
      <p:sp>
        <p:nvSpPr>
          <p:cNvPr id="11" name="Shape 9"/>
          <p:cNvSpPr/>
          <p:nvPr/>
        </p:nvSpPr>
        <p:spPr>
          <a:xfrm>
            <a:off x="640080" y="2944368"/>
            <a:ext cx="5669280" cy="621792"/>
          </a:xfrm>
          <a:prstGeom prst="roundRect">
            <a:avLst>
              <a:gd name="adj" fmla="val 11765"/>
            </a:avLst>
          </a:prstGeom>
          <a:solidFill>
            <a:srgbClr val="F4F7FA"/>
          </a:solidFill>
          <a:ln w="12700">
            <a:solidFill>
              <a:srgbClr val="DFE6E9"/>
            </a:solidFill>
            <a:prstDash val="solid"/>
          </a:ln>
        </p:spPr>
      </p:sp>
      <p:sp>
        <p:nvSpPr>
          <p:cNvPr id="12" name="Text 10"/>
          <p:cNvSpPr/>
          <p:nvPr/>
        </p:nvSpPr>
        <p:spPr>
          <a:xfrm>
            <a:off x="822960" y="2944368"/>
            <a:ext cx="5303520" cy="621792"/>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Review the AI’s judgment</a:t>
            </a:r>
            <a:endParaRPr lang="en-US" sz="1300" dirty="0"/>
          </a:p>
        </p:txBody>
      </p:sp>
      <p:sp>
        <p:nvSpPr>
          <p:cNvPr id="13" name="Text 11"/>
          <p:cNvSpPr/>
          <p:nvPr/>
        </p:nvSpPr>
        <p:spPr>
          <a:xfrm>
            <a:off x="6400800" y="2944368"/>
            <a:ext cx="548640" cy="621792"/>
          </a:xfrm>
          <a:prstGeom prst="rect">
            <a:avLst/>
          </a:prstGeom>
          <a:noFill/>
          <a:ln/>
        </p:spPr>
        <p:txBody>
          <a:bodyPr wrap="square" rtlCol="0" anchor="ctr"/>
          <a:lstStyle/>
          <a:p>
            <a:pPr algn="ctr" indent="0" marL="0">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14" name="Shape 12"/>
          <p:cNvSpPr/>
          <p:nvPr/>
        </p:nvSpPr>
        <p:spPr>
          <a:xfrm>
            <a:off x="7040880" y="2944368"/>
            <a:ext cx="4480560" cy="621792"/>
          </a:xfrm>
          <a:prstGeom prst="roundRect">
            <a:avLst>
              <a:gd name="adj" fmla="val 11765"/>
            </a:avLst>
          </a:prstGeom>
          <a:solidFill>
            <a:srgbClr val="1A3A5C"/>
          </a:solidFill>
          <a:ln w="12700">
            <a:solidFill>
              <a:srgbClr val="1A3A5C"/>
            </a:solidFill>
            <a:prstDash val="solid"/>
          </a:ln>
        </p:spPr>
      </p:sp>
      <p:sp>
        <p:nvSpPr>
          <p:cNvPr id="15" name="Text 13"/>
          <p:cNvSpPr/>
          <p:nvPr/>
        </p:nvSpPr>
        <p:spPr>
          <a:xfrm>
            <a:off x="7223760" y="2944368"/>
            <a:ext cx="4114800" cy="621792"/>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Act II · Trust</a:t>
            </a:r>
            <a:endParaRPr lang="en-US" sz="1300" dirty="0"/>
          </a:p>
        </p:txBody>
      </p:sp>
      <p:sp>
        <p:nvSpPr>
          <p:cNvPr id="16" name="Shape 14"/>
          <p:cNvSpPr/>
          <p:nvPr/>
        </p:nvSpPr>
        <p:spPr>
          <a:xfrm>
            <a:off x="640080" y="3694176"/>
            <a:ext cx="5669280" cy="621792"/>
          </a:xfrm>
          <a:prstGeom prst="roundRect">
            <a:avLst>
              <a:gd name="adj" fmla="val 11765"/>
            </a:avLst>
          </a:prstGeom>
          <a:solidFill>
            <a:srgbClr val="F4F7FA"/>
          </a:solidFill>
          <a:ln w="12700">
            <a:solidFill>
              <a:srgbClr val="DFE6E9"/>
            </a:solidFill>
            <a:prstDash val="solid"/>
          </a:ln>
        </p:spPr>
      </p:sp>
      <p:sp>
        <p:nvSpPr>
          <p:cNvPr id="17" name="Text 15"/>
          <p:cNvSpPr/>
          <p:nvPr/>
        </p:nvSpPr>
        <p:spPr>
          <a:xfrm>
            <a:off x="822960" y="3694176"/>
            <a:ext cx="5303520" cy="621792"/>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Carry decisions forward</a:t>
            </a:r>
            <a:endParaRPr lang="en-US" sz="1300" dirty="0"/>
          </a:p>
        </p:txBody>
      </p:sp>
      <p:sp>
        <p:nvSpPr>
          <p:cNvPr id="18" name="Text 16"/>
          <p:cNvSpPr/>
          <p:nvPr/>
        </p:nvSpPr>
        <p:spPr>
          <a:xfrm>
            <a:off x="6400800" y="3694176"/>
            <a:ext cx="548640" cy="621792"/>
          </a:xfrm>
          <a:prstGeom prst="rect">
            <a:avLst/>
          </a:prstGeom>
          <a:noFill/>
          <a:ln/>
        </p:spPr>
        <p:txBody>
          <a:bodyPr wrap="square" rtlCol="0" anchor="ctr"/>
          <a:lstStyle/>
          <a:p>
            <a:pPr algn="ctr" indent="0" marL="0">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19" name="Shape 17"/>
          <p:cNvSpPr/>
          <p:nvPr/>
        </p:nvSpPr>
        <p:spPr>
          <a:xfrm>
            <a:off x="7040880" y="3694176"/>
            <a:ext cx="4480560" cy="621792"/>
          </a:xfrm>
          <a:prstGeom prst="roundRect">
            <a:avLst>
              <a:gd name="adj" fmla="val 11765"/>
            </a:avLst>
          </a:prstGeom>
          <a:solidFill>
            <a:srgbClr val="1A3A5C"/>
          </a:solidFill>
          <a:ln w="12700">
            <a:solidFill>
              <a:srgbClr val="1A3A5C"/>
            </a:solidFill>
            <a:prstDash val="solid"/>
          </a:ln>
        </p:spPr>
      </p:sp>
      <p:sp>
        <p:nvSpPr>
          <p:cNvPr id="20" name="Text 18"/>
          <p:cNvSpPr/>
          <p:nvPr/>
        </p:nvSpPr>
        <p:spPr>
          <a:xfrm>
            <a:off x="7223760" y="3694176"/>
            <a:ext cx="4114800" cy="621792"/>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Act III · Continuity</a:t>
            </a:r>
            <a:endParaRPr lang="en-US" sz="1300" dirty="0"/>
          </a:p>
        </p:txBody>
      </p:sp>
      <p:sp>
        <p:nvSpPr>
          <p:cNvPr id="21" name="Shape 19"/>
          <p:cNvSpPr/>
          <p:nvPr/>
        </p:nvSpPr>
        <p:spPr>
          <a:xfrm>
            <a:off x="640080" y="4443984"/>
            <a:ext cx="5669280" cy="621792"/>
          </a:xfrm>
          <a:prstGeom prst="roundRect">
            <a:avLst>
              <a:gd name="adj" fmla="val 11765"/>
            </a:avLst>
          </a:prstGeom>
          <a:solidFill>
            <a:srgbClr val="F4F7FA"/>
          </a:solidFill>
          <a:ln w="12700">
            <a:solidFill>
              <a:srgbClr val="DFE6E9"/>
            </a:solidFill>
            <a:prstDash val="solid"/>
          </a:ln>
        </p:spPr>
      </p:sp>
      <p:sp>
        <p:nvSpPr>
          <p:cNvPr id="22" name="Text 20"/>
          <p:cNvSpPr/>
          <p:nvPr/>
        </p:nvSpPr>
        <p:spPr>
          <a:xfrm>
            <a:off x="822960" y="4443984"/>
            <a:ext cx="5303520" cy="621792"/>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Understand the whole system</a:t>
            </a:r>
            <a:endParaRPr lang="en-US" sz="1300" dirty="0"/>
          </a:p>
        </p:txBody>
      </p:sp>
      <p:sp>
        <p:nvSpPr>
          <p:cNvPr id="23" name="Text 21"/>
          <p:cNvSpPr/>
          <p:nvPr/>
        </p:nvSpPr>
        <p:spPr>
          <a:xfrm>
            <a:off x="6400800" y="4443984"/>
            <a:ext cx="548640" cy="621792"/>
          </a:xfrm>
          <a:prstGeom prst="rect">
            <a:avLst/>
          </a:prstGeom>
          <a:noFill/>
          <a:ln/>
        </p:spPr>
        <p:txBody>
          <a:bodyPr wrap="square" rtlCol="0" anchor="ctr"/>
          <a:lstStyle/>
          <a:p>
            <a:pPr algn="ctr" indent="0" marL="0">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24" name="Shape 22"/>
          <p:cNvSpPr/>
          <p:nvPr/>
        </p:nvSpPr>
        <p:spPr>
          <a:xfrm>
            <a:off x="7040880" y="4443984"/>
            <a:ext cx="4480560" cy="621792"/>
          </a:xfrm>
          <a:prstGeom prst="roundRect">
            <a:avLst>
              <a:gd name="adj" fmla="val 11765"/>
            </a:avLst>
          </a:prstGeom>
          <a:solidFill>
            <a:srgbClr val="1A3A5C"/>
          </a:solidFill>
          <a:ln w="12700">
            <a:solidFill>
              <a:srgbClr val="1A3A5C"/>
            </a:solidFill>
            <a:prstDash val="solid"/>
          </a:ln>
        </p:spPr>
      </p:sp>
      <p:sp>
        <p:nvSpPr>
          <p:cNvPr id="25" name="Text 23"/>
          <p:cNvSpPr/>
          <p:nvPr/>
        </p:nvSpPr>
        <p:spPr>
          <a:xfrm>
            <a:off x="7223760" y="4443984"/>
            <a:ext cx="4114800" cy="621792"/>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Act IV · Knowledge</a:t>
            </a:r>
            <a:endParaRPr lang="en-US" sz="1300" dirty="0"/>
          </a:p>
        </p:txBody>
      </p:sp>
      <p:sp>
        <p:nvSpPr>
          <p:cNvPr id="26" name="Shape 24"/>
          <p:cNvSpPr/>
          <p:nvPr/>
        </p:nvSpPr>
        <p:spPr>
          <a:xfrm>
            <a:off x="640080" y="5193792"/>
            <a:ext cx="5669280" cy="621792"/>
          </a:xfrm>
          <a:prstGeom prst="roundRect">
            <a:avLst>
              <a:gd name="adj" fmla="val 11765"/>
            </a:avLst>
          </a:prstGeom>
          <a:solidFill>
            <a:srgbClr val="F4F7FA"/>
          </a:solidFill>
          <a:ln w="12700">
            <a:solidFill>
              <a:srgbClr val="DFE6E9"/>
            </a:solidFill>
            <a:prstDash val="solid"/>
          </a:ln>
        </p:spPr>
      </p:sp>
      <p:sp>
        <p:nvSpPr>
          <p:cNvPr id="27" name="Text 25"/>
          <p:cNvSpPr/>
          <p:nvPr/>
        </p:nvSpPr>
        <p:spPr>
          <a:xfrm>
            <a:off x="822960" y="5193792"/>
            <a:ext cx="5303520" cy="621792"/>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Prove it actually held</a:t>
            </a:r>
            <a:endParaRPr lang="en-US" sz="1300" dirty="0"/>
          </a:p>
        </p:txBody>
      </p:sp>
      <p:sp>
        <p:nvSpPr>
          <p:cNvPr id="28" name="Text 26"/>
          <p:cNvSpPr/>
          <p:nvPr/>
        </p:nvSpPr>
        <p:spPr>
          <a:xfrm>
            <a:off x="6400800" y="5193792"/>
            <a:ext cx="548640" cy="621792"/>
          </a:xfrm>
          <a:prstGeom prst="rect">
            <a:avLst/>
          </a:prstGeom>
          <a:noFill/>
          <a:ln/>
        </p:spPr>
        <p:txBody>
          <a:bodyPr wrap="square" rtlCol="0" anchor="ctr"/>
          <a:lstStyle/>
          <a:p>
            <a:pPr algn="ctr" indent="0" marL="0">
              <a:buNone/>
            </a:pPr>
            <a:r>
              <a:rPr lang="en-US" sz="1800" b="1" dirty="0">
                <a:solidFill>
                  <a:srgbClr val="C8A951"/>
                </a:solidFill>
                <a:latin typeface="Segoe UI" pitchFamily="34" charset="0"/>
                <a:ea typeface="Segoe UI" pitchFamily="34" charset="-122"/>
                <a:cs typeface="Segoe UI" pitchFamily="34" charset="-120"/>
              </a:rPr>
              <a:t>→</a:t>
            </a:r>
            <a:endParaRPr lang="en-US" sz="1800" dirty="0"/>
          </a:p>
        </p:txBody>
      </p:sp>
      <p:sp>
        <p:nvSpPr>
          <p:cNvPr id="29" name="Shape 27"/>
          <p:cNvSpPr/>
          <p:nvPr/>
        </p:nvSpPr>
        <p:spPr>
          <a:xfrm>
            <a:off x="7040880" y="5193792"/>
            <a:ext cx="4480560" cy="621792"/>
          </a:xfrm>
          <a:prstGeom prst="roundRect">
            <a:avLst>
              <a:gd name="adj" fmla="val 11765"/>
            </a:avLst>
          </a:prstGeom>
          <a:solidFill>
            <a:srgbClr val="1A3A5C"/>
          </a:solidFill>
          <a:ln w="12700">
            <a:solidFill>
              <a:srgbClr val="1A3A5C"/>
            </a:solidFill>
            <a:prstDash val="solid"/>
          </a:ln>
        </p:spPr>
      </p:sp>
      <p:sp>
        <p:nvSpPr>
          <p:cNvPr id="30" name="Text 28"/>
          <p:cNvSpPr/>
          <p:nvPr/>
        </p:nvSpPr>
        <p:spPr>
          <a:xfrm>
            <a:off x="7223760" y="5193792"/>
            <a:ext cx="4114800" cy="621792"/>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Act V · Observability</a:t>
            </a:r>
            <a:endParaRPr lang="en-US" sz="1300" dirty="0"/>
          </a:p>
        </p:txBody>
      </p:sp>
      <p:sp>
        <p:nvSpPr>
          <p:cNvPr id="31" name="Text 29"/>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5 / 44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Five parts of the new job. Five walls we hit.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914400"/>
            <a:ext cx="11064240" cy="685800"/>
          </a:xfrm>
          <a:prstGeom prst="rect">
            <a:avLst/>
          </a:prstGeom>
          <a:noFill/>
          <a:ln/>
        </p:spPr>
        <p:txBody>
          <a:bodyPr wrap="square" rtlCol="0" anchor="ctr"/>
          <a:lstStyle/>
          <a:p>
            <a:pPr indent="0" marL="0">
              <a:buNone/>
            </a:pPr>
            <a:r>
              <a:rPr lang="en-US" sz="1400" i="1" dirty="0">
                <a:solidFill>
                  <a:srgbClr val="636E72"/>
                </a:solidFill>
                <a:latin typeface="Segoe UI" pitchFamily="34" charset="0"/>
                <a:ea typeface="Segoe UI" pitchFamily="34" charset="-122"/>
                <a:cs typeface="Segoe UI" pitchFamily="34" charset="-120"/>
              </a:rPr>
              <a:t>Every one of those responsibilities walked into a wall the first time we tried it with an AI in the loop. This isn’t a feature tour — it’s five walls, in the order we hit them.</a:t>
            </a:r>
            <a:endParaRPr lang="en-US" sz="1400" dirty="0"/>
          </a:p>
        </p:txBody>
      </p:sp>
      <p:sp>
        <p:nvSpPr>
          <p:cNvPr id="6" name="Shape 4"/>
          <p:cNvSpPr/>
          <p:nvPr/>
        </p:nvSpPr>
        <p:spPr>
          <a:xfrm>
            <a:off x="457200" y="1783080"/>
            <a:ext cx="4023360" cy="621792"/>
          </a:xfrm>
          <a:prstGeom prst="rect">
            <a:avLst/>
          </a:prstGeom>
          <a:solidFill>
            <a:srgbClr val="1A3A5C"/>
          </a:solidFill>
          <a:ln w="12700">
            <a:solidFill>
              <a:srgbClr val="1A3A5C"/>
            </a:solidFill>
            <a:prstDash val="solid"/>
          </a:ln>
        </p:spPr>
      </p:sp>
      <p:sp>
        <p:nvSpPr>
          <p:cNvPr id="7" name="Text 5"/>
          <p:cNvSpPr/>
          <p:nvPr/>
        </p:nvSpPr>
        <p:spPr>
          <a:xfrm>
            <a:off x="566928" y="1783080"/>
            <a:ext cx="3840480" cy="62179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Your new job asks you to…</a:t>
            </a:r>
            <a:endParaRPr lang="en-US" sz="1100" dirty="0"/>
          </a:p>
        </p:txBody>
      </p:sp>
      <p:sp>
        <p:nvSpPr>
          <p:cNvPr id="8" name="Shape 6"/>
          <p:cNvSpPr/>
          <p:nvPr/>
        </p:nvSpPr>
        <p:spPr>
          <a:xfrm>
            <a:off x="4572000" y="1783080"/>
            <a:ext cx="4023360" cy="621792"/>
          </a:xfrm>
          <a:prstGeom prst="rect">
            <a:avLst/>
          </a:prstGeom>
          <a:solidFill>
            <a:srgbClr val="1A3A5C"/>
          </a:solidFill>
          <a:ln w="12700">
            <a:solidFill>
              <a:srgbClr val="1A3A5C"/>
            </a:solidFill>
            <a:prstDash val="solid"/>
          </a:ln>
        </p:spPr>
      </p:sp>
      <p:sp>
        <p:nvSpPr>
          <p:cNvPr id="9" name="Text 7"/>
          <p:cNvSpPr/>
          <p:nvPr/>
        </p:nvSpPr>
        <p:spPr>
          <a:xfrm>
            <a:off x="4681728" y="1783080"/>
            <a:ext cx="3840480" cy="62179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…but first we hit a wall</a:t>
            </a:r>
            <a:endParaRPr lang="en-US" sz="1100" dirty="0"/>
          </a:p>
        </p:txBody>
      </p:sp>
      <p:sp>
        <p:nvSpPr>
          <p:cNvPr id="10" name="Shape 8"/>
          <p:cNvSpPr/>
          <p:nvPr/>
        </p:nvSpPr>
        <p:spPr>
          <a:xfrm>
            <a:off x="8686800" y="1783080"/>
            <a:ext cx="3017520" cy="621792"/>
          </a:xfrm>
          <a:prstGeom prst="rect">
            <a:avLst/>
          </a:prstGeom>
          <a:solidFill>
            <a:srgbClr val="1A3A5C"/>
          </a:solidFill>
          <a:ln w="12700">
            <a:solidFill>
              <a:srgbClr val="1A3A5C"/>
            </a:solidFill>
            <a:prstDash val="solid"/>
          </a:ln>
        </p:spPr>
      </p:sp>
      <p:sp>
        <p:nvSpPr>
          <p:cNvPr id="11" name="Text 9"/>
          <p:cNvSpPr/>
          <p:nvPr/>
        </p:nvSpPr>
        <p:spPr>
          <a:xfrm>
            <a:off x="8796528" y="1783080"/>
            <a:ext cx="2834640" cy="621792"/>
          </a:xfrm>
          <a:prstGeom prst="rect">
            <a:avLst/>
          </a:prstGeom>
          <a:noFill/>
          <a:ln/>
        </p:spPr>
        <p:txBody>
          <a:bodyPr wrap="square" rtlCol="0" anchor="ctr"/>
          <a:lstStyle/>
          <a:p>
            <a:pPr indent="0" marL="0">
              <a:buNone/>
            </a:pPr>
            <a:r>
              <a:rPr lang="en-US" sz="1100" b="1" dirty="0">
                <a:solidFill>
                  <a:srgbClr val="FFFFFF"/>
                </a:solidFill>
                <a:latin typeface="Cascadia Code" pitchFamily="34" charset="0"/>
                <a:ea typeface="Cascadia Code" pitchFamily="34" charset="-122"/>
                <a:cs typeface="Cascadia Code" pitchFamily="34" charset="-120"/>
              </a:rPr>
              <a:t>Act</a:t>
            </a:r>
            <a:endParaRPr lang="en-US" sz="1100" dirty="0"/>
          </a:p>
        </p:txBody>
      </p:sp>
      <p:sp>
        <p:nvSpPr>
          <p:cNvPr id="12" name="Shape 10"/>
          <p:cNvSpPr/>
          <p:nvPr/>
        </p:nvSpPr>
        <p:spPr>
          <a:xfrm>
            <a:off x="457200" y="2441448"/>
            <a:ext cx="4023360" cy="621792"/>
          </a:xfrm>
          <a:prstGeom prst="rect">
            <a:avLst/>
          </a:prstGeom>
          <a:solidFill>
            <a:srgbClr val="FFFFFF"/>
          </a:solidFill>
          <a:ln w="12700">
            <a:solidFill>
              <a:srgbClr val="DFE6E9"/>
            </a:solidFill>
            <a:prstDash val="solid"/>
          </a:ln>
        </p:spPr>
      </p:sp>
      <p:sp>
        <p:nvSpPr>
          <p:cNvPr id="13" name="Text 11"/>
          <p:cNvSpPr/>
          <p:nvPr/>
        </p:nvSpPr>
        <p:spPr>
          <a:xfrm>
            <a:off x="566928" y="2441448"/>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Own the intent (BA hat)</a:t>
            </a:r>
            <a:endParaRPr lang="en-US" sz="1200" dirty="0"/>
          </a:p>
        </p:txBody>
      </p:sp>
      <p:sp>
        <p:nvSpPr>
          <p:cNvPr id="14" name="Shape 12"/>
          <p:cNvSpPr/>
          <p:nvPr/>
        </p:nvSpPr>
        <p:spPr>
          <a:xfrm>
            <a:off x="4572000" y="2441448"/>
            <a:ext cx="4023360" cy="621792"/>
          </a:xfrm>
          <a:prstGeom prst="rect">
            <a:avLst/>
          </a:prstGeom>
          <a:solidFill>
            <a:srgbClr val="FFFFFF"/>
          </a:solidFill>
          <a:ln w="12700">
            <a:solidFill>
              <a:srgbClr val="DFE6E9"/>
            </a:solidFill>
            <a:prstDash val="solid"/>
          </a:ln>
        </p:spPr>
      </p:sp>
      <p:sp>
        <p:nvSpPr>
          <p:cNvPr id="15" name="Text 13"/>
          <p:cNvSpPr/>
          <p:nvPr/>
        </p:nvSpPr>
        <p:spPr>
          <a:xfrm>
            <a:off x="4681728" y="2441448"/>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Nothing captured intent</a:t>
            </a:r>
            <a:endParaRPr lang="en-US" sz="1200" dirty="0"/>
          </a:p>
        </p:txBody>
      </p:sp>
      <p:sp>
        <p:nvSpPr>
          <p:cNvPr id="16" name="Shape 14"/>
          <p:cNvSpPr/>
          <p:nvPr/>
        </p:nvSpPr>
        <p:spPr>
          <a:xfrm>
            <a:off x="8686800" y="2441448"/>
            <a:ext cx="3017520" cy="621792"/>
          </a:xfrm>
          <a:prstGeom prst="rect">
            <a:avLst/>
          </a:prstGeom>
          <a:solidFill>
            <a:srgbClr val="FFF8EC"/>
          </a:solidFill>
          <a:ln w="12700">
            <a:solidFill>
              <a:srgbClr val="DFE6E9"/>
            </a:solidFill>
            <a:prstDash val="solid"/>
          </a:ln>
        </p:spPr>
      </p:sp>
      <p:sp>
        <p:nvSpPr>
          <p:cNvPr id="17" name="Text 15"/>
          <p:cNvSpPr/>
          <p:nvPr/>
        </p:nvSpPr>
        <p:spPr>
          <a:xfrm>
            <a:off x="8796528" y="2441448"/>
            <a:ext cx="2834640" cy="621792"/>
          </a:xfrm>
          <a:prstGeom prst="rect">
            <a:avLst/>
          </a:prstGeom>
          <a:noFill/>
          <a:ln/>
        </p:spPr>
        <p:txBody>
          <a:bodyPr wrap="square" rtlCol="0" anchor="ctr"/>
          <a:lstStyle/>
          <a:p>
            <a:pPr indent="0" marL="0">
              <a:buNone/>
            </a:pPr>
            <a:r>
              <a:rPr lang="en-US" sz="1200" b="1" dirty="0">
                <a:solidFill>
                  <a:srgbClr val="C8A951"/>
                </a:solidFill>
                <a:latin typeface="Cascadia Code" pitchFamily="34" charset="0"/>
                <a:ea typeface="Cascadia Code" pitchFamily="34" charset="-122"/>
                <a:cs typeface="Cascadia Code" pitchFamily="34" charset="-120"/>
              </a:rPr>
              <a:t>I · Spec</a:t>
            </a:r>
            <a:endParaRPr lang="en-US" sz="1200" dirty="0"/>
          </a:p>
        </p:txBody>
      </p:sp>
      <p:sp>
        <p:nvSpPr>
          <p:cNvPr id="18" name="Shape 16"/>
          <p:cNvSpPr/>
          <p:nvPr/>
        </p:nvSpPr>
        <p:spPr>
          <a:xfrm>
            <a:off x="457200" y="3099816"/>
            <a:ext cx="4023360" cy="621792"/>
          </a:xfrm>
          <a:prstGeom prst="rect">
            <a:avLst/>
          </a:prstGeom>
          <a:solidFill>
            <a:srgbClr val="FFFFFF"/>
          </a:solidFill>
          <a:ln w="12700">
            <a:solidFill>
              <a:srgbClr val="DFE6E9"/>
            </a:solidFill>
            <a:prstDash val="solid"/>
          </a:ln>
        </p:spPr>
      </p:sp>
      <p:sp>
        <p:nvSpPr>
          <p:cNvPr id="19" name="Text 17"/>
          <p:cNvSpPr/>
          <p:nvPr/>
        </p:nvSpPr>
        <p:spPr>
          <a:xfrm>
            <a:off x="566928" y="3099816"/>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Review the AI’s judgment</a:t>
            </a:r>
            <a:endParaRPr lang="en-US" sz="1200" dirty="0"/>
          </a:p>
        </p:txBody>
      </p:sp>
      <p:sp>
        <p:nvSpPr>
          <p:cNvPr id="20" name="Shape 18"/>
          <p:cNvSpPr/>
          <p:nvPr/>
        </p:nvSpPr>
        <p:spPr>
          <a:xfrm>
            <a:off x="4572000" y="3099816"/>
            <a:ext cx="4023360" cy="621792"/>
          </a:xfrm>
          <a:prstGeom prst="rect">
            <a:avLst/>
          </a:prstGeom>
          <a:solidFill>
            <a:srgbClr val="FFFFFF"/>
          </a:solidFill>
          <a:ln w="12700">
            <a:solidFill>
              <a:srgbClr val="DFE6E9"/>
            </a:solidFill>
            <a:prstDash val="solid"/>
          </a:ln>
        </p:spPr>
      </p:sp>
      <p:sp>
        <p:nvSpPr>
          <p:cNvPr id="21" name="Text 19"/>
          <p:cNvSpPr/>
          <p:nvPr/>
        </p:nvSpPr>
        <p:spPr>
          <a:xfrm>
            <a:off x="4681728" y="3099816"/>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Nothing let you see it</a:t>
            </a:r>
            <a:endParaRPr lang="en-US" sz="1200" dirty="0"/>
          </a:p>
        </p:txBody>
      </p:sp>
      <p:sp>
        <p:nvSpPr>
          <p:cNvPr id="22" name="Shape 20"/>
          <p:cNvSpPr/>
          <p:nvPr/>
        </p:nvSpPr>
        <p:spPr>
          <a:xfrm>
            <a:off x="8686800" y="3099816"/>
            <a:ext cx="3017520" cy="621792"/>
          </a:xfrm>
          <a:prstGeom prst="rect">
            <a:avLst/>
          </a:prstGeom>
          <a:solidFill>
            <a:srgbClr val="FFF8EC"/>
          </a:solidFill>
          <a:ln w="12700">
            <a:solidFill>
              <a:srgbClr val="DFE6E9"/>
            </a:solidFill>
            <a:prstDash val="solid"/>
          </a:ln>
        </p:spPr>
      </p:sp>
      <p:sp>
        <p:nvSpPr>
          <p:cNvPr id="23" name="Text 21"/>
          <p:cNvSpPr/>
          <p:nvPr/>
        </p:nvSpPr>
        <p:spPr>
          <a:xfrm>
            <a:off x="8796528" y="3099816"/>
            <a:ext cx="2834640" cy="621792"/>
          </a:xfrm>
          <a:prstGeom prst="rect">
            <a:avLst/>
          </a:prstGeom>
          <a:noFill/>
          <a:ln/>
        </p:spPr>
        <p:txBody>
          <a:bodyPr wrap="square" rtlCol="0" anchor="ctr"/>
          <a:lstStyle/>
          <a:p>
            <a:pPr indent="0" marL="0">
              <a:buNone/>
            </a:pPr>
            <a:r>
              <a:rPr lang="en-US" sz="1200" b="1" dirty="0">
                <a:solidFill>
                  <a:srgbClr val="C8A951"/>
                </a:solidFill>
                <a:latin typeface="Cascadia Code" pitchFamily="34" charset="0"/>
                <a:ea typeface="Cascadia Code" pitchFamily="34" charset="-122"/>
                <a:cs typeface="Cascadia Code" pitchFamily="34" charset="-120"/>
              </a:rPr>
              <a:t>II · Trust</a:t>
            </a:r>
            <a:endParaRPr lang="en-US" sz="1200" dirty="0"/>
          </a:p>
        </p:txBody>
      </p:sp>
      <p:sp>
        <p:nvSpPr>
          <p:cNvPr id="24" name="Shape 22"/>
          <p:cNvSpPr/>
          <p:nvPr/>
        </p:nvSpPr>
        <p:spPr>
          <a:xfrm>
            <a:off x="457200" y="3758184"/>
            <a:ext cx="4023360" cy="621792"/>
          </a:xfrm>
          <a:prstGeom prst="rect">
            <a:avLst/>
          </a:prstGeom>
          <a:solidFill>
            <a:srgbClr val="FFFFFF"/>
          </a:solidFill>
          <a:ln w="12700">
            <a:solidFill>
              <a:srgbClr val="DFE6E9"/>
            </a:solidFill>
            <a:prstDash val="solid"/>
          </a:ln>
        </p:spPr>
      </p:sp>
      <p:sp>
        <p:nvSpPr>
          <p:cNvPr id="25" name="Text 23"/>
          <p:cNvSpPr/>
          <p:nvPr/>
        </p:nvSpPr>
        <p:spPr>
          <a:xfrm>
            <a:off x="566928" y="3758184"/>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Carry decisions forward</a:t>
            </a:r>
            <a:endParaRPr lang="en-US" sz="1200" dirty="0"/>
          </a:p>
        </p:txBody>
      </p:sp>
      <p:sp>
        <p:nvSpPr>
          <p:cNvPr id="26" name="Shape 24"/>
          <p:cNvSpPr/>
          <p:nvPr/>
        </p:nvSpPr>
        <p:spPr>
          <a:xfrm>
            <a:off x="4572000" y="3758184"/>
            <a:ext cx="4023360" cy="621792"/>
          </a:xfrm>
          <a:prstGeom prst="rect">
            <a:avLst/>
          </a:prstGeom>
          <a:solidFill>
            <a:srgbClr val="FFFFFF"/>
          </a:solidFill>
          <a:ln w="12700">
            <a:solidFill>
              <a:srgbClr val="DFE6E9"/>
            </a:solidFill>
            <a:prstDash val="solid"/>
          </a:ln>
        </p:spPr>
      </p:sp>
      <p:sp>
        <p:nvSpPr>
          <p:cNvPr id="27" name="Text 25"/>
          <p:cNvSpPr/>
          <p:nvPr/>
        </p:nvSpPr>
        <p:spPr>
          <a:xfrm>
            <a:off x="4681728" y="3758184"/>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Every session started cold</a:t>
            </a:r>
            <a:endParaRPr lang="en-US" sz="1200" dirty="0"/>
          </a:p>
        </p:txBody>
      </p:sp>
      <p:sp>
        <p:nvSpPr>
          <p:cNvPr id="28" name="Shape 26"/>
          <p:cNvSpPr/>
          <p:nvPr/>
        </p:nvSpPr>
        <p:spPr>
          <a:xfrm>
            <a:off x="8686800" y="3758184"/>
            <a:ext cx="3017520" cy="621792"/>
          </a:xfrm>
          <a:prstGeom prst="rect">
            <a:avLst/>
          </a:prstGeom>
          <a:solidFill>
            <a:srgbClr val="FFF8EC"/>
          </a:solidFill>
          <a:ln w="12700">
            <a:solidFill>
              <a:srgbClr val="DFE6E9"/>
            </a:solidFill>
            <a:prstDash val="solid"/>
          </a:ln>
        </p:spPr>
      </p:sp>
      <p:sp>
        <p:nvSpPr>
          <p:cNvPr id="29" name="Text 27"/>
          <p:cNvSpPr/>
          <p:nvPr/>
        </p:nvSpPr>
        <p:spPr>
          <a:xfrm>
            <a:off x="8796528" y="3758184"/>
            <a:ext cx="2834640" cy="621792"/>
          </a:xfrm>
          <a:prstGeom prst="rect">
            <a:avLst/>
          </a:prstGeom>
          <a:noFill/>
          <a:ln/>
        </p:spPr>
        <p:txBody>
          <a:bodyPr wrap="square" rtlCol="0" anchor="ctr"/>
          <a:lstStyle/>
          <a:p>
            <a:pPr indent="0" marL="0">
              <a:buNone/>
            </a:pPr>
            <a:r>
              <a:rPr lang="en-US" sz="1200" b="1" dirty="0">
                <a:solidFill>
                  <a:srgbClr val="C8A951"/>
                </a:solidFill>
                <a:latin typeface="Cascadia Code" pitchFamily="34" charset="0"/>
                <a:ea typeface="Cascadia Code" pitchFamily="34" charset="-122"/>
                <a:cs typeface="Cascadia Code" pitchFamily="34" charset="-120"/>
              </a:rPr>
              <a:t>III · Continuity</a:t>
            </a:r>
            <a:endParaRPr lang="en-US" sz="1200" dirty="0"/>
          </a:p>
        </p:txBody>
      </p:sp>
      <p:sp>
        <p:nvSpPr>
          <p:cNvPr id="30" name="Shape 28"/>
          <p:cNvSpPr/>
          <p:nvPr/>
        </p:nvSpPr>
        <p:spPr>
          <a:xfrm>
            <a:off x="457200" y="4416552"/>
            <a:ext cx="4023360" cy="621792"/>
          </a:xfrm>
          <a:prstGeom prst="rect">
            <a:avLst/>
          </a:prstGeom>
          <a:solidFill>
            <a:srgbClr val="FFFFFF"/>
          </a:solidFill>
          <a:ln w="12700">
            <a:solidFill>
              <a:srgbClr val="DFE6E9"/>
            </a:solidFill>
            <a:prstDash val="solid"/>
          </a:ln>
        </p:spPr>
      </p:sp>
      <p:sp>
        <p:nvSpPr>
          <p:cNvPr id="31" name="Text 29"/>
          <p:cNvSpPr/>
          <p:nvPr/>
        </p:nvSpPr>
        <p:spPr>
          <a:xfrm>
            <a:off x="566928" y="4416552"/>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Understand the whole system</a:t>
            </a:r>
            <a:endParaRPr lang="en-US" sz="1200" dirty="0"/>
          </a:p>
        </p:txBody>
      </p:sp>
      <p:sp>
        <p:nvSpPr>
          <p:cNvPr id="32" name="Shape 30"/>
          <p:cNvSpPr/>
          <p:nvPr/>
        </p:nvSpPr>
        <p:spPr>
          <a:xfrm>
            <a:off x="4572000" y="4416552"/>
            <a:ext cx="4023360" cy="621792"/>
          </a:xfrm>
          <a:prstGeom prst="rect">
            <a:avLst/>
          </a:prstGeom>
          <a:solidFill>
            <a:srgbClr val="FFFFFF"/>
          </a:solidFill>
          <a:ln w="12700">
            <a:solidFill>
              <a:srgbClr val="DFE6E9"/>
            </a:solidFill>
            <a:prstDash val="solid"/>
          </a:ln>
        </p:spPr>
      </p:sp>
      <p:sp>
        <p:nvSpPr>
          <p:cNvPr id="33" name="Text 31"/>
          <p:cNvSpPr/>
          <p:nvPr/>
        </p:nvSpPr>
        <p:spPr>
          <a:xfrm>
            <a:off x="4681728" y="4416552"/>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We re-read it every time</a:t>
            </a:r>
            <a:endParaRPr lang="en-US" sz="1200" dirty="0"/>
          </a:p>
        </p:txBody>
      </p:sp>
      <p:sp>
        <p:nvSpPr>
          <p:cNvPr id="34" name="Shape 32"/>
          <p:cNvSpPr/>
          <p:nvPr/>
        </p:nvSpPr>
        <p:spPr>
          <a:xfrm>
            <a:off x="8686800" y="4416552"/>
            <a:ext cx="3017520" cy="621792"/>
          </a:xfrm>
          <a:prstGeom prst="rect">
            <a:avLst/>
          </a:prstGeom>
          <a:solidFill>
            <a:srgbClr val="FFF8EC"/>
          </a:solidFill>
          <a:ln w="12700">
            <a:solidFill>
              <a:srgbClr val="DFE6E9"/>
            </a:solidFill>
            <a:prstDash val="solid"/>
          </a:ln>
        </p:spPr>
      </p:sp>
      <p:sp>
        <p:nvSpPr>
          <p:cNvPr id="35" name="Text 33"/>
          <p:cNvSpPr/>
          <p:nvPr/>
        </p:nvSpPr>
        <p:spPr>
          <a:xfrm>
            <a:off x="8796528" y="4416552"/>
            <a:ext cx="2834640" cy="621792"/>
          </a:xfrm>
          <a:prstGeom prst="rect">
            <a:avLst/>
          </a:prstGeom>
          <a:noFill/>
          <a:ln/>
        </p:spPr>
        <p:txBody>
          <a:bodyPr wrap="square" rtlCol="0" anchor="ctr"/>
          <a:lstStyle/>
          <a:p>
            <a:pPr indent="0" marL="0">
              <a:buNone/>
            </a:pPr>
            <a:r>
              <a:rPr lang="en-US" sz="1200" b="1" dirty="0">
                <a:solidFill>
                  <a:srgbClr val="C8A951"/>
                </a:solidFill>
                <a:latin typeface="Cascadia Code" pitchFamily="34" charset="0"/>
                <a:ea typeface="Cascadia Code" pitchFamily="34" charset="-122"/>
                <a:cs typeface="Cascadia Code" pitchFamily="34" charset="-120"/>
              </a:rPr>
              <a:t>IV · Knowledge</a:t>
            </a:r>
            <a:endParaRPr lang="en-US" sz="1200" dirty="0"/>
          </a:p>
        </p:txBody>
      </p:sp>
      <p:sp>
        <p:nvSpPr>
          <p:cNvPr id="36" name="Shape 34"/>
          <p:cNvSpPr/>
          <p:nvPr/>
        </p:nvSpPr>
        <p:spPr>
          <a:xfrm>
            <a:off x="457200" y="5074920"/>
            <a:ext cx="4023360" cy="621792"/>
          </a:xfrm>
          <a:prstGeom prst="rect">
            <a:avLst/>
          </a:prstGeom>
          <a:solidFill>
            <a:srgbClr val="FFFFFF"/>
          </a:solidFill>
          <a:ln w="12700">
            <a:solidFill>
              <a:srgbClr val="DFE6E9"/>
            </a:solidFill>
            <a:prstDash val="solid"/>
          </a:ln>
        </p:spPr>
      </p:sp>
      <p:sp>
        <p:nvSpPr>
          <p:cNvPr id="37" name="Text 35"/>
          <p:cNvSpPr/>
          <p:nvPr/>
        </p:nvSpPr>
        <p:spPr>
          <a:xfrm>
            <a:off x="566928" y="5074920"/>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Prove it actually held</a:t>
            </a:r>
            <a:endParaRPr lang="en-US" sz="1200" dirty="0"/>
          </a:p>
        </p:txBody>
      </p:sp>
      <p:sp>
        <p:nvSpPr>
          <p:cNvPr id="38" name="Shape 36"/>
          <p:cNvSpPr/>
          <p:nvPr/>
        </p:nvSpPr>
        <p:spPr>
          <a:xfrm>
            <a:off x="4572000" y="5074920"/>
            <a:ext cx="4023360" cy="621792"/>
          </a:xfrm>
          <a:prstGeom prst="rect">
            <a:avLst/>
          </a:prstGeom>
          <a:solidFill>
            <a:srgbClr val="FFFFFF"/>
          </a:solidFill>
          <a:ln w="12700">
            <a:solidFill>
              <a:srgbClr val="DFE6E9"/>
            </a:solidFill>
            <a:prstDash val="solid"/>
          </a:ln>
        </p:spPr>
      </p:sp>
      <p:sp>
        <p:nvSpPr>
          <p:cNvPr id="39" name="Text 37"/>
          <p:cNvSpPr/>
          <p:nvPr/>
        </p:nvSpPr>
        <p:spPr>
          <a:xfrm>
            <a:off x="4681728" y="5074920"/>
            <a:ext cx="3840480" cy="621792"/>
          </a:xfrm>
          <a:prstGeom prst="rect">
            <a:avLst/>
          </a:prstGeom>
          <a:noFill/>
          <a:ln/>
        </p:spPr>
        <p:txBody>
          <a:bodyPr wrap="square" rtlCol="0" anchor="ctr"/>
          <a:lstStyle/>
          <a:p>
            <a:pPr indent="0" marL="0">
              <a:buNone/>
            </a:pPr>
            <a:r>
              <a:rPr lang="en-US" sz="1200" dirty="0">
                <a:solidFill>
                  <a:srgbClr val="2D3436"/>
                </a:solidFill>
                <a:latin typeface="Segoe UI" pitchFamily="34" charset="0"/>
                <a:ea typeface="Segoe UI" pitchFamily="34" charset="-122"/>
                <a:cs typeface="Segoe UI" pitchFamily="34" charset="-120"/>
              </a:rPr>
              <a:t>We couldn’t show it did</a:t>
            </a:r>
            <a:endParaRPr lang="en-US" sz="1200" dirty="0"/>
          </a:p>
        </p:txBody>
      </p:sp>
      <p:sp>
        <p:nvSpPr>
          <p:cNvPr id="40" name="Shape 38"/>
          <p:cNvSpPr/>
          <p:nvPr/>
        </p:nvSpPr>
        <p:spPr>
          <a:xfrm>
            <a:off x="8686800" y="5074920"/>
            <a:ext cx="3017520" cy="621792"/>
          </a:xfrm>
          <a:prstGeom prst="rect">
            <a:avLst/>
          </a:prstGeom>
          <a:solidFill>
            <a:srgbClr val="FFF8EC"/>
          </a:solidFill>
          <a:ln w="12700">
            <a:solidFill>
              <a:srgbClr val="DFE6E9"/>
            </a:solidFill>
            <a:prstDash val="solid"/>
          </a:ln>
        </p:spPr>
      </p:sp>
      <p:sp>
        <p:nvSpPr>
          <p:cNvPr id="41" name="Text 39"/>
          <p:cNvSpPr/>
          <p:nvPr/>
        </p:nvSpPr>
        <p:spPr>
          <a:xfrm>
            <a:off x="8796528" y="5074920"/>
            <a:ext cx="2834640" cy="621792"/>
          </a:xfrm>
          <a:prstGeom prst="rect">
            <a:avLst/>
          </a:prstGeom>
          <a:noFill/>
          <a:ln/>
        </p:spPr>
        <p:txBody>
          <a:bodyPr wrap="square" rtlCol="0" anchor="ctr"/>
          <a:lstStyle/>
          <a:p>
            <a:pPr indent="0" marL="0">
              <a:buNone/>
            </a:pPr>
            <a:r>
              <a:rPr lang="en-US" sz="1200" b="1" dirty="0">
                <a:solidFill>
                  <a:srgbClr val="C8A951"/>
                </a:solidFill>
                <a:latin typeface="Cascadia Code" pitchFamily="34" charset="0"/>
                <a:ea typeface="Cascadia Code" pitchFamily="34" charset="-122"/>
                <a:cs typeface="Cascadia Code" pitchFamily="34" charset="-120"/>
              </a:rPr>
              <a:t>V · Observability</a:t>
            </a:r>
            <a:endParaRPr lang="en-US" sz="1200" dirty="0"/>
          </a:p>
        </p:txBody>
      </p:sp>
      <p:sp>
        <p:nvSpPr>
          <p:cNvPr id="42" name="Text 40"/>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6 / 44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We built a plugin — not a prompt library</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457200" y="868680"/>
            <a:ext cx="11247120" cy="822960"/>
          </a:xfrm>
          <a:prstGeom prst="rect">
            <a:avLst/>
          </a:prstGeom>
          <a:noFill/>
          <a:ln/>
        </p:spPr>
        <p:txBody>
          <a:bodyPr wrap="square" rtlCol="0" anchor="ctr"/>
          <a:lstStyle/>
          <a:p>
            <a:pPr indent="0" marL="0">
              <a:buNone/>
            </a:pPr>
            <a:r>
              <a:rPr lang="en-US" sz="1400" i="1" dirty="0">
                <a:solidFill>
                  <a:srgbClr val="636E72"/>
                </a:solidFill>
                <a:latin typeface="Segoe UI" pitchFamily="34" charset="0"/>
                <a:ea typeface="Segoe UI" pitchFamily="34" charset="-122"/>
                <a:cs typeface="Segoe UI" pitchFamily="34" charset="-120"/>
              </a:rPr>
              <a:t>A prompt library assists how you already work. A plugin enforces how you’ve agreed to work. If your job is to manage an AI instead of out-typing it, suggestions aren’t enough — you need something that holds.</a:t>
            </a:r>
            <a:endParaRPr lang="en-US" sz="1400" dirty="0"/>
          </a:p>
        </p:txBody>
      </p:sp>
      <p:sp>
        <p:nvSpPr>
          <p:cNvPr id="6" name="Shape 4"/>
          <p:cNvSpPr/>
          <p:nvPr/>
        </p:nvSpPr>
        <p:spPr>
          <a:xfrm>
            <a:off x="457200" y="1874520"/>
            <a:ext cx="2697480" cy="2286000"/>
          </a:xfrm>
          <a:prstGeom prst="roundRect">
            <a:avLst>
              <a:gd name="adj" fmla="val 4800"/>
            </a:avLst>
          </a:prstGeom>
          <a:solidFill>
            <a:srgbClr val="FFFFFF"/>
          </a:solidFill>
          <a:ln w="12700">
            <a:solidFill>
              <a:srgbClr val="DFE6E9"/>
            </a:solidFill>
            <a:prstDash val="solid"/>
          </a:ln>
        </p:spPr>
      </p:sp>
      <p:sp>
        <p:nvSpPr>
          <p:cNvPr id="7" name="Shape 5"/>
          <p:cNvSpPr/>
          <p:nvPr/>
        </p:nvSpPr>
        <p:spPr>
          <a:xfrm>
            <a:off x="457200" y="1874520"/>
            <a:ext cx="2697480" cy="64008"/>
          </a:xfrm>
          <a:prstGeom prst="rect">
            <a:avLst/>
          </a:prstGeom>
          <a:solidFill>
            <a:srgbClr val="C8A951"/>
          </a:solidFill>
          <a:ln w="12700">
            <a:solidFill>
              <a:srgbClr val="C8A951"/>
            </a:solidFill>
            <a:prstDash val="solid"/>
          </a:ln>
        </p:spPr>
      </p:sp>
      <p:sp>
        <p:nvSpPr>
          <p:cNvPr id="8" name="Text 6"/>
          <p:cNvSpPr/>
          <p:nvPr/>
        </p:nvSpPr>
        <p:spPr>
          <a:xfrm>
            <a:off x="457200" y="2011680"/>
            <a:ext cx="2697480" cy="914400"/>
          </a:xfrm>
          <a:prstGeom prst="rect">
            <a:avLst/>
          </a:prstGeom>
          <a:noFill/>
          <a:ln/>
        </p:spPr>
        <p:txBody>
          <a:bodyPr wrap="square" rtlCol="0" anchor="ctr"/>
          <a:lstStyle/>
          <a:p>
            <a:pPr algn="ctr" indent="0" marL="0">
              <a:buNone/>
            </a:pPr>
            <a:r>
              <a:rPr lang="en-US" sz="4800" b="1" dirty="0">
                <a:solidFill>
                  <a:srgbClr val="1A3A5C"/>
                </a:solidFill>
                <a:latin typeface="Cascadia Code" pitchFamily="34" charset="0"/>
                <a:ea typeface="Cascadia Code" pitchFamily="34" charset="-122"/>
                <a:cs typeface="Cascadia Code" pitchFamily="34" charset="-120"/>
              </a:rPr>
              <a:t>38</a:t>
            </a:r>
            <a:endParaRPr lang="en-US" sz="4800" dirty="0"/>
          </a:p>
        </p:txBody>
      </p:sp>
      <p:sp>
        <p:nvSpPr>
          <p:cNvPr id="9" name="Text 7"/>
          <p:cNvSpPr/>
          <p:nvPr/>
        </p:nvSpPr>
        <p:spPr>
          <a:xfrm>
            <a:off x="457200" y="2926080"/>
            <a:ext cx="2697480" cy="320040"/>
          </a:xfrm>
          <a:prstGeom prst="rect">
            <a:avLst/>
          </a:prstGeom>
          <a:noFill/>
          <a:ln/>
        </p:spPr>
        <p:txBody>
          <a:bodyPr wrap="square" rtlCol="0" anchor="ctr"/>
          <a:lstStyle/>
          <a:p>
            <a:pPr algn="ctr" indent="0" marL="0">
              <a:buNone/>
            </a:pPr>
            <a:r>
              <a:rPr lang="en-US" sz="1400" b="1" dirty="0">
                <a:solidFill>
                  <a:srgbClr val="1A3A5C"/>
                </a:solidFill>
                <a:latin typeface="Segoe UI" pitchFamily="34" charset="0"/>
                <a:ea typeface="Segoe UI" pitchFamily="34" charset="-122"/>
                <a:cs typeface="Segoe UI" pitchFamily="34" charset="-120"/>
              </a:rPr>
              <a:t>Commands</a:t>
            </a:r>
            <a:endParaRPr lang="en-US" sz="1400" dirty="0"/>
          </a:p>
        </p:txBody>
      </p:sp>
      <p:sp>
        <p:nvSpPr>
          <p:cNvPr id="10" name="Text 8"/>
          <p:cNvSpPr/>
          <p:nvPr/>
        </p:nvSpPr>
        <p:spPr>
          <a:xfrm>
            <a:off x="457200" y="3246120"/>
            <a:ext cx="2697480" cy="731520"/>
          </a:xfrm>
          <a:prstGeom prst="rect">
            <a:avLst/>
          </a:prstGeom>
          <a:noFill/>
          <a:ln/>
        </p:spPr>
        <p:txBody>
          <a:bodyPr wrap="square" rtlCol="0" anchor="ctr"/>
          <a:lstStyle/>
          <a:p>
            <a:pPr algn="ctr" indent="0" marL="0">
              <a:buNone/>
            </a:pPr>
            <a:r>
              <a:rPr lang="en-US" sz="1000" dirty="0">
                <a:solidFill>
                  <a:srgbClr val="636E72"/>
                </a:solidFill>
                <a:latin typeface="Segoe UI" pitchFamily="34" charset="0"/>
                <a:ea typeface="Segoe UI" pitchFamily="34" charset="-122"/>
                <a:cs typeface="Segoe UI" pitchFamily="34" charset="-120"/>
              </a:rPr>
              <a:t>Thin entry points into governed workflows</a:t>
            </a:r>
            <a:endParaRPr lang="en-US" sz="1000" dirty="0"/>
          </a:p>
        </p:txBody>
      </p:sp>
      <p:sp>
        <p:nvSpPr>
          <p:cNvPr id="11" name="Shape 9"/>
          <p:cNvSpPr/>
          <p:nvPr/>
        </p:nvSpPr>
        <p:spPr>
          <a:xfrm>
            <a:off x="3291840" y="1874520"/>
            <a:ext cx="2697480" cy="2286000"/>
          </a:xfrm>
          <a:prstGeom prst="roundRect">
            <a:avLst>
              <a:gd name="adj" fmla="val 4800"/>
            </a:avLst>
          </a:prstGeom>
          <a:solidFill>
            <a:srgbClr val="FFFFFF"/>
          </a:solidFill>
          <a:ln w="12700">
            <a:solidFill>
              <a:srgbClr val="DFE6E9"/>
            </a:solidFill>
            <a:prstDash val="solid"/>
          </a:ln>
        </p:spPr>
      </p:sp>
      <p:sp>
        <p:nvSpPr>
          <p:cNvPr id="12" name="Shape 10"/>
          <p:cNvSpPr/>
          <p:nvPr/>
        </p:nvSpPr>
        <p:spPr>
          <a:xfrm>
            <a:off x="3291840" y="1874520"/>
            <a:ext cx="2697480" cy="64008"/>
          </a:xfrm>
          <a:prstGeom prst="rect">
            <a:avLst/>
          </a:prstGeom>
          <a:solidFill>
            <a:srgbClr val="C8A951"/>
          </a:solidFill>
          <a:ln w="12700">
            <a:solidFill>
              <a:srgbClr val="C8A951"/>
            </a:solidFill>
            <a:prstDash val="solid"/>
          </a:ln>
        </p:spPr>
      </p:sp>
      <p:sp>
        <p:nvSpPr>
          <p:cNvPr id="13" name="Text 11"/>
          <p:cNvSpPr/>
          <p:nvPr/>
        </p:nvSpPr>
        <p:spPr>
          <a:xfrm>
            <a:off x="3291840" y="2011680"/>
            <a:ext cx="2697480" cy="914400"/>
          </a:xfrm>
          <a:prstGeom prst="rect">
            <a:avLst/>
          </a:prstGeom>
          <a:noFill/>
          <a:ln/>
        </p:spPr>
        <p:txBody>
          <a:bodyPr wrap="square" rtlCol="0" anchor="ctr"/>
          <a:lstStyle/>
          <a:p>
            <a:pPr algn="ctr" indent="0" marL="0">
              <a:buNone/>
            </a:pPr>
            <a:r>
              <a:rPr lang="en-US" sz="4800" b="1" dirty="0">
                <a:solidFill>
                  <a:srgbClr val="1A3A5C"/>
                </a:solidFill>
                <a:latin typeface="Cascadia Code" pitchFamily="34" charset="0"/>
                <a:ea typeface="Cascadia Code" pitchFamily="34" charset="-122"/>
                <a:cs typeface="Cascadia Code" pitchFamily="34" charset="-120"/>
              </a:rPr>
              <a:t>26</a:t>
            </a:r>
            <a:endParaRPr lang="en-US" sz="4800" dirty="0"/>
          </a:p>
        </p:txBody>
      </p:sp>
      <p:sp>
        <p:nvSpPr>
          <p:cNvPr id="14" name="Text 12"/>
          <p:cNvSpPr/>
          <p:nvPr/>
        </p:nvSpPr>
        <p:spPr>
          <a:xfrm>
            <a:off x="3291840" y="2926080"/>
            <a:ext cx="2697480" cy="320040"/>
          </a:xfrm>
          <a:prstGeom prst="rect">
            <a:avLst/>
          </a:prstGeom>
          <a:noFill/>
          <a:ln/>
        </p:spPr>
        <p:txBody>
          <a:bodyPr wrap="square" rtlCol="0" anchor="ctr"/>
          <a:lstStyle/>
          <a:p>
            <a:pPr algn="ctr" indent="0" marL="0">
              <a:buNone/>
            </a:pPr>
            <a:r>
              <a:rPr lang="en-US" sz="1400" b="1" dirty="0">
                <a:solidFill>
                  <a:srgbClr val="1A3A5C"/>
                </a:solidFill>
                <a:latin typeface="Segoe UI" pitchFamily="34" charset="0"/>
                <a:ea typeface="Segoe UI" pitchFamily="34" charset="-122"/>
                <a:cs typeface="Segoe UI" pitchFamily="34" charset="-120"/>
              </a:rPr>
              <a:t>Skills</a:t>
            </a:r>
            <a:endParaRPr lang="en-US" sz="1400" dirty="0"/>
          </a:p>
        </p:txBody>
      </p:sp>
      <p:sp>
        <p:nvSpPr>
          <p:cNvPr id="15" name="Text 13"/>
          <p:cNvSpPr/>
          <p:nvPr/>
        </p:nvSpPr>
        <p:spPr>
          <a:xfrm>
            <a:off x="3291840" y="3246120"/>
            <a:ext cx="2697480" cy="731520"/>
          </a:xfrm>
          <a:prstGeom prst="rect">
            <a:avLst/>
          </a:prstGeom>
          <a:noFill/>
          <a:ln/>
        </p:spPr>
        <p:txBody>
          <a:bodyPr wrap="square" rtlCol="0" anchor="ctr"/>
          <a:lstStyle/>
          <a:p>
            <a:pPr algn="ctr" indent="0" marL="0">
              <a:buNone/>
            </a:pPr>
            <a:r>
              <a:rPr lang="en-US" sz="1000" dirty="0">
                <a:solidFill>
                  <a:srgbClr val="636E72"/>
                </a:solidFill>
                <a:latin typeface="Segoe UI" pitchFamily="34" charset="0"/>
                <a:ea typeface="Segoe UI" pitchFamily="34" charset="-122"/>
                <a:cs typeface="Segoe UI" pitchFamily="34" charset="-120"/>
              </a:rPr>
              <a:t>Behavioral modules with shared primitives</a:t>
            </a:r>
            <a:endParaRPr lang="en-US" sz="1000" dirty="0"/>
          </a:p>
        </p:txBody>
      </p:sp>
      <p:sp>
        <p:nvSpPr>
          <p:cNvPr id="16" name="Shape 14"/>
          <p:cNvSpPr/>
          <p:nvPr/>
        </p:nvSpPr>
        <p:spPr>
          <a:xfrm>
            <a:off x="6126480" y="1874520"/>
            <a:ext cx="2697480" cy="2286000"/>
          </a:xfrm>
          <a:prstGeom prst="roundRect">
            <a:avLst>
              <a:gd name="adj" fmla="val 4800"/>
            </a:avLst>
          </a:prstGeom>
          <a:solidFill>
            <a:srgbClr val="FFFFFF"/>
          </a:solidFill>
          <a:ln w="12700">
            <a:solidFill>
              <a:srgbClr val="DFE6E9"/>
            </a:solidFill>
            <a:prstDash val="solid"/>
          </a:ln>
        </p:spPr>
      </p:sp>
      <p:sp>
        <p:nvSpPr>
          <p:cNvPr id="17" name="Shape 15"/>
          <p:cNvSpPr/>
          <p:nvPr/>
        </p:nvSpPr>
        <p:spPr>
          <a:xfrm>
            <a:off x="6126480" y="1874520"/>
            <a:ext cx="2697480" cy="64008"/>
          </a:xfrm>
          <a:prstGeom prst="rect">
            <a:avLst/>
          </a:prstGeom>
          <a:solidFill>
            <a:srgbClr val="C8A951"/>
          </a:solidFill>
          <a:ln w="12700">
            <a:solidFill>
              <a:srgbClr val="C8A951"/>
            </a:solidFill>
            <a:prstDash val="solid"/>
          </a:ln>
        </p:spPr>
      </p:sp>
      <p:sp>
        <p:nvSpPr>
          <p:cNvPr id="18" name="Text 16"/>
          <p:cNvSpPr/>
          <p:nvPr/>
        </p:nvSpPr>
        <p:spPr>
          <a:xfrm>
            <a:off x="6126480" y="2011680"/>
            <a:ext cx="2697480" cy="914400"/>
          </a:xfrm>
          <a:prstGeom prst="rect">
            <a:avLst/>
          </a:prstGeom>
          <a:noFill/>
          <a:ln/>
        </p:spPr>
        <p:txBody>
          <a:bodyPr wrap="square" rtlCol="0" anchor="ctr"/>
          <a:lstStyle/>
          <a:p>
            <a:pPr algn="ctr" indent="0" marL="0">
              <a:buNone/>
            </a:pPr>
            <a:r>
              <a:rPr lang="en-US" sz="4800" b="1" dirty="0">
                <a:solidFill>
                  <a:srgbClr val="1A3A5C"/>
                </a:solidFill>
                <a:latin typeface="Cascadia Code" pitchFamily="34" charset="0"/>
                <a:ea typeface="Cascadia Code" pitchFamily="34" charset="-122"/>
                <a:cs typeface="Cascadia Code" pitchFamily="34" charset="-120"/>
              </a:rPr>
              <a:t>52</a:t>
            </a:r>
            <a:endParaRPr lang="en-US" sz="4800" dirty="0"/>
          </a:p>
        </p:txBody>
      </p:sp>
      <p:sp>
        <p:nvSpPr>
          <p:cNvPr id="19" name="Text 17"/>
          <p:cNvSpPr/>
          <p:nvPr/>
        </p:nvSpPr>
        <p:spPr>
          <a:xfrm>
            <a:off x="6126480" y="2926080"/>
            <a:ext cx="2697480" cy="320040"/>
          </a:xfrm>
          <a:prstGeom prst="rect">
            <a:avLst/>
          </a:prstGeom>
          <a:noFill/>
          <a:ln/>
        </p:spPr>
        <p:txBody>
          <a:bodyPr wrap="square" rtlCol="0" anchor="ctr"/>
          <a:lstStyle/>
          <a:p>
            <a:pPr algn="ctr" indent="0" marL="0">
              <a:buNone/>
            </a:pPr>
            <a:r>
              <a:rPr lang="en-US" sz="1400" b="1" dirty="0">
                <a:solidFill>
                  <a:srgbClr val="1A3A5C"/>
                </a:solidFill>
                <a:latin typeface="Segoe UI" pitchFamily="34" charset="0"/>
                <a:ea typeface="Segoe UI" pitchFamily="34" charset="-122"/>
                <a:cs typeface="Segoe UI" pitchFamily="34" charset="-120"/>
              </a:rPr>
              <a:t>ADRs</a:t>
            </a:r>
            <a:endParaRPr lang="en-US" sz="1400" dirty="0"/>
          </a:p>
        </p:txBody>
      </p:sp>
      <p:sp>
        <p:nvSpPr>
          <p:cNvPr id="20" name="Text 18"/>
          <p:cNvSpPr/>
          <p:nvPr/>
        </p:nvSpPr>
        <p:spPr>
          <a:xfrm>
            <a:off x="6126480" y="3246120"/>
            <a:ext cx="2697480" cy="731520"/>
          </a:xfrm>
          <a:prstGeom prst="rect">
            <a:avLst/>
          </a:prstGeom>
          <a:noFill/>
          <a:ln/>
        </p:spPr>
        <p:txBody>
          <a:bodyPr wrap="square" rtlCol="0" anchor="ctr"/>
          <a:lstStyle/>
          <a:p>
            <a:pPr algn="ctr" indent="0" marL="0">
              <a:buNone/>
            </a:pPr>
            <a:r>
              <a:rPr lang="en-US" sz="1000" dirty="0">
                <a:solidFill>
                  <a:srgbClr val="636E72"/>
                </a:solidFill>
                <a:latin typeface="Segoe UI" pitchFamily="34" charset="0"/>
                <a:ea typeface="Segoe UI" pitchFamily="34" charset="-122"/>
                <a:cs typeface="Segoe UI" pitchFamily="34" charset="-120"/>
              </a:rPr>
              <a:t>Decisions on disk — every choice traceable</a:t>
            </a:r>
            <a:endParaRPr lang="en-US" sz="1000" dirty="0"/>
          </a:p>
        </p:txBody>
      </p:sp>
      <p:sp>
        <p:nvSpPr>
          <p:cNvPr id="21" name="Shape 19"/>
          <p:cNvSpPr/>
          <p:nvPr/>
        </p:nvSpPr>
        <p:spPr>
          <a:xfrm>
            <a:off x="8961120" y="1874520"/>
            <a:ext cx="2697480" cy="2286000"/>
          </a:xfrm>
          <a:prstGeom prst="roundRect">
            <a:avLst>
              <a:gd name="adj" fmla="val 4800"/>
            </a:avLst>
          </a:prstGeom>
          <a:solidFill>
            <a:srgbClr val="FFFFFF"/>
          </a:solidFill>
          <a:ln w="12700">
            <a:solidFill>
              <a:srgbClr val="DFE6E9"/>
            </a:solidFill>
            <a:prstDash val="solid"/>
          </a:ln>
        </p:spPr>
      </p:sp>
      <p:sp>
        <p:nvSpPr>
          <p:cNvPr id="22" name="Shape 20"/>
          <p:cNvSpPr/>
          <p:nvPr/>
        </p:nvSpPr>
        <p:spPr>
          <a:xfrm>
            <a:off x="8961120" y="1874520"/>
            <a:ext cx="2697480" cy="64008"/>
          </a:xfrm>
          <a:prstGeom prst="rect">
            <a:avLst/>
          </a:prstGeom>
          <a:solidFill>
            <a:srgbClr val="C8A951"/>
          </a:solidFill>
          <a:ln w="12700">
            <a:solidFill>
              <a:srgbClr val="C8A951"/>
            </a:solidFill>
            <a:prstDash val="solid"/>
          </a:ln>
        </p:spPr>
      </p:sp>
      <p:sp>
        <p:nvSpPr>
          <p:cNvPr id="23" name="Text 21"/>
          <p:cNvSpPr/>
          <p:nvPr/>
        </p:nvSpPr>
        <p:spPr>
          <a:xfrm>
            <a:off x="8961120" y="2011680"/>
            <a:ext cx="2697480" cy="914400"/>
          </a:xfrm>
          <a:prstGeom prst="rect">
            <a:avLst/>
          </a:prstGeom>
          <a:noFill/>
          <a:ln/>
        </p:spPr>
        <p:txBody>
          <a:bodyPr wrap="square" rtlCol="0" anchor="ctr"/>
          <a:lstStyle/>
          <a:p>
            <a:pPr algn="ctr" indent="0" marL="0">
              <a:buNone/>
            </a:pPr>
            <a:r>
              <a:rPr lang="en-US" sz="4800" b="1" dirty="0">
                <a:solidFill>
                  <a:srgbClr val="1A3A5C"/>
                </a:solidFill>
                <a:latin typeface="Cascadia Code" pitchFamily="34" charset="0"/>
                <a:ea typeface="Cascadia Code" pitchFamily="34" charset="-122"/>
                <a:cs typeface="Cascadia Code" pitchFamily="34" charset="-120"/>
              </a:rPr>
              <a:t>5</a:t>
            </a:r>
            <a:endParaRPr lang="en-US" sz="4800" dirty="0"/>
          </a:p>
        </p:txBody>
      </p:sp>
      <p:sp>
        <p:nvSpPr>
          <p:cNvPr id="24" name="Text 22"/>
          <p:cNvSpPr/>
          <p:nvPr/>
        </p:nvSpPr>
        <p:spPr>
          <a:xfrm>
            <a:off x="8961120" y="2926080"/>
            <a:ext cx="2697480" cy="320040"/>
          </a:xfrm>
          <a:prstGeom prst="rect">
            <a:avLst/>
          </a:prstGeom>
          <a:noFill/>
          <a:ln/>
        </p:spPr>
        <p:txBody>
          <a:bodyPr wrap="square" rtlCol="0" anchor="ctr"/>
          <a:lstStyle/>
          <a:p>
            <a:pPr algn="ctr" indent="0" marL="0">
              <a:buNone/>
            </a:pPr>
            <a:r>
              <a:rPr lang="en-US" sz="1400" b="1" dirty="0">
                <a:solidFill>
                  <a:srgbClr val="1A3A5C"/>
                </a:solidFill>
                <a:latin typeface="Segoe UI" pitchFamily="34" charset="0"/>
                <a:ea typeface="Segoe UI" pitchFamily="34" charset="-122"/>
                <a:cs typeface="Segoe UI" pitchFamily="34" charset="-120"/>
              </a:rPr>
              <a:t>Acts</a:t>
            </a:r>
            <a:endParaRPr lang="en-US" sz="1400" dirty="0"/>
          </a:p>
        </p:txBody>
      </p:sp>
      <p:sp>
        <p:nvSpPr>
          <p:cNvPr id="25" name="Text 23"/>
          <p:cNvSpPr/>
          <p:nvPr/>
        </p:nvSpPr>
        <p:spPr>
          <a:xfrm>
            <a:off x="8961120" y="3246120"/>
            <a:ext cx="2697480" cy="731520"/>
          </a:xfrm>
          <a:prstGeom prst="rect">
            <a:avLst/>
          </a:prstGeom>
          <a:noFill/>
          <a:ln/>
        </p:spPr>
        <p:txBody>
          <a:bodyPr wrap="square" rtlCol="0" anchor="ctr"/>
          <a:lstStyle/>
          <a:p>
            <a:pPr algn="ctr" indent="0" marL="0">
              <a:buNone/>
            </a:pPr>
            <a:r>
              <a:rPr lang="en-US" sz="1000" dirty="0">
                <a:solidFill>
                  <a:srgbClr val="636E72"/>
                </a:solidFill>
                <a:latin typeface="Segoe UI" pitchFamily="34" charset="0"/>
                <a:ea typeface="Segoe UI" pitchFamily="34" charset="-122"/>
                <a:cs typeface="Segoe UI" pitchFamily="34" charset="-120"/>
              </a:rPr>
              <a:t>Five discoveries, each built on the last</a:t>
            </a:r>
            <a:endParaRPr lang="en-US" sz="1000" dirty="0"/>
          </a:p>
        </p:txBody>
      </p:sp>
      <p:sp>
        <p:nvSpPr>
          <p:cNvPr id="26" name="Text 24"/>
          <p:cNvSpPr/>
          <p:nvPr/>
        </p:nvSpPr>
        <p:spPr>
          <a:xfrm>
            <a:off x="457200" y="4389120"/>
            <a:ext cx="11247120" cy="457200"/>
          </a:xfrm>
          <a:prstGeom prst="rect">
            <a:avLst/>
          </a:prstGeom>
          <a:noFill/>
          <a:ln/>
        </p:spPr>
        <p:txBody>
          <a:bodyPr wrap="square" rtlCol="0" anchor="ctr"/>
          <a:lstStyle/>
          <a:p>
            <a:pPr indent="0" marL="0">
              <a:buNone/>
            </a:pPr>
            <a:r>
              <a:rPr lang="en-US" sz="1200" i="1" dirty="0">
                <a:solidFill>
                  <a:srgbClr val="636E72"/>
                </a:solidFill>
                <a:latin typeface="Segoe UI" pitchFamily="34" charset="0"/>
                <a:ea typeface="Segoe UI" pitchFamily="34" charset="-122"/>
                <a:cs typeface="Segoe UI" pitchFamily="34" charset="-120"/>
              </a:rPr>
              <a:t>"It didn't start complete. It started as a gate — and kept discovering what it was still missing."</a:t>
            </a:r>
            <a:endParaRPr lang="en-US" sz="1200" dirty="0"/>
          </a:p>
        </p:txBody>
      </p:sp>
      <p:sp>
        <p:nvSpPr>
          <p:cNvPr id="27" name="Text 25"/>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7 / 44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35"/>
        </a:solidFill>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indent="0" marL="0">
              <a:buNone/>
            </a:pPr>
            <a:r>
              <a:rPr lang="en-US" sz="12000" b="1" dirty="0">
                <a:solidFill>
                  <a:srgbClr val="1A3A5C"/>
                </a:solidFill>
                <a:latin typeface="Cascadia Code" pitchFamily="34" charset="0"/>
                <a:ea typeface="Cascadia Code" pitchFamily="34" charset="-122"/>
                <a:cs typeface="Cascadia Code" pitchFamily="34" charset="-120"/>
              </a:rPr>
              <a:t>I</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ACT I · THE FIRST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Structure Around the Spec</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sp>
      <p:sp>
        <p:nvSpPr>
          <p:cNvPr id="6" name="Text 4"/>
          <p:cNvSpPr/>
          <p:nvPr/>
        </p:nvSpPr>
        <p:spPr>
          <a:xfrm>
            <a:off x="731520" y="2743200"/>
            <a:ext cx="10058400" cy="502920"/>
          </a:xfrm>
          <a:prstGeom prst="rect">
            <a:avLst/>
          </a:prstGeom>
          <a:noFill/>
          <a:ln/>
        </p:spPr>
        <p:txBody>
          <a:bodyPr wrap="square" rtlCol="0" anchor="ctr"/>
          <a:lstStyle/>
          <a:p>
            <a:pPr indent="0" marL="0">
              <a:buNone/>
            </a:pPr>
            <a:r>
              <a:rPr lang="en-US" sz="1500" i="1" dirty="0">
                <a:solidFill>
                  <a:srgbClr val="B7C6D6"/>
                </a:solidFill>
                <a:latin typeface="Segoe UI" pitchFamily="34" charset="0"/>
                <a:ea typeface="Segoe UI" pitchFamily="34" charset="-122"/>
                <a:cs typeface="Segoe UI" pitchFamily="34" charset="-120"/>
              </a:rPr>
              <a:t>"The AI won’t ask what you meant. So you have to say it first."</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algn="r" indent="0" marL="0">
              <a:buNone/>
            </a:pPr>
            <a:r>
              <a:rPr lang="en-US" sz="800" dirty="0">
                <a:solidFill>
                  <a:srgbClr val="3A5A7C"/>
                </a:solidFill>
                <a:latin typeface="Cascadia Code" pitchFamily="34" charset="0"/>
                <a:ea typeface="Cascadia Code" pitchFamily="34" charset="-122"/>
                <a:cs typeface="Cascadia Code" pitchFamily="34" charset="-120"/>
              </a:rPr>
              <a:t>ADRs 0001 · 0002 · 0005 · 0006 · 0010 · 0028</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8 / 44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failure mode: nobody owned the intent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914400"/>
            <a:ext cx="10789920" cy="2926080"/>
          </a:xfrm>
          <a:prstGeom prst="rect">
            <a:avLst/>
          </a:prstGeom>
          <a:noFill/>
          <a:ln/>
        </p:spPr>
        <p:txBody>
          <a:bodyPr wrap="square" rtlCol="0" anchor="t"/>
          <a:lstStyle/>
          <a:p>
            <a:pPr>
              <a:spcAft>
                <a:spcPts val="600"/>
              </a:spcAft>
            </a:pPr>
            <a:r>
              <a:rPr lang="en-US" sz="1400" dirty="0">
                <a:solidFill>
                  <a:srgbClr val="2D3436"/>
                </a:solidFill>
                <a:latin typeface="Segoe UI" pitchFamily="34" charset="0"/>
                <a:ea typeface="Segoe UI" pitchFamily="34" charset="-122"/>
                <a:cs typeface="Segoe UI" pitchFamily="34" charset="-120"/>
              </a:rPr>
              <a:t>Intent lived in a head, not a doc — the requirement was in a Slack thread, or nowhere.</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The AI filled the gap with its own assumptions, and wrote confidently in that direction.</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The reviewer was the first human to check meaning — days later, at the most expensive moment.</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The cost landed as rework — not bugs, not tech debt. Rework from thin or absent specs.</a:t>
            </a:r>
            <a:endParaRPr lang="en-US" sz="1400" dirty="0"/>
          </a:p>
        </p:txBody>
      </p:sp>
      <p:sp>
        <p:nvSpPr>
          <p:cNvPr id="6" name="Shape 4"/>
          <p:cNvSpPr/>
          <p:nvPr/>
        </p:nvSpPr>
        <p:spPr>
          <a:xfrm>
            <a:off x="457200" y="4023360"/>
            <a:ext cx="11247120" cy="1371600"/>
          </a:xfrm>
          <a:prstGeom prst="roundRect">
            <a:avLst>
              <a:gd name="adj" fmla="val 6667"/>
            </a:avLst>
          </a:prstGeom>
          <a:solidFill>
            <a:srgbClr val="FFF8EC"/>
          </a:solidFill>
          <a:ln w="12700">
            <a:solidFill>
              <a:srgbClr val="E8C87A"/>
            </a:solidFill>
            <a:prstDash val="solid"/>
          </a:ln>
        </p:spPr>
      </p:sp>
      <p:sp>
        <p:nvSpPr>
          <p:cNvPr id="7" name="Text 5"/>
          <p:cNvSpPr/>
          <p:nvPr/>
        </p:nvSpPr>
        <p:spPr>
          <a:xfrm>
            <a:off x="731520" y="4160520"/>
            <a:ext cx="10058400" cy="256032"/>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THE ROI THESIS  ·  ADR 0001</a:t>
            </a:r>
            <a:endParaRPr lang="en-US" sz="800" dirty="0"/>
          </a:p>
        </p:txBody>
      </p:sp>
      <p:sp>
        <p:nvSpPr>
          <p:cNvPr id="8" name="Text 6"/>
          <p:cNvSpPr/>
          <p:nvPr/>
        </p:nvSpPr>
        <p:spPr>
          <a:xfrm>
            <a:off x="731520" y="4434840"/>
            <a:ext cx="10515600" cy="685800"/>
          </a:xfrm>
          <a:prstGeom prst="rect">
            <a:avLst/>
          </a:prstGeom>
          <a:noFill/>
          <a:ln/>
        </p:spPr>
        <p:txBody>
          <a:bodyPr wrap="square" rtlCol="0" anchor="ctr"/>
          <a:lstStyle/>
          <a:p>
            <a:pPr indent="0" marL="0">
              <a:buNone/>
            </a:pPr>
            <a:r>
              <a:rPr lang="en-US" sz="1600" b="1" dirty="0">
                <a:solidFill>
                  <a:srgbClr val="1A3A5C"/>
                </a:solidFill>
                <a:latin typeface="Segoe UI" pitchFamily="34" charset="0"/>
                <a:ea typeface="Segoe UI" pitchFamily="34" charset="-122"/>
                <a:cs typeface="Segoe UI" pitchFamily="34" charset="-120"/>
              </a:rPr>
              <a:t>"One good spec you own up front prevents roughly three PRs that would have bounced."</a:t>
            </a:r>
            <a:endParaRPr lang="en-US" sz="1600" dirty="0"/>
          </a:p>
        </p:txBody>
      </p:sp>
      <p:sp>
        <p:nvSpPr>
          <p:cNvPr id="9" name="Text 7"/>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9 / 44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What ICEA is: the four things you pin down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868680"/>
            <a:ext cx="11064240" cy="365760"/>
          </a:xfrm>
          <a:prstGeom prst="rect">
            <a:avLst/>
          </a:prstGeom>
          <a:noFill/>
          <a:ln/>
        </p:spPr>
        <p:txBody>
          <a:bodyPr wrap="square" rtlCol="0" anchor="ctr"/>
          <a:lstStyle/>
          <a:p>
            <a:pPr indent="0" marL="0">
              <a:buNone/>
            </a:pPr>
            <a:r>
              <a:rPr lang="en-US" sz="1300" i="1" dirty="0">
                <a:solidFill>
                  <a:srgbClr val="636E72"/>
                </a:solidFill>
                <a:latin typeface="Segoe UI" pitchFamily="34" charset="0"/>
                <a:ea typeface="Segoe UI" pitchFamily="34" charset="-122"/>
                <a:cs typeface="Segoe UI" pitchFamily="34" charset="-120"/>
              </a:rPr>
              <a:t>Not a template to fill — four things you decide, so the AI has nothing left to assume.</a:t>
            </a:r>
            <a:endParaRPr lang="en-US" sz="1300" dirty="0"/>
          </a:p>
        </p:txBody>
      </p:sp>
      <p:sp>
        <p:nvSpPr>
          <p:cNvPr id="6" name="Shape 4"/>
          <p:cNvSpPr/>
          <p:nvPr/>
        </p:nvSpPr>
        <p:spPr>
          <a:xfrm>
            <a:off x="548640" y="1371600"/>
            <a:ext cx="5440680" cy="2103120"/>
          </a:xfrm>
          <a:prstGeom prst="roundRect">
            <a:avLst>
              <a:gd name="adj" fmla="val 4348"/>
            </a:avLst>
          </a:prstGeom>
          <a:solidFill>
            <a:srgbClr val="FFFFFF"/>
          </a:solidFill>
          <a:ln w="12700">
            <a:solidFill>
              <a:srgbClr val="DFE6E9"/>
            </a:solidFill>
            <a:prstDash val="solid"/>
          </a:ln>
        </p:spPr>
      </p:sp>
      <p:sp>
        <p:nvSpPr>
          <p:cNvPr id="7" name="Shape 5"/>
          <p:cNvSpPr/>
          <p:nvPr/>
        </p:nvSpPr>
        <p:spPr>
          <a:xfrm>
            <a:off x="731520" y="1600200"/>
            <a:ext cx="640080" cy="640080"/>
          </a:xfrm>
          <a:prstGeom prst="ellipse">
            <a:avLst/>
          </a:prstGeom>
          <a:solidFill>
            <a:srgbClr val="E84C1E"/>
          </a:solidFill>
          <a:ln w="12700">
            <a:solidFill>
              <a:srgbClr val="E84C1E"/>
            </a:solidFill>
            <a:prstDash val="solid"/>
          </a:ln>
        </p:spPr>
      </p:sp>
      <p:sp>
        <p:nvSpPr>
          <p:cNvPr id="8" name="Text 6"/>
          <p:cNvSpPr/>
          <p:nvPr/>
        </p:nvSpPr>
        <p:spPr>
          <a:xfrm>
            <a:off x="731520" y="1600200"/>
            <a:ext cx="640080" cy="640080"/>
          </a:xfrm>
          <a:prstGeom prst="rect">
            <a:avLst/>
          </a:prstGeom>
          <a:noFill/>
          <a:ln/>
        </p:spPr>
        <p:txBody>
          <a:bodyPr wrap="square"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I</a:t>
            </a:r>
            <a:endParaRPr lang="en-US" sz="2200" dirty="0"/>
          </a:p>
        </p:txBody>
      </p:sp>
      <p:sp>
        <p:nvSpPr>
          <p:cNvPr id="9" name="Text 7"/>
          <p:cNvSpPr/>
          <p:nvPr/>
        </p:nvSpPr>
        <p:spPr>
          <a:xfrm>
            <a:off x="1508760" y="1600200"/>
            <a:ext cx="4297680" cy="365760"/>
          </a:xfrm>
          <a:prstGeom prst="rect">
            <a:avLst/>
          </a:prstGeom>
          <a:noFill/>
          <a:ln/>
        </p:spPr>
        <p:txBody>
          <a:bodyPr wrap="square" rtlCol="0" anchor="ctr"/>
          <a:lstStyle/>
          <a:p>
            <a:pPr indent="0" marL="0">
              <a:buNone/>
            </a:pPr>
            <a:r>
              <a:rPr lang="en-US" sz="1700" b="1" dirty="0">
                <a:solidFill>
                  <a:srgbClr val="1A3A5C"/>
                </a:solidFill>
                <a:latin typeface="Segoe UI" pitchFamily="34" charset="0"/>
                <a:ea typeface="Segoe UI" pitchFamily="34" charset="-122"/>
                <a:cs typeface="Segoe UI" pitchFamily="34" charset="-120"/>
              </a:rPr>
              <a:t>Intent</a:t>
            </a:r>
            <a:endParaRPr lang="en-US" sz="1700" dirty="0"/>
          </a:p>
        </p:txBody>
      </p:sp>
      <p:sp>
        <p:nvSpPr>
          <p:cNvPr id="10" name="Text 8"/>
          <p:cNvSpPr/>
          <p:nvPr/>
        </p:nvSpPr>
        <p:spPr>
          <a:xfrm>
            <a:off x="1508760" y="1965960"/>
            <a:ext cx="4297680" cy="320040"/>
          </a:xfrm>
          <a:prstGeom prst="rect">
            <a:avLst/>
          </a:prstGeom>
          <a:noFill/>
          <a:ln/>
        </p:spPr>
        <p:txBody>
          <a:bodyPr wrap="square" rtlCol="0" anchor="ctr"/>
          <a:lstStyle/>
          <a:p>
            <a:pPr indent="0" marL="0">
              <a:buNone/>
            </a:pPr>
            <a:r>
              <a:rPr lang="en-US" sz="1200" i="1" dirty="0">
                <a:solidFill>
                  <a:srgbClr val="636E72"/>
                </a:solidFill>
                <a:latin typeface="Segoe UI" pitchFamily="34" charset="0"/>
                <a:ea typeface="Segoe UI" pitchFamily="34" charset="-122"/>
                <a:cs typeface="Segoe UI" pitchFamily="34" charset="-120"/>
              </a:rPr>
              <a:t>what &amp; why</a:t>
            </a:r>
            <a:endParaRPr lang="en-US" sz="1200" dirty="0"/>
          </a:p>
        </p:txBody>
      </p:sp>
      <p:sp>
        <p:nvSpPr>
          <p:cNvPr id="11" name="Text 9"/>
          <p:cNvSpPr/>
          <p:nvPr/>
        </p:nvSpPr>
        <p:spPr>
          <a:xfrm>
            <a:off x="777240" y="2423160"/>
            <a:ext cx="5029200" cy="914400"/>
          </a:xfrm>
          <a:prstGeom prst="rect">
            <a:avLst/>
          </a:prstGeom>
          <a:noFill/>
          <a:ln/>
        </p:spPr>
        <p:txBody>
          <a:bodyPr wrap="square" rtlCol="0" anchor="t"/>
          <a:lstStyle/>
          <a:p>
            <a:pPr indent="0" marL="0">
              <a:buNone/>
            </a:pPr>
            <a:r>
              <a:rPr lang="en-US" sz="1100" dirty="0">
                <a:solidFill>
                  <a:srgbClr val="2D3436"/>
                </a:solidFill>
                <a:latin typeface="Segoe UI" pitchFamily="34" charset="0"/>
                <a:ea typeface="Segoe UI" pitchFamily="34" charset="-122"/>
                <a:cs typeface="Segoe UI" pitchFamily="34" charset="-120"/>
              </a:rPr>
              <a:t>the one-liner → a real goal · feeds the ADO work item</a:t>
            </a:r>
            <a:endParaRPr lang="en-US" sz="1100" dirty="0"/>
          </a:p>
        </p:txBody>
      </p:sp>
      <p:sp>
        <p:nvSpPr>
          <p:cNvPr id="12" name="Shape 10"/>
          <p:cNvSpPr/>
          <p:nvPr/>
        </p:nvSpPr>
        <p:spPr>
          <a:xfrm>
            <a:off x="6172200" y="1371600"/>
            <a:ext cx="5440680" cy="2103120"/>
          </a:xfrm>
          <a:prstGeom prst="roundRect">
            <a:avLst>
              <a:gd name="adj" fmla="val 4348"/>
            </a:avLst>
          </a:prstGeom>
          <a:solidFill>
            <a:srgbClr val="FFFFFF"/>
          </a:solidFill>
          <a:ln w="12700">
            <a:solidFill>
              <a:srgbClr val="DFE6E9"/>
            </a:solidFill>
            <a:prstDash val="solid"/>
          </a:ln>
        </p:spPr>
      </p:sp>
      <p:sp>
        <p:nvSpPr>
          <p:cNvPr id="13" name="Shape 11"/>
          <p:cNvSpPr/>
          <p:nvPr/>
        </p:nvSpPr>
        <p:spPr>
          <a:xfrm>
            <a:off x="6355080" y="1600200"/>
            <a:ext cx="640080" cy="640080"/>
          </a:xfrm>
          <a:prstGeom prst="ellipse">
            <a:avLst/>
          </a:prstGeom>
          <a:solidFill>
            <a:srgbClr val="C8A951"/>
          </a:solidFill>
          <a:ln w="12700">
            <a:solidFill>
              <a:srgbClr val="C8A951"/>
            </a:solidFill>
            <a:prstDash val="solid"/>
          </a:ln>
        </p:spPr>
      </p:sp>
      <p:sp>
        <p:nvSpPr>
          <p:cNvPr id="14" name="Text 12"/>
          <p:cNvSpPr/>
          <p:nvPr/>
        </p:nvSpPr>
        <p:spPr>
          <a:xfrm>
            <a:off x="6355080" y="1600200"/>
            <a:ext cx="640080" cy="640080"/>
          </a:xfrm>
          <a:prstGeom prst="rect">
            <a:avLst/>
          </a:prstGeom>
          <a:noFill/>
          <a:ln/>
        </p:spPr>
        <p:txBody>
          <a:bodyPr wrap="square"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C</a:t>
            </a:r>
            <a:endParaRPr lang="en-US" sz="2200" dirty="0"/>
          </a:p>
        </p:txBody>
      </p:sp>
      <p:sp>
        <p:nvSpPr>
          <p:cNvPr id="15" name="Text 13"/>
          <p:cNvSpPr/>
          <p:nvPr/>
        </p:nvSpPr>
        <p:spPr>
          <a:xfrm>
            <a:off x="7132320" y="1600200"/>
            <a:ext cx="4297680" cy="365760"/>
          </a:xfrm>
          <a:prstGeom prst="rect">
            <a:avLst/>
          </a:prstGeom>
          <a:noFill/>
          <a:ln/>
        </p:spPr>
        <p:txBody>
          <a:bodyPr wrap="square" rtlCol="0" anchor="ctr"/>
          <a:lstStyle/>
          <a:p>
            <a:pPr indent="0" marL="0">
              <a:buNone/>
            </a:pPr>
            <a:r>
              <a:rPr lang="en-US" sz="1700" b="1" dirty="0">
                <a:solidFill>
                  <a:srgbClr val="1A3A5C"/>
                </a:solidFill>
                <a:latin typeface="Segoe UI" pitchFamily="34" charset="0"/>
                <a:ea typeface="Segoe UI" pitchFamily="34" charset="-122"/>
                <a:cs typeface="Segoe UI" pitchFamily="34" charset="-120"/>
              </a:rPr>
              <a:t>Context</a:t>
            </a:r>
            <a:endParaRPr lang="en-US" sz="1700" dirty="0"/>
          </a:p>
        </p:txBody>
      </p:sp>
      <p:sp>
        <p:nvSpPr>
          <p:cNvPr id="16" name="Text 14"/>
          <p:cNvSpPr/>
          <p:nvPr/>
        </p:nvSpPr>
        <p:spPr>
          <a:xfrm>
            <a:off x="7132320" y="1965960"/>
            <a:ext cx="4297680" cy="320040"/>
          </a:xfrm>
          <a:prstGeom prst="rect">
            <a:avLst/>
          </a:prstGeom>
          <a:noFill/>
          <a:ln/>
        </p:spPr>
        <p:txBody>
          <a:bodyPr wrap="square" rtlCol="0" anchor="ctr"/>
          <a:lstStyle/>
          <a:p>
            <a:pPr indent="0" marL="0">
              <a:buNone/>
            </a:pPr>
            <a:r>
              <a:rPr lang="en-US" sz="1200" i="1" dirty="0">
                <a:solidFill>
                  <a:srgbClr val="636E72"/>
                </a:solidFill>
                <a:latin typeface="Segoe UI" pitchFamily="34" charset="0"/>
                <a:ea typeface="Segoe UI" pitchFamily="34" charset="-122"/>
                <a:cs typeface="Segoe UI" pitchFamily="34" charset="-120"/>
              </a:rPr>
              <a:t>where &amp; constraints</a:t>
            </a:r>
            <a:endParaRPr lang="en-US" sz="1200" dirty="0"/>
          </a:p>
        </p:txBody>
      </p:sp>
      <p:sp>
        <p:nvSpPr>
          <p:cNvPr id="17" name="Text 15"/>
          <p:cNvSpPr/>
          <p:nvPr/>
        </p:nvSpPr>
        <p:spPr>
          <a:xfrm>
            <a:off x="6400800" y="2423160"/>
            <a:ext cx="5029200" cy="914400"/>
          </a:xfrm>
          <a:prstGeom prst="rect">
            <a:avLst/>
          </a:prstGeom>
          <a:noFill/>
          <a:ln/>
        </p:spPr>
        <p:txBody>
          <a:bodyPr wrap="square" rtlCol="0" anchor="t"/>
          <a:lstStyle/>
          <a:p>
            <a:pPr indent="0" marL="0">
              <a:buNone/>
            </a:pPr>
            <a:r>
              <a:rPr lang="en-US" sz="1100" dirty="0">
                <a:solidFill>
                  <a:srgbClr val="2D3436"/>
                </a:solidFill>
                <a:latin typeface="Segoe UI" pitchFamily="34" charset="0"/>
                <a:ea typeface="Segoe UI" pitchFamily="34" charset="-122"/>
                <a:cs typeface="Segoe UI" pitchFamily="34" charset="-120"/>
              </a:rPr>
              <a:t>stack · auth · data · edges · feeds design &amp; scope</a:t>
            </a:r>
            <a:endParaRPr lang="en-US" sz="1100" dirty="0"/>
          </a:p>
        </p:txBody>
      </p:sp>
      <p:sp>
        <p:nvSpPr>
          <p:cNvPr id="18" name="Shape 16"/>
          <p:cNvSpPr/>
          <p:nvPr/>
        </p:nvSpPr>
        <p:spPr>
          <a:xfrm>
            <a:off x="548640" y="3657600"/>
            <a:ext cx="5440680" cy="2103120"/>
          </a:xfrm>
          <a:prstGeom prst="roundRect">
            <a:avLst>
              <a:gd name="adj" fmla="val 4348"/>
            </a:avLst>
          </a:prstGeom>
          <a:solidFill>
            <a:srgbClr val="FFFFFF"/>
          </a:solidFill>
          <a:ln w="12700">
            <a:solidFill>
              <a:srgbClr val="DFE6E9"/>
            </a:solidFill>
            <a:prstDash val="solid"/>
          </a:ln>
        </p:spPr>
      </p:sp>
      <p:sp>
        <p:nvSpPr>
          <p:cNvPr id="19" name="Shape 17"/>
          <p:cNvSpPr/>
          <p:nvPr/>
        </p:nvSpPr>
        <p:spPr>
          <a:xfrm>
            <a:off x="731520" y="3886200"/>
            <a:ext cx="640080" cy="640080"/>
          </a:xfrm>
          <a:prstGeom prst="ellipse">
            <a:avLst/>
          </a:prstGeom>
          <a:solidFill>
            <a:srgbClr val="1A56DB"/>
          </a:solidFill>
          <a:ln w="12700">
            <a:solidFill>
              <a:srgbClr val="1A56DB"/>
            </a:solidFill>
            <a:prstDash val="solid"/>
          </a:ln>
        </p:spPr>
      </p:sp>
      <p:sp>
        <p:nvSpPr>
          <p:cNvPr id="20" name="Text 18"/>
          <p:cNvSpPr/>
          <p:nvPr/>
        </p:nvSpPr>
        <p:spPr>
          <a:xfrm>
            <a:off x="731520" y="3886200"/>
            <a:ext cx="640080" cy="640080"/>
          </a:xfrm>
          <a:prstGeom prst="rect">
            <a:avLst/>
          </a:prstGeom>
          <a:noFill/>
          <a:ln/>
        </p:spPr>
        <p:txBody>
          <a:bodyPr wrap="square"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E</a:t>
            </a:r>
            <a:endParaRPr lang="en-US" sz="2200" dirty="0"/>
          </a:p>
        </p:txBody>
      </p:sp>
      <p:sp>
        <p:nvSpPr>
          <p:cNvPr id="21" name="Text 19"/>
          <p:cNvSpPr/>
          <p:nvPr/>
        </p:nvSpPr>
        <p:spPr>
          <a:xfrm>
            <a:off x="1508760" y="3886200"/>
            <a:ext cx="4297680" cy="365760"/>
          </a:xfrm>
          <a:prstGeom prst="rect">
            <a:avLst/>
          </a:prstGeom>
          <a:noFill/>
          <a:ln/>
        </p:spPr>
        <p:txBody>
          <a:bodyPr wrap="square" rtlCol="0" anchor="ctr"/>
          <a:lstStyle/>
          <a:p>
            <a:pPr indent="0" marL="0">
              <a:buNone/>
            </a:pPr>
            <a:r>
              <a:rPr lang="en-US" sz="1700" b="1" dirty="0">
                <a:solidFill>
                  <a:srgbClr val="1A3A5C"/>
                </a:solidFill>
                <a:latin typeface="Segoe UI" pitchFamily="34" charset="0"/>
                <a:ea typeface="Segoe UI" pitchFamily="34" charset="-122"/>
                <a:cs typeface="Segoe UI" pitchFamily="34" charset="-120"/>
              </a:rPr>
              <a:t>Examples</a:t>
            </a:r>
            <a:endParaRPr lang="en-US" sz="1700" dirty="0"/>
          </a:p>
        </p:txBody>
      </p:sp>
      <p:sp>
        <p:nvSpPr>
          <p:cNvPr id="22" name="Text 20"/>
          <p:cNvSpPr/>
          <p:nvPr/>
        </p:nvSpPr>
        <p:spPr>
          <a:xfrm>
            <a:off x="1508760" y="4251960"/>
            <a:ext cx="4297680" cy="320040"/>
          </a:xfrm>
          <a:prstGeom prst="rect">
            <a:avLst/>
          </a:prstGeom>
          <a:noFill/>
          <a:ln/>
        </p:spPr>
        <p:txBody>
          <a:bodyPr wrap="square" rtlCol="0" anchor="ctr"/>
          <a:lstStyle/>
          <a:p>
            <a:pPr indent="0" marL="0">
              <a:buNone/>
            </a:pPr>
            <a:r>
              <a:rPr lang="en-US" sz="1200" i="1" dirty="0">
                <a:solidFill>
                  <a:srgbClr val="636E72"/>
                </a:solidFill>
                <a:latin typeface="Segoe UI" pitchFamily="34" charset="0"/>
                <a:ea typeface="Segoe UI" pitchFamily="34" charset="-122"/>
                <a:cs typeface="Segoe UI" pitchFamily="34" charset="-120"/>
              </a:rPr>
              <a:t>show, don’t tell</a:t>
            </a:r>
            <a:endParaRPr lang="en-US" sz="1200" dirty="0"/>
          </a:p>
        </p:txBody>
      </p:sp>
      <p:sp>
        <p:nvSpPr>
          <p:cNvPr id="23" name="Text 21"/>
          <p:cNvSpPr/>
          <p:nvPr/>
        </p:nvSpPr>
        <p:spPr>
          <a:xfrm>
            <a:off x="777240" y="4709160"/>
            <a:ext cx="5029200" cy="914400"/>
          </a:xfrm>
          <a:prstGeom prst="rect">
            <a:avLst/>
          </a:prstGeom>
          <a:noFill/>
          <a:ln/>
        </p:spPr>
        <p:txBody>
          <a:bodyPr wrap="square" rtlCol="0" anchor="t"/>
          <a:lstStyle/>
          <a:p>
            <a:pPr indent="0" marL="0">
              <a:buNone/>
            </a:pPr>
            <a:r>
              <a:rPr lang="en-US" sz="1100" dirty="0">
                <a:solidFill>
                  <a:srgbClr val="2D3436"/>
                </a:solidFill>
                <a:latin typeface="Segoe UI" pitchFamily="34" charset="0"/>
                <a:ea typeface="Segoe UI" pitchFamily="34" charset="-122"/>
                <a:cs typeface="Segoe UI" pitchFamily="34" charset="-120"/>
              </a:rPr>
              <a:t>given/when/then · edges · errors · feeds the tests</a:t>
            </a:r>
            <a:endParaRPr lang="en-US" sz="1100" dirty="0"/>
          </a:p>
        </p:txBody>
      </p:sp>
      <p:sp>
        <p:nvSpPr>
          <p:cNvPr id="24" name="Shape 22"/>
          <p:cNvSpPr/>
          <p:nvPr/>
        </p:nvSpPr>
        <p:spPr>
          <a:xfrm>
            <a:off x="6172200" y="3657600"/>
            <a:ext cx="5440680" cy="2103120"/>
          </a:xfrm>
          <a:prstGeom prst="roundRect">
            <a:avLst>
              <a:gd name="adj" fmla="val 4348"/>
            </a:avLst>
          </a:prstGeom>
          <a:solidFill>
            <a:srgbClr val="FFFFFF"/>
          </a:solidFill>
          <a:ln w="12700">
            <a:solidFill>
              <a:srgbClr val="DFE6E9"/>
            </a:solidFill>
            <a:prstDash val="solid"/>
          </a:ln>
        </p:spPr>
      </p:sp>
      <p:sp>
        <p:nvSpPr>
          <p:cNvPr id="25" name="Shape 23"/>
          <p:cNvSpPr/>
          <p:nvPr/>
        </p:nvSpPr>
        <p:spPr>
          <a:xfrm>
            <a:off x="6355080" y="3886200"/>
            <a:ext cx="640080" cy="640080"/>
          </a:xfrm>
          <a:prstGeom prst="ellipse">
            <a:avLst/>
          </a:prstGeom>
          <a:solidFill>
            <a:srgbClr val="00B894"/>
          </a:solidFill>
          <a:ln w="12700">
            <a:solidFill>
              <a:srgbClr val="00B894"/>
            </a:solidFill>
            <a:prstDash val="solid"/>
          </a:ln>
        </p:spPr>
      </p:sp>
      <p:sp>
        <p:nvSpPr>
          <p:cNvPr id="26" name="Text 24"/>
          <p:cNvSpPr/>
          <p:nvPr/>
        </p:nvSpPr>
        <p:spPr>
          <a:xfrm>
            <a:off x="6355080" y="3886200"/>
            <a:ext cx="640080" cy="640080"/>
          </a:xfrm>
          <a:prstGeom prst="rect">
            <a:avLst/>
          </a:prstGeom>
          <a:noFill/>
          <a:ln/>
        </p:spPr>
        <p:txBody>
          <a:bodyPr wrap="square"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A</a:t>
            </a:r>
            <a:endParaRPr lang="en-US" sz="2200" dirty="0"/>
          </a:p>
        </p:txBody>
      </p:sp>
      <p:sp>
        <p:nvSpPr>
          <p:cNvPr id="27" name="Text 25"/>
          <p:cNvSpPr/>
          <p:nvPr/>
        </p:nvSpPr>
        <p:spPr>
          <a:xfrm>
            <a:off x="7132320" y="3886200"/>
            <a:ext cx="4297680" cy="365760"/>
          </a:xfrm>
          <a:prstGeom prst="rect">
            <a:avLst/>
          </a:prstGeom>
          <a:noFill/>
          <a:ln/>
        </p:spPr>
        <p:txBody>
          <a:bodyPr wrap="square" rtlCol="0" anchor="ctr"/>
          <a:lstStyle/>
          <a:p>
            <a:pPr indent="0" marL="0">
              <a:buNone/>
            </a:pPr>
            <a:r>
              <a:rPr lang="en-US" sz="1700" b="1" dirty="0">
                <a:solidFill>
                  <a:srgbClr val="1A3A5C"/>
                </a:solidFill>
                <a:latin typeface="Segoe UI" pitchFamily="34" charset="0"/>
                <a:ea typeface="Segoe UI" pitchFamily="34" charset="-122"/>
                <a:cs typeface="Segoe UI" pitchFamily="34" charset="-120"/>
              </a:rPr>
              <a:t>Acceptance</a:t>
            </a:r>
            <a:endParaRPr lang="en-US" sz="1700" dirty="0"/>
          </a:p>
        </p:txBody>
      </p:sp>
      <p:sp>
        <p:nvSpPr>
          <p:cNvPr id="28" name="Text 26"/>
          <p:cNvSpPr/>
          <p:nvPr/>
        </p:nvSpPr>
        <p:spPr>
          <a:xfrm>
            <a:off x="7132320" y="4251960"/>
            <a:ext cx="4297680" cy="320040"/>
          </a:xfrm>
          <a:prstGeom prst="rect">
            <a:avLst/>
          </a:prstGeom>
          <a:noFill/>
          <a:ln/>
        </p:spPr>
        <p:txBody>
          <a:bodyPr wrap="square" rtlCol="0" anchor="ctr"/>
          <a:lstStyle/>
          <a:p>
            <a:pPr indent="0" marL="0">
              <a:buNone/>
            </a:pPr>
            <a:r>
              <a:rPr lang="en-US" sz="1200" i="1" dirty="0">
                <a:solidFill>
                  <a:srgbClr val="636E72"/>
                </a:solidFill>
                <a:latin typeface="Segoe UI" pitchFamily="34" charset="0"/>
                <a:ea typeface="Segoe UI" pitchFamily="34" charset="-122"/>
                <a:cs typeface="Segoe UI" pitchFamily="34" charset="-120"/>
              </a:rPr>
              <a:t>definition of done</a:t>
            </a:r>
            <a:endParaRPr lang="en-US" sz="1200" dirty="0"/>
          </a:p>
        </p:txBody>
      </p:sp>
      <p:sp>
        <p:nvSpPr>
          <p:cNvPr id="29" name="Text 27"/>
          <p:cNvSpPr/>
          <p:nvPr/>
        </p:nvSpPr>
        <p:spPr>
          <a:xfrm>
            <a:off x="6400800" y="4709160"/>
            <a:ext cx="5029200" cy="914400"/>
          </a:xfrm>
          <a:prstGeom prst="rect">
            <a:avLst/>
          </a:prstGeom>
          <a:noFill/>
          <a:ln/>
        </p:spPr>
        <p:txBody>
          <a:bodyPr wrap="square" rtlCol="0" anchor="t"/>
          <a:lstStyle/>
          <a:p>
            <a:pPr indent="0" marL="0">
              <a:buNone/>
            </a:pPr>
            <a:r>
              <a:rPr lang="en-US" sz="1100" dirty="0">
                <a:solidFill>
                  <a:srgbClr val="2D3436"/>
                </a:solidFill>
                <a:latin typeface="Segoe UI" pitchFamily="34" charset="0"/>
                <a:ea typeface="Segoe UI" pitchFamily="34" charset="-122"/>
                <a:cs typeface="Segoe UI" pitchFamily="34" charset="-120"/>
              </a:rPr>
              <a:t>pass/fail, no argument · feeds what closes the ticket</a:t>
            </a:r>
            <a:endParaRPr lang="en-US" sz="1100" dirty="0"/>
          </a:p>
        </p:txBody>
      </p:sp>
      <p:sp>
        <p:nvSpPr>
          <p:cNvPr id="30" name="Text 28"/>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10 / 44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spec is you thinking — not the tool policing you</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920240"/>
          </a:xfrm>
          <a:prstGeom prst="rect">
            <a:avLst/>
          </a:prstGeom>
          <a:solidFill>
            <a:srgbClr val="C8A951"/>
          </a:solidFill>
          <a:ln w="12700">
            <a:solidFill>
              <a:srgbClr val="C8A951"/>
            </a:solidFill>
            <a:prstDash val="solid"/>
          </a:ln>
        </p:spPr>
      </p:sp>
      <p:sp>
        <p:nvSpPr>
          <p:cNvPr id="6" name="Shape 4"/>
          <p:cNvSpPr/>
          <p:nvPr/>
        </p:nvSpPr>
        <p:spPr>
          <a:xfrm>
            <a:off x="612648" y="914400"/>
            <a:ext cx="11000232" cy="1920240"/>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THE INSIGHT  ·  ADR 0001</a:t>
            </a:r>
            <a:endParaRPr lang="en-US" sz="800" dirty="0"/>
          </a:p>
        </p:txBody>
      </p:sp>
      <p:sp>
        <p:nvSpPr>
          <p:cNvPr id="8" name="Text 6"/>
          <p:cNvSpPr/>
          <p:nvPr/>
        </p:nvSpPr>
        <p:spPr>
          <a:xfrm>
            <a:off x="731520" y="1207008"/>
            <a:ext cx="10607040" cy="128016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"The ICEA step isn’t a form the tool makes you fill in. It’s the moment you do the part of the job that’s now yours — turning a one-line ask into an intent the AI can’t misread."</a:t>
            </a:r>
            <a:endParaRPr lang="en-US" sz="1300" dirty="0"/>
          </a:p>
        </p:txBody>
      </p:sp>
      <p:sp>
        <p:nvSpPr>
          <p:cNvPr id="9" name="Text 7"/>
          <p:cNvSpPr/>
          <p:nvPr/>
        </p:nvSpPr>
        <p:spPr>
          <a:xfrm>
            <a:off x="731520" y="248716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Developers who knew a thin spec would bite them started thinking harder up front — on their own. Nobody enforced better specs. The incentive did.</a:t>
            </a:r>
            <a:endParaRPr lang="en-US" sz="1000" dirty="0"/>
          </a:p>
        </p:txBody>
      </p:sp>
      <p:sp>
        <p:nvSpPr>
          <p:cNvPr id="10" name="Text 8"/>
          <p:cNvSpPr/>
          <p:nvPr/>
        </p:nvSpPr>
        <p:spPr>
          <a:xfrm>
            <a:off x="10607040" y="256032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0001</a:t>
            </a:r>
            <a:endParaRPr lang="en-US" sz="800" dirty="0"/>
          </a:p>
        </p:txBody>
      </p:sp>
      <p:sp>
        <p:nvSpPr>
          <p:cNvPr id="11" name="Shape 9"/>
          <p:cNvSpPr/>
          <p:nvPr/>
        </p:nvSpPr>
        <p:spPr>
          <a:xfrm>
            <a:off x="548640" y="3017520"/>
            <a:ext cx="64008" cy="1783080"/>
          </a:xfrm>
          <a:prstGeom prst="rect">
            <a:avLst/>
          </a:prstGeom>
          <a:solidFill>
            <a:srgbClr val="C8A951"/>
          </a:solidFill>
          <a:ln w="12700">
            <a:solidFill>
              <a:srgbClr val="C8A951"/>
            </a:solidFill>
            <a:prstDash val="solid"/>
          </a:ln>
        </p:spPr>
      </p:sp>
      <p:sp>
        <p:nvSpPr>
          <p:cNvPr id="12" name="Shape 10"/>
          <p:cNvSpPr/>
          <p:nvPr/>
        </p:nvSpPr>
        <p:spPr>
          <a:xfrm>
            <a:off x="612648" y="3017520"/>
            <a:ext cx="11000232" cy="1783080"/>
          </a:xfrm>
          <a:prstGeom prst="rect">
            <a:avLst/>
          </a:prstGeom>
          <a:solidFill>
            <a:srgbClr val="FDFCF5"/>
          </a:solidFill>
          <a:ln w="12700">
            <a:solidFill>
              <a:srgbClr val="DFE6E9"/>
            </a:solidFill>
            <a:prstDash val="solid"/>
          </a:ln>
        </p:spPr>
      </p:sp>
      <p:sp>
        <p:nvSpPr>
          <p:cNvPr id="13" name="Text 11"/>
          <p:cNvSpPr/>
          <p:nvPr/>
        </p:nvSpPr>
        <p:spPr>
          <a:xfrm>
            <a:off x="731520" y="312724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THE HONESTY PIVOT  ·  ADR 0009 → ADR 0010</a:t>
            </a:r>
            <a:endParaRPr lang="en-US" sz="800" dirty="0"/>
          </a:p>
        </p:txBody>
      </p:sp>
      <p:sp>
        <p:nvSpPr>
          <p:cNvPr id="14" name="Text 12"/>
          <p:cNvSpPr/>
          <p:nvPr/>
        </p:nvSpPr>
        <p:spPr>
          <a:xfrm>
            <a:off x="731520" y="3310128"/>
            <a:ext cx="10607040" cy="114300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"The floor governs the willing and makes bypass visible — not impossible."</a:t>
            </a:r>
            <a:endParaRPr lang="en-US" sz="1300" dirty="0"/>
          </a:p>
        </p:txBody>
      </p:sp>
      <p:sp>
        <p:nvSpPr>
          <p:cNvPr id="15" name="Text 13"/>
          <p:cNvSpPr/>
          <p:nvPr/>
        </p:nvSpPr>
        <p:spPr>
          <a:xfrm>
            <a:off x="731520" y="445312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Server-side enforcement was the goal (ADR 0009). Deployment reality: the plugin never runs in CI. Answer: make skipping the thinking visible, not pretend it’s impossible.</a:t>
            </a:r>
            <a:endParaRPr lang="en-US" sz="1000" dirty="0"/>
          </a:p>
        </p:txBody>
      </p:sp>
      <p:sp>
        <p:nvSpPr>
          <p:cNvPr id="16" name="Text 14"/>
          <p:cNvSpPr/>
          <p:nvPr/>
        </p:nvSpPr>
        <p:spPr>
          <a:xfrm>
            <a:off x="10607040" y="452628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0010</a:t>
            </a:r>
            <a:endParaRPr lang="en-US" sz="800" dirty="0"/>
          </a:p>
        </p:txBody>
      </p:sp>
      <p:sp>
        <p:nvSpPr>
          <p:cNvPr id="17" name="Text 15"/>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11 / 44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You write the contract; the AI is the contractor</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274320" y="1051560"/>
            <a:ext cx="1645920" cy="548640"/>
          </a:xfrm>
          <a:prstGeom prst="roundRect">
            <a:avLst>
              <a:gd name="adj" fmla="val 11667"/>
            </a:avLst>
          </a:prstGeom>
          <a:solidFill>
            <a:srgbClr val="FFFFFF"/>
          </a:solidFill>
          <a:ln w="12700">
            <a:solidFill>
              <a:srgbClr val="DFE6E9"/>
            </a:solidFill>
            <a:prstDash val="solid"/>
          </a:ln>
        </p:spPr>
      </p:sp>
      <p:sp>
        <p:nvSpPr>
          <p:cNvPr id="6" name="Text 4"/>
          <p:cNvSpPr/>
          <p:nvPr/>
        </p:nvSpPr>
        <p:spPr>
          <a:xfrm>
            <a:off x="274320" y="1051560"/>
            <a:ext cx="164592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You: define</a:t>
            </a:r>
            <a:endParaRPr lang="en-US" sz="950" dirty="0"/>
          </a:p>
          <a:p>
            <a:pPr algn="ctr" indent="0" marL="0">
              <a:buNone/>
            </a:pPr>
            <a:r>
              <a:rPr lang="en-US" sz="950" b="1" dirty="0">
                <a:solidFill>
                  <a:srgbClr val="1A3A5C"/>
                </a:solidFill>
                <a:latin typeface="Segoe UI" pitchFamily="34" charset="0"/>
                <a:ea typeface="Segoe UI" pitchFamily="34" charset="-122"/>
                <a:cs typeface="Segoe UI" pitchFamily="34" charset="-120"/>
              </a:rPr>
              <a:t>intent (ICEA)</a:t>
            </a:r>
            <a:endParaRPr lang="en-US" sz="950" dirty="0"/>
          </a:p>
        </p:txBody>
      </p:sp>
      <p:sp>
        <p:nvSpPr>
          <p:cNvPr id="7" name="Text 5"/>
          <p:cNvSpPr/>
          <p:nvPr/>
        </p:nvSpPr>
        <p:spPr>
          <a:xfrm>
            <a:off x="1920240" y="105156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8" name="Shape 6"/>
          <p:cNvSpPr/>
          <p:nvPr/>
        </p:nvSpPr>
        <p:spPr>
          <a:xfrm>
            <a:off x="2286000" y="1051560"/>
            <a:ext cx="1645920" cy="548640"/>
          </a:xfrm>
          <a:prstGeom prst="roundRect">
            <a:avLst>
              <a:gd name="adj" fmla="val 11667"/>
            </a:avLst>
          </a:prstGeom>
          <a:solidFill>
            <a:srgbClr val="C8A951"/>
          </a:solidFill>
          <a:ln w="12700">
            <a:solidFill>
              <a:srgbClr val="C8A951"/>
            </a:solidFill>
            <a:prstDash val="solid"/>
          </a:ln>
        </p:spPr>
      </p:sp>
      <p:sp>
        <p:nvSpPr>
          <p:cNvPr id="9" name="Text 7"/>
          <p:cNvSpPr/>
          <p:nvPr/>
        </p:nvSpPr>
        <p:spPr>
          <a:xfrm>
            <a:off x="2286000" y="1051560"/>
            <a:ext cx="1645920" cy="548640"/>
          </a:xfrm>
          <a:prstGeom prst="rect">
            <a:avLst/>
          </a:prstGeom>
          <a:noFill/>
          <a:ln/>
        </p:spPr>
        <p:txBody>
          <a:bodyPr wrap="square" rtlCol="0" anchor="ctr"/>
          <a:lstStyle/>
          <a:p>
            <a:pPr algn="ctr" indent="0" marL="0">
              <a:buNone/>
            </a:pPr>
            <a:r>
              <a:rPr lang="en-US" sz="950" b="1" dirty="0">
                <a:solidFill>
                  <a:srgbClr val="1A2B17"/>
                </a:solidFill>
                <a:latin typeface="Segoe UI" pitchFamily="34" charset="0"/>
                <a:ea typeface="Segoe UI" pitchFamily="34" charset="-122"/>
                <a:cs typeface="Segoe UI" pitchFamily="34" charset="-120"/>
              </a:rPr>
              <a:t>You: APPROVE</a:t>
            </a:r>
            <a:endParaRPr lang="en-US" sz="950" dirty="0"/>
          </a:p>
          <a:p>
            <a:pPr algn="ctr" indent="0" marL="0">
              <a:buNone/>
            </a:pPr>
            <a:r>
              <a:rPr lang="en-US" sz="950" b="1" dirty="0">
                <a:solidFill>
                  <a:srgbClr val="1A2B17"/>
                </a:solidFill>
                <a:latin typeface="Segoe UI" pitchFamily="34" charset="0"/>
                <a:ea typeface="Segoe UI" pitchFamily="34" charset="-122"/>
                <a:cs typeface="Segoe UI" pitchFamily="34" charset="-120"/>
              </a:rPr>
              <a:t>ADO-{ID}</a:t>
            </a:r>
            <a:endParaRPr lang="en-US" sz="950" dirty="0"/>
          </a:p>
        </p:txBody>
      </p:sp>
      <p:sp>
        <p:nvSpPr>
          <p:cNvPr id="10" name="Text 8"/>
          <p:cNvSpPr/>
          <p:nvPr/>
        </p:nvSpPr>
        <p:spPr>
          <a:xfrm>
            <a:off x="3931920" y="105156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1" name="Shape 9"/>
          <p:cNvSpPr/>
          <p:nvPr/>
        </p:nvSpPr>
        <p:spPr>
          <a:xfrm>
            <a:off x="4297680" y="1051560"/>
            <a:ext cx="1645920" cy="548640"/>
          </a:xfrm>
          <a:prstGeom prst="roundRect">
            <a:avLst>
              <a:gd name="adj" fmla="val 11667"/>
            </a:avLst>
          </a:prstGeom>
          <a:solidFill>
            <a:srgbClr val="FFFFFF"/>
          </a:solidFill>
          <a:ln w="12700">
            <a:solidFill>
              <a:srgbClr val="DFE6E9"/>
            </a:solidFill>
            <a:prstDash val="solid"/>
          </a:ln>
        </p:spPr>
      </p:sp>
      <p:sp>
        <p:nvSpPr>
          <p:cNvPr id="12" name="Text 10"/>
          <p:cNvSpPr/>
          <p:nvPr/>
        </p:nvSpPr>
        <p:spPr>
          <a:xfrm>
            <a:off x="4297680" y="1051560"/>
            <a:ext cx="164592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AI: build</a:t>
            </a:r>
            <a:endParaRPr lang="en-US" sz="950" dirty="0"/>
          </a:p>
        </p:txBody>
      </p:sp>
      <p:sp>
        <p:nvSpPr>
          <p:cNvPr id="13" name="Text 11"/>
          <p:cNvSpPr/>
          <p:nvPr/>
        </p:nvSpPr>
        <p:spPr>
          <a:xfrm>
            <a:off x="5943600" y="105156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4" name="Shape 12"/>
          <p:cNvSpPr/>
          <p:nvPr/>
        </p:nvSpPr>
        <p:spPr>
          <a:xfrm>
            <a:off x="6309360" y="1051560"/>
            <a:ext cx="1645920" cy="548640"/>
          </a:xfrm>
          <a:prstGeom prst="roundRect">
            <a:avLst>
              <a:gd name="adj" fmla="val 11667"/>
            </a:avLst>
          </a:prstGeom>
          <a:solidFill>
            <a:srgbClr val="C8A951"/>
          </a:solidFill>
          <a:ln w="12700">
            <a:solidFill>
              <a:srgbClr val="C8A951"/>
            </a:solidFill>
            <a:prstDash val="solid"/>
          </a:ln>
        </p:spPr>
      </p:sp>
      <p:sp>
        <p:nvSpPr>
          <p:cNvPr id="15" name="Text 13"/>
          <p:cNvSpPr/>
          <p:nvPr/>
        </p:nvSpPr>
        <p:spPr>
          <a:xfrm>
            <a:off x="6309360" y="1051560"/>
            <a:ext cx="1645920" cy="548640"/>
          </a:xfrm>
          <a:prstGeom prst="rect">
            <a:avLst/>
          </a:prstGeom>
          <a:noFill/>
          <a:ln/>
        </p:spPr>
        <p:txBody>
          <a:bodyPr wrap="square" rtlCol="0" anchor="ctr"/>
          <a:lstStyle/>
          <a:p>
            <a:pPr algn="ctr" indent="0" marL="0">
              <a:buNone/>
            </a:pPr>
            <a:r>
              <a:rPr lang="en-US" sz="950" b="1" dirty="0">
                <a:solidFill>
                  <a:srgbClr val="1A2B17"/>
                </a:solidFill>
                <a:latin typeface="Segoe UI" pitchFamily="34" charset="0"/>
                <a:ea typeface="Segoe UI" pitchFamily="34" charset="-122"/>
                <a:cs typeface="Segoe UI" pitchFamily="34" charset="-120"/>
              </a:rPr>
              <a:t>You: sign</a:t>
            </a:r>
            <a:endParaRPr lang="en-US" sz="950" dirty="0"/>
          </a:p>
          <a:p>
            <a:pPr algn="ctr" indent="0" marL="0">
              <a:buNone/>
            </a:pPr>
            <a:r>
              <a:rPr lang="en-US" sz="950" b="1" dirty="0">
                <a:solidFill>
                  <a:srgbClr val="1A2B17"/>
                </a:solidFill>
                <a:latin typeface="Segoe UI" pitchFamily="34" charset="0"/>
                <a:ea typeface="Segoe UI" pitchFamily="34" charset="-122"/>
                <a:cs typeface="Segoe UI" pitchFamily="34" charset="-120"/>
              </a:rPr>
              <a:t>the diff</a:t>
            </a:r>
            <a:endParaRPr lang="en-US" sz="950" dirty="0"/>
          </a:p>
        </p:txBody>
      </p:sp>
      <p:sp>
        <p:nvSpPr>
          <p:cNvPr id="16" name="Text 14"/>
          <p:cNvSpPr/>
          <p:nvPr/>
        </p:nvSpPr>
        <p:spPr>
          <a:xfrm>
            <a:off x="7955280" y="105156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7" name="Shape 15"/>
          <p:cNvSpPr/>
          <p:nvPr/>
        </p:nvSpPr>
        <p:spPr>
          <a:xfrm>
            <a:off x="8321040" y="1051560"/>
            <a:ext cx="1645920" cy="548640"/>
          </a:xfrm>
          <a:prstGeom prst="roundRect">
            <a:avLst>
              <a:gd name="adj" fmla="val 11667"/>
            </a:avLst>
          </a:prstGeom>
          <a:solidFill>
            <a:srgbClr val="00B894"/>
          </a:solidFill>
          <a:ln w="12700">
            <a:solidFill>
              <a:srgbClr val="00B894"/>
            </a:solidFill>
            <a:prstDash val="solid"/>
          </a:ln>
        </p:spPr>
      </p:sp>
      <p:sp>
        <p:nvSpPr>
          <p:cNvPr id="18" name="Text 16"/>
          <p:cNvSpPr/>
          <p:nvPr/>
        </p:nvSpPr>
        <p:spPr>
          <a:xfrm>
            <a:off x="8321040" y="1051560"/>
            <a:ext cx="1645920" cy="54864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Source on</a:t>
            </a:r>
            <a:endParaRPr lang="en-US" sz="950" dirty="0"/>
          </a:p>
          <a:p>
            <a:pPr algn="ctr" indent="0" marL="0">
              <a:buNone/>
            </a:pPr>
            <a:r>
              <a:rPr lang="en-US" sz="950" b="1" dirty="0">
                <a:solidFill>
                  <a:srgbClr val="FFFFFF"/>
                </a:solidFill>
                <a:latin typeface="Segoe UI" pitchFamily="34" charset="0"/>
                <a:ea typeface="Segoe UI" pitchFamily="34" charset="-122"/>
                <a:cs typeface="Segoe UI" pitchFamily="34" charset="-120"/>
              </a:rPr>
              <a:t>disk</a:t>
            </a:r>
            <a:endParaRPr lang="en-US" sz="950" dirty="0"/>
          </a:p>
        </p:txBody>
      </p:sp>
      <p:sp>
        <p:nvSpPr>
          <p:cNvPr id="19" name="Text 17"/>
          <p:cNvSpPr/>
          <p:nvPr/>
        </p:nvSpPr>
        <p:spPr>
          <a:xfrm>
            <a:off x="9966960" y="105156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0" name="Shape 18"/>
          <p:cNvSpPr/>
          <p:nvPr/>
        </p:nvSpPr>
        <p:spPr>
          <a:xfrm>
            <a:off x="10332720" y="1051560"/>
            <a:ext cx="1645920" cy="548640"/>
          </a:xfrm>
          <a:prstGeom prst="roundRect">
            <a:avLst>
              <a:gd name="adj" fmla="val 11667"/>
            </a:avLst>
          </a:prstGeom>
          <a:solidFill>
            <a:srgbClr val="FFFFFF"/>
          </a:solidFill>
          <a:ln w="12700">
            <a:solidFill>
              <a:srgbClr val="DFE6E9"/>
            </a:solidFill>
            <a:prstDash val="solid"/>
          </a:ln>
        </p:spPr>
      </p:sp>
      <p:sp>
        <p:nvSpPr>
          <p:cNvPr id="21" name="Text 19"/>
          <p:cNvSpPr/>
          <p:nvPr/>
        </p:nvSpPr>
        <p:spPr>
          <a:xfrm>
            <a:off x="10332720" y="1051560"/>
            <a:ext cx="164592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PR</a:t>
            </a:r>
            <a:endParaRPr lang="en-US" sz="950" dirty="0"/>
          </a:p>
        </p:txBody>
      </p:sp>
      <p:sp>
        <p:nvSpPr>
          <p:cNvPr id="22" name="Shape 20"/>
          <p:cNvSpPr/>
          <p:nvPr/>
        </p:nvSpPr>
        <p:spPr>
          <a:xfrm>
            <a:off x="457200" y="1965960"/>
            <a:ext cx="3611880" cy="2331720"/>
          </a:xfrm>
          <a:prstGeom prst="roundRect">
            <a:avLst>
              <a:gd name="adj" fmla="val 3922"/>
            </a:avLst>
          </a:prstGeom>
          <a:solidFill>
            <a:srgbClr val="FFFFFF"/>
          </a:solidFill>
          <a:ln w="12700">
            <a:solidFill>
              <a:srgbClr val="DFE6E9"/>
            </a:solidFill>
            <a:prstDash val="solid"/>
          </a:ln>
        </p:spPr>
      </p:sp>
      <p:sp>
        <p:nvSpPr>
          <p:cNvPr id="23" name="Text 21"/>
          <p:cNvSpPr/>
          <p:nvPr/>
        </p:nvSpPr>
        <p:spPr>
          <a:xfrm>
            <a:off x="594360" y="2075688"/>
            <a:ext cx="3337560" cy="201168"/>
          </a:xfrm>
          <a:prstGeom prst="rect">
            <a:avLst/>
          </a:prstGeom>
          <a:noFill/>
          <a:ln/>
        </p:spPr>
        <p:txBody>
          <a:bodyPr wrap="square" rtlCol="0" anchor="ctr"/>
          <a:lstStyle/>
          <a:p>
            <a:pPr indent="0" marL="0">
              <a:buNone/>
            </a:pPr>
            <a:r>
              <a:rPr lang="en-US" sz="800" spc="100" kern="0" dirty="0">
                <a:solidFill>
                  <a:srgbClr val="636E72"/>
                </a:solidFill>
                <a:latin typeface="Cascadia Code" pitchFamily="34" charset="0"/>
                <a:ea typeface="Cascadia Code" pitchFamily="34" charset="-122"/>
                <a:cs typeface="Cascadia Code" pitchFamily="34" charset="-120"/>
              </a:rPr>
              <a:t>LAYER A — MODEL</a:t>
            </a:r>
            <a:endParaRPr lang="en-US" sz="800" dirty="0"/>
          </a:p>
        </p:txBody>
      </p:sp>
      <p:sp>
        <p:nvSpPr>
          <p:cNvPr id="24" name="Text 22"/>
          <p:cNvSpPr/>
          <p:nvPr/>
        </p:nvSpPr>
        <p:spPr>
          <a:xfrm>
            <a:off x="594360" y="2295144"/>
            <a:ext cx="3337560" cy="32004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You: define intent</a:t>
            </a:r>
            <a:endParaRPr lang="en-US" sz="1300" dirty="0"/>
          </a:p>
        </p:txBody>
      </p:sp>
      <p:sp>
        <p:nvSpPr>
          <p:cNvPr id="25" name="Text 23"/>
          <p:cNvSpPr/>
          <p:nvPr/>
        </p:nvSpPr>
        <p:spPr>
          <a:xfrm>
            <a:off x="594360" y="2651760"/>
            <a:ext cx="3337560" cy="1554480"/>
          </a:xfrm>
          <a:prstGeom prst="rect">
            <a:avLst/>
          </a:prstGeom>
          <a:noFill/>
          <a:ln/>
        </p:spPr>
        <p:txBody>
          <a:bodyPr wrap="square" rtlCol="0" anchor="ctr"/>
          <a:lstStyle/>
          <a:p>
            <a:pPr indent="0" marL="0">
              <a:buNone/>
            </a:pPr>
            <a:r>
              <a:rPr lang="en-US" sz="1150" dirty="0">
                <a:solidFill>
                  <a:srgbClr val="636E72"/>
                </a:solidFill>
                <a:latin typeface="Segoe UI" pitchFamily="34" charset="0"/>
                <a:ea typeface="Segoe UI" pitchFamily="34" charset="-122"/>
                <a:cs typeface="Segoe UI" pitchFamily="34" charset="-120"/>
              </a:rPr>
              <a:t>CLAUDE.md rules instruct the model. Probabilistic but flexible — applies everywhere.</a:t>
            </a:r>
            <a:endParaRPr lang="en-US" sz="1150" dirty="0"/>
          </a:p>
        </p:txBody>
      </p:sp>
      <p:sp>
        <p:nvSpPr>
          <p:cNvPr id="26" name="Shape 24"/>
          <p:cNvSpPr/>
          <p:nvPr/>
        </p:nvSpPr>
        <p:spPr>
          <a:xfrm>
            <a:off x="4206240" y="1965960"/>
            <a:ext cx="3611880" cy="2331720"/>
          </a:xfrm>
          <a:prstGeom prst="roundRect">
            <a:avLst>
              <a:gd name="adj" fmla="val 3922"/>
            </a:avLst>
          </a:prstGeom>
          <a:solidFill>
            <a:srgbClr val="FFFFFF"/>
          </a:solidFill>
          <a:ln w="12700">
            <a:solidFill>
              <a:srgbClr val="DFE6E9"/>
            </a:solidFill>
            <a:prstDash val="solid"/>
          </a:ln>
        </p:spPr>
      </p:sp>
      <p:sp>
        <p:nvSpPr>
          <p:cNvPr id="27" name="Text 25"/>
          <p:cNvSpPr/>
          <p:nvPr/>
        </p:nvSpPr>
        <p:spPr>
          <a:xfrm>
            <a:off x="4343400" y="2075688"/>
            <a:ext cx="3337560" cy="201168"/>
          </a:xfrm>
          <a:prstGeom prst="rect">
            <a:avLst/>
          </a:prstGeom>
          <a:noFill/>
          <a:ln/>
        </p:spPr>
        <p:txBody>
          <a:bodyPr wrap="square" rtlCol="0" anchor="ctr"/>
          <a:lstStyle/>
          <a:p>
            <a:pPr indent="0" marL="0">
              <a:buNone/>
            </a:pPr>
            <a:r>
              <a:rPr lang="en-US" sz="800" spc="100" kern="0" dirty="0">
                <a:solidFill>
                  <a:srgbClr val="636E72"/>
                </a:solidFill>
                <a:latin typeface="Cascadia Code" pitchFamily="34" charset="0"/>
                <a:ea typeface="Cascadia Code" pitchFamily="34" charset="-122"/>
                <a:cs typeface="Cascadia Code" pitchFamily="34" charset="-120"/>
              </a:rPr>
              <a:t>LAYER B — HOOKS</a:t>
            </a:r>
            <a:endParaRPr lang="en-US" sz="800" dirty="0"/>
          </a:p>
        </p:txBody>
      </p:sp>
      <p:sp>
        <p:nvSpPr>
          <p:cNvPr id="28" name="Text 26"/>
          <p:cNvSpPr/>
          <p:nvPr/>
        </p:nvSpPr>
        <p:spPr>
          <a:xfrm>
            <a:off x="4343400" y="2295144"/>
            <a:ext cx="3337560" cy="32004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You: approve</a:t>
            </a:r>
            <a:endParaRPr lang="en-US" sz="1300" dirty="0"/>
          </a:p>
        </p:txBody>
      </p:sp>
      <p:sp>
        <p:nvSpPr>
          <p:cNvPr id="29" name="Text 27"/>
          <p:cNvSpPr/>
          <p:nvPr/>
        </p:nvSpPr>
        <p:spPr>
          <a:xfrm>
            <a:off x="4343400" y="2651760"/>
            <a:ext cx="3337560" cy="1554480"/>
          </a:xfrm>
          <a:prstGeom prst="rect">
            <a:avLst/>
          </a:prstGeom>
          <a:noFill/>
          <a:ln/>
        </p:spPr>
        <p:txBody>
          <a:bodyPr wrap="square" rtlCol="0" anchor="ctr"/>
          <a:lstStyle/>
          <a:p>
            <a:pPr indent="0" marL="0">
              <a:buNone/>
            </a:pPr>
            <a:r>
              <a:rPr lang="en-US" sz="1150" dirty="0">
                <a:solidFill>
                  <a:srgbClr val="636E72"/>
                </a:solidFill>
                <a:latin typeface="Segoe UI" pitchFamily="34" charset="0"/>
                <a:ea typeface="Segoe UI" pitchFamily="34" charset="-122"/>
                <a:cs typeface="Segoe UI" pitchFamily="34" charset="-120"/>
              </a:rPr>
              <a:t>PreToolUse hooks intercept tool calls mechanically. Deterministic — cannot be argued with.</a:t>
            </a:r>
            <a:endParaRPr lang="en-US" sz="1150" dirty="0"/>
          </a:p>
        </p:txBody>
      </p:sp>
      <p:sp>
        <p:nvSpPr>
          <p:cNvPr id="30" name="Shape 28"/>
          <p:cNvSpPr/>
          <p:nvPr/>
        </p:nvSpPr>
        <p:spPr>
          <a:xfrm>
            <a:off x="7955280" y="1965960"/>
            <a:ext cx="3611880" cy="2331720"/>
          </a:xfrm>
          <a:prstGeom prst="roundRect">
            <a:avLst>
              <a:gd name="adj" fmla="val 3922"/>
            </a:avLst>
          </a:prstGeom>
          <a:solidFill>
            <a:srgbClr val="FFFFFF"/>
          </a:solidFill>
          <a:ln w="12700">
            <a:solidFill>
              <a:srgbClr val="DFE6E9"/>
            </a:solidFill>
            <a:prstDash val="solid"/>
          </a:ln>
        </p:spPr>
      </p:sp>
      <p:sp>
        <p:nvSpPr>
          <p:cNvPr id="31" name="Text 29"/>
          <p:cNvSpPr/>
          <p:nvPr/>
        </p:nvSpPr>
        <p:spPr>
          <a:xfrm>
            <a:off x="8092440" y="2075688"/>
            <a:ext cx="3337560" cy="201168"/>
          </a:xfrm>
          <a:prstGeom prst="rect">
            <a:avLst/>
          </a:prstGeom>
          <a:noFill/>
          <a:ln/>
        </p:spPr>
        <p:txBody>
          <a:bodyPr wrap="square" rtlCol="0" anchor="ctr"/>
          <a:lstStyle/>
          <a:p>
            <a:pPr indent="0" marL="0">
              <a:buNone/>
            </a:pPr>
            <a:r>
              <a:rPr lang="en-US" sz="800" spc="100" kern="0" dirty="0">
                <a:solidFill>
                  <a:srgbClr val="636E72"/>
                </a:solidFill>
                <a:latin typeface="Cascadia Code" pitchFamily="34" charset="0"/>
                <a:ea typeface="Cascadia Code" pitchFamily="34" charset="-122"/>
                <a:cs typeface="Cascadia Code" pitchFamily="34" charset="-120"/>
              </a:rPr>
              <a:t>LAYER C — GIT / CI</a:t>
            </a:r>
            <a:endParaRPr lang="en-US" sz="800" dirty="0"/>
          </a:p>
        </p:txBody>
      </p:sp>
      <p:sp>
        <p:nvSpPr>
          <p:cNvPr id="32" name="Text 30"/>
          <p:cNvSpPr/>
          <p:nvPr/>
        </p:nvSpPr>
        <p:spPr>
          <a:xfrm>
            <a:off x="8092440" y="2295144"/>
            <a:ext cx="3337560" cy="32004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The floor is visible</a:t>
            </a:r>
            <a:endParaRPr lang="en-US" sz="1300" dirty="0"/>
          </a:p>
        </p:txBody>
      </p:sp>
      <p:sp>
        <p:nvSpPr>
          <p:cNvPr id="33" name="Text 31"/>
          <p:cNvSpPr/>
          <p:nvPr/>
        </p:nvSpPr>
        <p:spPr>
          <a:xfrm>
            <a:off x="8092440" y="2651760"/>
            <a:ext cx="3337560" cy="1554480"/>
          </a:xfrm>
          <a:prstGeom prst="rect">
            <a:avLst/>
          </a:prstGeom>
          <a:noFill/>
          <a:ln/>
        </p:spPr>
        <p:txBody>
          <a:bodyPr wrap="square" rtlCol="0" anchor="ctr"/>
          <a:lstStyle/>
          <a:p>
            <a:pPr indent="0" marL="0">
              <a:buNone/>
            </a:pPr>
            <a:r>
              <a:rPr lang="en-US" sz="1150" dirty="0">
                <a:solidFill>
                  <a:srgbClr val="636E72"/>
                </a:solidFill>
                <a:latin typeface="Segoe UI" pitchFamily="34" charset="0"/>
                <a:ea typeface="Segoe UI" pitchFamily="34" charset="-122"/>
                <a:cs typeface="Segoe UI" pitchFamily="34" charset="-120"/>
              </a:rPr>
              <a:t>Git pre-commit + CI enforce the minimum. Bypass is visible — not claimed impossible.</a:t>
            </a:r>
            <a:endParaRPr lang="en-US" sz="1150" dirty="0"/>
          </a:p>
        </p:txBody>
      </p:sp>
      <p:sp>
        <p:nvSpPr>
          <p:cNvPr id="34" name="Text 32"/>
          <p:cNvSpPr/>
          <p:nvPr/>
        </p:nvSpPr>
        <p:spPr>
          <a:xfrm>
            <a:off x="457200" y="4480560"/>
            <a:ext cx="11247120" cy="365760"/>
          </a:xfrm>
          <a:prstGeom prst="rect">
            <a:avLst/>
          </a:prstGeom>
          <a:noFill/>
          <a:ln/>
        </p:spPr>
        <p:txBody>
          <a:bodyPr wrap="square" rtlCol="0" anchor="ctr"/>
          <a:lstStyle/>
          <a:p>
            <a:pPr algn="ctr" indent="0" marL="0">
              <a:buNone/>
            </a:pPr>
            <a:r>
              <a:rPr lang="en-US" sz="1200" i="1" dirty="0">
                <a:solidFill>
                  <a:srgbClr val="636E72"/>
                </a:solidFill>
                <a:latin typeface="Segoe UI" pitchFamily="34" charset="0"/>
                <a:ea typeface="Segoe UI" pitchFamily="34" charset="-122"/>
                <a:cs typeface="Segoe UI" pitchFamily="34" charset="-120"/>
              </a:rPr>
              <a:t>Governance is just knowing whose decision it was — a named human answerable at each step.</a:t>
            </a:r>
            <a:endParaRPr lang="en-US" sz="1200" dirty="0"/>
          </a:p>
        </p:txBody>
      </p:sp>
      <p:sp>
        <p:nvSpPr>
          <p:cNvPr id="35" name="Text 33"/>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12 / 44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F35"/>
        </a:solidFill>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indent="0" marL="0">
              <a:buNone/>
            </a:pPr>
            <a:r>
              <a:rPr lang="en-US" sz="12000" b="1" dirty="0">
                <a:solidFill>
                  <a:srgbClr val="1A3A5C"/>
                </a:solidFill>
                <a:latin typeface="Cascadia Code" pitchFamily="34" charset="0"/>
                <a:ea typeface="Cascadia Code" pitchFamily="34" charset="-122"/>
                <a:cs typeface="Cascadia Code" pitchFamily="34" charset="-120"/>
              </a:rPr>
              <a:t>II</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ACT II · THE SECOND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Trust Without Measurement</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sp>
      <p:sp>
        <p:nvSpPr>
          <p:cNvPr id="6" name="Text 4"/>
          <p:cNvSpPr/>
          <p:nvPr/>
        </p:nvSpPr>
        <p:spPr>
          <a:xfrm>
            <a:off x="731520" y="2743200"/>
            <a:ext cx="10058400" cy="502920"/>
          </a:xfrm>
          <a:prstGeom prst="rect">
            <a:avLst/>
          </a:prstGeom>
          <a:noFill/>
          <a:ln/>
        </p:spPr>
        <p:txBody>
          <a:bodyPr wrap="square" rtlCol="0" anchor="ctr"/>
          <a:lstStyle/>
          <a:p>
            <a:pPr indent="0" marL="0">
              <a:buNone/>
            </a:pPr>
            <a:r>
              <a:rPr lang="en-US" sz="1500" i="1" dirty="0">
                <a:solidFill>
                  <a:srgbClr val="B7C6D6"/>
                </a:solidFill>
                <a:latin typeface="Segoe UI" pitchFamily="34" charset="0"/>
                <a:ea typeface="Segoe UI" pitchFamily="34" charset="-122"/>
                <a:cs typeface="Segoe UI" pitchFamily="34" charset="-120"/>
              </a:rPr>
              <a:t>"You were asked to trust the AI’s judgment — with no way to see it or measure it."</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algn="r" indent="0" marL="0">
              <a:buNone/>
            </a:pPr>
            <a:r>
              <a:rPr lang="en-US" sz="800" dirty="0">
                <a:solidFill>
                  <a:srgbClr val="3A5A7C"/>
                </a:solidFill>
                <a:latin typeface="Cascadia Code" pitchFamily="34" charset="0"/>
                <a:ea typeface="Cascadia Code" pitchFamily="34" charset="-122"/>
                <a:cs typeface="Cascadia Code" pitchFamily="34" charset="-120"/>
              </a:rPr>
              <a:t>ADRs 0011 · 0012 · 0013 · 0015 · 0023 · 0047 · 0052</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13 / 44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failure mode: you were reviewing blind</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914400"/>
            <a:ext cx="10789920" cy="3657600"/>
          </a:xfrm>
          <a:prstGeom prst="rect">
            <a:avLst/>
          </a:prstGeom>
          <a:noFill/>
          <a:ln/>
        </p:spPr>
        <p:txBody>
          <a:bodyPr wrap="square" rtlCol="0" anchor="t"/>
          <a:lstStyle/>
          <a:p>
            <a:pPr>
              <a:spcAft>
                <a:spcPts val="600"/>
              </a:spcAft>
            </a:pPr>
            <a:r>
              <a:rPr lang="en-US" sz="1400" dirty="0">
                <a:solidFill>
                  <a:srgbClr val="2D3436"/>
                </a:solidFill>
                <a:latin typeface="Segoe UI" pitchFamily="34" charset="0"/>
                <a:ea typeface="Segoe UI" pitchFamily="34" charset="-122"/>
                <a:cs typeface="Segoe UI" pitchFamily="34" charset="-120"/>
              </a:rPr>
              <a:t>No layer saw spec and code together. ICEA review happened before code; code review happened after. The one comparison that matters had no reviewer in it.</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Generalist output on specialist artifacts. A security review through a helpful-assistant lens misses what a security engineer would flag instantly.</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Trust was asserted, not measured. "The AI did a good job" was the whole feedback loop — no way to build or calibrate trust over time.</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Every task routed to the same model. Spec drafting, quick fixes, and code review — identical routing regardless of what each needed.</a:t>
            </a:r>
            <a:endParaRPr lang="en-US" sz="1400" dirty="0"/>
          </a:p>
        </p:txBody>
      </p:sp>
      <p:sp>
        <p:nvSpPr>
          <p:cNvPr id="6" name="Text 4"/>
          <p:cNvSpPr/>
          <p:nvPr/>
        </p:nvSpPr>
        <p:spPr>
          <a:xfrm>
            <a:off x="548640" y="4937760"/>
            <a:ext cx="11064240" cy="365760"/>
          </a:xfrm>
          <a:prstGeom prst="rect">
            <a:avLst/>
          </a:prstGeom>
          <a:noFill/>
          <a:ln/>
        </p:spPr>
        <p:txBody>
          <a:bodyPr wrap="square" rtlCol="0" anchor="ctr"/>
          <a:lstStyle/>
          <a:p>
            <a:pPr indent="0" marL="0">
              <a:buNone/>
            </a:pPr>
            <a:r>
              <a:rPr lang="en-US" sz="1300" i="1" dirty="0">
                <a:solidFill>
                  <a:srgbClr val="636E72"/>
                </a:solidFill>
                <a:latin typeface="Segoe UI" pitchFamily="34" charset="0"/>
                <a:ea typeface="Segoe UI" pitchFamily="34" charset="-122"/>
                <a:cs typeface="Segoe UI" pitchFamily="34" charset="-120"/>
              </a:rPr>
              <a:t>The critical window — spec and fresh code, side by side — was empty.</a:t>
            </a:r>
            <a:endParaRPr lang="en-US" sz="1300" dirty="0"/>
          </a:p>
        </p:txBody>
      </p:sp>
      <p:sp>
        <p:nvSpPr>
          <p:cNvPr id="7" name="Text 5"/>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14 / 44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A second reviewer who stands where you can’t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965960"/>
          </a:xfrm>
          <a:prstGeom prst="rect">
            <a:avLst/>
          </a:prstGeom>
          <a:solidFill>
            <a:srgbClr val="C8A951"/>
          </a:solidFill>
          <a:ln w="12700">
            <a:solidFill>
              <a:srgbClr val="C8A951"/>
            </a:solidFill>
            <a:prstDash val="solid"/>
          </a:ln>
        </p:spPr>
      </p:sp>
      <p:sp>
        <p:nvSpPr>
          <p:cNvPr id="6" name="Shape 4"/>
          <p:cNvSpPr/>
          <p:nvPr/>
        </p:nvSpPr>
        <p:spPr>
          <a:xfrm>
            <a:off x="612648" y="914400"/>
            <a:ext cx="11000232" cy="1965960"/>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THE CRITIC  ·  ADR 0012 + ADR 0052</a:t>
            </a:r>
            <a:endParaRPr lang="en-US" sz="800" dirty="0"/>
          </a:p>
        </p:txBody>
      </p:sp>
      <p:sp>
        <p:nvSpPr>
          <p:cNvPr id="8" name="Text 6"/>
          <p:cNvSpPr/>
          <p:nvPr/>
        </p:nvSpPr>
        <p:spPr>
          <a:xfrm>
            <a:off x="731520" y="1207008"/>
            <a:ext cx="10607040" cy="132588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"The critic steps in at the moments intent and output are both fresh — and hands you a real second opinion instead of a blank diff."</a:t>
            </a:r>
            <a:endParaRPr lang="en-US" sz="1300" dirty="0"/>
          </a:p>
        </p:txBody>
      </p:sp>
      <p:sp>
        <p:nvSpPr>
          <p:cNvPr id="9" name="Text 7"/>
          <p:cNvSpPr/>
          <p:nvPr/>
        </p:nvSpPr>
        <p:spPr>
          <a:xfrm>
            <a:off x="731520" y="253288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Fires at three gates: your intent (ICEA draft), your design (Tech Spec), and the AI’s output (before any file is written). On the code gate it can send work back — twice — before it reaches you. Ephemeral: no ledger, no fingerprint.</a:t>
            </a:r>
            <a:endParaRPr lang="en-US" sz="1000" dirty="0"/>
          </a:p>
        </p:txBody>
      </p:sp>
      <p:sp>
        <p:nvSpPr>
          <p:cNvPr id="10" name="Text 8"/>
          <p:cNvSpPr/>
          <p:nvPr/>
        </p:nvSpPr>
        <p:spPr>
          <a:xfrm>
            <a:off x="10607040" y="260604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0052</a:t>
            </a:r>
            <a:endParaRPr lang="en-US" sz="800" dirty="0"/>
          </a:p>
        </p:txBody>
      </p:sp>
      <p:sp>
        <p:nvSpPr>
          <p:cNvPr id="11" name="Shape 9"/>
          <p:cNvSpPr/>
          <p:nvPr/>
        </p:nvSpPr>
        <p:spPr>
          <a:xfrm>
            <a:off x="274320" y="3154680"/>
            <a:ext cx="1358537" cy="548640"/>
          </a:xfrm>
          <a:prstGeom prst="roundRect">
            <a:avLst>
              <a:gd name="adj" fmla="val 11667"/>
            </a:avLst>
          </a:prstGeom>
          <a:solidFill>
            <a:srgbClr val="FFFFFF"/>
          </a:solidFill>
          <a:ln w="12700">
            <a:solidFill>
              <a:srgbClr val="DFE6E9"/>
            </a:solidFill>
            <a:prstDash val="solid"/>
          </a:ln>
        </p:spPr>
      </p:sp>
      <p:sp>
        <p:nvSpPr>
          <p:cNvPr id="12" name="Text 10"/>
          <p:cNvSpPr/>
          <p:nvPr/>
        </p:nvSpPr>
        <p:spPr>
          <a:xfrm>
            <a:off x="274320" y="3154680"/>
            <a:ext cx="1358537"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ICEA draft</a:t>
            </a:r>
            <a:endParaRPr lang="en-US" sz="950" dirty="0"/>
          </a:p>
        </p:txBody>
      </p:sp>
      <p:sp>
        <p:nvSpPr>
          <p:cNvPr id="13" name="Text 11"/>
          <p:cNvSpPr/>
          <p:nvPr/>
        </p:nvSpPr>
        <p:spPr>
          <a:xfrm>
            <a:off x="1632857" y="31546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4" name="Shape 12"/>
          <p:cNvSpPr/>
          <p:nvPr/>
        </p:nvSpPr>
        <p:spPr>
          <a:xfrm>
            <a:off x="1998617" y="3154680"/>
            <a:ext cx="1358537" cy="548640"/>
          </a:xfrm>
          <a:prstGeom prst="roundRect">
            <a:avLst>
              <a:gd name="adj" fmla="val 11667"/>
            </a:avLst>
          </a:prstGeom>
          <a:solidFill>
            <a:srgbClr val="C8A951"/>
          </a:solidFill>
          <a:ln w="12700">
            <a:solidFill>
              <a:srgbClr val="C8A951"/>
            </a:solidFill>
            <a:prstDash val="solid"/>
          </a:ln>
        </p:spPr>
      </p:sp>
      <p:sp>
        <p:nvSpPr>
          <p:cNvPr id="15" name="Text 13"/>
          <p:cNvSpPr/>
          <p:nvPr/>
        </p:nvSpPr>
        <p:spPr>
          <a:xfrm>
            <a:off x="1998617" y="3154680"/>
            <a:ext cx="1358537" cy="548640"/>
          </a:xfrm>
          <a:prstGeom prst="rect">
            <a:avLst/>
          </a:prstGeom>
          <a:noFill/>
          <a:ln/>
        </p:spPr>
        <p:txBody>
          <a:bodyPr wrap="square" rtlCol="0" anchor="ctr"/>
          <a:lstStyle/>
          <a:p>
            <a:pPr algn="ctr" indent="0" marL="0">
              <a:buNone/>
            </a:pPr>
            <a:r>
              <a:rPr lang="en-US" sz="950" b="1" dirty="0">
                <a:solidFill>
                  <a:srgbClr val="1A2B17"/>
                </a:solidFill>
                <a:latin typeface="Segoe UI" pitchFamily="34" charset="0"/>
                <a:ea typeface="Segoe UI" pitchFamily="34" charset="-122"/>
                <a:cs typeface="Segoe UI" pitchFamily="34" charset="-120"/>
              </a:rPr>
              <a:t>CRITIC</a:t>
            </a:r>
            <a:endParaRPr lang="en-US" sz="950" dirty="0"/>
          </a:p>
          <a:p>
            <a:pPr algn="ctr" indent="0" marL="0">
              <a:buNone/>
            </a:pPr>
            <a:r>
              <a:rPr lang="en-US" sz="950" b="1" dirty="0">
                <a:solidFill>
                  <a:srgbClr val="1A2B17"/>
                </a:solidFill>
                <a:latin typeface="Segoe UI" pitchFamily="34" charset="0"/>
                <a:ea typeface="Segoe UI" pitchFamily="34" charset="-122"/>
                <a:cs typeface="Segoe UI" pitchFamily="34" charset="-120"/>
              </a:rPr>
              <a:t>icea gate</a:t>
            </a:r>
            <a:endParaRPr lang="en-US" sz="950" dirty="0"/>
          </a:p>
        </p:txBody>
      </p:sp>
      <p:sp>
        <p:nvSpPr>
          <p:cNvPr id="16" name="Text 14"/>
          <p:cNvSpPr/>
          <p:nvPr/>
        </p:nvSpPr>
        <p:spPr>
          <a:xfrm>
            <a:off x="3357154" y="31546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7" name="Shape 15"/>
          <p:cNvSpPr/>
          <p:nvPr/>
        </p:nvSpPr>
        <p:spPr>
          <a:xfrm>
            <a:off x="3722914" y="3154680"/>
            <a:ext cx="1358537" cy="548640"/>
          </a:xfrm>
          <a:prstGeom prst="roundRect">
            <a:avLst>
              <a:gd name="adj" fmla="val 11667"/>
            </a:avLst>
          </a:prstGeom>
          <a:solidFill>
            <a:srgbClr val="FFFFFF"/>
          </a:solidFill>
          <a:ln w="12700">
            <a:solidFill>
              <a:srgbClr val="DFE6E9"/>
            </a:solidFill>
            <a:prstDash val="solid"/>
          </a:ln>
        </p:spPr>
      </p:sp>
      <p:sp>
        <p:nvSpPr>
          <p:cNvPr id="18" name="Text 16"/>
          <p:cNvSpPr/>
          <p:nvPr/>
        </p:nvSpPr>
        <p:spPr>
          <a:xfrm>
            <a:off x="3722914" y="3154680"/>
            <a:ext cx="1358537"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Tech Spec</a:t>
            </a:r>
            <a:endParaRPr lang="en-US" sz="950" dirty="0"/>
          </a:p>
        </p:txBody>
      </p:sp>
      <p:sp>
        <p:nvSpPr>
          <p:cNvPr id="19" name="Text 17"/>
          <p:cNvSpPr/>
          <p:nvPr/>
        </p:nvSpPr>
        <p:spPr>
          <a:xfrm>
            <a:off x="5081451" y="31546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0" name="Shape 18"/>
          <p:cNvSpPr/>
          <p:nvPr/>
        </p:nvSpPr>
        <p:spPr>
          <a:xfrm>
            <a:off x="5447211" y="3154680"/>
            <a:ext cx="1358537" cy="548640"/>
          </a:xfrm>
          <a:prstGeom prst="roundRect">
            <a:avLst>
              <a:gd name="adj" fmla="val 11667"/>
            </a:avLst>
          </a:prstGeom>
          <a:solidFill>
            <a:srgbClr val="C8A951"/>
          </a:solidFill>
          <a:ln w="12700">
            <a:solidFill>
              <a:srgbClr val="C8A951"/>
            </a:solidFill>
            <a:prstDash val="solid"/>
          </a:ln>
        </p:spPr>
      </p:sp>
      <p:sp>
        <p:nvSpPr>
          <p:cNvPr id="21" name="Text 19"/>
          <p:cNvSpPr/>
          <p:nvPr/>
        </p:nvSpPr>
        <p:spPr>
          <a:xfrm>
            <a:off x="5447211" y="3154680"/>
            <a:ext cx="1358537" cy="548640"/>
          </a:xfrm>
          <a:prstGeom prst="rect">
            <a:avLst/>
          </a:prstGeom>
          <a:noFill/>
          <a:ln/>
        </p:spPr>
        <p:txBody>
          <a:bodyPr wrap="square" rtlCol="0" anchor="ctr"/>
          <a:lstStyle/>
          <a:p>
            <a:pPr algn="ctr" indent="0" marL="0">
              <a:buNone/>
            </a:pPr>
            <a:r>
              <a:rPr lang="en-US" sz="950" b="1" dirty="0">
                <a:solidFill>
                  <a:srgbClr val="1A2B17"/>
                </a:solidFill>
                <a:latin typeface="Segoe UI" pitchFamily="34" charset="0"/>
                <a:ea typeface="Segoe UI" pitchFamily="34" charset="-122"/>
                <a:cs typeface="Segoe UI" pitchFamily="34" charset="-120"/>
              </a:rPr>
              <a:t>CRITIC</a:t>
            </a:r>
            <a:endParaRPr lang="en-US" sz="950" dirty="0"/>
          </a:p>
          <a:p>
            <a:pPr algn="ctr" indent="0" marL="0">
              <a:buNone/>
            </a:pPr>
            <a:r>
              <a:rPr lang="en-US" sz="950" b="1" dirty="0">
                <a:solidFill>
                  <a:srgbClr val="1A2B17"/>
                </a:solidFill>
                <a:latin typeface="Segoe UI" pitchFamily="34" charset="0"/>
                <a:ea typeface="Segoe UI" pitchFamily="34" charset="-122"/>
                <a:cs typeface="Segoe UI" pitchFamily="34" charset="-120"/>
              </a:rPr>
              <a:t>tech gate</a:t>
            </a:r>
            <a:endParaRPr lang="en-US" sz="950" dirty="0"/>
          </a:p>
        </p:txBody>
      </p:sp>
      <p:sp>
        <p:nvSpPr>
          <p:cNvPr id="22" name="Text 20"/>
          <p:cNvSpPr/>
          <p:nvPr/>
        </p:nvSpPr>
        <p:spPr>
          <a:xfrm>
            <a:off x="6805749" y="31546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3" name="Shape 21"/>
          <p:cNvSpPr/>
          <p:nvPr/>
        </p:nvSpPr>
        <p:spPr>
          <a:xfrm>
            <a:off x="7171509" y="3154680"/>
            <a:ext cx="1358537" cy="548640"/>
          </a:xfrm>
          <a:prstGeom prst="roundRect">
            <a:avLst>
              <a:gd name="adj" fmla="val 11667"/>
            </a:avLst>
          </a:prstGeom>
          <a:solidFill>
            <a:srgbClr val="FFFFFF"/>
          </a:solidFill>
          <a:ln w="12700">
            <a:solidFill>
              <a:srgbClr val="DFE6E9"/>
            </a:solidFill>
            <a:prstDash val="solid"/>
          </a:ln>
        </p:spPr>
      </p:sp>
      <p:sp>
        <p:nvSpPr>
          <p:cNvPr id="24" name="Text 22"/>
          <p:cNvSpPr/>
          <p:nvPr/>
        </p:nvSpPr>
        <p:spPr>
          <a:xfrm>
            <a:off x="7171509" y="3154680"/>
            <a:ext cx="1358537"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Code gen</a:t>
            </a:r>
            <a:endParaRPr lang="en-US" sz="950" dirty="0"/>
          </a:p>
        </p:txBody>
      </p:sp>
      <p:sp>
        <p:nvSpPr>
          <p:cNvPr id="25" name="Text 23"/>
          <p:cNvSpPr/>
          <p:nvPr/>
        </p:nvSpPr>
        <p:spPr>
          <a:xfrm>
            <a:off x="8530046" y="31546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6" name="Shape 24"/>
          <p:cNvSpPr/>
          <p:nvPr/>
        </p:nvSpPr>
        <p:spPr>
          <a:xfrm>
            <a:off x="8895806" y="3154680"/>
            <a:ext cx="1358537" cy="548640"/>
          </a:xfrm>
          <a:prstGeom prst="roundRect">
            <a:avLst>
              <a:gd name="adj" fmla="val 11667"/>
            </a:avLst>
          </a:prstGeom>
          <a:solidFill>
            <a:srgbClr val="C8A951"/>
          </a:solidFill>
          <a:ln w="12700">
            <a:solidFill>
              <a:srgbClr val="C8A951"/>
            </a:solidFill>
            <a:prstDash val="solid"/>
          </a:ln>
        </p:spPr>
      </p:sp>
      <p:sp>
        <p:nvSpPr>
          <p:cNvPr id="27" name="Text 25"/>
          <p:cNvSpPr/>
          <p:nvPr/>
        </p:nvSpPr>
        <p:spPr>
          <a:xfrm>
            <a:off x="8895806" y="3154680"/>
            <a:ext cx="1358537" cy="548640"/>
          </a:xfrm>
          <a:prstGeom prst="rect">
            <a:avLst/>
          </a:prstGeom>
          <a:noFill/>
          <a:ln/>
        </p:spPr>
        <p:txBody>
          <a:bodyPr wrap="square" rtlCol="0" anchor="ctr"/>
          <a:lstStyle/>
          <a:p>
            <a:pPr algn="ctr" indent="0" marL="0">
              <a:buNone/>
            </a:pPr>
            <a:r>
              <a:rPr lang="en-US" sz="950" b="1" dirty="0">
                <a:solidFill>
                  <a:srgbClr val="1A2B17"/>
                </a:solidFill>
                <a:latin typeface="Segoe UI" pitchFamily="34" charset="0"/>
                <a:ea typeface="Segoe UI" pitchFamily="34" charset="-122"/>
                <a:cs typeface="Segoe UI" pitchFamily="34" charset="-120"/>
              </a:rPr>
              <a:t>CRITIC</a:t>
            </a:r>
            <a:endParaRPr lang="en-US" sz="950" dirty="0"/>
          </a:p>
          <a:p>
            <a:pPr algn="ctr" indent="0" marL="0">
              <a:buNone/>
            </a:pPr>
            <a:r>
              <a:rPr lang="en-US" sz="950" b="1" dirty="0">
                <a:solidFill>
                  <a:srgbClr val="1A2B17"/>
                </a:solidFill>
                <a:latin typeface="Segoe UI" pitchFamily="34" charset="0"/>
                <a:ea typeface="Segoe UI" pitchFamily="34" charset="-122"/>
                <a:cs typeface="Segoe UI" pitchFamily="34" charset="-120"/>
              </a:rPr>
              <a:t>code gate</a:t>
            </a:r>
            <a:endParaRPr lang="en-US" sz="950" dirty="0"/>
          </a:p>
        </p:txBody>
      </p:sp>
      <p:sp>
        <p:nvSpPr>
          <p:cNvPr id="28" name="Text 26"/>
          <p:cNvSpPr/>
          <p:nvPr/>
        </p:nvSpPr>
        <p:spPr>
          <a:xfrm>
            <a:off x="10254343" y="31546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9" name="Shape 27"/>
          <p:cNvSpPr/>
          <p:nvPr/>
        </p:nvSpPr>
        <p:spPr>
          <a:xfrm>
            <a:off x="10620103" y="3154680"/>
            <a:ext cx="1358537" cy="548640"/>
          </a:xfrm>
          <a:prstGeom prst="roundRect">
            <a:avLst>
              <a:gd name="adj" fmla="val 11667"/>
            </a:avLst>
          </a:prstGeom>
          <a:solidFill>
            <a:srgbClr val="00B894"/>
          </a:solidFill>
          <a:ln w="12700">
            <a:solidFill>
              <a:srgbClr val="00B894"/>
            </a:solidFill>
            <a:prstDash val="solid"/>
          </a:ln>
        </p:spPr>
      </p:sp>
      <p:sp>
        <p:nvSpPr>
          <p:cNvPr id="30" name="Text 28"/>
          <p:cNvSpPr/>
          <p:nvPr/>
        </p:nvSpPr>
        <p:spPr>
          <a:xfrm>
            <a:off x="10620103" y="3154680"/>
            <a:ext cx="1358537" cy="54864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Write</a:t>
            </a:r>
            <a:endParaRPr lang="en-US" sz="950" dirty="0"/>
          </a:p>
        </p:txBody>
      </p:sp>
      <p:sp>
        <p:nvSpPr>
          <p:cNvPr id="31" name="Text 29"/>
          <p:cNvSpPr/>
          <p:nvPr/>
        </p:nvSpPr>
        <p:spPr>
          <a:xfrm>
            <a:off x="457200" y="3886200"/>
            <a:ext cx="11247120" cy="36576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icea gate → your intent   ·   tech gate → your design   ·   code gate → the AI’s output (controls the write, revise ×2)</a:t>
            </a:r>
            <a:endParaRPr lang="en-US" sz="900" dirty="0"/>
          </a:p>
        </p:txBody>
      </p:sp>
      <p:sp>
        <p:nvSpPr>
          <p:cNvPr id="32" name="Text 30"/>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15 / 44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When you review, you switch hats. Make the AI do the same.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CAPABILITY × ROLE  ·  ADR 0047</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"Model tier is a capability axis. Expert personas add the role axis — orthogonal. Same model, completely different reasoning when the lens changes."</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A security engineer notices what a helpful assistant sails right past. Constraints: stack-agnostic · governance-subordinate · reasoning-only (never appears in output).</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0047</a:t>
            </a:r>
            <a:endParaRPr lang="en-US" sz="800" dirty="0"/>
          </a:p>
        </p:txBody>
      </p:sp>
      <p:sp>
        <p:nvSpPr>
          <p:cNvPr id="11" name="Shape 9"/>
          <p:cNvSpPr/>
          <p:nvPr/>
        </p:nvSpPr>
        <p:spPr>
          <a:xfrm>
            <a:off x="457200" y="2971800"/>
            <a:ext cx="2724912" cy="749808"/>
          </a:xfrm>
          <a:prstGeom prst="rect">
            <a:avLst/>
          </a:prstGeom>
          <a:solidFill>
            <a:srgbClr val="1A3A5C"/>
          </a:solidFill>
          <a:ln w="12700">
            <a:solidFill>
              <a:srgbClr val="1A3A5C"/>
            </a:solidFill>
            <a:prstDash val="solid"/>
          </a:ln>
        </p:spPr>
      </p:sp>
      <p:sp>
        <p:nvSpPr>
          <p:cNvPr id="12" name="Text 10"/>
          <p:cNvSpPr/>
          <p:nvPr/>
        </p:nvSpPr>
        <p:spPr>
          <a:xfrm>
            <a:off x="530352" y="3017520"/>
            <a:ext cx="2606040" cy="658368"/>
          </a:xfrm>
          <a:prstGeom prst="rect">
            <a:avLst/>
          </a:prstGeom>
          <a:noFill/>
          <a:ln/>
        </p:spPr>
        <p:txBody>
          <a:bodyPr wrap="square" rtlCol="0" anchor="ctr"/>
          <a:lstStyle/>
          <a:p>
            <a:pPr indent="0" marL="0">
              <a:buNone/>
            </a:pPr>
            <a:endParaRPr lang="en-US" sz="1000" dirty="0"/>
          </a:p>
        </p:txBody>
      </p:sp>
      <p:sp>
        <p:nvSpPr>
          <p:cNvPr id="13" name="Shape 11"/>
          <p:cNvSpPr/>
          <p:nvPr/>
        </p:nvSpPr>
        <p:spPr>
          <a:xfrm>
            <a:off x="3246120" y="2971800"/>
            <a:ext cx="2724912" cy="749808"/>
          </a:xfrm>
          <a:prstGeom prst="rect">
            <a:avLst/>
          </a:prstGeom>
          <a:solidFill>
            <a:srgbClr val="1A3A5C"/>
          </a:solidFill>
          <a:ln w="12700">
            <a:solidFill>
              <a:srgbClr val="1A3A5C"/>
            </a:solidFill>
            <a:prstDash val="solid"/>
          </a:ln>
        </p:spPr>
      </p:sp>
      <p:sp>
        <p:nvSpPr>
          <p:cNvPr id="14" name="Text 12"/>
          <p:cNvSpPr/>
          <p:nvPr/>
        </p:nvSpPr>
        <p:spPr>
          <a:xfrm>
            <a:off x="3319272" y="3017520"/>
            <a:ext cx="2606040" cy="6583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[PO] Product Owner</a:t>
            </a:r>
            <a:endParaRPr lang="en-US" sz="1000" dirty="0"/>
          </a:p>
        </p:txBody>
      </p:sp>
      <p:sp>
        <p:nvSpPr>
          <p:cNvPr id="15" name="Shape 13"/>
          <p:cNvSpPr/>
          <p:nvPr/>
        </p:nvSpPr>
        <p:spPr>
          <a:xfrm>
            <a:off x="6035040" y="2971800"/>
            <a:ext cx="2724912" cy="749808"/>
          </a:xfrm>
          <a:prstGeom prst="rect">
            <a:avLst/>
          </a:prstGeom>
          <a:solidFill>
            <a:srgbClr val="1A3A5C"/>
          </a:solidFill>
          <a:ln w="12700">
            <a:solidFill>
              <a:srgbClr val="1A3A5C"/>
            </a:solidFill>
            <a:prstDash val="solid"/>
          </a:ln>
        </p:spPr>
      </p:sp>
      <p:sp>
        <p:nvSpPr>
          <p:cNvPr id="16" name="Text 14"/>
          <p:cNvSpPr/>
          <p:nvPr/>
        </p:nvSpPr>
        <p:spPr>
          <a:xfrm>
            <a:off x="6108192" y="3017520"/>
            <a:ext cx="2606040" cy="6583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[TL] Tech Lead</a:t>
            </a:r>
            <a:endParaRPr lang="en-US" sz="1000" dirty="0"/>
          </a:p>
        </p:txBody>
      </p:sp>
      <p:sp>
        <p:nvSpPr>
          <p:cNvPr id="17" name="Shape 15"/>
          <p:cNvSpPr/>
          <p:nvPr/>
        </p:nvSpPr>
        <p:spPr>
          <a:xfrm>
            <a:off x="8823960" y="2971800"/>
            <a:ext cx="2724912" cy="749808"/>
          </a:xfrm>
          <a:prstGeom prst="rect">
            <a:avLst/>
          </a:prstGeom>
          <a:solidFill>
            <a:srgbClr val="1A3A5C"/>
          </a:solidFill>
          <a:ln w="12700">
            <a:solidFill>
              <a:srgbClr val="1A3A5C"/>
            </a:solidFill>
            <a:prstDash val="solid"/>
          </a:ln>
        </p:spPr>
      </p:sp>
      <p:sp>
        <p:nvSpPr>
          <p:cNvPr id="18" name="Text 16"/>
          <p:cNvSpPr/>
          <p:nvPr/>
        </p:nvSpPr>
        <p:spPr>
          <a:xfrm>
            <a:off x="8897112" y="3017520"/>
            <a:ext cx="2606040" cy="6583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[SEC] Security Engineer</a:t>
            </a:r>
            <a:endParaRPr lang="en-US" sz="1000" dirty="0"/>
          </a:p>
        </p:txBody>
      </p:sp>
      <p:sp>
        <p:nvSpPr>
          <p:cNvPr id="19" name="Shape 17"/>
          <p:cNvSpPr/>
          <p:nvPr/>
        </p:nvSpPr>
        <p:spPr>
          <a:xfrm>
            <a:off x="457200" y="3749040"/>
            <a:ext cx="2724912" cy="749808"/>
          </a:xfrm>
          <a:prstGeom prst="rect">
            <a:avLst/>
          </a:prstGeom>
          <a:solidFill>
            <a:srgbClr val="1A3A5C"/>
          </a:solidFill>
          <a:ln w="12700">
            <a:solidFill>
              <a:srgbClr val="1A3A5C"/>
            </a:solidFill>
            <a:prstDash val="solid"/>
          </a:ln>
        </p:spPr>
      </p:sp>
      <p:sp>
        <p:nvSpPr>
          <p:cNvPr id="20" name="Text 18"/>
          <p:cNvSpPr/>
          <p:nvPr/>
        </p:nvSpPr>
        <p:spPr>
          <a:xfrm>
            <a:off x="530352" y="3794760"/>
            <a:ext cx="2606040" cy="6583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ICEA_MODEL</a:t>
            </a:r>
            <a:endParaRPr lang="en-US" sz="1000" dirty="0"/>
          </a:p>
          <a:p>
            <a:pPr indent="0" marL="0">
              <a:buNone/>
            </a:pPr>
            <a:r>
              <a:rPr lang="en-US" sz="1000" b="1" dirty="0">
                <a:solidFill>
                  <a:srgbClr val="FFFFFF"/>
                </a:solidFill>
                <a:latin typeface="Segoe UI" pitchFamily="34" charset="0"/>
                <a:ea typeface="Segoe UI" pitchFamily="34" charset="-122"/>
                <a:cs typeface="Segoe UI" pitchFamily="34" charset="-120"/>
              </a:rPr>
              <a:t>(Opus)</a:t>
            </a:r>
            <a:endParaRPr lang="en-US" sz="1000" dirty="0"/>
          </a:p>
        </p:txBody>
      </p:sp>
      <p:sp>
        <p:nvSpPr>
          <p:cNvPr id="21" name="Shape 19"/>
          <p:cNvSpPr/>
          <p:nvPr/>
        </p:nvSpPr>
        <p:spPr>
          <a:xfrm>
            <a:off x="3246120" y="3749040"/>
            <a:ext cx="2724912" cy="749808"/>
          </a:xfrm>
          <a:prstGeom prst="rect">
            <a:avLst/>
          </a:prstGeom>
          <a:solidFill>
            <a:srgbClr val="FFFFFF"/>
          </a:solidFill>
          <a:ln w="12700">
            <a:solidFill>
              <a:srgbClr val="DFE6E9"/>
            </a:solidFill>
            <a:prstDash val="solid"/>
          </a:ln>
        </p:spPr>
      </p:sp>
      <p:sp>
        <p:nvSpPr>
          <p:cNvPr id="22" name="Text 20"/>
          <p:cNvSpPr/>
          <p:nvPr/>
        </p:nvSpPr>
        <p:spPr>
          <a:xfrm>
            <a:off x="3319272" y="3794760"/>
            <a:ext cx="2606040" cy="658368"/>
          </a:xfrm>
          <a:prstGeom prst="rect">
            <a:avLst/>
          </a:prstGeom>
          <a:noFill/>
          <a:ln/>
        </p:spPr>
        <p:txBody>
          <a:bodyPr wrap="square" rtlCol="0" anchor="ctr"/>
          <a:lstStyle/>
          <a:p>
            <a:pPr indent="0" marL="0">
              <a:buNone/>
            </a:pPr>
            <a:r>
              <a:rPr lang="en-US" sz="1100" dirty="0">
                <a:solidFill>
                  <a:srgbClr val="2D3436"/>
                </a:solidFill>
                <a:latin typeface="Segoe UI" pitchFamily="34" charset="0"/>
                <a:ea typeface="Segoe UI" pitchFamily="34" charset="-122"/>
                <a:cs typeface="Segoe UI" pitchFamily="34" charset="-120"/>
              </a:rPr>
              <a:t>Is intent clear? What are we NOT building?</a:t>
            </a:r>
            <a:endParaRPr lang="en-US" sz="1100" dirty="0"/>
          </a:p>
        </p:txBody>
      </p:sp>
      <p:sp>
        <p:nvSpPr>
          <p:cNvPr id="23" name="Shape 21"/>
          <p:cNvSpPr/>
          <p:nvPr/>
        </p:nvSpPr>
        <p:spPr>
          <a:xfrm>
            <a:off x="6035040" y="3749040"/>
            <a:ext cx="2724912" cy="749808"/>
          </a:xfrm>
          <a:prstGeom prst="rect">
            <a:avLst/>
          </a:prstGeom>
          <a:solidFill>
            <a:srgbClr val="FFFFFF"/>
          </a:solidFill>
          <a:ln w="12700">
            <a:solidFill>
              <a:srgbClr val="DFE6E9"/>
            </a:solidFill>
            <a:prstDash val="solid"/>
          </a:ln>
        </p:spPr>
      </p:sp>
      <p:sp>
        <p:nvSpPr>
          <p:cNvPr id="24" name="Text 22"/>
          <p:cNvSpPr/>
          <p:nvPr/>
        </p:nvSpPr>
        <p:spPr>
          <a:xfrm>
            <a:off x="6108192" y="3794760"/>
            <a:ext cx="2606040" cy="658368"/>
          </a:xfrm>
          <a:prstGeom prst="rect">
            <a:avLst/>
          </a:prstGeom>
          <a:noFill/>
          <a:ln/>
        </p:spPr>
        <p:txBody>
          <a:bodyPr wrap="square" rtlCol="0" anchor="ctr"/>
          <a:lstStyle/>
          <a:p>
            <a:pPr indent="0" marL="0">
              <a:buNone/>
            </a:pPr>
            <a:r>
              <a:rPr lang="en-US" sz="1100" dirty="0">
                <a:solidFill>
                  <a:srgbClr val="2D3436"/>
                </a:solidFill>
                <a:latin typeface="Segoe UI" pitchFamily="34" charset="0"/>
                <a:ea typeface="Segoe UI" pitchFamily="34" charset="-122"/>
                <a:cs typeface="Segoe UI" pitchFamily="34" charset="-120"/>
              </a:rPr>
              <a:t>Does this satisfy architectural constraints?</a:t>
            </a:r>
            <a:endParaRPr lang="en-US" sz="1100" dirty="0"/>
          </a:p>
        </p:txBody>
      </p:sp>
      <p:sp>
        <p:nvSpPr>
          <p:cNvPr id="25" name="Shape 23"/>
          <p:cNvSpPr/>
          <p:nvPr/>
        </p:nvSpPr>
        <p:spPr>
          <a:xfrm>
            <a:off x="8823960" y="3749040"/>
            <a:ext cx="2724912" cy="749808"/>
          </a:xfrm>
          <a:prstGeom prst="rect">
            <a:avLst/>
          </a:prstGeom>
          <a:solidFill>
            <a:srgbClr val="FFFFFF"/>
          </a:solidFill>
          <a:ln w="12700">
            <a:solidFill>
              <a:srgbClr val="DFE6E9"/>
            </a:solidFill>
            <a:prstDash val="solid"/>
          </a:ln>
        </p:spPr>
      </p:sp>
      <p:sp>
        <p:nvSpPr>
          <p:cNvPr id="26" name="Text 24"/>
          <p:cNvSpPr/>
          <p:nvPr/>
        </p:nvSpPr>
        <p:spPr>
          <a:xfrm>
            <a:off x="8897112" y="3794760"/>
            <a:ext cx="2606040" cy="658368"/>
          </a:xfrm>
          <a:prstGeom prst="rect">
            <a:avLst/>
          </a:prstGeom>
          <a:noFill/>
          <a:ln/>
        </p:spPr>
        <p:txBody>
          <a:bodyPr wrap="square" rtlCol="0" anchor="ctr"/>
          <a:lstStyle/>
          <a:p>
            <a:pPr indent="0" marL="0">
              <a:buNone/>
            </a:pPr>
            <a:r>
              <a:rPr lang="en-US" sz="1100" dirty="0">
                <a:solidFill>
                  <a:srgbClr val="2D3436"/>
                </a:solidFill>
                <a:latin typeface="Segoe UI" pitchFamily="34" charset="0"/>
                <a:ea typeface="Segoe UI" pitchFamily="34" charset="-122"/>
                <a:cs typeface="Segoe UI" pitchFamily="34" charset="-120"/>
              </a:rPr>
              <a:t>Where does tainted data reach?</a:t>
            </a:r>
            <a:endParaRPr lang="en-US" sz="1100" dirty="0"/>
          </a:p>
        </p:txBody>
      </p:sp>
      <p:sp>
        <p:nvSpPr>
          <p:cNvPr id="27" name="Shape 25"/>
          <p:cNvSpPr/>
          <p:nvPr/>
        </p:nvSpPr>
        <p:spPr>
          <a:xfrm>
            <a:off x="457200" y="4526280"/>
            <a:ext cx="2724912" cy="749808"/>
          </a:xfrm>
          <a:prstGeom prst="rect">
            <a:avLst/>
          </a:prstGeom>
          <a:solidFill>
            <a:srgbClr val="1A3A5C"/>
          </a:solidFill>
          <a:ln w="12700">
            <a:solidFill>
              <a:srgbClr val="1A3A5C"/>
            </a:solidFill>
            <a:prstDash val="solid"/>
          </a:ln>
        </p:spPr>
      </p:sp>
      <p:sp>
        <p:nvSpPr>
          <p:cNvPr id="28" name="Text 26"/>
          <p:cNvSpPr/>
          <p:nvPr/>
        </p:nvSpPr>
        <p:spPr>
          <a:xfrm>
            <a:off x="530352" y="4572000"/>
            <a:ext cx="2606040" cy="6583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REVIEW_MODEL</a:t>
            </a:r>
            <a:endParaRPr lang="en-US" sz="1000" dirty="0"/>
          </a:p>
          <a:p>
            <a:pPr indent="0" marL="0">
              <a:buNone/>
            </a:pPr>
            <a:r>
              <a:rPr lang="en-US" sz="1000" b="1" dirty="0">
                <a:solidFill>
                  <a:srgbClr val="FFFFFF"/>
                </a:solidFill>
                <a:latin typeface="Segoe UI" pitchFamily="34" charset="0"/>
                <a:ea typeface="Segoe UI" pitchFamily="34" charset="-122"/>
                <a:cs typeface="Segoe UI" pitchFamily="34" charset="-120"/>
              </a:rPr>
              <a:t>(Sonnet)</a:t>
            </a:r>
            <a:endParaRPr lang="en-US" sz="1000" dirty="0"/>
          </a:p>
        </p:txBody>
      </p:sp>
      <p:sp>
        <p:nvSpPr>
          <p:cNvPr id="29" name="Shape 27"/>
          <p:cNvSpPr/>
          <p:nvPr/>
        </p:nvSpPr>
        <p:spPr>
          <a:xfrm>
            <a:off x="3246120" y="4526280"/>
            <a:ext cx="2724912" cy="749808"/>
          </a:xfrm>
          <a:prstGeom prst="rect">
            <a:avLst/>
          </a:prstGeom>
          <a:solidFill>
            <a:srgbClr val="FFFFFF"/>
          </a:solidFill>
          <a:ln w="12700">
            <a:solidFill>
              <a:srgbClr val="DFE6E9"/>
            </a:solidFill>
            <a:prstDash val="solid"/>
          </a:ln>
        </p:spPr>
      </p:sp>
      <p:sp>
        <p:nvSpPr>
          <p:cNvPr id="30" name="Text 28"/>
          <p:cNvSpPr/>
          <p:nvPr/>
        </p:nvSpPr>
        <p:spPr>
          <a:xfrm>
            <a:off x="3319272" y="4572000"/>
            <a:ext cx="2606040" cy="658368"/>
          </a:xfrm>
          <a:prstGeom prst="rect">
            <a:avLst/>
          </a:prstGeom>
          <a:noFill/>
          <a:ln/>
        </p:spPr>
        <p:txBody>
          <a:bodyPr wrap="square" rtlCol="0" anchor="ctr"/>
          <a:lstStyle/>
          <a:p>
            <a:pPr indent="0" marL="0">
              <a:buNone/>
            </a:pPr>
            <a:r>
              <a:rPr lang="en-US" sz="1100" dirty="0">
                <a:solidFill>
                  <a:srgbClr val="2D3436"/>
                </a:solidFill>
                <a:latin typeface="Segoe UI" pitchFamily="34" charset="0"/>
                <a:ea typeface="Segoe UI" pitchFamily="34" charset="-122"/>
                <a:cs typeface="Segoe UI" pitchFamily="34" charset="-120"/>
              </a:rPr>
              <a:t>Does code match agreed intent?</a:t>
            </a:r>
            <a:endParaRPr lang="en-US" sz="1100" dirty="0"/>
          </a:p>
        </p:txBody>
      </p:sp>
      <p:sp>
        <p:nvSpPr>
          <p:cNvPr id="31" name="Shape 29"/>
          <p:cNvSpPr/>
          <p:nvPr/>
        </p:nvSpPr>
        <p:spPr>
          <a:xfrm>
            <a:off x="6035040" y="4526280"/>
            <a:ext cx="2724912" cy="749808"/>
          </a:xfrm>
          <a:prstGeom prst="rect">
            <a:avLst/>
          </a:prstGeom>
          <a:solidFill>
            <a:srgbClr val="FFFFFF"/>
          </a:solidFill>
          <a:ln w="12700">
            <a:solidFill>
              <a:srgbClr val="DFE6E9"/>
            </a:solidFill>
            <a:prstDash val="solid"/>
          </a:ln>
        </p:spPr>
      </p:sp>
      <p:sp>
        <p:nvSpPr>
          <p:cNvPr id="32" name="Text 30"/>
          <p:cNvSpPr/>
          <p:nvPr/>
        </p:nvSpPr>
        <p:spPr>
          <a:xfrm>
            <a:off x="6108192" y="4572000"/>
            <a:ext cx="2606040" cy="658368"/>
          </a:xfrm>
          <a:prstGeom prst="rect">
            <a:avLst/>
          </a:prstGeom>
          <a:noFill/>
          <a:ln/>
        </p:spPr>
        <p:txBody>
          <a:bodyPr wrap="square" rtlCol="0" anchor="ctr"/>
          <a:lstStyle/>
          <a:p>
            <a:pPr indent="0" marL="0">
              <a:buNone/>
            </a:pPr>
            <a:r>
              <a:rPr lang="en-US" sz="1100" dirty="0">
                <a:solidFill>
                  <a:srgbClr val="2D3436"/>
                </a:solidFill>
                <a:latin typeface="Segoe UI" pitchFamily="34" charset="0"/>
                <a:ea typeface="Segoe UI" pitchFamily="34" charset="-122"/>
                <a:cs typeface="Segoe UI" pitchFamily="34" charset="-120"/>
              </a:rPr>
              <a:t>Consistent patterns? Maintainable in 18mo?</a:t>
            </a:r>
            <a:endParaRPr lang="en-US" sz="1100" dirty="0"/>
          </a:p>
        </p:txBody>
      </p:sp>
      <p:sp>
        <p:nvSpPr>
          <p:cNvPr id="33" name="Shape 31"/>
          <p:cNvSpPr/>
          <p:nvPr/>
        </p:nvSpPr>
        <p:spPr>
          <a:xfrm>
            <a:off x="8823960" y="4526280"/>
            <a:ext cx="2724912" cy="749808"/>
          </a:xfrm>
          <a:prstGeom prst="rect">
            <a:avLst/>
          </a:prstGeom>
          <a:solidFill>
            <a:srgbClr val="FFFFFF"/>
          </a:solidFill>
          <a:ln w="12700">
            <a:solidFill>
              <a:srgbClr val="DFE6E9"/>
            </a:solidFill>
            <a:prstDash val="solid"/>
          </a:ln>
        </p:spPr>
      </p:sp>
      <p:sp>
        <p:nvSpPr>
          <p:cNvPr id="34" name="Text 32"/>
          <p:cNvSpPr/>
          <p:nvPr/>
        </p:nvSpPr>
        <p:spPr>
          <a:xfrm>
            <a:off x="8897112" y="4572000"/>
            <a:ext cx="2606040" cy="658368"/>
          </a:xfrm>
          <a:prstGeom prst="rect">
            <a:avLst/>
          </a:prstGeom>
          <a:noFill/>
          <a:ln/>
        </p:spPr>
        <p:txBody>
          <a:bodyPr wrap="square" rtlCol="0" anchor="ctr"/>
          <a:lstStyle/>
          <a:p>
            <a:pPr indent="0" marL="0">
              <a:buNone/>
            </a:pPr>
            <a:r>
              <a:rPr lang="en-US" sz="1100" dirty="0">
                <a:solidFill>
                  <a:srgbClr val="2D3436"/>
                </a:solidFill>
                <a:latin typeface="Segoe UI" pitchFamily="34" charset="0"/>
                <a:ea typeface="Segoe UI" pitchFamily="34" charset="-122"/>
                <a:cs typeface="Segoe UI" pitchFamily="34" charset="-120"/>
              </a:rPr>
              <a:t>SQL injection? IDOR? Business-context escalation?</a:t>
            </a:r>
            <a:endParaRPr lang="en-US" sz="1100" dirty="0"/>
          </a:p>
        </p:txBody>
      </p:sp>
      <p:sp>
        <p:nvSpPr>
          <p:cNvPr id="35" name="Text 33"/>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16 / 44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13 questions a senior would ask — asked for you</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365760" y="914400"/>
            <a:ext cx="2724912" cy="1261872"/>
          </a:xfrm>
          <a:prstGeom prst="roundRect">
            <a:avLst>
              <a:gd name="adj" fmla="val 6522"/>
            </a:avLst>
          </a:prstGeom>
          <a:solidFill>
            <a:srgbClr val="FFFFFF"/>
          </a:solidFill>
          <a:ln w="12700">
            <a:solidFill>
              <a:srgbClr val="DFE6E9"/>
            </a:solidFill>
            <a:prstDash val="solid"/>
          </a:ln>
        </p:spPr>
      </p:sp>
      <p:sp>
        <p:nvSpPr>
          <p:cNvPr id="6" name="Text 4"/>
          <p:cNvSpPr/>
          <p:nvPr/>
        </p:nvSpPr>
        <p:spPr>
          <a:xfrm>
            <a:off x="475488" y="10058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[PO]</a:t>
            </a:r>
            <a:endParaRPr lang="en-US" sz="900" dirty="0"/>
          </a:p>
        </p:txBody>
      </p:sp>
      <p:sp>
        <p:nvSpPr>
          <p:cNvPr id="7" name="Text 5"/>
          <p:cNvSpPr/>
          <p:nvPr/>
        </p:nvSpPr>
        <p:spPr>
          <a:xfrm>
            <a:off x="475488" y="12161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Priya Nair</a:t>
            </a:r>
            <a:endParaRPr lang="en-US" sz="1200" dirty="0"/>
          </a:p>
        </p:txBody>
      </p:sp>
      <p:sp>
        <p:nvSpPr>
          <p:cNvPr id="8" name="Text 6"/>
          <p:cNvSpPr/>
          <p:nvPr/>
        </p:nvSpPr>
        <p:spPr>
          <a:xfrm>
            <a:off x="475488" y="14813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What are we NOT doing, and why?</a:t>
            </a:r>
            <a:endParaRPr lang="en-US" sz="1000" dirty="0"/>
          </a:p>
        </p:txBody>
      </p:sp>
      <p:sp>
        <p:nvSpPr>
          <p:cNvPr id="9" name="Shape 7"/>
          <p:cNvSpPr/>
          <p:nvPr/>
        </p:nvSpPr>
        <p:spPr>
          <a:xfrm>
            <a:off x="3218688" y="914400"/>
            <a:ext cx="2724912" cy="1261872"/>
          </a:xfrm>
          <a:prstGeom prst="roundRect">
            <a:avLst>
              <a:gd name="adj" fmla="val 6522"/>
            </a:avLst>
          </a:prstGeom>
          <a:solidFill>
            <a:srgbClr val="FFFFFF"/>
          </a:solidFill>
          <a:ln w="12700">
            <a:solidFill>
              <a:srgbClr val="DFE6E9"/>
            </a:solidFill>
            <a:prstDash val="solid"/>
          </a:ln>
        </p:spPr>
      </p:sp>
      <p:sp>
        <p:nvSpPr>
          <p:cNvPr id="10" name="Text 8"/>
          <p:cNvSpPr/>
          <p:nvPr/>
        </p:nvSpPr>
        <p:spPr>
          <a:xfrm>
            <a:off x="3328416" y="10058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[TL]</a:t>
            </a:r>
            <a:endParaRPr lang="en-US" sz="900" dirty="0"/>
          </a:p>
        </p:txBody>
      </p:sp>
      <p:sp>
        <p:nvSpPr>
          <p:cNvPr id="11" name="Text 9"/>
          <p:cNvSpPr/>
          <p:nvPr/>
        </p:nvSpPr>
        <p:spPr>
          <a:xfrm>
            <a:off x="3328416" y="12161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Marcus Reid</a:t>
            </a:r>
            <a:endParaRPr lang="en-US" sz="1200" dirty="0"/>
          </a:p>
        </p:txBody>
      </p:sp>
      <p:sp>
        <p:nvSpPr>
          <p:cNvPr id="12" name="Text 10"/>
          <p:cNvSpPr/>
          <p:nvPr/>
        </p:nvSpPr>
        <p:spPr>
          <a:xfrm>
            <a:off x="3328416" y="14813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Does this satisfy architectural constraints?</a:t>
            </a:r>
            <a:endParaRPr lang="en-US" sz="1000" dirty="0"/>
          </a:p>
        </p:txBody>
      </p:sp>
      <p:sp>
        <p:nvSpPr>
          <p:cNvPr id="13" name="Shape 11"/>
          <p:cNvSpPr/>
          <p:nvPr/>
        </p:nvSpPr>
        <p:spPr>
          <a:xfrm>
            <a:off x="6071616" y="914400"/>
            <a:ext cx="2724912" cy="1261872"/>
          </a:xfrm>
          <a:prstGeom prst="roundRect">
            <a:avLst>
              <a:gd name="adj" fmla="val 6522"/>
            </a:avLst>
          </a:prstGeom>
          <a:solidFill>
            <a:srgbClr val="FFFFFF"/>
          </a:solidFill>
          <a:ln w="12700">
            <a:solidFill>
              <a:srgbClr val="DFE6E9"/>
            </a:solidFill>
            <a:prstDash val="solid"/>
          </a:ln>
        </p:spPr>
      </p:sp>
      <p:sp>
        <p:nvSpPr>
          <p:cNvPr id="14" name="Text 12"/>
          <p:cNvSpPr/>
          <p:nvPr/>
        </p:nvSpPr>
        <p:spPr>
          <a:xfrm>
            <a:off x="6181344" y="10058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[SE]</a:t>
            </a:r>
            <a:endParaRPr lang="en-US" sz="900" dirty="0"/>
          </a:p>
        </p:txBody>
      </p:sp>
      <p:sp>
        <p:nvSpPr>
          <p:cNvPr id="15" name="Text 13"/>
          <p:cNvSpPr/>
          <p:nvPr/>
        </p:nvSpPr>
        <p:spPr>
          <a:xfrm>
            <a:off x="6181344" y="12161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Elena Fischer</a:t>
            </a:r>
            <a:endParaRPr lang="en-US" sz="1200" dirty="0"/>
          </a:p>
        </p:txBody>
      </p:sp>
      <p:sp>
        <p:nvSpPr>
          <p:cNvPr id="16" name="Text 14"/>
          <p:cNvSpPr/>
          <p:nvPr/>
        </p:nvSpPr>
        <p:spPr>
          <a:xfrm>
            <a:off x="6181344" y="14813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Is this the simplest correct solution?</a:t>
            </a:r>
            <a:endParaRPr lang="en-US" sz="1000" dirty="0"/>
          </a:p>
        </p:txBody>
      </p:sp>
      <p:sp>
        <p:nvSpPr>
          <p:cNvPr id="17" name="Shape 15"/>
          <p:cNvSpPr/>
          <p:nvPr/>
        </p:nvSpPr>
        <p:spPr>
          <a:xfrm>
            <a:off x="8924544" y="914400"/>
            <a:ext cx="2724912" cy="1261872"/>
          </a:xfrm>
          <a:prstGeom prst="roundRect">
            <a:avLst>
              <a:gd name="adj" fmla="val 6522"/>
            </a:avLst>
          </a:prstGeom>
          <a:solidFill>
            <a:srgbClr val="FFFFFF"/>
          </a:solidFill>
          <a:ln w="12700">
            <a:solidFill>
              <a:srgbClr val="DFE6E9"/>
            </a:solidFill>
            <a:prstDash val="solid"/>
          </a:ln>
        </p:spPr>
      </p:sp>
      <p:sp>
        <p:nvSpPr>
          <p:cNvPr id="18" name="Text 16"/>
          <p:cNvSpPr/>
          <p:nvPr/>
        </p:nvSpPr>
        <p:spPr>
          <a:xfrm>
            <a:off x="9034272" y="10058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[QA]</a:t>
            </a:r>
            <a:endParaRPr lang="en-US" sz="900" dirty="0"/>
          </a:p>
        </p:txBody>
      </p:sp>
      <p:sp>
        <p:nvSpPr>
          <p:cNvPr id="19" name="Text 17"/>
          <p:cNvSpPr/>
          <p:nvPr/>
        </p:nvSpPr>
        <p:spPr>
          <a:xfrm>
            <a:off x="9034272" y="12161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Sam Okonkwo</a:t>
            </a:r>
            <a:endParaRPr lang="en-US" sz="1200" dirty="0"/>
          </a:p>
        </p:txBody>
      </p:sp>
      <p:sp>
        <p:nvSpPr>
          <p:cNvPr id="20" name="Text 18"/>
          <p:cNvSpPr/>
          <p:nvPr/>
        </p:nvSpPr>
        <p:spPr>
          <a:xfrm>
            <a:off x="9034272" y="14813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What breaks this, and can we test it?</a:t>
            </a:r>
            <a:endParaRPr lang="en-US" sz="1000" dirty="0"/>
          </a:p>
        </p:txBody>
      </p:sp>
      <p:sp>
        <p:nvSpPr>
          <p:cNvPr id="21" name="Shape 19"/>
          <p:cNvSpPr/>
          <p:nvPr/>
        </p:nvSpPr>
        <p:spPr>
          <a:xfrm>
            <a:off x="365760" y="2286000"/>
            <a:ext cx="2724912" cy="1261872"/>
          </a:xfrm>
          <a:prstGeom prst="roundRect">
            <a:avLst>
              <a:gd name="adj" fmla="val 6522"/>
            </a:avLst>
          </a:prstGeom>
          <a:solidFill>
            <a:srgbClr val="FFFFFF"/>
          </a:solidFill>
          <a:ln w="12700">
            <a:solidFill>
              <a:srgbClr val="DFE6E9"/>
            </a:solidFill>
            <a:prstDash val="solid"/>
          </a:ln>
        </p:spPr>
      </p:sp>
      <p:sp>
        <p:nvSpPr>
          <p:cNvPr id="22" name="Text 20"/>
          <p:cNvSpPr/>
          <p:nvPr/>
        </p:nvSpPr>
        <p:spPr>
          <a:xfrm>
            <a:off x="475488" y="23774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[SEC]</a:t>
            </a:r>
            <a:endParaRPr lang="en-US" sz="900" dirty="0"/>
          </a:p>
        </p:txBody>
      </p:sp>
      <p:sp>
        <p:nvSpPr>
          <p:cNvPr id="23" name="Text 21"/>
          <p:cNvSpPr/>
          <p:nvPr/>
        </p:nvSpPr>
        <p:spPr>
          <a:xfrm>
            <a:off x="475488" y="25877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Dana Ito</a:t>
            </a:r>
            <a:endParaRPr lang="en-US" sz="1200" dirty="0"/>
          </a:p>
        </p:txBody>
      </p:sp>
      <p:sp>
        <p:nvSpPr>
          <p:cNvPr id="24" name="Text 22"/>
          <p:cNvSpPr/>
          <p:nvPr/>
        </p:nvSpPr>
        <p:spPr>
          <a:xfrm>
            <a:off x="475488" y="28529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Where does tainted data reach?</a:t>
            </a:r>
            <a:endParaRPr lang="en-US" sz="1000" dirty="0"/>
          </a:p>
        </p:txBody>
      </p:sp>
      <p:sp>
        <p:nvSpPr>
          <p:cNvPr id="25" name="Shape 23"/>
          <p:cNvSpPr/>
          <p:nvPr/>
        </p:nvSpPr>
        <p:spPr>
          <a:xfrm>
            <a:off x="3218688" y="2286000"/>
            <a:ext cx="2724912" cy="1261872"/>
          </a:xfrm>
          <a:prstGeom prst="roundRect">
            <a:avLst>
              <a:gd name="adj" fmla="val 6522"/>
            </a:avLst>
          </a:prstGeom>
          <a:solidFill>
            <a:srgbClr val="FFFFFF"/>
          </a:solidFill>
          <a:ln w="12700">
            <a:solidFill>
              <a:srgbClr val="DFE6E9"/>
            </a:solidFill>
            <a:prstDash val="solid"/>
          </a:ln>
        </p:spPr>
      </p:sp>
      <p:sp>
        <p:nvSpPr>
          <p:cNvPr id="26" name="Text 24"/>
          <p:cNvSpPr/>
          <p:nvPr/>
        </p:nvSpPr>
        <p:spPr>
          <a:xfrm>
            <a:off x="3328416" y="23774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[SA]</a:t>
            </a:r>
            <a:endParaRPr lang="en-US" sz="900" dirty="0"/>
          </a:p>
        </p:txBody>
      </p:sp>
      <p:sp>
        <p:nvSpPr>
          <p:cNvPr id="27" name="Text 25"/>
          <p:cNvSpPr/>
          <p:nvPr/>
        </p:nvSpPr>
        <p:spPr>
          <a:xfrm>
            <a:off x="3328416" y="25877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Rafael Mendes</a:t>
            </a:r>
            <a:endParaRPr lang="en-US" sz="1200" dirty="0"/>
          </a:p>
        </p:txBody>
      </p:sp>
      <p:sp>
        <p:nvSpPr>
          <p:cNvPr id="28" name="Text 26"/>
          <p:cNvSpPr/>
          <p:nvPr/>
        </p:nvSpPr>
        <p:spPr>
          <a:xfrm>
            <a:off x="3328416" y="28529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Does this compose at system level?</a:t>
            </a:r>
            <a:endParaRPr lang="en-US" sz="1000" dirty="0"/>
          </a:p>
        </p:txBody>
      </p:sp>
      <p:sp>
        <p:nvSpPr>
          <p:cNvPr id="29" name="Shape 27"/>
          <p:cNvSpPr/>
          <p:nvPr/>
        </p:nvSpPr>
        <p:spPr>
          <a:xfrm>
            <a:off x="6071616" y="2286000"/>
            <a:ext cx="2724912" cy="1261872"/>
          </a:xfrm>
          <a:prstGeom prst="roundRect">
            <a:avLst>
              <a:gd name="adj" fmla="val 6522"/>
            </a:avLst>
          </a:prstGeom>
          <a:solidFill>
            <a:srgbClr val="FFFFFF"/>
          </a:solidFill>
          <a:ln w="12700">
            <a:solidFill>
              <a:srgbClr val="DFE6E9"/>
            </a:solidFill>
            <a:prstDash val="solid"/>
          </a:ln>
        </p:spPr>
      </p:sp>
      <p:sp>
        <p:nvSpPr>
          <p:cNvPr id="30" name="Text 28"/>
          <p:cNvSpPr/>
          <p:nvPr/>
        </p:nvSpPr>
        <p:spPr>
          <a:xfrm>
            <a:off x="6181344" y="23774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[EA]</a:t>
            </a:r>
            <a:endParaRPr lang="en-US" sz="900" dirty="0"/>
          </a:p>
        </p:txBody>
      </p:sp>
      <p:sp>
        <p:nvSpPr>
          <p:cNvPr id="31" name="Text 29"/>
          <p:cNvSpPr/>
          <p:nvPr/>
        </p:nvSpPr>
        <p:spPr>
          <a:xfrm>
            <a:off x="6181344" y="25877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Grace Lin</a:t>
            </a:r>
            <a:endParaRPr lang="en-US" sz="1200" dirty="0"/>
          </a:p>
        </p:txBody>
      </p:sp>
      <p:sp>
        <p:nvSpPr>
          <p:cNvPr id="32" name="Text 30"/>
          <p:cNvSpPr/>
          <p:nvPr/>
        </p:nvSpPr>
        <p:spPr>
          <a:xfrm>
            <a:off x="6181344" y="28529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What’s the long-term architectural debt?</a:t>
            </a:r>
            <a:endParaRPr lang="en-US" sz="1000" dirty="0"/>
          </a:p>
        </p:txBody>
      </p:sp>
      <p:sp>
        <p:nvSpPr>
          <p:cNvPr id="33" name="Shape 31"/>
          <p:cNvSpPr/>
          <p:nvPr/>
        </p:nvSpPr>
        <p:spPr>
          <a:xfrm>
            <a:off x="8924544" y="2286000"/>
            <a:ext cx="2724912" cy="1261872"/>
          </a:xfrm>
          <a:prstGeom prst="roundRect">
            <a:avLst>
              <a:gd name="adj" fmla="val 6522"/>
            </a:avLst>
          </a:prstGeom>
          <a:solidFill>
            <a:srgbClr val="FFFFFF"/>
          </a:solidFill>
          <a:ln w="12700">
            <a:solidFill>
              <a:srgbClr val="DFE6E9"/>
            </a:solidFill>
            <a:prstDash val="solid"/>
          </a:ln>
        </p:spPr>
      </p:sp>
      <p:sp>
        <p:nvSpPr>
          <p:cNvPr id="34" name="Text 32"/>
          <p:cNvSpPr/>
          <p:nvPr/>
        </p:nvSpPr>
        <p:spPr>
          <a:xfrm>
            <a:off x="9034272" y="23774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[AIA]</a:t>
            </a:r>
            <a:endParaRPr lang="en-US" sz="900" dirty="0"/>
          </a:p>
        </p:txBody>
      </p:sp>
      <p:sp>
        <p:nvSpPr>
          <p:cNvPr id="35" name="Text 33"/>
          <p:cNvSpPr/>
          <p:nvPr/>
        </p:nvSpPr>
        <p:spPr>
          <a:xfrm>
            <a:off x="9034272" y="25877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Theo Brandt</a:t>
            </a:r>
            <a:endParaRPr lang="en-US" sz="1200" dirty="0"/>
          </a:p>
        </p:txBody>
      </p:sp>
      <p:sp>
        <p:nvSpPr>
          <p:cNvPr id="36" name="Text 34"/>
          <p:cNvSpPr/>
          <p:nvPr/>
        </p:nvSpPr>
        <p:spPr>
          <a:xfrm>
            <a:off x="9034272" y="28529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Is AI behavior predictable at the edges?</a:t>
            </a:r>
            <a:endParaRPr lang="en-US" sz="1000" dirty="0"/>
          </a:p>
        </p:txBody>
      </p:sp>
      <p:sp>
        <p:nvSpPr>
          <p:cNvPr id="37" name="Shape 35"/>
          <p:cNvSpPr/>
          <p:nvPr/>
        </p:nvSpPr>
        <p:spPr>
          <a:xfrm>
            <a:off x="365760" y="3657600"/>
            <a:ext cx="2724912" cy="1261872"/>
          </a:xfrm>
          <a:prstGeom prst="roundRect">
            <a:avLst>
              <a:gd name="adj" fmla="val 6522"/>
            </a:avLst>
          </a:prstGeom>
          <a:solidFill>
            <a:srgbClr val="FFFFFF"/>
          </a:solidFill>
          <a:ln w="12700">
            <a:solidFill>
              <a:srgbClr val="DFE6E9"/>
            </a:solidFill>
            <a:prstDash val="solid"/>
          </a:ln>
        </p:spPr>
      </p:sp>
      <p:sp>
        <p:nvSpPr>
          <p:cNvPr id="38" name="Text 36"/>
          <p:cNvSpPr/>
          <p:nvPr/>
        </p:nvSpPr>
        <p:spPr>
          <a:xfrm>
            <a:off x="475488" y="37490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[TW]</a:t>
            </a:r>
            <a:endParaRPr lang="en-US" sz="900" dirty="0"/>
          </a:p>
        </p:txBody>
      </p:sp>
      <p:sp>
        <p:nvSpPr>
          <p:cNvPr id="39" name="Text 37"/>
          <p:cNvSpPr/>
          <p:nvPr/>
        </p:nvSpPr>
        <p:spPr>
          <a:xfrm>
            <a:off x="475488" y="39593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Maya Torres</a:t>
            </a:r>
            <a:endParaRPr lang="en-US" sz="1200" dirty="0"/>
          </a:p>
        </p:txBody>
      </p:sp>
      <p:sp>
        <p:nvSpPr>
          <p:cNvPr id="40" name="Text 38"/>
          <p:cNvSpPr/>
          <p:nvPr/>
        </p:nvSpPr>
        <p:spPr>
          <a:xfrm>
            <a:off x="475488" y="42245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Will a new dev understand this in 6 months?</a:t>
            </a:r>
            <a:endParaRPr lang="en-US" sz="1000" dirty="0"/>
          </a:p>
        </p:txBody>
      </p:sp>
      <p:sp>
        <p:nvSpPr>
          <p:cNvPr id="41" name="Shape 39"/>
          <p:cNvSpPr/>
          <p:nvPr/>
        </p:nvSpPr>
        <p:spPr>
          <a:xfrm>
            <a:off x="3218688" y="3657600"/>
            <a:ext cx="2724912" cy="1261872"/>
          </a:xfrm>
          <a:prstGeom prst="roundRect">
            <a:avLst>
              <a:gd name="adj" fmla="val 6522"/>
            </a:avLst>
          </a:prstGeom>
          <a:solidFill>
            <a:srgbClr val="FFFFFF"/>
          </a:solidFill>
          <a:ln w="12700">
            <a:solidFill>
              <a:srgbClr val="DFE6E9"/>
            </a:solidFill>
            <a:prstDash val="solid"/>
          </a:ln>
        </p:spPr>
      </p:sp>
      <p:sp>
        <p:nvSpPr>
          <p:cNvPr id="42" name="Text 40"/>
          <p:cNvSpPr/>
          <p:nvPr/>
        </p:nvSpPr>
        <p:spPr>
          <a:xfrm>
            <a:off x="3328416" y="37490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[DPE]</a:t>
            </a:r>
            <a:endParaRPr lang="en-US" sz="900" dirty="0"/>
          </a:p>
        </p:txBody>
      </p:sp>
      <p:sp>
        <p:nvSpPr>
          <p:cNvPr id="43" name="Text 41"/>
          <p:cNvSpPr/>
          <p:nvPr/>
        </p:nvSpPr>
        <p:spPr>
          <a:xfrm>
            <a:off x="3328416" y="39593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Igor Volkov</a:t>
            </a:r>
            <a:endParaRPr lang="en-US" sz="1200" dirty="0"/>
          </a:p>
        </p:txBody>
      </p:sp>
      <p:sp>
        <p:nvSpPr>
          <p:cNvPr id="44" name="Text 42"/>
          <p:cNvSpPr/>
          <p:nvPr/>
        </p:nvSpPr>
        <p:spPr>
          <a:xfrm>
            <a:off x="3328416" y="42245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Does this survive a failing dependency?</a:t>
            </a:r>
            <a:endParaRPr lang="en-US" sz="1000" dirty="0"/>
          </a:p>
        </p:txBody>
      </p:sp>
      <p:sp>
        <p:nvSpPr>
          <p:cNvPr id="45" name="Shape 43"/>
          <p:cNvSpPr/>
          <p:nvPr/>
        </p:nvSpPr>
        <p:spPr>
          <a:xfrm>
            <a:off x="6071616" y="3657600"/>
            <a:ext cx="2724912" cy="1261872"/>
          </a:xfrm>
          <a:prstGeom prst="roundRect">
            <a:avLst>
              <a:gd name="adj" fmla="val 6522"/>
            </a:avLst>
          </a:prstGeom>
          <a:solidFill>
            <a:srgbClr val="FFFFFF"/>
          </a:solidFill>
          <a:ln w="12700">
            <a:solidFill>
              <a:srgbClr val="DFE6E9"/>
            </a:solidFill>
            <a:prstDash val="solid"/>
          </a:ln>
        </p:spPr>
      </p:sp>
      <p:sp>
        <p:nvSpPr>
          <p:cNvPr id="46" name="Text 44"/>
          <p:cNvSpPr/>
          <p:nvPr/>
        </p:nvSpPr>
        <p:spPr>
          <a:xfrm>
            <a:off x="6181344" y="37490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[SAST]</a:t>
            </a:r>
            <a:endParaRPr lang="en-US" sz="900" dirty="0"/>
          </a:p>
        </p:txBody>
      </p:sp>
      <p:sp>
        <p:nvSpPr>
          <p:cNvPr id="47" name="Text 45"/>
          <p:cNvSpPr/>
          <p:nvPr/>
        </p:nvSpPr>
        <p:spPr>
          <a:xfrm>
            <a:off x="6181344" y="39593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Wen Li</a:t>
            </a:r>
            <a:endParaRPr lang="en-US" sz="1200" dirty="0"/>
          </a:p>
        </p:txBody>
      </p:sp>
      <p:sp>
        <p:nvSpPr>
          <p:cNvPr id="48" name="Text 46"/>
          <p:cNvSpPr/>
          <p:nvPr/>
        </p:nvSpPr>
        <p:spPr>
          <a:xfrm>
            <a:off x="6181344" y="42245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What does the taint analysis show?</a:t>
            </a:r>
            <a:endParaRPr lang="en-US" sz="1000" dirty="0"/>
          </a:p>
        </p:txBody>
      </p:sp>
      <p:sp>
        <p:nvSpPr>
          <p:cNvPr id="49" name="Shape 47"/>
          <p:cNvSpPr/>
          <p:nvPr/>
        </p:nvSpPr>
        <p:spPr>
          <a:xfrm>
            <a:off x="8924544" y="3657600"/>
            <a:ext cx="2724912" cy="1261872"/>
          </a:xfrm>
          <a:prstGeom prst="roundRect">
            <a:avLst>
              <a:gd name="adj" fmla="val 6522"/>
            </a:avLst>
          </a:prstGeom>
          <a:solidFill>
            <a:srgbClr val="FFFFFF"/>
          </a:solidFill>
          <a:ln w="12700">
            <a:solidFill>
              <a:srgbClr val="DFE6E9"/>
            </a:solidFill>
            <a:prstDash val="solid"/>
          </a:ln>
        </p:spPr>
      </p:sp>
      <p:sp>
        <p:nvSpPr>
          <p:cNvPr id="50" name="Text 48"/>
          <p:cNvSpPr/>
          <p:nvPr/>
        </p:nvSpPr>
        <p:spPr>
          <a:xfrm>
            <a:off x="9034272" y="37490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[RM]</a:t>
            </a:r>
            <a:endParaRPr lang="en-US" sz="900" dirty="0"/>
          </a:p>
        </p:txBody>
      </p:sp>
      <p:sp>
        <p:nvSpPr>
          <p:cNvPr id="51" name="Text 49"/>
          <p:cNvSpPr/>
          <p:nvPr/>
        </p:nvSpPr>
        <p:spPr>
          <a:xfrm>
            <a:off x="9034272" y="39593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Nadia Haddad</a:t>
            </a:r>
            <a:endParaRPr lang="en-US" sz="1200" dirty="0"/>
          </a:p>
        </p:txBody>
      </p:sp>
      <p:sp>
        <p:nvSpPr>
          <p:cNvPr id="52" name="Text 50"/>
          <p:cNvSpPr/>
          <p:nvPr/>
        </p:nvSpPr>
        <p:spPr>
          <a:xfrm>
            <a:off x="9034272" y="42245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Are we ready to ship? What blocks go-live?</a:t>
            </a:r>
            <a:endParaRPr lang="en-US" sz="1000" dirty="0"/>
          </a:p>
        </p:txBody>
      </p:sp>
      <p:sp>
        <p:nvSpPr>
          <p:cNvPr id="53" name="Shape 51"/>
          <p:cNvSpPr/>
          <p:nvPr/>
        </p:nvSpPr>
        <p:spPr>
          <a:xfrm>
            <a:off x="365760" y="5029200"/>
            <a:ext cx="2724912" cy="1261872"/>
          </a:xfrm>
          <a:prstGeom prst="roundRect">
            <a:avLst>
              <a:gd name="adj" fmla="val 6522"/>
            </a:avLst>
          </a:prstGeom>
          <a:solidFill>
            <a:srgbClr val="FFFFFF"/>
          </a:solidFill>
          <a:ln w="12700">
            <a:solidFill>
              <a:srgbClr val="DFE6E9"/>
            </a:solidFill>
            <a:prstDash val="solid"/>
          </a:ln>
        </p:spPr>
      </p:sp>
      <p:sp>
        <p:nvSpPr>
          <p:cNvPr id="54" name="Text 52"/>
          <p:cNvSpPr/>
          <p:nvPr/>
        </p:nvSpPr>
        <p:spPr>
          <a:xfrm>
            <a:off x="475488" y="5120640"/>
            <a:ext cx="246888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[DL]</a:t>
            </a:r>
            <a:endParaRPr lang="en-US" sz="900" dirty="0"/>
          </a:p>
        </p:txBody>
      </p:sp>
      <p:sp>
        <p:nvSpPr>
          <p:cNvPr id="55" name="Text 53"/>
          <p:cNvSpPr/>
          <p:nvPr/>
        </p:nvSpPr>
        <p:spPr>
          <a:xfrm>
            <a:off x="475488" y="5330952"/>
            <a:ext cx="2468880" cy="25603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Tom Grady</a:t>
            </a:r>
            <a:endParaRPr lang="en-US" sz="1200" dirty="0"/>
          </a:p>
        </p:txBody>
      </p:sp>
      <p:sp>
        <p:nvSpPr>
          <p:cNvPr id="56" name="Text 54"/>
          <p:cNvSpPr/>
          <p:nvPr/>
        </p:nvSpPr>
        <p:spPr>
          <a:xfrm>
            <a:off x="475488" y="5596128"/>
            <a:ext cx="2468880" cy="621792"/>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Is the team on track? Where’s delivery risk?</a:t>
            </a:r>
            <a:endParaRPr lang="en-US" sz="1000" dirty="0"/>
          </a:p>
        </p:txBody>
      </p:sp>
      <p:sp>
        <p:nvSpPr>
          <p:cNvPr id="57" name="Text 55"/>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17 / 44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For you to trust the reviewer, three things must be true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627632"/>
          </a:xfrm>
          <a:prstGeom prst="rect">
            <a:avLst/>
          </a:prstGeom>
          <a:solidFill>
            <a:srgbClr val="C8A951"/>
          </a:solidFill>
          <a:ln w="12700">
            <a:solidFill>
              <a:srgbClr val="C8A951"/>
            </a:solidFill>
            <a:prstDash val="solid"/>
          </a:ln>
        </p:spPr>
      </p:sp>
      <p:sp>
        <p:nvSpPr>
          <p:cNvPr id="6" name="Shape 4"/>
          <p:cNvSpPr/>
          <p:nvPr/>
        </p:nvSpPr>
        <p:spPr>
          <a:xfrm>
            <a:off x="612648" y="914400"/>
            <a:ext cx="11000232" cy="1627632"/>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SOURCE-FILE CONSENT  ·  ADR 0013</a:t>
            </a:r>
            <a:endParaRPr lang="en-US" sz="800" dirty="0"/>
          </a:p>
        </p:txBody>
      </p:sp>
      <p:sp>
        <p:nvSpPr>
          <p:cNvPr id="8" name="Text 6"/>
          <p:cNvSpPr/>
          <p:nvPr/>
        </p:nvSpPr>
        <p:spPr>
          <a:xfrm>
            <a:off x="731520" y="1207008"/>
            <a:ext cx="10607040" cy="987552"/>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"For a tool the team is supposed to trust, opacity is poison."</a:t>
            </a:r>
            <a:endParaRPr lang="en-US" sz="1300" dirty="0"/>
          </a:p>
        </p:txBody>
      </p:sp>
      <p:sp>
        <p:nvSpPr>
          <p:cNvPr id="9" name="Text 7"/>
          <p:cNvSpPr/>
          <p:nvPr/>
        </p:nvSpPr>
        <p:spPr>
          <a:xfrm>
            <a:off x="731520" y="2194560"/>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A: announce the file list before reading. B: ask per file — reason + token cost. C: never reads source.</a:t>
            </a:r>
            <a:endParaRPr lang="en-US" sz="1000" dirty="0"/>
          </a:p>
        </p:txBody>
      </p:sp>
      <p:sp>
        <p:nvSpPr>
          <p:cNvPr id="10" name="Text 8"/>
          <p:cNvSpPr/>
          <p:nvPr/>
        </p:nvSpPr>
        <p:spPr>
          <a:xfrm>
            <a:off x="10607040" y="2267712"/>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0013</a:t>
            </a:r>
            <a:endParaRPr lang="en-US" sz="800" dirty="0"/>
          </a:p>
        </p:txBody>
      </p:sp>
      <p:sp>
        <p:nvSpPr>
          <p:cNvPr id="11" name="Shape 9"/>
          <p:cNvSpPr/>
          <p:nvPr/>
        </p:nvSpPr>
        <p:spPr>
          <a:xfrm>
            <a:off x="548640" y="2697480"/>
            <a:ext cx="64008" cy="1627632"/>
          </a:xfrm>
          <a:prstGeom prst="rect">
            <a:avLst/>
          </a:prstGeom>
          <a:solidFill>
            <a:srgbClr val="C8A951"/>
          </a:solidFill>
          <a:ln w="12700">
            <a:solidFill>
              <a:srgbClr val="C8A951"/>
            </a:solidFill>
            <a:prstDash val="solid"/>
          </a:ln>
        </p:spPr>
      </p:sp>
      <p:sp>
        <p:nvSpPr>
          <p:cNvPr id="12" name="Shape 10"/>
          <p:cNvSpPr/>
          <p:nvPr/>
        </p:nvSpPr>
        <p:spPr>
          <a:xfrm>
            <a:off x="612648" y="2697480"/>
            <a:ext cx="11000232" cy="1627632"/>
          </a:xfrm>
          <a:prstGeom prst="rect">
            <a:avLst/>
          </a:prstGeom>
          <a:solidFill>
            <a:srgbClr val="FDFCF5"/>
          </a:solidFill>
          <a:ln w="12700">
            <a:solidFill>
              <a:srgbClr val="DFE6E9"/>
            </a:solidFill>
            <a:prstDash val="solid"/>
          </a:ln>
        </p:spPr>
      </p:sp>
      <p:sp>
        <p:nvSpPr>
          <p:cNvPr id="13" name="Text 11"/>
          <p:cNvSpPr/>
          <p:nvPr/>
        </p:nvSpPr>
        <p:spPr>
          <a:xfrm>
            <a:off x="731520" y="280720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MULTI-MODEL ROUTING  ·  ADR 0023</a:t>
            </a:r>
            <a:endParaRPr lang="en-US" sz="800" dirty="0"/>
          </a:p>
        </p:txBody>
      </p:sp>
      <p:sp>
        <p:nvSpPr>
          <p:cNvPr id="14" name="Text 12"/>
          <p:cNvSpPr/>
          <p:nvPr/>
        </p:nvSpPr>
        <p:spPr>
          <a:xfrm>
            <a:off x="731520" y="2990088"/>
            <a:ext cx="10607040" cy="987552"/>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"Route by task criticality, not by authority."</a:t>
            </a:r>
            <a:endParaRPr lang="en-US" sz="1300" dirty="0"/>
          </a:p>
        </p:txBody>
      </p:sp>
      <p:sp>
        <p:nvSpPr>
          <p:cNvPr id="15" name="Text 13"/>
          <p:cNvSpPr/>
          <p:nvPr/>
        </p:nvSpPr>
        <p:spPr>
          <a:xfrm>
            <a:off x="731520" y="3977640"/>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Critical judgment → the stronger model; routine work → the faster one. ICEA_MODEL · REVIEW_MODEL · INFRA_MODEL.</a:t>
            </a:r>
            <a:endParaRPr lang="en-US" sz="1000" dirty="0"/>
          </a:p>
        </p:txBody>
      </p:sp>
      <p:sp>
        <p:nvSpPr>
          <p:cNvPr id="16" name="Text 14"/>
          <p:cNvSpPr/>
          <p:nvPr/>
        </p:nvSpPr>
        <p:spPr>
          <a:xfrm>
            <a:off x="10607040" y="4050792"/>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0023</a:t>
            </a:r>
            <a:endParaRPr lang="en-US" sz="800" dirty="0"/>
          </a:p>
        </p:txBody>
      </p:sp>
      <p:sp>
        <p:nvSpPr>
          <p:cNvPr id="17" name="Shape 15"/>
          <p:cNvSpPr/>
          <p:nvPr/>
        </p:nvSpPr>
        <p:spPr>
          <a:xfrm>
            <a:off x="548640" y="4480560"/>
            <a:ext cx="64008" cy="1627632"/>
          </a:xfrm>
          <a:prstGeom prst="rect">
            <a:avLst/>
          </a:prstGeom>
          <a:solidFill>
            <a:srgbClr val="C8A951"/>
          </a:solidFill>
          <a:ln w="12700">
            <a:solidFill>
              <a:srgbClr val="C8A951"/>
            </a:solidFill>
            <a:prstDash val="solid"/>
          </a:ln>
        </p:spPr>
      </p:sp>
      <p:sp>
        <p:nvSpPr>
          <p:cNvPr id="18" name="Shape 16"/>
          <p:cNvSpPr/>
          <p:nvPr/>
        </p:nvSpPr>
        <p:spPr>
          <a:xfrm>
            <a:off x="612648" y="4480560"/>
            <a:ext cx="11000232" cy="1627632"/>
          </a:xfrm>
          <a:prstGeom prst="rect">
            <a:avLst/>
          </a:prstGeom>
          <a:solidFill>
            <a:srgbClr val="FDFCF5"/>
          </a:solidFill>
          <a:ln w="12700">
            <a:solidFill>
              <a:srgbClr val="DFE6E9"/>
            </a:solidFill>
            <a:prstDash val="solid"/>
          </a:ln>
        </p:spPr>
      </p:sp>
      <p:sp>
        <p:nvSpPr>
          <p:cNvPr id="19" name="Text 17"/>
          <p:cNvSpPr/>
          <p:nvPr/>
        </p:nvSpPr>
        <p:spPr>
          <a:xfrm>
            <a:off x="731520" y="459028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BUSINESS-CONTEXT SEVERITY  ·  ADR 0015</a:t>
            </a:r>
            <a:endParaRPr lang="en-US" sz="800" dirty="0"/>
          </a:p>
        </p:txBody>
      </p:sp>
      <p:sp>
        <p:nvSpPr>
          <p:cNvPr id="20" name="Text 18"/>
          <p:cNvSpPr/>
          <p:nvPr/>
        </p:nvSpPr>
        <p:spPr>
          <a:xfrm>
            <a:off x="731520" y="4773168"/>
            <a:ext cx="10607040" cy="987552"/>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"CVSS doesn’t know your domain."</a:t>
            </a:r>
            <a:endParaRPr lang="en-US" sz="1300" dirty="0"/>
          </a:p>
        </p:txBody>
      </p:sp>
      <p:sp>
        <p:nvSpPr>
          <p:cNvPr id="21" name="Text 19"/>
          <p:cNvSpPr/>
          <p:nvPr/>
        </p:nvSpPr>
        <p:spPr>
          <a:xfrm>
            <a:off x="731520" y="5760720"/>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B1–B7 triggers escalate to Critical: immigration IDs, privileged client data. Context raises severity — never lowers it.</a:t>
            </a:r>
            <a:endParaRPr lang="en-US" sz="1000" dirty="0"/>
          </a:p>
        </p:txBody>
      </p:sp>
      <p:sp>
        <p:nvSpPr>
          <p:cNvPr id="22" name="Text 20"/>
          <p:cNvSpPr/>
          <p:nvPr/>
        </p:nvSpPr>
        <p:spPr>
          <a:xfrm>
            <a:off x="10607040" y="5833872"/>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0015</a:t>
            </a:r>
            <a:endParaRPr lang="en-US" sz="800" dirty="0"/>
          </a:p>
        </p:txBody>
      </p:sp>
      <p:sp>
        <p:nvSpPr>
          <p:cNvPr id="23" name="Text 21"/>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18 / 44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F35"/>
        </a:solidFill>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indent="0" marL="0">
              <a:buNone/>
            </a:pPr>
            <a:r>
              <a:rPr lang="en-US" sz="12000" b="1" dirty="0">
                <a:solidFill>
                  <a:srgbClr val="1A3A5C"/>
                </a:solidFill>
                <a:latin typeface="Cascadia Code" pitchFamily="34" charset="0"/>
                <a:ea typeface="Cascadia Code" pitchFamily="34" charset="-122"/>
                <a:cs typeface="Cascadia Code" pitchFamily="34" charset="-120"/>
              </a:rPr>
              <a:t>III</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ACT III · THE THIRD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Continuity Between Sessions</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sp>
      <p:sp>
        <p:nvSpPr>
          <p:cNvPr id="6" name="Text 4"/>
          <p:cNvSpPr/>
          <p:nvPr/>
        </p:nvSpPr>
        <p:spPr>
          <a:xfrm>
            <a:off x="731520" y="2743200"/>
            <a:ext cx="10058400" cy="502920"/>
          </a:xfrm>
          <a:prstGeom prst="rect">
            <a:avLst/>
          </a:prstGeom>
          <a:noFill/>
          <a:ln/>
        </p:spPr>
        <p:txBody>
          <a:bodyPr wrap="square" rtlCol="0" anchor="ctr"/>
          <a:lstStyle/>
          <a:p>
            <a:pPr indent="0" marL="0">
              <a:buNone/>
            </a:pPr>
            <a:r>
              <a:rPr lang="en-US" sz="1500" i="1" dirty="0">
                <a:solidFill>
                  <a:srgbClr val="B7C6D6"/>
                </a:solidFill>
                <a:latin typeface="Segoe UI" pitchFamily="34" charset="0"/>
                <a:ea typeface="Segoe UI" pitchFamily="34" charset="-122"/>
                <a:cs typeface="Segoe UI" pitchFamily="34" charset="-120"/>
              </a:rPr>
              <a:t>"Your decisions can’t live in a chat window that closes."</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algn="r" indent="0" marL="0">
              <a:buNone/>
            </a:pPr>
            <a:r>
              <a:rPr lang="en-US" sz="800" dirty="0">
                <a:solidFill>
                  <a:srgbClr val="3A5A7C"/>
                </a:solidFill>
                <a:latin typeface="Cascadia Code" pitchFamily="34" charset="0"/>
                <a:ea typeface="Cascadia Code" pitchFamily="34" charset="-122"/>
                <a:cs typeface="Cascadia Code" pitchFamily="34" charset="-120"/>
              </a:rPr>
              <a:t>ADRs 0031 · 0032 · 0034 · 0035</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19 / 44</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failure mode: your decisions didn’t survive the session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914400"/>
            <a:ext cx="10789920" cy="3840480"/>
          </a:xfrm>
          <a:prstGeom prst="rect">
            <a:avLst/>
          </a:prstGeom>
          <a:noFill/>
          <a:ln/>
        </p:spPr>
        <p:txBody>
          <a:bodyPr wrap="square" rtlCol="0" anchor="t"/>
          <a:lstStyle/>
          <a:p>
            <a:pPr>
              <a:spcAft>
                <a:spcPts val="600"/>
              </a:spcAft>
            </a:pPr>
            <a:r>
              <a:rPr lang="en-US" sz="1400" dirty="0">
                <a:solidFill>
                  <a:srgbClr val="2D3436"/>
                </a:solidFill>
                <a:latin typeface="Segoe UI" pitchFamily="34" charset="0"/>
                <a:ea typeface="Segoe UI" pitchFamily="34" charset="-122"/>
                <a:cs typeface="Segoe UI" pitchFamily="34" charset="-120"/>
              </a:rPr>
              <a:t>You approved a direction on Monday. Friday’s session had no idea — it might cheerfully recommend the opposite.</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Your Tech Lead approved a spec by email, but the plugin had already forgotten the context he was approving.</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Everything you decided lived inside a conversation — and conversations close.</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For the person now accountable for those decisions, that’s not a memory problem. It’s an ownership problem.</a:t>
            </a:r>
            <a:endParaRPr lang="en-US" sz="1400" dirty="0"/>
          </a:p>
        </p:txBody>
      </p:sp>
      <p:sp>
        <p:nvSpPr>
          <p:cNvPr id="6" name="Text 4"/>
          <p:cNvSpPr/>
          <p:nvPr/>
        </p:nvSpPr>
        <p:spPr>
          <a:xfrm>
            <a:off x="548640" y="5029200"/>
            <a:ext cx="11064240" cy="365760"/>
          </a:xfrm>
          <a:prstGeom prst="rect">
            <a:avLst/>
          </a:prstGeom>
          <a:noFill/>
          <a:ln/>
        </p:spPr>
        <p:txBody>
          <a:bodyPr wrap="square" rtlCol="0" anchor="ctr"/>
          <a:lstStyle/>
          <a:p>
            <a:pPr indent="0" marL="0">
              <a:buNone/>
            </a:pPr>
            <a:r>
              <a:rPr lang="en-US" sz="1300" i="1" dirty="0">
                <a:solidFill>
                  <a:srgbClr val="636E72"/>
                </a:solidFill>
                <a:latin typeface="Segoe UI" pitchFamily="34" charset="0"/>
                <a:ea typeface="Segoe UI" pitchFamily="34" charset="-122"/>
                <a:cs typeface="Segoe UI" pitchFamily="34" charset="-120"/>
              </a:rPr>
              <a:t>You can’t be answerable for a call the system can’t remember you made.</a:t>
            </a:r>
            <a:endParaRPr lang="en-US" sz="1300" dirty="0"/>
          </a:p>
        </p:txBody>
      </p:sp>
      <p:sp>
        <p:nvSpPr>
          <p:cNvPr id="7" name="Text 5"/>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20 / 44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Move the truth onto disk — then talk to it like a person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STATE ON DISK  ·  ADR 0031</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"The status line on disk is the single source of truth — not the conversation. APPROVE ADO-1847, typed in Teams three days later, is actioned immediately."</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State machine on disk: DRAFT → Approved → In Progress → Complete. REVISE resets to DRAFT and re-blocks the gate.</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0031</a:t>
            </a:r>
            <a:endParaRPr lang="en-US" sz="800" dirty="0"/>
          </a:p>
        </p:txBody>
      </p:sp>
      <p:sp>
        <p:nvSpPr>
          <p:cNvPr id="11" name="Shape 9"/>
          <p:cNvSpPr/>
          <p:nvPr/>
        </p:nvSpPr>
        <p:spPr>
          <a:xfrm>
            <a:off x="548640" y="2926080"/>
            <a:ext cx="64008" cy="1737360"/>
          </a:xfrm>
          <a:prstGeom prst="rect">
            <a:avLst/>
          </a:prstGeom>
          <a:solidFill>
            <a:srgbClr val="C8A951"/>
          </a:solidFill>
          <a:ln w="12700">
            <a:solidFill>
              <a:srgbClr val="C8A951"/>
            </a:solidFill>
            <a:prstDash val="solid"/>
          </a:ln>
        </p:spPr>
      </p:sp>
      <p:sp>
        <p:nvSpPr>
          <p:cNvPr id="12" name="Shape 10"/>
          <p:cNvSpPr/>
          <p:nvPr/>
        </p:nvSpPr>
        <p:spPr>
          <a:xfrm>
            <a:off x="612648" y="2926080"/>
            <a:ext cx="11000232" cy="1737360"/>
          </a:xfrm>
          <a:prstGeom prst="rect">
            <a:avLst/>
          </a:prstGeom>
          <a:solidFill>
            <a:srgbClr val="FDFCF5"/>
          </a:solidFill>
          <a:ln w="12700">
            <a:solidFill>
              <a:srgbClr val="DFE6E9"/>
            </a:solidFill>
            <a:prstDash val="solid"/>
          </a:ln>
        </p:spPr>
      </p:sp>
      <p:sp>
        <p:nvSpPr>
          <p:cNvPr id="13" name="Text 11"/>
          <p:cNvSpPr/>
          <p:nvPr/>
        </p:nvSpPr>
        <p:spPr>
          <a:xfrm>
            <a:off x="731520" y="303580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KEYWORD HANDLERS  ·  ADR 0032</a:t>
            </a:r>
            <a:endParaRPr lang="en-US" sz="800" dirty="0"/>
          </a:p>
        </p:txBody>
      </p:sp>
      <p:sp>
        <p:nvSpPr>
          <p:cNvPr id="14" name="Text 12"/>
          <p:cNvSpPr/>
          <p:nvPr/>
        </p:nvSpPr>
        <p:spPr>
          <a:xfrm>
            <a:off x="731520" y="3218688"/>
            <a:ext cx="10607040" cy="109728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"Recognised in any message, any channel — no slash command needed."</a:t>
            </a:r>
            <a:endParaRPr lang="en-US" sz="1300" dirty="0"/>
          </a:p>
        </p:txBody>
      </p:sp>
      <p:sp>
        <p:nvSpPr>
          <p:cNvPr id="15" name="Text 13"/>
          <p:cNvSpPr/>
          <p:nvPr/>
        </p:nvSpPr>
        <p:spPr>
          <a:xfrm>
            <a:off x="731520" y="431596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APPROVE · IMPLEMENT · REVISE · STATUS ADO-{ID}. The ID normalises: "ADO-1847", "ADO #1847", and "1847" all work.</a:t>
            </a:r>
            <a:endParaRPr lang="en-US" sz="1000" dirty="0"/>
          </a:p>
        </p:txBody>
      </p:sp>
      <p:sp>
        <p:nvSpPr>
          <p:cNvPr id="16" name="Text 14"/>
          <p:cNvSpPr/>
          <p:nvPr/>
        </p:nvSpPr>
        <p:spPr>
          <a:xfrm>
            <a:off x="10607040" y="438912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0032</a:t>
            </a:r>
            <a:endParaRPr lang="en-US" sz="800" dirty="0"/>
          </a:p>
        </p:txBody>
      </p:sp>
      <p:sp>
        <p:nvSpPr>
          <p:cNvPr id="17" name="Text 15"/>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21 / 44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41A35"/>
        </a:solidFill>
      </p:bgPr>
    </p:bg>
    <p:spTree>
      <p:nvGrpSpPr>
        <p:cNvPr id="1" name=""/>
        <p:cNvGrpSpPr/>
        <p:nvPr/>
      </p:nvGrpSpPr>
      <p:grpSpPr>
        <a:xfrm>
          <a:off x="0" y="0"/>
          <a:ext cx="0" cy="0"/>
          <a:chOff x="0" y="0"/>
          <a:chExt cx="0" cy="0"/>
        </a:xfrm>
      </p:grpSpPr>
      <p:sp>
        <p:nvSpPr>
          <p:cNvPr id="2" name="Text 0"/>
          <p:cNvSpPr/>
          <p:nvPr/>
        </p:nvSpPr>
        <p:spPr>
          <a:xfrm>
            <a:off x="548640" y="100584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INTERLUDE · DREAM</a:t>
            </a:r>
            <a:endParaRPr lang="en-US" sz="900" dirty="0"/>
          </a:p>
        </p:txBody>
      </p:sp>
      <p:sp>
        <p:nvSpPr>
          <p:cNvPr id="3" name="Text 1"/>
          <p:cNvSpPr/>
          <p:nvPr/>
        </p:nvSpPr>
        <p:spPr>
          <a:xfrm>
            <a:off x="548640" y="1371600"/>
            <a:ext cx="10515600" cy="12801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Memory that consolidates like sleep</a:t>
            </a:r>
            <a:endParaRPr lang="en-US" sz="3200" dirty="0"/>
          </a:p>
        </p:txBody>
      </p:sp>
      <p:sp>
        <p:nvSpPr>
          <p:cNvPr id="4" name="Shape 2"/>
          <p:cNvSpPr/>
          <p:nvPr/>
        </p:nvSpPr>
        <p:spPr>
          <a:xfrm>
            <a:off x="548640" y="2743200"/>
            <a:ext cx="54864" cy="640080"/>
          </a:xfrm>
          <a:prstGeom prst="rect">
            <a:avLst/>
          </a:prstGeom>
          <a:solidFill>
            <a:srgbClr val="A78BFA"/>
          </a:solidFill>
          <a:ln w="12700">
            <a:solidFill>
              <a:srgbClr val="A78BFA"/>
            </a:solidFill>
            <a:prstDash val="solid"/>
          </a:ln>
        </p:spPr>
      </p:sp>
      <p:sp>
        <p:nvSpPr>
          <p:cNvPr id="5" name="Text 3"/>
          <p:cNvSpPr/>
          <p:nvPr/>
        </p:nvSpPr>
        <p:spPr>
          <a:xfrm>
            <a:off x="731520" y="2743200"/>
            <a:ext cx="10424160" cy="640080"/>
          </a:xfrm>
          <a:prstGeom prst="rect">
            <a:avLst/>
          </a:prstGeom>
          <a:noFill/>
          <a:ln/>
        </p:spPr>
        <p:txBody>
          <a:bodyPr wrap="square" rtlCol="0" anchor="ctr"/>
          <a:lstStyle/>
          <a:p>
            <a:pPr indent="0" marL="0">
              <a:buNone/>
            </a:pPr>
            <a:r>
              <a:rPr lang="en-US" sz="1500" i="1" dirty="0">
                <a:solidFill>
                  <a:srgbClr val="C9BDE6"/>
                </a:solidFill>
                <a:latin typeface="Segoe UI" pitchFamily="34" charset="0"/>
                <a:ea typeface="Segoe UI" pitchFamily="34" charset="-122"/>
                <a:cs typeface="Segoe UI" pitchFamily="34" charset="-120"/>
              </a:rPr>
              <a:t>"The AI remembers. But memory you can’t see or correct isn’t an asset — it’s a liability."</a:t>
            </a:r>
            <a:endParaRPr lang="en-US" sz="1500" dirty="0"/>
          </a:p>
        </p:txBody>
      </p:sp>
      <p:sp>
        <p:nvSpPr>
          <p:cNvPr id="6" name="Text 4"/>
          <p:cNvSpPr/>
          <p:nvPr/>
        </p:nvSpPr>
        <p:spPr>
          <a:xfrm>
            <a:off x="548640" y="6309360"/>
            <a:ext cx="11064240" cy="228600"/>
          </a:xfrm>
          <a:prstGeom prst="rect">
            <a:avLst/>
          </a:prstGeom>
          <a:noFill/>
          <a:ln/>
        </p:spPr>
        <p:txBody>
          <a:bodyPr wrap="square" rtlCol="0" anchor="ctr"/>
          <a:lstStyle/>
          <a:p>
            <a:pPr algn="r" indent="0" marL="0">
              <a:buNone/>
            </a:pPr>
            <a:r>
              <a:rPr lang="en-US" sz="800" dirty="0">
                <a:solidFill>
                  <a:srgbClr val="6B5FA8"/>
                </a:solidFill>
                <a:latin typeface="Cascadia Code" pitchFamily="34" charset="0"/>
                <a:ea typeface="Cascadia Code" pitchFamily="34" charset="-122"/>
                <a:cs typeface="Cascadia Code" pitchFamily="34" charset="-120"/>
              </a:rPr>
              <a:t>ADR 0007</a:t>
            </a:r>
            <a:endParaRPr lang="en-US" sz="800" dirty="0"/>
          </a:p>
        </p:txBody>
      </p:sp>
      <p:sp>
        <p:nvSpPr>
          <p:cNvPr id="7" name="Shape 5"/>
          <p:cNvSpPr/>
          <p:nvPr/>
        </p:nvSpPr>
        <p:spPr>
          <a:xfrm>
            <a:off x="10424160" y="640080"/>
            <a:ext cx="914400" cy="914400"/>
          </a:xfrm>
          <a:prstGeom prst="ellipse">
            <a:avLst/>
          </a:prstGeom>
          <a:solidFill>
            <a:srgbClr val="A78BFA">
              <a:alpha val="45000"/>
            </a:srgbClr>
          </a:solidFill>
          <a:ln/>
        </p:spPr>
      </p:sp>
      <p:sp>
        <p:nvSpPr>
          <p:cNvPr id="8" name="Text 6"/>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22 / 44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problem: memory without discipline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868680"/>
            <a:ext cx="11064240" cy="640080"/>
          </a:xfrm>
          <a:prstGeom prst="rect">
            <a:avLst/>
          </a:prstGeom>
          <a:noFill/>
          <a:ln/>
        </p:spPr>
        <p:txBody>
          <a:bodyPr wrap="square" rtlCol="0" anchor="ctr"/>
          <a:lstStyle/>
          <a:p>
            <a:pPr indent="0" marL="0">
              <a:buNone/>
            </a:pPr>
            <a:r>
              <a:rPr lang="en-US" sz="1400" i="1" dirty="0">
                <a:solidFill>
                  <a:srgbClr val="636E72"/>
                </a:solidFill>
                <a:latin typeface="Segoe UI" pitchFamily="34" charset="0"/>
                <a:ea typeface="Segoe UI" pitchFamily="34" charset="-122"/>
                <a:cs typeface="Segoe UI" pitchFamily="34" charset="-120"/>
              </a:rPr>
              <a:t>You told the AI last week: we use pnpm, we migrated to Vitest. This week it suggests npm and Jest. Not because it got dumber — unmanaged memory rots.</a:t>
            </a:r>
            <a:endParaRPr lang="en-US" sz="1400" dirty="0"/>
          </a:p>
        </p:txBody>
      </p:sp>
      <p:sp>
        <p:nvSpPr>
          <p:cNvPr id="6" name="Shape 4"/>
          <p:cNvSpPr/>
          <p:nvPr/>
        </p:nvSpPr>
        <p:spPr>
          <a:xfrm>
            <a:off x="548640" y="1691640"/>
            <a:ext cx="6949440" cy="4023360"/>
          </a:xfrm>
          <a:prstGeom prst="roundRect">
            <a:avLst>
              <a:gd name="adj" fmla="val 1818"/>
            </a:avLst>
          </a:prstGeom>
          <a:solidFill>
            <a:srgbClr val="0D1F35"/>
          </a:solidFill>
          <a:ln w="12700">
            <a:solidFill>
              <a:srgbClr val="2C5F8A"/>
            </a:solidFill>
            <a:prstDash val="solid"/>
          </a:ln>
        </p:spPr>
      </p:sp>
      <p:sp>
        <p:nvSpPr>
          <p:cNvPr id="7" name="Text 5"/>
          <p:cNvSpPr/>
          <p:nvPr/>
        </p:nvSpPr>
        <p:spPr>
          <a:xfrm>
            <a:off x="731520" y="1810512"/>
            <a:ext cx="6583680" cy="274320"/>
          </a:xfrm>
          <a:prstGeom prst="rect">
            <a:avLst/>
          </a:prstGeom>
          <a:noFill/>
          <a:ln/>
        </p:spPr>
        <p:txBody>
          <a:bodyPr wrap="square" rtlCol="0" anchor="ctr"/>
          <a:lstStyle/>
          <a:p>
            <a:pPr indent="0" marL="0">
              <a:buNone/>
            </a:pPr>
            <a:r>
              <a:rPr lang="en-US" sz="900" b="1" dirty="0">
                <a:solidFill>
                  <a:srgbClr val="8FB0D0"/>
                </a:solidFill>
                <a:latin typeface="Cascadia Code" pitchFamily="34" charset="0"/>
                <a:ea typeface="Cascadia Code" pitchFamily="34" charset="-122"/>
                <a:cs typeface="Cascadia Code" pitchFamily="34" charset="-120"/>
              </a:rPr>
              <a:t>MEMORY.md  — unmanaged, grows every session</a:t>
            </a:r>
            <a:endParaRPr lang="en-US" sz="900" dirty="0"/>
          </a:p>
        </p:txBody>
      </p:sp>
      <p:sp>
        <p:nvSpPr>
          <p:cNvPr id="8" name="Text 6"/>
          <p:cNvSpPr/>
          <p:nvPr/>
        </p:nvSpPr>
        <p:spPr>
          <a:xfrm>
            <a:off x="777240" y="2148840"/>
            <a:ext cx="6492240" cy="2468880"/>
          </a:xfrm>
          <a:prstGeom prst="rect">
            <a:avLst/>
          </a:prstGeom>
          <a:noFill/>
          <a:ln/>
        </p:spPr>
        <p:txBody>
          <a:bodyPr wrap="square" rtlCol="0" anchor="t"/>
          <a:lstStyle/>
          <a:p>
            <a:pPr indent="0" marL="0">
              <a:spcAft>
                <a:spcPts val="500"/>
              </a:spcAft>
              <a:buNone/>
            </a:pPr>
            <a:r>
              <a:rPr lang="en-US" sz="1100" dirty="0">
                <a:solidFill>
                  <a:srgbClr val="CDD9E6"/>
                </a:solidFill>
                <a:latin typeface="Cascadia Code" pitchFamily="34" charset="0"/>
                <a:ea typeface="Cascadia Code" pitchFamily="34" charset="-122"/>
                <a:cs typeface="Cascadia Code" pitchFamily="34" charset="-120"/>
              </a:rPr>
              <a:t>use npm install</a:t>
            </a:r>
            <a:pPr indent="0" marL="0">
              <a:spcAft>
                <a:spcPts val="500"/>
              </a:spcAft>
              <a:buNone/>
            </a:pPr>
            <a:r>
              <a:rPr lang="en-US" sz="1100" dirty="0">
                <a:solidFill>
                  <a:srgbClr val="CDD9E6"/>
                </a:solidFill>
                <a:latin typeface="Cascadia Code" pitchFamily="34" charset="0"/>
                <a:ea typeface="Cascadia Code" pitchFamily="34" charset="-122"/>
                <a:cs typeface="Cascadia Code" pitchFamily="34" charset="-120"/>
              </a:rPr>
              <a:t>use pnpm            ← corrected s.12</a:t>
            </a:r>
            <a:pPr indent="0" marL="0">
              <a:spcAft>
                <a:spcPts val="500"/>
              </a:spcAft>
              <a:buNone/>
            </a:pPr>
            <a:r>
              <a:rPr lang="en-US" sz="1100" dirty="0">
                <a:solidFill>
                  <a:srgbClr val="CDD9E6"/>
                </a:solidFill>
                <a:latin typeface="Cascadia Code" pitchFamily="34" charset="0"/>
                <a:ea typeface="Cascadia Code" pitchFamily="34" charset="-122"/>
                <a:cs typeface="Cascadia Code" pitchFamily="34" charset="-120"/>
              </a:rPr>
              <a:t>use Jest for tests</a:t>
            </a:r>
            <a:pPr indent="0" marL="0">
              <a:spcAft>
                <a:spcPts val="500"/>
              </a:spcAft>
              <a:buNone/>
            </a:pPr>
            <a:r>
              <a:rPr lang="en-US" sz="1100" dirty="0">
                <a:solidFill>
                  <a:srgbClr val="CDD9E6"/>
                </a:solidFill>
                <a:latin typeface="Cascadia Code" pitchFamily="34" charset="0"/>
                <a:ea typeface="Cascadia Code" pitchFamily="34" charset="-122"/>
                <a:cs typeface="Cascadia Code" pitchFamily="34" charset="-120"/>
              </a:rPr>
              <a:t>use Vitest for tests  ← conflict</a:t>
            </a:r>
            <a:pPr indent="0" marL="0">
              <a:spcAft>
                <a:spcPts val="500"/>
              </a:spcAft>
              <a:buNone/>
            </a:pPr>
            <a:r>
              <a:rPr lang="en-US" sz="1100" dirty="0">
                <a:solidFill>
                  <a:srgbClr val="CDD9E6"/>
                </a:solidFill>
                <a:latin typeface="Cascadia Code" pitchFamily="34" charset="0"/>
                <a:ea typeface="Cascadia Code" pitchFamily="34" charset="-122"/>
                <a:cs typeface="Cascadia Code" pitchFamily="34" charset="-120"/>
              </a:rPr>
              <a:t>deploy to staging today   ← stale</a:t>
            </a:r>
            <a:pPr indent="0" marL="0">
              <a:spcAft>
                <a:spcPts val="500"/>
              </a:spcAft>
              <a:buNone/>
            </a:pPr>
            <a:r>
              <a:rPr lang="en-US" sz="1100" dirty="0">
                <a:solidFill>
                  <a:srgbClr val="CDD9E6"/>
                </a:solidFill>
                <a:latin typeface="Cascadia Code" pitchFamily="34" charset="0"/>
                <a:ea typeface="Cascadia Code" pitchFamily="34" charset="-122"/>
                <a:cs typeface="Cascadia Code" pitchFamily="34" charset="-120"/>
              </a:rPr>
              <a:t>avoid axios interceptors</a:t>
            </a:r>
            <a:pPr indent="0" marL="0">
              <a:spcAft>
                <a:spcPts val="500"/>
              </a:spcAft>
              <a:buNone/>
            </a:pPr>
            <a:r>
              <a:rPr lang="en-US" sz="1100" dirty="0">
                <a:solidFill>
                  <a:srgbClr val="CDD9E6"/>
                </a:solidFill>
                <a:latin typeface="Cascadia Code" pitchFamily="34" charset="0"/>
                <a:ea typeface="Cascadia Code" pitchFamily="34" charset="-122"/>
                <a:cs typeface="Cascadia Code" pitchFamily="34" charset="-120"/>
              </a:rPr>
              <a:t>… 200+ more lines …</a:t>
            </a:r>
            <a:endParaRPr lang="en-US" sz="1100" dirty="0"/>
          </a:p>
        </p:txBody>
      </p:sp>
      <p:sp>
        <p:nvSpPr>
          <p:cNvPr id="9" name="Shape 7"/>
          <p:cNvSpPr/>
          <p:nvPr/>
        </p:nvSpPr>
        <p:spPr>
          <a:xfrm>
            <a:off x="731520" y="4709160"/>
            <a:ext cx="6583680" cy="0"/>
          </a:xfrm>
          <a:prstGeom prst="line">
            <a:avLst/>
          </a:prstGeom>
          <a:noFill/>
          <a:ln w="12700">
            <a:solidFill>
              <a:srgbClr val="E17055"/>
            </a:solidFill>
            <a:prstDash val="dash"/>
          </a:ln>
        </p:spPr>
      </p:sp>
      <p:sp>
        <p:nvSpPr>
          <p:cNvPr id="10" name="Text 8"/>
          <p:cNvSpPr/>
          <p:nvPr/>
        </p:nvSpPr>
        <p:spPr>
          <a:xfrm>
            <a:off x="777240" y="4754880"/>
            <a:ext cx="6492240" cy="274320"/>
          </a:xfrm>
          <a:prstGeom prst="rect">
            <a:avLst/>
          </a:prstGeom>
          <a:noFill/>
          <a:ln/>
        </p:spPr>
        <p:txBody>
          <a:bodyPr wrap="square" rtlCol="0" anchor="ctr"/>
          <a:lstStyle/>
          <a:p>
            <a:pPr indent="0" marL="0">
              <a:buNone/>
            </a:pPr>
            <a:r>
              <a:rPr lang="en-US" sz="850" dirty="0">
                <a:solidFill>
                  <a:srgbClr val="E17055"/>
                </a:solidFill>
                <a:latin typeface="Cascadia Code" pitchFamily="34" charset="0"/>
                <a:ea typeface="Cascadia Code" pitchFamily="34" charset="-122"/>
                <a:cs typeface="Cascadia Code" pitchFamily="34" charset="-120"/>
              </a:rPr>
              <a:t>200-line cutoff — Claude can’t see below here</a:t>
            </a:r>
            <a:endParaRPr lang="en-US" sz="850" dirty="0"/>
          </a:p>
        </p:txBody>
      </p:sp>
      <p:sp>
        <p:nvSpPr>
          <p:cNvPr id="11" name="Text 9"/>
          <p:cNvSpPr/>
          <p:nvPr/>
        </p:nvSpPr>
        <p:spPr>
          <a:xfrm>
            <a:off x="7772400" y="2103120"/>
            <a:ext cx="3931920" cy="3200400"/>
          </a:xfrm>
          <a:prstGeom prst="rect">
            <a:avLst/>
          </a:prstGeom>
          <a:noFill/>
          <a:ln/>
        </p:spPr>
        <p:txBody>
          <a:bodyPr wrap="square" rtlCol="0" anchor="t"/>
          <a:lstStyle/>
          <a:p>
            <a:pPr>
              <a:spcAft>
                <a:spcPts val="600"/>
              </a:spcAft>
            </a:pPr>
            <a:r>
              <a:rPr lang="en-US" sz="1300" dirty="0">
                <a:solidFill>
                  <a:srgbClr val="2D3436"/>
                </a:solidFill>
                <a:latin typeface="Segoe UI" pitchFamily="34" charset="0"/>
                <a:ea typeface="Segoe UI" pitchFamily="34" charset="-122"/>
                <a:cs typeface="Segoe UI" pitchFamily="34" charset="-120"/>
              </a:rPr>
              <a:t>It grows every session</a:t>
            </a:r>
            <a:endParaRPr lang="en-US" sz="1300" dirty="0"/>
          </a:p>
          <a:p>
            <a:pPr>
              <a:spcAft>
                <a:spcPts val="600"/>
              </a:spcAft>
            </a:pPr>
            <a:r>
              <a:rPr lang="en-US" sz="1300" dirty="0">
                <a:solidFill>
                  <a:srgbClr val="2D3436"/>
                </a:solidFill>
                <a:latin typeface="Segoe UI" pitchFamily="34" charset="0"/>
                <a:ea typeface="Segoe UI" pitchFamily="34" charset="-122"/>
                <a:cs typeface="Segoe UI" pitchFamily="34" charset="-120"/>
              </a:rPr>
              <a:t>It starts contradicting itself</a:t>
            </a:r>
            <a:endParaRPr lang="en-US" sz="1300" dirty="0"/>
          </a:p>
          <a:p>
            <a:pPr>
              <a:spcAft>
                <a:spcPts val="600"/>
              </a:spcAft>
            </a:pPr>
            <a:r>
              <a:rPr lang="en-US" sz="1300" dirty="0">
                <a:solidFill>
                  <a:srgbClr val="2D3436"/>
                </a:solidFill>
                <a:latin typeface="Segoe UI" pitchFamily="34" charset="0"/>
                <a:ea typeface="Segoe UI" pitchFamily="34" charset="-122"/>
                <a:cs typeface="Segoe UI" pitchFamily="34" charset="-120"/>
              </a:rPr>
              <a:t>Past ~200 lines, the bottom is invisible</a:t>
            </a:r>
            <a:endParaRPr lang="en-US" sz="1300" dirty="0"/>
          </a:p>
          <a:p>
            <a:pPr>
              <a:spcAft>
                <a:spcPts val="600"/>
              </a:spcAft>
            </a:pPr>
            <a:r>
              <a:rPr lang="en-US" sz="1300" dirty="0">
                <a:solidFill>
                  <a:srgbClr val="2D3436"/>
                </a:solidFill>
                <a:latin typeface="Segoe UI" pitchFamily="34" charset="0"/>
                <a:ea typeface="Segoe UI" pitchFamily="34" charset="-122"/>
                <a:cs typeface="Segoe UI" pitchFamily="34" charset="-120"/>
              </a:rPr>
              <a:t>Worse signal than having no memory at all</a:t>
            </a:r>
            <a:endParaRPr lang="en-US" sz="1300" dirty="0"/>
          </a:p>
        </p:txBody>
      </p:sp>
      <p:sp>
        <p:nvSpPr>
          <p:cNvPr id="12" name="Text 10"/>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23 / 44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Dream: give memory a sleep cycle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600200"/>
          </a:xfrm>
          <a:prstGeom prst="rect">
            <a:avLst/>
          </a:prstGeom>
          <a:solidFill>
            <a:srgbClr val="C8A951"/>
          </a:solidFill>
          <a:ln w="12700">
            <a:solidFill>
              <a:srgbClr val="C8A951"/>
            </a:solidFill>
            <a:prstDash val="solid"/>
          </a:ln>
        </p:spPr>
      </p:sp>
      <p:sp>
        <p:nvSpPr>
          <p:cNvPr id="6" name="Shape 4"/>
          <p:cNvSpPr/>
          <p:nvPr/>
        </p:nvSpPr>
        <p:spPr>
          <a:xfrm>
            <a:off x="612648" y="914400"/>
            <a:ext cx="11000232" cy="1600200"/>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CONSOLIDATION LIKE SLEEP  ·  ADR 0007</a:t>
            </a:r>
            <a:endParaRPr lang="en-US" sz="800" dirty="0"/>
          </a:p>
        </p:txBody>
      </p:sp>
      <p:sp>
        <p:nvSpPr>
          <p:cNvPr id="8" name="Text 6"/>
          <p:cNvSpPr/>
          <p:nvPr/>
        </p:nvSpPr>
        <p:spPr>
          <a:xfrm>
            <a:off x="731520" y="1207008"/>
            <a:ext cx="10607040" cy="96012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"We needed something like REM sleep — periodic consolidation that keeps what proved true, prunes what’s stale, and strengthens the patterns worth keeping."</a:t>
            </a:r>
            <a:endParaRPr lang="en-US" sz="1300" dirty="0"/>
          </a:p>
        </p:txBody>
      </p:sp>
      <p:sp>
        <p:nvSpPr>
          <p:cNvPr id="9" name="Text 7"/>
          <p:cNvSpPr/>
          <p:nvPr/>
        </p:nvSpPr>
        <p:spPr>
          <a:xfrm>
            <a:off x="731520" y="216712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Runs every 5–8 sessions. You review before anything is written.</a:t>
            </a:r>
            <a:endParaRPr lang="en-US" sz="1000" dirty="0"/>
          </a:p>
        </p:txBody>
      </p:sp>
      <p:sp>
        <p:nvSpPr>
          <p:cNvPr id="10" name="Text 8"/>
          <p:cNvSpPr/>
          <p:nvPr/>
        </p:nvSpPr>
        <p:spPr>
          <a:xfrm>
            <a:off x="10607040" y="224028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0007</a:t>
            </a:r>
            <a:endParaRPr lang="en-US" sz="800" dirty="0"/>
          </a:p>
        </p:txBody>
      </p:sp>
      <p:sp>
        <p:nvSpPr>
          <p:cNvPr id="11" name="Shape 9"/>
          <p:cNvSpPr/>
          <p:nvPr/>
        </p:nvSpPr>
        <p:spPr>
          <a:xfrm>
            <a:off x="274320" y="2926080"/>
            <a:ext cx="1645920" cy="548640"/>
          </a:xfrm>
          <a:prstGeom prst="roundRect">
            <a:avLst>
              <a:gd name="adj" fmla="val 11667"/>
            </a:avLst>
          </a:prstGeom>
          <a:solidFill>
            <a:srgbClr val="FFFFFF"/>
          </a:solidFill>
          <a:ln w="12700">
            <a:solidFill>
              <a:srgbClr val="DFE6E9"/>
            </a:solidFill>
            <a:prstDash val="solid"/>
          </a:ln>
        </p:spPr>
      </p:sp>
      <p:sp>
        <p:nvSpPr>
          <p:cNvPr id="12" name="Text 10"/>
          <p:cNvSpPr/>
          <p:nvPr/>
        </p:nvSpPr>
        <p:spPr>
          <a:xfrm>
            <a:off x="274320" y="2926080"/>
            <a:ext cx="164592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01</a:t>
            </a:r>
            <a:endParaRPr lang="en-US" sz="950" dirty="0"/>
          </a:p>
          <a:p>
            <a:pPr algn="ctr" indent="0" marL="0">
              <a:buNone/>
            </a:pPr>
            <a:r>
              <a:rPr lang="en-US" sz="950" b="1" dirty="0">
                <a:solidFill>
                  <a:srgbClr val="1A3A5C"/>
                </a:solidFill>
                <a:latin typeface="Segoe UI" pitchFamily="34" charset="0"/>
                <a:ea typeface="Segoe UI" pitchFamily="34" charset="-122"/>
                <a:cs typeface="Segoe UI" pitchFamily="34" charset="-120"/>
              </a:rPr>
              <a:t>Inventory</a:t>
            </a:r>
            <a:endParaRPr lang="en-US" sz="950" dirty="0"/>
          </a:p>
        </p:txBody>
      </p:sp>
      <p:sp>
        <p:nvSpPr>
          <p:cNvPr id="13" name="Text 11"/>
          <p:cNvSpPr/>
          <p:nvPr/>
        </p:nvSpPr>
        <p:spPr>
          <a:xfrm>
            <a:off x="1920240" y="29260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4" name="Shape 12"/>
          <p:cNvSpPr/>
          <p:nvPr/>
        </p:nvSpPr>
        <p:spPr>
          <a:xfrm>
            <a:off x="2286000" y="2926080"/>
            <a:ext cx="1645920" cy="548640"/>
          </a:xfrm>
          <a:prstGeom prst="roundRect">
            <a:avLst>
              <a:gd name="adj" fmla="val 11667"/>
            </a:avLst>
          </a:prstGeom>
          <a:solidFill>
            <a:srgbClr val="FFFFFF"/>
          </a:solidFill>
          <a:ln w="12700">
            <a:solidFill>
              <a:srgbClr val="DFE6E9"/>
            </a:solidFill>
            <a:prstDash val="solid"/>
          </a:ln>
        </p:spPr>
      </p:sp>
      <p:sp>
        <p:nvSpPr>
          <p:cNvPr id="15" name="Text 13"/>
          <p:cNvSpPr/>
          <p:nvPr/>
        </p:nvSpPr>
        <p:spPr>
          <a:xfrm>
            <a:off x="2286000" y="2926080"/>
            <a:ext cx="164592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02</a:t>
            </a:r>
            <a:endParaRPr lang="en-US" sz="950" dirty="0"/>
          </a:p>
          <a:p>
            <a:pPr algn="ctr" indent="0" marL="0">
              <a:buNone/>
            </a:pPr>
            <a:r>
              <a:rPr lang="en-US" sz="950" b="1" dirty="0">
                <a:solidFill>
                  <a:srgbClr val="1A3A5C"/>
                </a:solidFill>
                <a:latin typeface="Segoe UI" pitchFamily="34" charset="0"/>
                <a:ea typeface="Segoe UI" pitchFamily="34" charset="-122"/>
                <a:cs typeface="Segoe UI" pitchFamily="34" charset="-120"/>
              </a:rPr>
              <a:t>Score</a:t>
            </a:r>
            <a:endParaRPr lang="en-US" sz="950" dirty="0"/>
          </a:p>
        </p:txBody>
      </p:sp>
      <p:sp>
        <p:nvSpPr>
          <p:cNvPr id="16" name="Text 14"/>
          <p:cNvSpPr/>
          <p:nvPr/>
        </p:nvSpPr>
        <p:spPr>
          <a:xfrm>
            <a:off x="3931920" y="29260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7" name="Shape 15"/>
          <p:cNvSpPr/>
          <p:nvPr/>
        </p:nvSpPr>
        <p:spPr>
          <a:xfrm>
            <a:off x="4297680" y="2926080"/>
            <a:ext cx="1645920" cy="548640"/>
          </a:xfrm>
          <a:prstGeom prst="roundRect">
            <a:avLst>
              <a:gd name="adj" fmla="val 11667"/>
            </a:avLst>
          </a:prstGeom>
          <a:solidFill>
            <a:srgbClr val="FFFFFF"/>
          </a:solidFill>
          <a:ln w="12700">
            <a:solidFill>
              <a:srgbClr val="DFE6E9"/>
            </a:solidFill>
            <a:prstDash val="solid"/>
          </a:ln>
        </p:spPr>
      </p:sp>
      <p:sp>
        <p:nvSpPr>
          <p:cNvPr id="18" name="Text 16"/>
          <p:cNvSpPr/>
          <p:nvPr/>
        </p:nvSpPr>
        <p:spPr>
          <a:xfrm>
            <a:off x="4297680" y="2926080"/>
            <a:ext cx="164592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03</a:t>
            </a:r>
            <a:endParaRPr lang="en-US" sz="950" dirty="0"/>
          </a:p>
          <a:p>
            <a:pPr algn="ctr" indent="0" marL="0">
              <a:buNone/>
            </a:pPr>
            <a:r>
              <a:rPr lang="en-US" sz="950" b="1" dirty="0">
                <a:solidFill>
                  <a:srgbClr val="1A3A5C"/>
                </a:solidFill>
                <a:latin typeface="Segoe UI" pitchFamily="34" charset="0"/>
                <a:ea typeface="Segoe UI" pitchFamily="34" charset="-122"/>
                <a:cs typeface="Segoe UI" pitchFamily="34" charset="-120"/>
              </a:rPr>
              <a:t>Propose</a:t>
            </a:r>
            <a:endParaRPr lang="en-US" sz="950" dirty="0"/>
          </a:p>
        </p:txBody>
      </p:sp>
      <p:sp>
        <p:nvSpPr>
          <p:cNvPr id="19" name="Text 17"/>
          <p:cNvSpPr/>
          <p:nvPr/>
        </p:nvSpPr>
        <p:spPr>
          <a:xfrm>
            <a:off x="5943600" y="29260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0" name="Shape 18"/>
          <p:cNvSpPr/>
          <p:nvPr/>
        </p:nvSpPr>
        <p:spPr>
          <a:xfrm>
            <a:off x="6309360" y="2926080"/>
            <a:ext cx="1645920" cy="548640"/>
          </a:xfrm>
          <a:prstGeom prst="roundRect">
            <a:avLst>
              <a:gd name="adj" fmla="val 11667"/>
            </a:avLst>
          </a:prstGeom>
          <a:solidFill>
            <a:srgbClr val="C8A951"/>
          </a:solidFill>
          <a:ln w="12700">
            <a:solidFill>
              <a:srgbClr val="C8A951"/>
            </a:solidFill>
            <a:prstDash val="solid"/>
          </a:ln>
        </p:spPr>
      </p:sp>
      <p:sp>
        <p:nvSpPr>
          <p:cNvPr id="21" name="Text 19"/>
          <p:cNvSpPr/>
          <p:nvPr/>
        </p:nvSpPr>
        <p:spPr>
          <a:xfrm>
            <a:off x="6309360" y="2926080"/>
            <a:ext cx="1645920" cy="548640"/>
          </a:xfrm>
          <a:prstGeom prst="rect">
            <a:avLst/>
          </a:prstGeom>
          <a:noFill/>
          <a:ln/>
        </p:spPr>
        <p:txBody>
          <a:bodyPr wrap="square" rtlCol="0" anchor="ctr"/>
          <a:lstStyle/>
          <a:p>
            <a:pPr algn="ctr" indent="0" marL="0">
              <a:buNone/>
            </a:pPr>
            <a:r>
              <a:rPr lang="en-US" sz="950" b="1" dirty="0">
                <a:solidFill>
                  <a:srgbClr val="1A2B17"/>
                </a:solidFill>
                <a:latin typeface="Segoe UI" pitchFamily="34" charset="0"/>
                <a:ea typeface="Segoe UI" pitchFamily="34" charset="-122"/>
                <a:cs typeface="Segoe UI" pitchFamily="34" charset="-120"/>
              </a:rPr>
              <a:t>04</a:t>
            </a:r>
            <a:endParaRPr lang="en-US" sz="950" dirty="0"/>
          </a:p>
          <a:p>
            <a:pPr algn="ctr" indent="0" marL="0">
              <a:buNone/>
            </a:pPr>
            <a:r>
              <a:rPr lang="en-US" sz="950" b="1" dirty="0">
                <a:solidFill>
                  <a:srgbClr val="1A2B17"/>
                </a:solidFill>
                <a:latin typeface="Segoe UI" pitchFamily="34" charset="0"/>
                <a:ea typeface="Segoe UI" pitchFamily="34" charset="-122"/>
                <a:cs typeface="Segoe UI" pitchFamily="34" charset="-120"/>
              </a:rPr>
              <a:t>Review</a:t>
            </a:r>
            <a:endParaRPr lang="en-US" sz="950" dirty="0"/>
          </a:p>
        </p:txBody>
      </p:sp>
      <p:sp>
        <p:nvSpPr>
          <p:cNvPr id="22" name="Text 20"/>
          <p:cNvSpPr/>
          <p:nvPr/>
        </p:nvSpPr>
        <p:spPr>
          <a:xfrm>
            <a:off x="7955280" y="29260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3" name="Shape 21"/>
          <p:cNvSpPr/>
          <p:nvPr/>
        </p:nvSpPr>
        <p:spPr>
          <a:xfrm>
            <a:off x="8321040" y="2926080"/>
            <a:ext cx="1645920" cy="548640"/>
          </a:xfrm>
          <a:prstGeom prst="roundRect">
            <a:avLst>
              <a:gd name="adj" fmla="val 11667"/>
            </a:avLst>
          </a:prstGeom>
          <a:solidFill>
            <a:srgbClr val="FFFFFF"/>
          </a:solidFill>
          <a:ln w="12700">
            <a:solidFill>
              <a:srgbClr val="DFE6E9"/>
            </a:solidFill>
            <a:prstDash val="solid"/>
          </a:ln>
        </p:spPr>
      </p:sp>
      <p:sp>
        <p:nvSpPr>
          <p:cNvPr id="24" name="Text 22"/>
          <p:cNvSpPr/>
          <p:nvPr/>
        </p:nvSpPr>
        <p:spPr>
          <a:xfrm>
            <a:off x="8321040" y="2926080"/>
            <a:ext cx="164592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05</a:t>
            </a:r>
            <a:endParaRPr lang="en-US" sz="950" dirty="0"/>
          </a:p>
          <a:p>
            <a:pPr algn="ctr" indent="0" marL="0">
              <a:buNone/>
            </a:pPr>
            <a:r>
              <a:rPr lang="en-US" sz="950" b="1" dirty="0">
                <a:solidFill>
                  <a:srgbClr val="1A3A5C"/>
                </a:solidFill>
                <a:latin typeface="Segoe UI" pitchFamily="34" charset="0"/>
                <a:ea typeface="Segoe UI" pitchFamily="34" charset="-122"/>
                <a:cs typeface="Segoe UI" pitchFamily="34" charset="-120"/>
              </a:rPr>
              <a:t>Apply</a:t>
            </a:r>
            <a:endParaRPr lang="en-US" sz="950" dirty="0"/>
          </a:p>
        </p:txBody>
      </p:sp>
      <p:sp>
        <p:nvSpPr>
          <p:cNvPr id="25" name="Text 23"/>
          <p:cNvSpPr/>
          <p:nvPr/>
        </p:nvSpPr>
        <p:spPr>
          <a:xfrm>
            <a:off x="9966960" y="292608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26" name="Shape 24"/>
          <p:cNvSpPr/>
          <p:nvPr/>
        </p:nvSpPr>
        <p:spPr>
          <a:xfrm>
            <a:off x="10332720" y="2926080"/>
            <a:ext cx="1645920" cy="548640"/>
          </a:xfrm>
          <a:prstGeom prst="roundRect">
            <a:avLst>
              <a:gd name="adj" fmla="val 11667"/>
            </a:avLst>
          </a:prstGeom>
          <a:solidFill>
            <a:srgbClr val="00B894"/>
          </a:solidFill>
          <a:ln w="12700">
            <a:solidFill>
              <a:srgbClr val="00B894"/>
            </a:solidFill>
            <a:prstDash val="solid"/>
          </a:ln>
        </p:spPr>
      </p:sp>
      <p:sp>
        <p:nvSpPr>
          <p:cNvPr id="27" name="Text 25"/>
          <p:cNvSpPr/>
          <p:nvPr/>
        </p:nvSpPr>
        <p:spPr>
          <a:xfrm>
            <a:off x="10332720" y="2926080"/>
            <a:ext cx="1645920" cy="54864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06</a:t>
            </a:r>
            <a:endParaRPr lang="en-US" sz="950" dirty="0"/>
          </a:p>
          <a:p>
            <a:pPr algn="ctr" indent="0" marL="0">
              <a:buNone/>
            </a:pPr>
            <a:r>
              <a:rPr lang="en-US" sz="950" b="1" dirty="0">
                <a:solidFill>
                  <a:srgbClr val="FFFFFF"/>
                </a:solidFill>
                <a:latin typeface="Segoe UI" pitchFamily="34" charset="0"/>
                <a:ea typeface="Segoe UI" pitchFamily="34" charset="-122"/>
                <a:cs typeface="Segoe UI" pitchFamily="34" charset="-120"/>
              </a:rPr>
              <a:t>Log</a:t>
            </a:r>
            <a:endParaRPr lang="en-US" sz="950" dirty="0"/>
          </a:p>
        </p:txBody>
      </p:sp>
      <p:sp>
        <p:nvSpPr>
          <p:cNvPr id="28" name="Text 26"/>
          <p:cNvSpPr/>
          <p:nvPr/>
        </p:nvSpPr>
        <p:spPr>
          <a:xfrm>
            <a:off x="457200" y="3703320"/>
            <a:ext cx="11247120" cy="457200"/>
          </a:xfrm>
          <a:prstGeom prst="rect">
            <a:avLst/>
          </a:prstGeom>
          <a:noFill/>
          <a:ln/>
        </p:spPr>
        <p:txBody>
          <a:bodyPr wrap="square" rtlCol="0" anchor="ctr"/>
          <a:lstStyle/>
          <a:p>
            <a:pPr algn="ctr" indent="0" marL="0">
              <a:buNone/>
            </a:pPr>
            <a:r>
              <a:rPr lang="en-US" sz="1000" dirty="0">
                <a:solidFill>
                  <a:srgbClr val="636E72"/>
                </a:solidFill>
                <a:latin typeface="Segoe UI" pitchFamily="34" charset="0"/>
                <a:ea typeface="Segoe UI" pitchFamily="34" charset="-122"/>
                <a:cs typeface="Segoe UI" pitchFamily="34" charset="-120"/>
              </a:rPr>
              <a:t>read all files &amp; map knowledge  ·  confidence 0.0–1.0  ·  ADD/UPDATE/DELETE/PROMOTE  ·  hard stop: you decide  ·  safe order  ·  append-only audit trail</a:t>
            </a:r>
            <a:endParaRPr lang="en-US" sz="1000" dirty="0"/>
          </a:p>
        </p:txBody>
      </p:sp>
      <p:sp>
        <p:nvSpPr>
          <p:cNvPr id="29" name="Text 27"/>
          <p:cNvSpPr/>
          <p:nvPr/>
        </p:nvSpPr>
        <p:spPr>
          <a:xfrm>
            <a:off x="457200" y="4297680"/>
            <a:ext cx="11247120" cy="274320"/>
          </a:xfrm>
          <a:prstGeom prst="rect">
            <a:avLst/>
          </a:prstGeom>
          <a:noFill/>
          <a:ln/>
        </p:spPr>
        <p:txBody>
          <a:bodyPr wrap="square" rtlCol="0" anchor="ctr"/>
          <a:lstStyle/>
          <a:p>
            <a:pPr algn="ctr" indent="0" marL="0">
              <a:buNone/>
            </a:pPr>
            <a:r>
              <a:rPr lang="en-US" sz="800" spc="100" kern="0" dirty="0">
                <a:solidFill>
                  <a:srgbClr val="636E72"/>
                </a:solidFill>
                <a:latin typeface="Cascadia Code" pitchFamily="34" charset="0"/>
                <a:ea typeface="Cascadia Code" pitchFamily="34" charset="-122"/>
                <a:cs typeface="Cascadia Code" pitchFamily="34" charset="-120"/>
              </a:rPr>
              <a:t>DREAM · MEMORY CONSOLIDATION · LIKE REM SLEEP FOR YOUR CODEBASE</a:t>
            </a:r>
            <a:endParaRPr lang="en-US" sz="800" dirty="0"/>
          </a:p>
        </p:txBody>
      </p:sp>
      <p:sp>
        <p:nvSpPr>
          <p:cNvPr id="30" name="Text 28"/>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24 / 44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life of a memory: captured automatically, fades on its own</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457200" y="914400"/>
            <a:ext cx="11247120" cy="274320"/>
          </a:xfrm>
          <a:prstGeom prst="rect">
            <a:avLst/>
          </a:prstGeom>
          <a:noFill/>
          <a:ln/>
        </p:spPr>
        <p:txBody>
          <a:bodyPr wrap="square" rtlCol="0" anchor="ctr"/>
          <a:lstStyle/>
          <a:p>
            <a:pPr indent="0" marL="0">
              <a:buNone/>
            </a:pPr>
            <a:r>
              <a:rPr lang="en-US" sz="900" b="1" spc="100" kern="0" dirty="0">
                <a:solidFill>
                  <a:srgbClr val="C8A951"/>
                </a:solidFill>
                <a:latin typeface="Cascadia Code" pitchFamily="34" charset="0"/>
                <a:ea typeface="Cascadia Code" pitchFamily="34" charset="-122"/>
                <a:cs typeface="Cascadia Code" pitchFamily="34" charset="-120"/>
              </a:rPr>
              <a:t>BORN — auto-captured at 5 natural moments (no “remember that”)</a:t>
            </a:r>
            <a:endParaRPr lang="en-US" sz="900" dirty="0"/>
          </a:p>
        </p:txBody>
      </p:sp>
      <p:sp>
        <p:nvSpPr>
          <p:cNvPr id="6" name="Shape 4"/>
          <p:cNvSpPr/>
          <p:nvPr/>
        </p:nvSpPr>
        <p:spPr>
          <a:xfrm>
            <a:off x="457200" y="1280160"/>
            <a:ext cx="2148840" cy="640080"/>
          </a:xfrm>
          <a:prstGeom prst="roundRect">
            <a:avLst>
              <a:gd name="adj" fmla="val 50000"/>
            </a:avLst>
          </a:prstGeom>
          <a:solidFill>
            <a:srgbClr val="EAF4FF"/>
          </a:solidFill>
          <a:ln w="12700">
            <a:solidFill>
              <a:srgbClr val="74B9FF"/>
            </a:solidFill>
            <a:prstDash val="solid"/>
          </a:ln>
        </p:spPr>
      </p:sp>
      <p:sp>
        <p:nvSpPr>
          <p:cNvPr id="7" name="Text 5"/>
          <p:cNvSpPr/>
          <p:nvPr/>
        </p:nvSpPr>
        <p:spPr>
          <a:xfrm>
            <a:off x="457200" y="1280160"/>
            <a:ext cx="2148840" cy="640080"/>
          </a:xfrm>
          <a:prstGeom prst="rect">
            <a:avLst/>
          </a:prstGeom>
          <a:noFill/>
          <a:ln/>
        </p:spPr>
        <p:txBody>
          <a:bodyPr wrap="square" rtlCol="0" anchor="ctr"/>
          <a:lstStyle/>
          <a:p>
            <a:pPr algn="ctr" indent="0" marL="0">
              <a:buNone/>
            </a:pPr>
            <a:r>
              <a:rPr lang="en-US" sz="1100" b="1" dirty="0">
                <a:solidFill>
                  <a:srgbClr val="1A3A5C"/>
                </a:solidFill>
                <a:latin typeface="Segoe UI" pitchFamily="34" charset="0"/>
                <a:ea typeface="Segoe UI" pitchFamily="34" charset="-122"/>
                <a:cs typeface="Segoe UI" pitchFamily="34" charset="-120"/>
              </a:rPr>
              <a:t>plan approved</a:t>
            </a:r>
            <a:endParaRPr lang="en-US" sz="1100" dirty="0"/>
          </a:p>
        </p:txBody>
      </p:sp>
      <p:sp>
        <p:nvSpPr>
          <p:cNvPr id="8" name="Shape 6"/>
          <p:cNvSpPr/>
          <p:nvPr/>
        </p:nvSpPr>
        <p:spPr>
          <a:xfrm>
            <a:off x="2743200" y="1280160"/>
            <a:ext cx="2148840" cy="640080"/>
          </a:xfrm>
          <a:prstGeom prst="roundRect">
            <a:avLst>
              <a:gd name="adj" fmla="val 50000"/>
            </a:avLst>
          </a:prstGeom>
          <a:solidFill>
            <a:srgbClr val="EAF4FF"/>
          </a:solidFill>
          <a:ln w="12700">
            <a:solidFill>
              <a:srgbClr val="74B9FF"/>
            </a:solidFill>
            <a:prstDash val="solid"/>
          </a:ln>
        </p:spPr>
      </p:sp>
      <p:sp>
        <p:nvSpPr>
          <p:cNvPr id="9" name="Text 7"/>
          <p:cNvSpPr/>
          <p:nvPr/>
        </p:nvSpPr>
        <p:spPr>
          <a:xfrm>
            <a:off x="2743200" y="1280160"/>
            <a:ext cx="2148840" cy="640080"/>
          </a:xfrm>
          <a:prstGeom prst="rect">
            <a:avLst/>
          </a:prstGeom>
          <a:noFill/>
          <a:ln/>
        </p:spPr>
        <p:txBody>
          <a:bodyPr wrap="square" rtlCol="0" anchor="ctr"/>
          <a:lstStyle/>
          <a:p>
            <a:pPr algn="ctr" indent="0" marL="0">
              <a:buNone/>
            </a:pPr>
            <a:r>
              <a:rPr lang="en-US" sz="1100" b="1" dirty="0">
                <a:solidFill>
                  <a:srgbClr val="1A3A5C"/>
                </a:solidFill>
                <a:latin typeface="Segoe UI" pitchFamily="34" charset="0"/>
                <a:ea typeface="Segoe UI" pitchFamily="34" charset="-122"/>
                <a:cs typeface="Segoe UI" pitchFamily="34" charset="-120"/>
              </a:rPr>
              <a:t>task done</a:t>
            </a:r>
            <a:endParaRPr lang="en-US" sz="1100" dirty="0"/>
          </a:p>
        </p:txBody>
      </p:sp>
      <p:sp>
        <p:nvSpPr>
          <p:cNvPr id="10" name="Shape 8"/>
          <p:cNvSpPr/>
          <p:nvPr/>
        </p:nvSpPr>
        <p:spPr>
          <a:xfrm>
            <a:off x="5029200" y="1280160"/>
            <a:ext cx="2148840" cy="640080"/>
          </a:xfrm>
          <a:prstGeom prst="roundRect">
            <a:avLst>
              <a:gd name="adj" fmla="val 50000"/>
            </a:avLst>
          </a:prstGeom>
          <a:solidFill>
            <a:srgbClr val="EAF4FF"/>
          </a:solidFill>
          <a:ln w="12700">
            <a:solidFill>
              <a:srgbClr val="74B9FF"/>
            </a:solidFill>
            <a:prstDash val="solid"/>
          </a:ln>
        </p:spPr>
      </p:sp>
      <p:sp>
        <p:nvSpPr>
          <p:cNvPr id="11" name="Text 9"/>
          <p:cNvSpPr/>
          <p:nvPr/>
        </p:nvSpPr>
        <p:spPr>
          <a:xfrm>
            <a:off x="5029200" y="1280160"/>
            <a:ext cx="2148840" cy="640080"/>
          </a:xfrm>
          <a:prstGeom prst="rect">
            <a:avLst/>
          </a:prstGeom>
          <a:noFill/>
          <a:ln/>
        </p:spPr>
        <p:txBody>
          <a:bodyPr wrap="square" rtlCol="0" anchor="ctr"/>
          <a:lstStyle/>
          <a:p>
            <a:pPr algn="ctr" indent="0" marL="0">
              <a:buNone/>
            </a:pPr>
            <a:r>
              <a:rPr lang="en-US" sz="1100" b="1" dirty="0">
                <a:solidFill>
                  <a:srgbClr val="1A3A5C"/>
                </a:solidFill>
                <a:latin typeface="Segoe UI" pitchFamily="34" charset="0"/>
                <a:ea typeface="Segoe UI" pitchFamily="34" charset="-122"/>
                <a:cs typeface="Segoe UI" pitchFamily="34" charset="-120"/>
              </a:rPr>
              <a:t>error fixed</a:t>
            </a:r>
            <a:endParaRPr lang="en-US" sz="1100" dirty="0"/>
          </a:p>
        </p:txBody>
      </p:sp>
      <p:sp>
        <p:nvSpPr>
          <p:cNvPr id="12" name="Shape 10"/>
          <p:cNvSpPr/>
          <p:nvPr/>
        </p:nvSpPr>
        <p:spPr>
          <a:xfrm>
            <a:off x="7315200" y="1280160"/>
            <a:ext cx="2148840" cy="640080"/>
          </a:xfrm>
          <a:prstGeom prst="roundRect">
            <a:avLst>
              <a:gd name="adj" fmla="val 50000"/>
            </a:avLst>
          </a:prstGeom>
          <a:solidFill>
            <a:srgbClr val="EAF4FF"/>
          </a:solidFill>
          <a:ln w="12700">
            <a:solidFill>
              <a:srgbClr val="74B9FF"/>
            </a:solidFill>
            <a:prstDash val="solid"/>
          </a:ln>
        </p:spPr>
      </p:sp>
      <p:sp>
        <p:nvSpPr>
          <p:cNvPr id="13" name="Text 11"/>
          <p:cNvSpPr/>
          <p:nvPr/>
        </p:nvSpPr>
        <p:spPr>
          <a:xfrm>
            <a:off x="7315200" y="1280160"/>
            <a:ext cx="2148840" cy="640080"/>
          </a:xfrm>
          <a:prstGeom prst="rect">
            <a:avLst/>
          </a:prstGeom>
          <a:noFill/>
          <a:ln/>
        </p:spPr>
        <p:txBody>
          <a:bodyPr wrap="square" rtlCol="0" anchor="ctr"/>
          <a:lstStyle/>
          <a:p>
            <a:pPr algn="ctr" indent="0" marL="0">
              <a:buNone/>
            </a:pPr>
            <a:r>
              <a:rPr lang="en-US" sz="1100" b="1" dirty="0">
                <a:solidFill>
                  <a:srgbClr val="1A3A5C"/>
                </a:solidFill>
                <a:latin typeface="Segoe UI" pitchFamily="34" charset="0"/>
                <a:ea typeface="Segoe UI" pitchFamily="34" charset="-122"/>
                <a:cs typeface="Segoe UI" pitchFamily="34" charset="-120"/>
              </a:rPr>
              <a:t>approach abandoned</a:t>
            </a:r>
            <a:endParaRPr lang="en-US" sz="1100" dirty="0"/>
          </a:p>
        </p:txBody>
      </p:sp>
      <p:sp>
        <p:nvSpPr>
          <p:cNvPr id="14" name="Shape 12"/>
          <p:cNvSpPr/>
          <p:nvPr/>
        </p:nvSpPr>
        <p:spPr>
          <a:xfrm>
            <a:off x="9601200" y="1280160"/>
            <a:ext cx="2148840" cy="640080"/>
          </a:xfrm>
          <a:prstGeom prst="roundRect">
            <a:avLst>
              <a:gd name="adj" fmla="val 50000"/>
            </a:avLst>
          </a:prstGeom>
          <a:solidFill>
            <a:srgbClr val="EAF4FF"/>
          </a:solidFill>
          <a:ln w="12700">
            <a:solidFill>
              <a:srgbClr val="74B9FF"/>
            </a:solidFill>
            <a:prstDash val="solid"/>
          </a:ln>
        </p:spPr>
      </p:sp>
      <p:sp>
        <p:nvSpPr>
          <p:cNvPr id="15" name="Text 13"/>
          <p:cNvSpPr/>
          <p:nvPr/>
        </p:nvSpPr>
        <p:spPr>
          <a:xfrm>
            <a:off x="9601200" y="1280160"/>
            <a:ext cx="2148840" cy="640080"/>
          </a:xfrm>
          <a:prstGeom prst="rect">
            <a:avLst/>
          </a:prstGeom>
          <a:noFill/>
          <a:ln/>
        </p:spPr>
        <p:txBody>
          <a:bodyPr wrap="square" rtlCol="0" anchor="ctr"/>
          <a:lstStyle/>
          <a:p>
            <a:pPr algn="ctr" indent="0" marL="0">
              <a:buNone/>
            </a:pPr>
            <a:r>
              <a:rPr lang="en-US" sz="1100" b="1" dirty="0">
                <a:solidFill>
                  <a:srgbClr val="1A3A5C"/>
                </a:solidFill>
                <a:latin typeface="Segoe UI" pitchFamily="34" charset="0"/>
                <a:ea typeface="Segoe UI" pitchFamily="34" charset="-122"/>
                <a:cs typeface="Segoe UI" pitchFamily="34" charset="-120"/>
              </a:rPr>
              <a:t>arch decision</a:t>
            </a:r>
            <a:endParaRPr lang="en-US" sz="1100" dirty="0"/>
          </a:p>
        </p:txBody>
      </p:sp>
      <p:sp>
        <p:nvSpPr>
          <p:cNvPr id="16" name="Text 14"/>
          <p:cNvSpPr/>
          <p:nvPr/>
        </p:nvSpPr>
        <p:spPr>
          <a:xfrm>
            <a:off x="457200" y="2286000"/>
            <a:ext cx="11247120" cy="274320"/>
          </a:xfrm>
          <a:prstGeom prst="rect">
            <a:avLst/>
          </a:prstGeom>
          <a:noFill/>
          <a:ln/>
        </p:spPr>
        <p:txBody>
          <a:bodyPr wrap="square" rtlCol="0" anchor="ctr"/>
          <a:lstStyle/>
          <a:p>
            <a:pPr indent="0" marL="0">
              <a:buNone/>
            </a:pPr>
            <a:r>
              <a:rPr lang="en-US" sz="900" b="1" spc="100" kern="0" dirty="0">
                <a:solidFill>
                  <a:srgbClr val="E17055"/>
                </a:solidFill>
                <a:latin typeface="Cascadia Code" pitchFamily="34" charset="0"/>
                <a:ea typeface="Cascadia Code" pitchFamily="34" charset="-122"/>
                <a:cs typeface="Cascadia Code" pitchFamily="34" charset="-120"/>
              </a:rPr>
              <a:t>FADES — every cycle unused, confidence drops 0.1 → auto-delete</a:t>
            </a:r>
            <a:endParaRPr lang="en-US" sz="900" dirty="0"/>
          </a:p>
        </p:txBody>
      </p:sp>
      <p:sp>
        <p:nvSpPr>
          <p:cNvPr id="17" name="Shape 15"/>
          <p:cNvSpPr/>
          <p:nvPr/>
        </p:nvSpPr>
        <p:spPr>
          <a:xfrm>
            <a:off x="1097280" y="3474720"/>
            <a:ext cx="914400" cy="1920240"/>
          </a:xfrm>
          <a:prstGeom prst="rect">
            <a:avLst/>
          </a:prstGeom>
          <a:solidFill>
            <a:srgbClr val="00B894">
              <a:alpha val="85000"/>
            </a:srgbClr>
          </a:solidFill>
          <a:ln w="12700">
            <a:solidFill>
              <a:srgbClr val="00B894"/>
            </a:solidFill>
            <a:prstDash val="solid"/>
          </a:ln>
        </p:spPr>
      </p:sp>
      <p:sp>
        <p:nvSpPr>
          <p:cNvPr id="18" name="Text 16"/>
          <p:cNvSpPr/>
          <p:nvPr/>
        </p:nvSpPr>
        <p:spPr>
          <a:xfrm>
            <a:off x="1005840" y="3218688"/>
            <a:ext cx="1097280" cy="228600"/>
          </a:xfrm>
          <a:prstGeom prst="rect">
            <a:avLst/>
          </a:prstGeom>
          <a:noFill/>
          <a:ln/>
        </p:spPr>
        <p:txBody>
          <a:bodyPr wrap="square" rtlCol="0" anchor="ctr"/>
          <a:lstStyle/>
          <a:p>
            <a:pPr algn="ctr" indent="0" marL="0">
              <a:buNone/>
            </a:pPr>
            <a:r>
              <a:rPr lang="en-US" sz="900" dirty="0">
                <a:solidFill>
                  <a:srgbClr val="2D3436"/>
                </a:solidFill>
                <a:latin typeface="Cascadia Code" pitchFamily="34" charset="0"/>
                <a:ea typeface="Cascadia Code" pitchFamily="34" charset="-122"/>
                <a:cs typeface="Cascadia Code" pitchFamily="34" charset="-120"/>
              </a:rPr>
              <a:t>0.70</a:t>
            </a:r>
            <a:endParaRPr lang="en-US" sz="900" dirty="0"/>
          </a:p>
        </p:txBody>
      </p:sp>
      <p:sp>
        <p:nvSpPr>
          <p:cNvPr id="19" name="Text 17"/>
          <p:cNvSpPr/>
          <p:nvPr/>
        </p:nvSpPr>
        <p:spPr>
          <a:xfrm>
            <a:off x="1005840" y="5440680"/>
            <a:ext cx="1097280" cy="22860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S3</a:t>
            </a:r>
            <a:endParaRPr lang="en-US" sz="900" dirty="0"/>
          </a:p>
        </p:txBody>
      </p:sp>
      <p:sp>
        <p:nvSpPr>
          <p:cNvPr id="20" name="Shape 18"/>
          <p:cNvSpPr/>
          <p:nvPr/>
        </p:nvSpPr>
        <p:spPr>
          <a:xfrm>
            <a:off x="2468880" y="3749040"/>
            <a:ext cx="914400" cy="1645920"/>
          </a:xfrm>
          <a:prstGeom prst="rect">
            <a:avLst/>
          </a:prstGeom>
          <a:solidFill>
            <a:srgbClr val="00B894">
              <a:alpha val="85000"/>
            </a:srgbClr>
          </a:solidFill>
          <a:ln w="12700">
            <a:solidFill>
              <a:srgbClr val="00B894"/>
            </a:solidFill>
            <a:prstDash val="solid"/>
          </a:ln>
        </p:spPr>
      </p:sp>
      <p:sp>
        <p:nvSpPr>
          <p:cNvPr id="21" name="Text 19"/>
          <p:cNvSpPr/>
          <p:nvPr/>
        </p:nvSpPr>
        <p:spPr>
          <a:xfrm>
            <a:off x="2377440" y="3493008"/>
            <a:ext cx="1097280" cy="228600"/>
          </a:xfrm>
          <a:prstGeom prst="rect">
            <a:avLst/>
          </a:prstGeom>
          <a:noFill/>
          <a:ln/>
        </p:spPr>
        <p:txBody>
          <a:bodyPr wrap="square" rtlCol="0" anchor="ctr"/>
          <a:lstStyle/>
          <a:p>
            <a:pPr algn="ctr" indent="0" marL="0">
              <a:buNone/>
            </a:pPr>
            <a:r>
              <a:rPr lang="en-US" sz="900" dirty="0">
                <a:solidFill>
                  <a:srgbClr val="2D3436"/>
                </a:solidFill>
                <a:latin typeface="Cascadia Code" pitchFamily="34" charset="0"/>
                <a:ea typeface="Cascadia Code" pitchFamily="34" charset="-122"/>
                <a:cs typeface="Cascadia Code" pitchFamily="34" charset="-120"/>
              </a:rPr>
              <a:t>0.60</a:t>
            </a:r>
            <a:endParaRPr lang="en-US" sz="900" dirty="0"/>
          </a:p>
        </p:txBody>
      </p:sp>
      <p:sp>
        <p:nvSpPr>
          <p:cNvPr id="22" name="Text 20"/>
          <p:cNvSpPr/>
          <p:nvPr/>
        </p:nvSpPr>
        <p:spPr>
          <a:xfrm>
            <a:off x="2377440" y="5440680"/>
            <a:ext cx="1097280" cy="22860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S5</a:t>
            </a:r>
            <a:endParaRPr lang="en-US" sz="900" dirty="0"/>
          </a:p>
        </p:txBody>
      </p:sp>
      <p:sp>
        <p:nvSpPr>
          <p:cNvPr id="23" name="Shape 21"/>
          <p:cNvSpPr/>
          <p:nvPr/>
        </p:nvSpPr>
        <p:spPr>
          <a:xfrm>
            <a:off x="3840480" y="4023360"/>
            <a:ext cx="914400" cy="1371600"/>
          </a:xfrm>
          <a:prstGeom prst="rect">
            <a:avLst/>
          </a:prstGeom>
          <a:solidFill>
            <a:srgbClr val="00B894">
              <a:alpha val="85000"/>
            </a:srgbClr>
          </a:solidFill>
          <a:ln w="12700">
            <a:solidFill>
              <a:srgbClr val="00B894"/>
            </a:solidFill>
            <a:prstDash val="solid"/>
          </a:ln>
        </p:spPr>
      </p:sp>
      <p:sp>
        <p:nvSpPr>
          <p:cNvPr id="24" name="Text 22"/>
          <p:cNvSpPr/>
          <p:nvPr/>
        </p:nvSpPr>
        <p:spPr>
          <a:xfrm>
            <a:off x="3749040" y="3767328"/>
            <a:ext cx="1097280" cy="228600"/>
          </a:xfrm>
          <a:prstGeom prst="rect">
            <a:avLst/>
          </a:prstGeom>
          <a:noFill/>
          <a:ln/>
        </p:spPr>
        <p:txBody>
          <a:bodyPr wrap="square" rtlCol="0" anchor="ctr"/>
          <a:lstStyle/>
          <a:p>
            <a:pPr algn="ctr" indent="0" marL="0">
              <a:buNone/>
            </a:pPr>
            <a:r>
              <a:rPr lang="en-US" sz="900" dirty="0">
                <a:solidFill>
                  <a:srgbClr val="2D3436"/>
                </a:solidFill>
                <a:latin typeface="Cascadia Code" pitchFamily="34" charset="0"/>
                <a:ea typeface="Cascadia Code" pitchFamily="34" charset="-122"/>
                <a:cs typeface="Cascadia Code" pitchFamily="34" charset="-120"/>
              </a:rPr>
              <a:t>0.50</a:t>
            </a:r>
            <a:endParaRPr lang="en-US" sz="900" dirty="0"/>
          </a:p>
        </p:txBody>
      </p:sp>
      <p:sp>
        <p:nvSpPr>
          <p:cNvPr id="25" name="Text 23"/>
          <p:cNvSpPr/>
          <p:nvPr/>
        </p:nvSpPr>
        <p:spPr>
          <a:xfrm>
            <a:off x="3749040" y="5440680"/>
            <a:ext cx="1097280" cy="22860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S8</a:t>
            </a:r>
            <a:endParaRPr lang="en-US" sz="900" dirty="0"/>
          </a:p>
        </p:txBody>
      </p:sp>
      <p:sp>
        <p:nvSpPr>
          <p:cNvPr id="26" name="Shape 24"/>
          <p:cNvSpPr/>
          <p:nvPr/>
        </p:nvSpPr>
        <p:spPr>
          <a:xfrm>
            <a:off x="5212080" y="4572000"/>
            <a:ext cx="914400" cy="822960"/>
          </a:xfrm>
          <a:prstGeom prst="rect">
            <a:avLst/>
          </a:prstGeom>
          <a:solidFill>
            <a:srgbClr val="FDCB6E">
              <a:alpha val="85000"/>
            </a:srgbClr>
          </a:solidFill>
          <a:ln w="12700">
            <a:solidFill>
              <a:srgbClr val="FDCB6E"/>
            </a:solidFill>
            <a:prstDash val="solid"/>
          </a:ln>
        </p:spPr>
      </p:sp>
      <p:sp>
        <p:nvSpPr>
          <p:cNvPr id="27" name="Text 25"/>
          <p:cNvSpPr/>
          <p:nvPr/>
        </p:nvSpPr>
        <p:spPr>
          <a:xfrm>
            <a:off x="5120640" y="4315968"/>
            <a:ext cx="1097280" cy="228600"/>
          </a:xfrm>
          <a:prstGeom prst="rect">
            <a:avLst/>
          </a:prstGeom>
          <a:noFill/>
          <a:ln/>
        </p:spPr>
        <p:txBody>
          <a:bodyPr wrap="square" rtlCol="0" anchor="ctr"/>
          <a:lstStyle/>
          <a:p>
            <a:pPr algn="ctr" indent="0" marL="0">
              <a:buNone/>
            </a:pPr>
            <a:r>
              <a:rPr lang="en-US" sz="900" dirty="0">
                <a:solidFill>
                  <a:srgbClr val="2D3436"/>
                </a:solidFill>
                <a:latin typeface="Cascadia Code" pitchFamily="34" charset="0"/>
                <a:ea typeface="Cascadia Code" pitchFamily="34" charset="-122"/>
                <a:cs typeface="Cascadia Code" pitchFamily="34" charset="-120"/>
              </a:rPr>
              <a:t>0.30</a:t>
            </a:r>
            <a:endParaRPr lang="en-US" sz="900" dirty="0"/>
          </a:p>
        </p:txBody>
      </p:sp>
      <p:sp>
        <p:nvSpPr>
          <p:cNvPr id="28" name="Text 26"/>
          <p:cNvSpPr/>
          <p:nvPr/>
        </p:nvSpPr>
        <p:spPr>
          <a:xfrm>
            <a:off x="5120640" y="5440680"/>
            <a:ext cx="1097280" cy="22860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S12</a:t>
            </a:r>
            <a:endParaRPr lang="en-US" sz="900" dirty="0"/>
          </a:p>
        </p:txBody>
      </p:sp>
      <p:sp>
        <p:nvSpPr>
          <p:cNvPr id="29" name="Shape 27"/>
          <p:cNvSpPr/>
          <p:nvPr/>
        </p:nvSpPr>
        <p:spPr>
          <a:xfrm>
            <a:off x="6583680" y="5120640"/>
            <a:ext cx="914400" cy="274320"/>
          </a:xfrm>
          <a:prstGeom prst="rect">
            <a:avLst/>
          </a:prstGeom>
          <a:solidFill>
            <a:srgbClr val="E17055">
              <a:alpha val="85000"/>
            </a:srgbClr>
          </a:solidFill>
          <a:ln w="12700">
            <a:solidFill>
              <a:srgbClr val="E17055"/>
            </a:solidFill>
            <a:prstDash val="solid"/>
          </a:ln>
        </p:spPr>
      </p:sp>
      <p:sp>
        <p:nvSpPr>
          <p:cNvPr id="30" name="Text 28"/>
          <p:cNvSpPr/>
          <p:nvPr/>
        </p:nvSpPr>
        <p:spPr>
          <a:xfrm>
            <a:off x="6492240" y="4864608"/>
            <a:ext cx="1097280" cy="228600"/>
          </a:xfrm>
          <a:prstGeom prst="rect">
            <a:avLst/>
          </a:prstGeom>
          <a:noFill/>
          <a:ln/>
        </p:spPr>
        <p:txBody>
          <a:bodyPr wrap="square" rtlCol="0" anchor="ctr"/>
          <a:lstStyle/>
          <a:p>
            <a:pPr algn="ctr" indent="0" marL="0">
              <a:buNone/>
            </a:pPr>
            <a:r>
              <a:rPr lang="en-US" sz="900" dirty="0">
                <a:solidFill>
                  <a:srgbClr val="2D3436"/>
                </a:solidFill>
                <a:latin typeface="Cascadia Code" pitchFamily="34" charset="0"/>
                <a:ea typeface="Cascadia Code" pitchFamily="34" charset="-122"/>
                <a:cs typeface="Cascadia Code" pitchFamily="34" charset="-120"/>
              </a:rPr>
              <a:t>0.10</a:t>
            </a:r>
            <a:endParaRPr lang="en-US" sz="900" dirty="0"/>
          </a:p>
        </p:txBody>
      </p:sp>
      <p:sp>
        <p:nvSpPr>
          <p:cNvPr id="31" name="Text 29"/>
          <p:cNvSpPr/>
          <p:nvPr/>
        </p:nvSpPr>
        <p:spPr>
          <a:xfrm>
            <a:off x="6492240" y="5440680"/>
            <a:ext cx="1097280" cy="22860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S16</a:t>
            </a:r>
            <a:endParaRPr lang="en-US" sz="900" dirty="0"/>
          </a:p>
        </p:txBody>
      </p:sp>
      <p:sp>
        <p:nvSpPr>
          <p:cNvPr id="32" name="Text 30"/>
          <p:cNvSpPr/>
          <p:nvPr/>
        </p:nvSpPr>
        <p:spPr>
          <a:xfrm>
            <a:off x="8412480" y="3931920"/>
            <a:ext cx="3108960" cy="731520"/>
          </a:xfrm>
          <a:prstGeom prst="rect">
            <a:avLst/>
          </a:prstGeom>
          <a:noFill/>
          <a:ln/>
        </p:spPr>
        <p:txBody>
          <a:bodyPr wrap="square" rtlCol="0" anchor="ctr"/>
          <a:lstStyle/>
          <a:p>
            <a:pPr algn="ctr" indent="0" marL="0">
              <a:buNone/>
            </a:pPr>
            <a:r>
              <a:rPr lang="en-US" sz="1200" b="1" dirty="0">
                <a:solidFill>
                  <a:srgbClr val="E17055"/>
                </a:solidFill>
                <a:latin typeface="Segoe UI" pitchFamily="34" charset="0"/>
                <a:ea typeface="Segoe UI" pitchFamily="34" charset="-122"/>
                <a:cs typeface="Segoe UI" pitchFamily="34" charset="-120"/>
              </a:rPr>
              <a:t>AUTO-DELETE</a:t>
            </a:r>
            <a:endParaRPr lang="en-US" sz="1200" dirty="0"/>
          </a:p>
          <a:p>
            <a:pPr algn="ctr" indent="0" marL="0">
              <a:buNone/>
            </a:pPr>
            <a:r>
              <a:rPr lang="en-US" sz="1200" b="1" dirty="0">
                <a:solidFill>
                  <a:srgbClr val="E17055"/>
                </a:solidFill>
                <a:latin typeface="Segoe UI" pitchFamily="34" charset="0"/>
                <a:ea typeface="Segoe UI" pitchFamily="34" charset="-122"/>
                <a:cs typeface="Segoe UI" pitchFamily="34" charset="-120"/>
              </a:rPr>
              <a:t>score ≤ 0.2</a:t>
            </a:r>
            <a:endParaRPr lang="en-US" sz="1200" dirty="0"/>
          </a:p>
        </p:txBody>
      </p:sp>
      <p:sp>
        <p:nvSpPr>
          <p:cNvPr id="33" name="Text 31"/>
          <p:cNvSpPr/>
          <p:nvPr/>
        </p:nvSpPr>
        <p:spPr>
          <a:xfrm>
            <a:off x="457200" y="5852160"/>
            <a:ext cx="11247120" cy="365760"/>
          </a:xfrm>
          <a:prstGeom prst="rect">
            <a:avLst/>
          </a:prstGeom>
          <a:noFill/>
          <a:ln/>
        </p:spPr>
        <p:txBody>
          <a:bodyPr wrap="square" rtlCol="0" anchor="ctr"/>
          <a:lstStyle/>
          <a:p>
            <a:pPr algn="ctr" indent="0" marL="0">
              <a:buNone/>
            </a:pPr>
            <a:r>
              <a:rPr lang="en-US" sz="1200" i="1" dirty="0">
                <a:solidFill>
                  <a:srgbClr val="636E72"/>
                </a:solidFill>
                <a:latin typeface="Segoe UI" pitchFamily="34" charset="0"/>
                <a:ea typeface="Segoe UI" pitchFamily="34" charset="-122"/>
                <a:cs typeface="Segoe UI" pitchFamily="34" charset="-120"/>
              </a:rPr>
              <a:t>"deploy to staging today" — written in session 3, gone by session 16. Nobody had to hunt it down.</a:t>
            </a:r>
            <a:endParaRPr lang="en-US" sz="1200" dirty="0"/>
          </a:p>
        </p:txBody>
      </p:sp>
      <p:sp>
        <p:nvSpPr>
          <p:cNvPr id="34" name="Text 32"/>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25 / 44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You approve your project’s memory: tiers + rollback</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457200" y="1005840"/>
            <a:ext cx="3611880" cy="2286000"/>
          </a:xfrm>
          <a:prstGeom prst="roundRect">
            <a:avLst>
              <a:gd name="adj" fmla="val 4000"/>
            </a:avLst>
          </a:prstGeom>
          <a:solidFill>
            <a:srgbClr val="FFFFFF"/>
          </a:solidFill>
          <a:ln w="12700">
            <a:solidFill>
              <a:srgbClr val="00B894"/>
            </a:solidFill>
            <a:prstDash val="solid"/>
          </a:ln>
        </p:spPr>
      </p:sp>
      <p:sp>
        <p:nvSpPr>
          <p:cNvPr id="6" name="Text 4"/>
          <p:cNvSpPr/>
          <p:nvPr/>
        </p:nvSpPr>
        <p:spPr>
          <a:xfrm>
            <a:off x="594360" y="1115568"/>
            <a:ext cx="3337560" cy="228600"/>
          </a:xfrm>
          <a:prstGeom prst="rect">
            <a:avLst/>
          </a:prstGeom>
          <a:noFill/>
          <a:ln/>
        </p:spPr>
        <p:txBody>
          <a:bodyPr wrap="square" rtlCol="0" anchor="ctr"/>
          <a:lstStyle/>
          <a:p>
            <a:pPr indent="0" marL="0">
              <a:buNone/>
            </a:pPr>
            <a:r>
              <a:rPr lang="en-US" sz="850" b="1" spc="100" kern="0" dirty="0">
                <a:solidFill>
                  <a:srgbClr val="00B894"/>
                </a:solidFill>
                <a:latin typeface="Cascadia Code" pitchFamily="34" charset="0"/>
                <a:ea typeface="Cascadia Code" pitchFamily="34" charset="-122"/>
                <a:cs typeface="Cascadia Code" pitchFamily="34" charset="-120"/>
              </a:rPr>
              <a:t>TIER 1 · AUTO-APPLY</a:t>
            </a:r>
            <a:endParaRPr lang="en-US" sz="850" dirty="0"/>
          </a:p>
        </p:txBody>
      </p:sp>
      <p:sp>
        <p:nvSpPr>
          <p:cNvPr id="7" name="Text 5"/>
          <p:cNvSpPr/>
          <p:nvPr/>
        </p:nvSpPr>
        <p:spPr>
          <a:xfrm>
            <a:off x="594360" y="1371600"/>
            <a:ext cx="33375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Trivial, applied silently</a:t>
            </a:r>
            <a:endParaRPr lang="en-US" sz="1300" dirty="0"/>
          </a:p>
        </p:txBody>
      </p:sp>
      <p:sp>
        <p:nvSpPr>
          <p:cNvPr id="8" name="Text 6"/>
          <p:cNvSpPr/>
          <p:nvPr/>
        </p:nvSpPr>
        <p:spPr>
          <a:xfrm>
            <a:off x="594360" y="1874520"/>
            <a:ext cx="3337560" cy="1280160"/>
          </a:xfrm>
          <a:prstGeom prst="rect">
            <a:avLst/>
          </a:prstGeom>
          <a:noFill/>
          <a:ln/>
        </p:spPr>
        <p:txBody>
          <a:bodyPr wrap="square" rtlCol="0" anchor="ctr"/>
          <a:lstStyle/>
          <a:p>
            <a:pPr indent="0" marL="0">
              <a:buNone/>
            </a:pPr>
            <a:r>
              <a:rPr lang="en-US" sz="1100" dirty="0">
                <a:solidFill>
                  <a:srgbClr val="636E72"/>
                </a:solidFill>
                <a:latin typeface="Segoe UI" pitchFamily="34" charset="0"/>
                <a:ea typeface="Segoe UI" pitchFamily="34" charset="-122"/>
                <a:cs typeface="Segoe UI" pitchFamily="34" charset="-120"/>
              </a:rPr>
              <a:t>KEEP, timestamps, minor edits, new-topic adds at high confidence. Reported in aggregate.</a:t>
            </a:r>
            <a:endParaRPr lang="en-US" sz="1100" dirty="0"/>
          </a:p>
        </p:txBody>
      </p:sp>
      <p:sp>
        <p:nvSpPr>
          <p:cNvPr id="9" name="Shape 7"/>
          <p:cNvSpPr/>
          <p:nvPr/>
        </p:nvSpPr>
        <p:spPr>
          <a:xfrm>
            <a:off x="4206240" y="1005840"/>
            <a:ext cx="3611880" cy="2286000"/>
          </a:xfrm>
          <a:prstGeom prst="roundRect">
            <a:avLst>
              <a:gd name="adj" fmla="val 4000"/>
            </a:avLst>
          </a:prstGeom>
          <a:solidFill>
            <a:srgbClr val="FFFFFF"/>
          </a:solidFill>
          <a:ln w="12700">
            <a:solidFill>
              <a:srgbClr val="C8A951"/>
            </a:solidFill>
            <a:prstDash val="solid"/>
          </a:ln>
        </p:spPr>
      </p:sp>
      <p:sp>
        <p:nvSpPr>
          <p:cNvPr id="10" name="Text 8"/>
          <p:cNvSpPr/>
          <p:nvPr/>
        </p:nvSpPr>
        <p:spPr>
          <a:xfrm>
            <a:off x="4343400" y="1115568"/>
            <a:ext cx="3337560" cy="228600"/>
          </a:xfrm>
          <a:prstGeom prst="rect">
            <a:avLst/>
          </a:prstGeom>
          <a:noFill/>
          <a:ln/>
        </p:spPr>
        <p:txBody>
          <a:bodyPr wrap="square" rtlCol="0" anchor="ctr"/>
          <a:lstStyle/>
          <a:p>
            <a:pPr indent="0" marL="0">
              <a:buNone/>
            </a:pPr>
            <a:r>
              <a:rPr lang="en-US" sz="850" b="1" spc="100" kern="0" dirty="0">
                <a:solidFill>
                  <a:srgbClr val="C8A951"/>
                </a:solidFill>
                <a:latin typeface="Cascadia Code" pitchFamily="34" charset="0"/>
                <a:ea typeface="Cascadia Code" pitchFamily="34" charset="-122"/>
                <a:cs typeface="Cascadia Code" pitchFamily="34" charset="-120"/>
              </a:rPr>
              <a:t>TIER 2 · SHOW DIFF</a:t>
            </a:r>
            <a:endParaRPr lang="en-US" sz="850" dirty="0"/>
          </a:p>
        </p:txBody>
      </p:sp>
      <p:sp>
        <p:nvSpPr>
          <p:cNvPr id="11" name="Text 9"/>
          <p:cNvSpPr/>
          <p:nvPr/>
        </p:nvSpPr>
        <p:spPr>
          <a:xfrm>
            <a:off x="4343400" y="1371600"/>
            <a:ext cx="33375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You see a before/after</a:t>
            </a:r>
            <a:endParaRPr lang="en-US" sz="1300" dirty="0"/>
          </a:p>
        </p:txBody>
      </p:sp>
      <p:sp>
        <p:nvSpPr>
          <p:cNvPr id="12" name="Text 10"/>
          <p:cNvSpPr/>
          <p:nvPr/>
        </p:nvSpPr>
        <p:spPr>
          <a:xfrm>
            <a:off x="4343400" y="1874520"/>
            <a:ext cx="3337560" cy="1280160"/>
          </a:xfrm>
          <a:prstGeom prst="rect">
            <a:avLst/>
          </a:prstGeom>
          <a:noFill/>
          <a:ln/>
        </p:spPr>
        <p:txBody>
          <a:bodyPr wrap="square" rtlCol="0" anchor="ctr"/>
          <a:lstStyle/>
          <a:p>
            <a:pPr indent="0" marL="0">
              <a:buNone/>
            </a:pPr>
            <a:r>
              <a:rPr lang="en-US" sz="1100" dirty="0">
                <a:solidFill>
                  <a:srgbClr val="636E72"/>
                </a:solidFill>
                <a:latin typeface="Segoe UI" pitchFamily="34" charset="0"/>
                <a:ea typeface="Segoe UI" pitchFamily="34" charset="-122"/>
                <a:cs typeface="Segoe UI" pitchFamily="34" charset="-120"/>
              </a:rPr>
              <a:t>Content changes, merges, borderline deletes. Approve / skip / apply-all.</a:t>
            </a:r>
            <a:endParaRPr lang="en-US" sz="1100" dirty="0"/>
          </a:p>
        </p:txBody>
      </p:sp>
      <p:sp>
        <p:nvSpPr>
          <p:cNvPr id="13" name="Shape 11"/>
          <p:cNvSpPr/>
          <p:nvPr/>
        </p:nvSpPr>
        <p:spPr>
          <a:xfrm>
            <a:off x="7955280" y="1005840"/>
            <a:ext cx="3611880" cy="2286000"/>
          </a:xfrm>
          <a:prstGeom prst="roundRect">
            <a:avLst>
              <a:gd name="adj" fmla="val 4000"/>
            </a:avLst>
          </a:prstGeom>
          <a:solidFill>
            <a:srgbClr val="FFFFFF"/>
          </a:solidFill>
          <a:ln w="12700">
            <a:solidFill>
              <a:srgbClr val="E17055"/>
            </a:solidFill>
            <a:prstDash val="solid"/>
          </a:ln>
        </p:spPr>
      </p:sp>
      <p:sp>
        <p:nvSpPr>
          <p:cNvPr id="14" name="Text 12"/>
          <p:cNvSpPr/>
          <p:nvPr/>
        </p:nvSpPr>
        <p:spPr>
          <a:xfrm>
            <a:off x="8092440" y="1115568"/>
            <a:ext cx="3337560" cy="228600"/>
          </a:xfrm>
          <a:prstGeom prst="rect">
            <a:avLst/>
          </a:prstGeom>
          <a:noFill/>
          <a:ln/>
        </p:spPr>
        <p:txBody>
          <a:bodyPr wrap="square" rtlCol="0" anchor="ctr"/>
          <a:lstStyle/>
          <a:p>
            <a:pPr indent="0" marL="0">
              <a:buNone/>
            </a:pPr>
            <a:r>
              <a:rPr lang="en-US" sz="850" b="1" spc="100" kern="0" dirty="0">
                <a:solidFill>
                  <a:srgbClr val="E17055"/>
                </a:solidFill>
                <a:latin typeface="Cascadia Code" pitchFamily="34" charset="0"/>
                <a:ea typeface="Cascadia Code" pitchFamily="34" charset="-122"/>
                <a:cs typeface="Cascadia Code" pitchFamily="34" charset="-120"/>
              </a:rPr>
              <a:t>TIER 3 · ALWAYS HUMAN</a:t>
            </a:r>
            <a:endParaRPr lang="en-US" sz="850" dirty="0"/>
          </a:p>
        </p:txBody>
      </p:sp>
      <p:sp>
        <p:nvSpPr>
          <p:cNvPr id="15" name="Text 13"/>
          <p:cNvSpPr/>
          <p:nvPr/>
        </p:nvSpPr>
        <p:spPr>
          <a:xfrm>
            <a:off x="8092440" y="1371600"/>
            <a:ext cx="33375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Explicit yes / no</a:t>
            </a:r>
            <a:endParaRPr lang="en-US" sz="1300" dirty="0"/>
          </a:p>
        </p:txBody>
      </p:sp>
      <p:sp>
        <p:nvSpPr>
          <p:cNvPr id="16" name="Text 14"/>
          <p:cNvSpPr/>
          <p:nvPr/>
        </p:nvSpPr>
        <p:spPr>
          <a:xfrm>
            <a:off x="8092440" y="1874520"/>
            <a:ext cx="3337560" cy="1280160"/>
          </a:xfrm>
          <a:prstGeom prst="rect">
            <a:avLst/>
          </a:prstGeom>
          <a:noFill/>
          <a:ln/>
        </p:spPr>
        <p:txBody>
          <a:bodyPr wrap="square" rtlCol="0" anchor="ctr"/>
          <a:lstStyle/>
          <a:p>
            <a:pPr indent="0" marL="0">
              <a:buNone/>
            </a:pPr>
            <a:r>
              <a:rPr lang="en-US" sz="1100" dirty="0">
                <a:solidFill>
                  <a:srgbClr val="636E72"/>
                </a:solidFill>
                <a:latin typeface="Segoe UI" pitchFamily="34" charset="0"/>
                <a:ea typeface="Segoe UI" pitchFamily="34" charset="-122"/>
                <a:cs typeface="Segoe UI" pitchFamily="34" charset="-120"/>
              </a:rPr>
              <a:t>PROMOTE or DEMOTE to CLAUDE.md, low-confidence deletes, any conflict. No matter the score.</a:t>
            </a:r>
            <a:endParaRPr lang="en-US" sz="1100" dirty="0"/>
          </a:p>
        </p:txBody>
      </p:sp>
      <p:sp>
        <p:nvSpPr>
          <p:cNvPr id="17" name="Shape 15"/>
          <p:cNvSpPr/>
          <p:nvPr/>
        </p:nvSpPr>
        <p:spPr>
          <a:xfrm>
            <a:off x="457200" y="3566160"/>
            <a:ext cx="11338560" cy="1234440"/>
          </a:xfrm>
          <a:prstGeom prst="roundRect">
            <a:avLst>
              <a:gd name="adj" fmla="val 7407"/>
            </a:avLst>
          </a:prstGeom>
          <a:solidFill>
            <a:srgbClr val="FDFCF5"/>
          </a:solidFill>
          <a:ln w="12700">
            <a:solidFill>
              <a:srgbClr val="C8A951"/>
            </a:solidFill>
            <a:prstDash val="solid"/>
          </a:ln>
        </p:spPr>
      </p:sp>
      <p:sp>
        <p:nvSpPr>
          <p:cNvPr id="18" name="Text 16"/>
          <p:cNvSpPr/>
          <p:nvPr/>
        </p:nvSpPr>
        <p:spPr>
          <a:xfrm>
            <a:off x="685800" y="3703320"/>
            <a:ext cx="10972800" cy="960120"/>
          </a:xfrm>
          <a:prstGeom prst="rect">
            <a:avLst/>
          </a:prstGeom>
          <a:noFill/>
          <a:ln/>
        </p:spPr>
        <p:txBody>
          <a:bodyPr wrap="square" rtlCol="0" anchor="ctr"/>
          <a:lstStyle/>
          <a:p>
            <a:pPr indent="0" marL="0">
              <a:buNone/>
            </a:pPr>
            <a:r>
              <a:rPr lang="en-US" sz="1300" dirty="0">
                <a:solidFill>
                  <a:srgbClr val="1A3A5C"/>
                </a:solidFill>
                <a:latin typeface="Segoe UI" pitchFamily="34" charset="0"/>
                <a:ea typeface="Segoe UI" pitchFamily="34" charset="-122"/>
                <a:cs typeface="Segoe UI" pitchFamily="34" charset="-120"/>
              </a:rPr>
              <a:t>CLAUDE.md is the hard boundary — PROMOTE / DEMOTE always need your eyes. Every run is logged with its reasoning and sources; any run can be rolled back  ↩</a:t>
            </a:r>
            <a:endParaRPr lang="en-US" sz="1300" dirty="0"/>
          </a:p>
        </p:txBody>
      </p:sp>
      <p:sp>
        <p:nvSpPr>
          <p:cNvPr id="19" name="Text 17"/>
          <p:cNvSpPr/>
          <p:nvPr/>
        </p:nvSpPr>
        <p:spPr>
          <a:xfrm>
            <a:off x="457200" y="4983480"/>
            <a:ext cx="11338560" cy="365760"/>
          </a:xfrm>
          <a:prstGeom prst="rect">
            <a:avLst/>
          </a:prstGeom>
          <a:noFill/>
          <a:ln/>
        </p:spPr>
        <p:txBody>
          <a:bodyPr wrap="square" rtlCol="0" anchor="ctr"/>
          <a:lstStyle/>
          <a:p>
            <a:pPr algn="ctr" indent="0" marL="0">
              <a:buNone/>
            </a:pPr>
            <a:r>
              <a:rPr lang="en-US" sz="1200" i="1" dirty="0">
                <a:solidFill>
                  <a:srgbClr val="636E72"/>
                </a:solidFill>
                <a:latin typeface="Segoe UI" pitchFamily="34" charset="0"/>
                <a:ea typeface="Segoe UI" pitchFamily="34" charset="-122"/>
                <a:cs typeface="Segoe UI" pitchFamily="34" charset="-120"/>
              </a:rPr>
              <a:t>It’s your project’s memory. You sign off on what it remembers.</a:t>
            </a:r>
            <a:endParaRPr lang="en-US" sz="1200" dirty="0"/>
          </a:p>
        </p:txBody>
      </p:sp>
      <p:sp>
        <p:nvSpPr>
          <p:cNvPr id="20" name="Text 18"/>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26 / 44</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F35"/>
        </a:solidFill>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indent="0" marL="0">
              <a:buNone/>
            </a:pPr>
            <a:r>
              <a:rPr lang="en-US" sz="12000" b="1" dirty="0">
                <a:solidFill>
                  <a:srgbClr val="1A3A5C"/>
                </a:solidFill>
                <a:latin typeface="Cascadia Code" pitchFamily="34" charset="0"/>
                <a:ea typeface="Cascadia Code" pitchFamily="34" charset="-122"/>
                <a:cs typeface="Cascadia Code" pitchFamily="34" charset="-120"/>
              </a:rPr>
              <a:t>IV</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ACT IV · THE FOURTH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Structured Knowledge of the Codebase</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sp>
      <p:sp>
        <p:nvSpPr>
          <p:cNvPr id="6" name="Text 4"/>
          <p:cNvSpPr/>
          <p:nvPr/>
        </p:nvSpPr>
        <p:spPr>
          <a:xfrm>
            <a:off x="731520" y="2743200"/>
            <a:ext cx="10058400" cy="502920"/>
          </a:xfrm>
          <a:prstGeom prst="rect">
            <a:avLst/>
          </a:prstGeom>
          <a:noFill/>
          <a:ln/>
        </p:spPr>
        <p:txBody>
          <a:bodyPr wrap="square" rtlCol="0" anchor="ctr"/>
          <a:lstStyle/>
          <a:p>
            <a:pPr indent="0" marL="0">
              <a:buNone/>
            </a:pPr>
            <a:r>
              <a:rPr lang="en-US" sz="1500" i="1" dirty="0">
                <a:solidFill>
                  <a:srgbClr val="B7C6D6"/>
                </a:solidFill>
                <a:latin typeface="Segoe UI" pitchFamily="34" charset="0"/>
                <a:ea typeface="Segoe UI" pitchFamily="34" charset="-122"/>
                <a:cs typeface="Segoe UI" pitchFamily="34" charset="-120"/>
              </a:rPr>
              <a:t>"You can’t review a change you can’t place in the whole system."</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algn="r" indent="0" marL="0">
              <a:buNone/>
            </a:pPr>
            <a:r>
              <a:rPr lang="en-US" sz="800" dirty="0">
                <a:solidFill>
                  <a:srgbClr val="3A5A7C"/>
                </a:solidFill>
                <a:latin typeface="Cascadia Code" pitchFamily="34" charset="0"/>
                <a:ea typeface="Cascadia Code" pitchFamily="34" charset="-122"/>
                <a:cs typeface="Cascadia Code" pitchFamily="34" charset="-120"/>
              </a:rPr>
              <a:t>ADRs 0016 · 0017→0038 · 0039 · 0041 · 0042 · 0043 · 0050</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27 / 44</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Two developers, one difference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1005840"/>
            <a:ext cx="5440680" cy="3108960"/>
          </a:xfrm>
          <a:prstGeom prst="roundRect">
            <a:avLst>
              <a:gd name="adj" fmla="val 2941"/>
            </a:avLst>
          </a:prstGeom>
          <a:solidFill>
            <a:srgbClr val="EEFAF6"/>
          </a:solidFill>
          <a:ln w="12700">
            <a:solidFill>
              <a:srgbClr val="00B894"/>
            </a:solidFill>
            <a:prstDash val="solid"/>
          </a:ln>
        </p:spPr>
      </p:sp>
      <p:sp>
        <p:nvSpPr>
          <p:cNvPr id="6" name="Text 4"/>
          <p:cNvSpPr/>
          <p:nvPr/>
        </p:nvSpPr>
        <p:spPr>
          <a:xfrm>
            <a:off x="777240" y="1143000"/>
            <a:ext cx="5029200" cy="274320"/>
          </a:xfrm>
          <a:prstGeom prst="rect">
            <a:avLst/>
          </a:prstGeom>
          <a:noFill/>
          <a:ln/>
        </p:spPr>
        <p:txBody>
          <a:bodyPr wrap="square" rtlCol="0" anchor="ctr"/>
          <a:lstStyle/>
          <a:p>
            <a:pPr indent="0" marL="0">
              <a:buNone/>
            </a:pPr>
            <a:r>
              <a:rPr lang="en-US" sz="1000" b="1" spc="100" kern="0" dirty="0">
                <a:solidFill>
                  <a:srgbClr val="00B894"/>
                </a:solidFill>
                <a:latin typeface="Cascadia Code" pitchFamily="34" charset="0"/>
                <a:ea typeface="Cascadia Code" pitchFamily="34" charset="-122"/>
                <a:cs typeface="Cascadia Code" pitchFamily="34" charset="-120"/>
              </a:rPr>
              <a:t>DEV A</a:t>
            </a:r>
            <a:endParaRPr lang="en-US" sz="1000" dirty="0"/>
          </a:p>
        </p:txBody>
      </p:sp>
      <p:sp>
        <p:nvSpPr>
          <p:cNvPr id="7" name="Text 5"/>
          <p:cNvSpPr/>
          <p:nvPr/>
        </p:nvSpPr>
        <p:spPr>
          <a:xfrm>
            <a:off x="777240" y="1417320"/>
            <a:ext cx="5029200" cy="457200"/>
          </a:xfrm>
          <a:prstGeom prst="rect">
            <a:avLst/>
          </a:prstGeom>
          <a:noFill/>
          <a:ln/>
        </p:spPr>
        <p:txBody>
          <a:bodyPr wrap="square" rtlCol="0" anchor="ctr"/>
          <a:lstStyle/>
          <a:p>
            <a:pPr indent="0" marL="0">
              <a:buNone/>
            </a:pPr>
            <a:r>
              <a:rPr lang="en-US" sz="1700" b="1" dirty="0">
                <a:solidFill>
                  <a:srgbClr val="1A3A5C"/>
                </a:solidFill>
                <a:latin typeface="Segoe UI" pitchFamily="34" charset="0"/>
                <a:ea typeface="Segoe UI" pitchFamily="34" charset="-122"/>
                <a:cs typeface="Segoe UI" pitchFamily="34" charset="-120"/>
              </a:rPr>
              <a:t>Understands the system</a:t>
            </a:r>
            <a:endParaRPr lang="en-US" sz="1700" dirty="0"/>
          </a:p>
        </p:txBody>
      </p:sp>
      <p:sp>
        <p:nvSpPr>
          <p:cNvPr id="8" name="Text 6"/>
          <p:cNvSpPr/>
          <p:nvPr/>
        </p:nvSpPr>
        <p:spPr>
          <a:xfrm>
            <a:off x="822960" y="1965960"/>
            <a:ext cx="4937760" cy="2011680"/>
          </a:xfrm>
          <a:prstGeom prst="rect">
            <a:avLst/>
          </a:prstGeom>
          <a:noFill/>
          <a:ln/>
        </p:spPr>
        <p:txBody>
          <a:bodyPr wrap="square" rtlCol="0" anchor="t"/>
          <a:lstStyle/>
          <a:p>
            <a:pPr>
              <a:spcAft>
                <a:spcPts val="800"/>
              </a:spcAft>
            </a:pPr>
            <a:r>
              <a:rPr lang="en-US" sz="1300" dirty="0">
                <a:solidFill>
                  <a:srgbClr val="2D3436"/>
                </a:solidFill>
                <a:latin typeface="Segoe UI" pitchFamily="34" charset="0"/>
                <a:ea typeface="Segoe UI" pitchFamily="34" charset="-122"/>
                <a:cs typeface="Segoe UI" pitchFamily="34" charset="-120"/>
              </a:rPr>
              <a:t>Same bug — found in 20 minutes</a:t>
            </a:r>
            <a:endParaRPr lang="en-US" sz="1300" dirty="0"/>
          </a:p>
          <a:p>
            <a:pPr>
              <a:spcAft>
                <a:spcPts val="800"/>
              </a:spcAft>
            </a:pPr>
            <a:r>
              <a:rPr lang="en-US" sz="1300" dirty="0">
                <a:solidFill>
                  <a:srgbClr val="2D3436"/>
                </a:solidFill>
                <a:latin typeface="Segoe UI" pitchFamily="34" charset="0"/>
                <a:ea typeface="Segoe UI" pitchFamily="34" charset="-122"/>
                <a:cs typeface="Segoe UI" pitchFamily="34" charset="-120"/>
              </a:rPr>
              <a:t>Clean fix, never comes back</a:t>
            </a:r>
            <a:endParaRPr lang="en-US" sz="1300" dirty="0"/>
          </a:p>
          <a:p>
            <a:pPr>
              <a:spcAft>
                <a:spcPts val="800"/>
              </a:spcAft>
            </a:pPr>
            <a:r>
              <a:rPr lang="en-US" sz="1300" dirty="0">
                <a:solidFill>
                  <a:srgbClr val="2D3436"/>
                </a:solidFill>
                <a:latin typeface="Segoe UI" pitchFamily="34" charset="0"/>
                <a:ea typeface="Segoe UI" pitchFamily="34" charset="-122"/>
                <a:cs typeface="Segoe UI" pitchFamily="34" charset="-120"/>
              </a:rPr>
              <a:t>Carries a model of how it all fits</a:t>
            </a:r>
            <a:endParaRPr lang="en-US" sz="1300" dirty="0"/>
          </a:p>
        </p:txBody>
      </p:sp>
      <p:sp>
        <p:nvSpPr>
          <p:cNvPr id="9" name="Shape 7"/>
          <p:cNvSpPr/>
          <p:nvPr/>
        </p:nvSpPr>
        <p:spPr>
          <a:xfrm>
            <a:off x="6172200" y="1005840"/>
            <a:ext cx="5440680" cy="3108960"/>
          </a:xfrm>
          <a:prstGeom prst="roundRect">
            <a:avLst>
              <a:gd name="adj" fmla="val 2941"/>
            </a:avLst>
          </a:prstGeom>
          <a:solidFill>
            <a:srgbClr val="FFF0ED"/>
          </a:solidFill>
          <a:ln w="12700">
            <a:solidFill>
              <a:srgbClr val="E17055"/>
            </a:solidFill>
            <a:prstDash val="solid"/>
          </a:ln>
        </p:spPr>
      </p:sp>
      <p:sp>
        <p:nvSpPr>
          <p:cNvPr id="10" name="Text 8"/>
          <p:cNvSpPr/>
          <p:nvPr/>
        </p:nvSpPr>
        <p:spPr>
          <a:xfrm>
            <a:off x="6400800" y="1143000"/>
            <a:ext cx="5029200" cy="274320"/>
          </a:xfrm>
          <a:prstGeom prst="rect">
            <a:avLst/>
          </a:prstGeom>
          <a:noFill/>
          <a:ln/>
        </p:spPr>
        <p:txBody>
          <a:bodyPr wrap="square" rtlCol="0" anchor="ctr"/>
          <a:lstStyle/>
          <a:p>
            <a:pPr indent="0" marL="0">
              <a:buNone/>
            </a:pPr>
            <a:r>
              <a:rPr lang="en-US" sz="1000" b="1" spc="100" kern="0" dirty="0">
                <a:solidFill>
                  <a:srgbClr val="E17055"/>
                </a:solidFill>
                <a:latin typeface="Cascadia Code" pitchFamily="34" charset="0"/>
                <a:ea typeface="Cascadia Code" pitchFamily="34" charset="-122"/>
                <a:cs typeface="Cascadia Code" pitchFamily="34" charset="-120"/>
              </a:rPr>
              <a:t>DEV B</a:t>
            </a:r>
            <a:endParaRPr lang="en-US" sz="1000" dirty="0"/>
          </a:p>
        </p:txBody>
      </p:sp>
      <p:sp>
        <p:nvSpPr>
          <p:cNvPr id="11" name="Text 9"/>
          <p:cNvSpPr/>
          <p:nvPr/>
        </p:nvSpPr>
        <p:spPr>
          <a:xfrm>
            <a:off x="6400800" y="1417320"/>
            <a:ext cx="5029200" cy="457200"/>
          </a:xfrm>
          <a:prstGeom prst="rect">
            <a:avLst/>
          </a:prstGeom>
          <a:noFill/>
          <a:ln/>
        </p:spPr>
        <p:txBody>
          <a:bodyPr wrap="square" rtlCol="0" anchor="ctr"/>
          <a:lstStyle/>
          <a:p>
            <a:pPr indent="0" marL="0">
              <a:buNone/>
            </a:pPr>
            <a:r>
              <a:rPr lang="en-US" sz="1700" b="1" dirty="0">
                <a:solidFill>
                  <a:srgbClr val="1A3A5C"/>
                </a:solidFill>
                <a:latin typeface="Segoe UI" pitchFamily="34" charset="0"/>
                <a:ea typeface="Segoe UI" pitchFamily="34" charset="-122"/>
                <a:cs typeface="Segoe UI" pitchFamily="34" charset="-120"/>
              </a:rPr>
              <a:t>Reading cold, file by file</a:t>
            </a:r>
            <a:endParaRPr lang="en-US" sz="1700" dirty="0"/>
          </a:p>
        </p:txBody>
      </p:sp>
      <p:sp>
        <p:nvSpPr>
          <p:cNvPr id="12" name="Text 10"/>
          <p:cNvSpPr/>
          <p:nvPr/>
        </p:nvSpPr>
        <p:spPr>
          <a:xfrm>
            <a:off x="6446520" y="1965960"/>
            <a:ext cx="4937760" cy="2011680"/>
          </a:xfrm>
          <a:prstGeom prst="rect">
            <a:avLst/>
          </a:prstGeom>
          <a:noFill/>
          <a:ln/>
        </p:spPr>
        <p:txBody>
          <a:bodyPr wrap="square" rtlCol="0" anchor="t"/>
          <a:lstStyle/>
          <a:p>
            <a:pPr>
              <a:spcAft>
                <a:spcPts val="800"/>
              </a:spcAft>
            </a:pPr>
            <a:r>
              <a:rPr lang="en-US" sz="1300" dirty="0">
                <a:solidFill>
                  <a:srgbClr val="2D3436"/>
                </a:solidFill>
                <a:latin typeface="Segoe UI" pitchFamily="34" charset="0"/>
                <a:ea typeface="Segoe UI" pitchFamily="34" charset="-122"/>
                <a:cs typeface="Segoe UI" pitchFamily="34" charset="-120"/>
              </a:rPr>
              <a:t>Same bug — two days</a:t>
            </a:r>
            <a:endParaRPr lang="en-US" sz="1300" dirty="0"/>
          </a:p>
          <a:p>
            <a:pPr>
              <a:spcAft>
                <a:spcPts val="800"/>
              </a:spcAft>
            </a:pPr>
            <a:r>
              <a:rPr lang="en-US" sz="1300" dirty="0">
                <a:solidFill>
                  <a:srgbClr val="2D3436"/>
                </a:solidFill>
                <a:latin typeface="Segoe UI" pitchFamily="34" charset="0"/>
                <a:ea typeface="Segoe UI" pitchFamily="34" charset="-122"/>
                <a:cs typeface="Segoe UI" pitchFamily="34" charset="-120"/>
              </a:rPr>
              <a:t>Patches the symptom, breaks something else</a:t>
            </a:r>
            <a:endParaRPr lang="en-US" sz="1300" dirty="0"/>
          </a:p>
          <a:p>
            <a:pPr>
              <a:spcAft>
                <a:spcPts val="800"/>
              </a:spcAft>
            </a:pPr>
            <a:r>
              <a:rPr lang="en-US" sz="1300" dirty="0">
                <a:solidFill>
                  <a:srgbClr val="2D3436"/>
                </a:solidFill>
                <a:latin typeface="Segoe UI" pitchFamily="34" charset="0"/>
                <a:ea typeface="Segoe UI" pitchFamily="34" charset="-122"/>
                <a:cs typeface="Segoe UI" pitchFamily="34" charset="-120"/>
              </a:rPr>
              <a:t>Hoping to find the thread</a:t>
            </a:r>
            <a:endParaRPr lang="en-US" sz="1300" dirty="0"/>
          </a:p>
        </p:txBody>
      </p:sp>
      <p:sp>
        <p:nvSpPr>
          <p:cNvPr id="13" name="Shape 11"/>
          <p:cNvSpPr/>
          <p:nvPr/>
        </p:nvSpPr>
        <p:spPr>
          <a:xfrm>
            <a:off x="548640" y="4343400"/>
            <a:ext cx="11064240" cy="1280160"/>
          </a:xfrm>
          <a:prstGeom prst="roundRect">
            <a:avLst>
              <a:gd name="adj" fmla="val 7143"/>
            </a:avLst>
          </a:prstGeom>
          <a:solidFill>
            <a:srgbClr val="0D1F35"/>
          </a:solidFill>
          <a:ln w="12700">
            <a:solidFill>
              <a:srgbClr val="2C5F8A"/>
            </a:solidFill>
            <a:prstDash val="solid"/>
          </a:ln>
        </p:spPr>
      </p:sp>
      <p:sp>
        <p:nvSpPr>
          <p:cNvPr id="14" name="Text 12"/>
          <p:cNvSpPr/>
          <p:nvPr/>
        </p:nvSpPr>
        <p:spPr>
          <a:xfrm>
            <a:off x="777240" y="4434840"/>
            <a:ext cx="10607040" cy="1097280"/>
          </a:xfrm>
          <a:prstGeom prst="rect">
            <a:avLst/>
          </a:prstGeom>
          <a:noFill/>
          <a:ln/>
        </p:spPr>
        <p:txBody>
          <a:bodyPr wrap="square" rtlCol="0" anchor="ctr"/>
          <a:lstStyle/>
          <a:p>
            <a:pPr indent="0" marL="0">
              <a:buNone/>
            </a:pPr>
            <a:r>
              <a:rPr lang="en-US" sz="1500" b="1" dirty="0">
                <a:solidFill>
                  <a:srgbClr val="EEF4FB"/>
                </a:solidFill>
                <a:latin typeface="Segoe UI" pitchFamily="34" charset="0"/>
                <a:ea typeface="Segoe UI" pitchFamily="34" charset="-122"/>
                <a:cs typeface="Segoe UI" pitchFamily="34" charset="-120"/>
              </a:rPr>
              <a:t>The differentiator was never talent. It was understanding.</a:t>
            </a:r>
            <a:endParaRPr lang="en-US" sz="1500" dirty="0"/>
          </a:p>
          <a:p>
            <a:pPr indent="0" marL="0">
              <a:buNone/>
            </a:pPr>
            <a:r>
              <a:rPr lang="en-US" sz="1500" b="1" dirty="0">
                <a:solidFill>
                  <a:srgbClr val="EEF4FB"/>
                </a:solidFill>
                <a:latin typeface="Segoe UI" pitchFamily="34" charset="0"/>
                <a:ea typeface="Segoe UI" pitchFamily="34" charset="-122"/>
                <a:cs typeface="Segoe UI" pitchFamily="34" charset="-120"/>
              </a:rPr>
              <a:t>Your AI — and any reviewer without the map — is Dev B, until you give it one.</a:t>
            </a:r>
            <a:endParaRPr lang="en-US" sz="1500" dirty="0"/>
          </a:p>
        </p:txBody>
      </p:sp>
      <p:sp>
        <p:nvSpPr>
          <p:cNvPr id="15" name="Text 13"/>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28 / 44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…and the AI reads cold, every single time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457200" y="868680"/>
            <a:ext cx="11247120" cy="685800"/>
          </a:xfrm>
          <a:prstGeom prst="rect">
            <a:avLst/>
          </a:prstGeom>
          <a:noFill/>
          <a:ln/>
        </p:spPr>
        <p:txBody>
          <a:bodyPr wrap="square" rtlCol="0" anchor="ctr"/>
          <a:lstStyle/>
          <a:p>
            <a:pPr indent="0" marL="0">
              <a:buNone/>
            </a:pPr>
            <a:r>
              <a:rPr lang="en-US" sz="1300" dirty="0">
                <a:solidFill>
                  <a:srgbClr val="636E72"/>
                </a:solidFill>
                <a:latin typeface="Segoe UI" pitchFamily="34" charset="0"/>
                <a:ea typeface="Segoe UI" pitchFamily="34" charset="-122"/>
                <a:cs typeface="Segoe UI" pitchFamily="34" charset="-120"/>
              </a:rPr>
              <a:t>A token analysis three months in proved it: the AI treated every run as a cold start — code review re-scanning 50 files when 48 hadn’t changed in a week. Reading cold, file by file, exactly like Dev B.</a:t>
            </a:r>
            <a:endParaRPr lang="en-US" sz="1300" dirty="0"/>
          </a:p>
        </p:txBody>
      </p:sp>
      <p:sp>
        <p:nvSpPr>
          <p:cNvPr id="6" name="Text 4"/>
          <p:cNvSpPr/>
          <p:nvPr/>
        </p:nvSpPr>
        <p:spPr>
          <a:xfrm>
            <a:off x="457200" y="1691640"/>
            <a:ext cx="5394960" cy="228600"/>
          </a:xfrm>
          <a:prstGeom prst="rect">
            <a:avLst/>
          </a:prstGeom>
          <a:noFill/>
          <a:ln/>
        </p:spPr>
        <p:txBody>
          <a:bodyPr wrap="square" rtlCol="0" anchor="ctr"/>
          <a:lstStyle/>
          <a:p>
            <a:pPr algn="ctr" indent="0" marL="0">
              <a:buNone/>
            </a:pPr>
            <a:r>
              <a:rPr lang="en-US" sz="800" b="1" spc="100" kern="0" dirty="0">
                <a:solidFill>
                  <a:srgbClr val="E17055"/>
                </a:solidFill>
                <a:latin typeface="Cascadia Code" pitchFamily="34" charset="0"/>
                <a:ea typeface="Cascadia Code" pitchFamily="34" charset="-122"/>
                <a:cs typeface="Cascadia Code" pitchFamily="34" charset="-120"/>
              </a:rPr>
              <a:t>BEFORE — COLD START EVERY RUN</a:t>
            </a:r>
            <a:endParaRPr lang="en-US" sz="800" dirty="0"/>
          </a:p>
        </p:txBody>
      </p:sp>
      <p:sp>
        <p:nvSpPr>
          <p:cNvPr id="7" name="Shape 5"/>
          <p:cNvSpPr/>
          <p:nvPr/>
        </p:nvSpPr>
        <p:spPr>
          <a:xfrm>
            <a:off x="548640" y="1965960"/>
            <a:ext cx="777240" cy="2743200"/>
          </a:xfrm>
          <a:prstGeom prst="rect">
            <a:avLst/>
          </a:prstGeom>
          <a:solidFill>
            <a:srgbClr val="E84C1E">
              <a:alpha val="80000"/>
            </a:srgbClr>
          </a:solidFill>
          <a:ln w="12700">
            <a:solidFill>
              <a:srgbClr val="E84C1E"/>
            </a:solidFill>
            <a:prstDash val="solid"/>
          </a:ln>
        </p:spPr>
      </p:sp>
      <p:sp>
        <p:nvSpPr>
          <p:cNvPr id="8" name="Text 6"/>
          <p:cNvSpPr/>
          <p:nvPr/>
        </p:nvSpPr>
        <p:spPr>
          <a:xfrm>
            <a:off x="548640" y="2926080"/>
            <a:ext cx="777240" cy="274320"/>
          </a:xfrm>
          <a:prstGeom prst="rect">
            <a:avLst/>
          </a:prstGeom>
          <a:noFill/>
          <a:ln/>
        </p:spPr>
        <p:txBody>
          <a:bodyPr wrap="square" rtlCol="0" anchor="ctr"/>
          <a:lstStyle/>
          <a:p>
            <a:pPr algn="ctr" indent="0" marL="0">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9" name="Text 7"/>
          <p:cNvSpPr/>
          <p:nvPr/>
        </p:nvSpPr>
        <p:spPr>
          <a:xfrm>
            <a:off x="54864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Mon</a:t>
            </a:r>
            <a:endParaRPr lang="en-US" sz="800" dirty="0"/>
          </a:p>
        </p:txBody>
      </p:sp>
      <p:sp>
        <p:nvSpPr>
          <p:cNvPr id="10" name="Shape 8"/>
          <p:cNvSpPr/>
          <p:nvPr/>
        </p:nvSpPr>
        <p:spPr>
          <a:xfrm>
            <a:off x="1508760" y="1965960"/>
            <a:ext cx="777240" cy="2743200"/>
          </a:xfrm>
          <a:prstGeom prst="rect">
            <a:avLst/>
          </a:prstGeom>
          <a:solidFill>
            <a:srgbClr val="E84C1E">
              <a:alpha val="80000"/>
            </a:srgbClr>
          </a:solidFill>
          <a:ln w="12700">
            <a:solidFill>
              <a:srgbClr val="E84C1E"/>
            </a:solidFill>
            <a:prstDash val="solid"/>
          </a:ln>
        </p:spPr>
      </p:sp>
      <p:sp>
        <p:nvSpPr>
          <p:cNvPr id="11" name="Text 9"/>
          <p:cNvSpPr/>
          <p:nvPr/>
        </p:nvSpPr>
        <p:spPr>
          <a:xfrm>
            <a:off x="1508760" y="2926080"/>
            <a:ext cx="777240" cy="274320"/>
          </a:xfrm>
          <a:prstGeom prst="rect">
            <a:avLst/>
          </a:prstGeom>
          <a:noFill/>
          <a:ln/>
        </p:spPr>
        <p:txBody>
          <a:bodyPr wrap="square" rtlCol="0" anchor="ctr"/>
          <a:lstStyle/>
          <a:p>
            <a:pPr algn="ctr" indent="0" marL="0">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12" name="Text 10"/>
          <p:cNvSpPr/>
          <p:nvPr/>
        </p:nvSpPr>
        <p:spPr>
          <a:xfrm>
            <a:off x="150876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Tue</a:t>
            </a:r>
            <a:endParaRPr lang="en-US" sz="800" dirty="0"/>
          </a:p>
        </p:txBody>
      </p:sp>
      <p:sp>
        <p:nvSpPr>
          <p:cNvPr id="13" name="Shape 11"/>
          <p:cNvSpPr/>
          <p:nvPr/>
        </p:nvSpPr>
        <p:spPr>
          <a:xfrm>
            <a:off x="2468880" y="1965960"/>
            <a:ext cx="777240" cy="2743200"/>
          </a:xfrm>
          <a:prstGeom prst="rect">
            <a:avLst/>
          </a:prstGeom>
          <a:solidFill>
            <a:srgbClr val="E84C1E">
              <a:alpha val="80000"/>
            </a:srgbClr>
          </a:solidFill>
          <a:ln w="12700">
            <a:solidFill>
              <a:srgbClr val="E84C1E"/>
            </a:solidFill>
            <a:prstDash val="solid"/>
          </a:ln>
        </p:spPr>
      </p:sp>
      <p:sp>
        <p:nvSpPr>
          <p:cNvPr id="14" name="Text 12"/>
          <p:cNvSpPr/>
          <p:nvPr/>
        </p:nvSpPr>
        <p:spPr>
          <a:xfrm>
            <a:off x="2468880" y="2926080"/>
            <a:ext cx="777240" cy="274320"/>
          </a:xfrm>
          <a:prstGeom prst="rect">
            <a:avLst/>
          </a:prstGeom>
          <a:noFill/>
          <a:ln/>
        </p:spPr>
        <p:txBody>
          <a:bodyPr wrap="square" rtlCol="0" anchor="ctr"/>
          <a:lstStyle/>
          <a:p>
            <a:pPr algn="ctr" indent="0" marL="0">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15" name="Text 13"/>
          <p:cNvSpPr/>
          <p:nvPr/>
        </p:nvSpPr>
        <p:spPr>
          <a:xfrm>
            <a:off x="246888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Wed</a:t>
            </a:r>
            <a:endParaRPr lang="en-US" sz="800" dirty="0"/>
          </a:p>
        </p:txBody>
      </p:sp>
      <p:sp>
        <p:nvSpPr>
          <p:cNvPr id="16" name="Shape 14"/>
          <p:cNvSpPr/>
          <p:nvPr/>
        </p:nvSpPr>
        <p:spPr>
          <a:xfrm>
            <a:off x="3429000" y="1965960"/>
            <a:ext cx="777240" cy="2743200"/>
          </a:xfrm>
          <a:prstGeom prst="rect">
            <a:avLst/>
          </a:prstGeom>
          <a:solidFill>
            <a:srgbClr val="E84C1E">
              <a:alpha val="80000"/>
            </a:srgbClr>
          </a:solidFill>
          <a:ln w="12700">
            <a:solidFill>
              <a:srgbClr val="E84C1E"/>
            </a:solidFill>
            <a:prstDash val="solid"/>
          </a:ln>
        </p:spPr>
      </p:sp>
      <p:sp>
        <p:nvSpPr>
          <p:cNvPr id="17" name="Text 15"/>
          <p:cNvSpPr/>
          <p:nvPr/>
        </p:nvSpPr>
        <p:spPr>
          <a:xfrm>
            <a:off x="3429000" y="2926080"/>
            <a:ext cx="777240" cy="274320"/>
          </a:xfrm>
          <a:prstGeom prst="rect">
            <a:avLst/>
          </a:prstGeom>
          <a:noFill/>
          <a:ln/>
        </p:spPr>
        <p:txBody>
          <a:bodyPr wrap="square" rtlCol="0" anchor="ctr"/>
          <a:lstStyle/>
          <a:p>
            <a:pPr algn="ctr" indent="0" marL="0">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18" name="Text 16"/>
          <p:cNvSpPr/>
          <p:nvPr/>
        </p:nvSpPr>
        <p:spPr>
          <a:xfrm>
            <a:off x="342900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Thu</a:t>
            </a:r>
            <a:endParaRPr lang="en-US" sz="800" dirty="0"/>
          </a:p>
        </p:txBody>
      </p:sp>
      <p:sp>
        <p:nvSpPr>
          <p:cNvPr id="19" name="Shape 17"/>
          <p:cNvSpPr/>
          <p:nvPr/>
        </p:nvSpPr>
        <p:spPr>
          <a:xfrm>
            <a:off x="4389120" y="1965960"/>
            <a:ext cx="777240" cy="2743200"/>
          </a:xfrm>
          <a:prstGeom prst="rect">
            <a:avLst/>
          </a:prstGeom>
          <a:solidFill>
            <a:srgbClr val="E84C1E">
              <a:alpha val="80000"/>
            </a:srgbClr>
          </a:solidFill>
          <a:ln w="12700">
            <a:solidFill>
              <a:srgbClr val="E84C1E"/>
            </a:solidFill>
            <a:prstDash val="solid"/>
          </a:ln>
        </p:spPr>
      </p:sp>
      <p:sp>
        <p:nvSpPr>
          <p:cNvPr id="20" name="Text 18"/>
          <p:cNvSpPr/>
          <p:nvPr/>
        </p:nvSpPr>
        <p:spPr>
          <a:xfrm>
            <a:off x="4389120" y="2926080"/>
            <a:ext cx="777240" cy="274320"/>
          </a:xfrm>
          <a:prstGeom prst="rect">
            <a:avLst/>
          </a:prstGeom>
          <a:noFill/>
          <a:ln/>
        </p:spPr>
        <p:txBody>
          <a:bodyPr wrap="square" rtlCol="0" anchor="ctr"/>
          <a:lstStyle/>
          <a:p>
            <a:pPr algn="ctr" indent="0" marL="0">
              <a:buNone/>
            </a:pPr>
            <a:r>
              <a:rPr lang="en-US" sz="750" dirty="0">
                <a:solidFill>
                  <a:srgbClr val="FFFFFF"/>
                </a:solidFill>
                <a:latin typeface="Cascadia Code" pitchFamily="34" charset="0"/>
                <a:ea typeface="Cascadia Code" pitchFamily="34" charset="-122"/>
                <a:cs typeface="Cascadia Code" pitchFamily="34" charset="-120"/>
              </a:rPr>
              <a:t>50 files</a:t>
            </a:r>
            <a:endParaRPr lang="en-US" sz="750" dirty="0"/>
          </a:p>
        </p:txBody>
      </p:sp>
      <p:sp>
        <p:nvSpPr>
          <p:cNvPr id="21" name="Text 19"/>
          <p:cNvSpPr/>
          <p:nvPr/>
        </p:nvSpPr>
        <p:spPr>
          <a:xfrm>
            <a:off x="438912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Fri</a:t>
            </a:r>
            <a:endParaRPr lang="en-US" sz="800" dirty="0"/>
          </a:p>
        </p:txBody>
      </p:sp>
      <p:sp>
        <p:nvSpPr>
          <p:cNvPr id="22" name="Shape 20"/>
          <p:cNvSpPr/>
          <p:nvPr/>
        </p:nvSpPr>
        <p:spPr>
          <a:xfrm>
            <a:off x="5486400" y="1645920"/>
            <a:ext cx="0" cy="3474720"/>
          </a:xfrm>
          <a:prstGeom prst="line">
            <a:avLst/>
          </a:prstGeom>
          <a:noFill/>
          <a:ln w="12700">
            <a:solidFill>
              <a:srgbClr val="DDDDDD"/>
            </a:solidFill>
            <a:prstDash val="dash"/>
          </a:ln>
        </p:spPr>
      </p:sp>
      <p:sp>
        <p:nvSpPr>
          <p:cNvPr id="23" name="Text 21"/>
          <p:cNvSpPr/>
          <p:nvPr/>
        </p:nvSpPr>
        <p:spPr>
          <a:xfrm>
            <a:off x="5669280" y="1691640"/>
            <a:ext cx="5760720" cy="228600"/>
          </a:xfrm>
          <a:prstGeom prst="rect">
            <a:avLst/>
          </a:prstGeom>
          <a:noFill/>
          <a:ln/>
        </p:spPr>
        <p:txBody>
          <a:bodyPr wrap="square" rtlCol="0" anchor="ctr"/>
          <a:lstStyle/>
          <a:p>
            <a:pPr algn="ctr" indent="0" marL="0">
              <a:buNone/>
            </a:pPr>
            <a:r>
              <a:rPr lang="en-US" sz="800" b="1" spc="100" kern="0" dirty="0">
                <a:solidFill>
                  <a:srgbClr val="00B894"/>
                </a:solidFill>
                <a:latin typeface="Cascadia Code" pitchFamily="34" charset="0"/>
                <a:ea typeface="Cascadia Code" pitchFamily="34" charset="-122"/>
                <a:cs typeface="Cascadia Code" pitchFamily="34" charset="-120"/>
              </a:rPr>
              <a:t>AFTER — INCREMENTAL DIFF ONLY</a:t>
            </a:r>
            <a:endParaRPr lang="en-US" sz="800" dirty="0"/>
          </a:p>
        </p:txBody>
      </p:sp>
      <p:sp>
        <p:nvSpPr>
          <p:cNvPr id="24" name="Shape 22"/>
          <p:cNvSpPr/>
          <p:nvPr/>
        </p:nvSpPr>
        <p:spPr>
          <a:xfrm>
            <a:off x="5760720" y="1965960"/>
            <a:ext cx="777240" cy="2743200"/>
          </a:xfrm>
          <a:prstGeom prst="rect">
            <a:avLst/>
          </a:prstGeom>
          <a:solidFill>
            <a:srgbClr val="10B981">
              <a:alpha val="85000"/>
            </a:srgbClr>
          </a:solidFill>
          <a:ln w="12700">
            <a:solidFill>
              <a:srgbClr val="10B981"/>
            </a:solidFill>
            <a:prstDash val="solid"/>
          </a:ln>
        </p:spPr>
      </p:sp>
      <p:sp>
        <p:nvSpPr>
          <p:cNvPr id="25" name="Text 23"/>
          <p:cNvSpPr/>
          <p:nvPr/>
        </p:nvSpPr>
        <p:spPr>
          <a:xfrm>
            <a:off x="5760720" y="2743200"/>
            <a:ext cx="777240" cy="548640"/>
          </a:xfrm>
          <a:prstGeom prst="rect">
            <a:avLst/>
          </a:prstGeom>
          <a:noFill/>
          <a:ln/>
        </p:spPr>
        <p:txBody>
          <a:bodyPr wrap="square" rtlCol="0" anchor="ctr"/>
          <a:lstStyle/>
          <a:p>
            <a:pPr algn="ctr" indent="0" marL="0">
              <a:buNone/>
            </a:pPr>
            <a:r>
              <a:rPr lang="en-US" sz="700" dirty="0">
                <a:solidFill>
                  <a:srgbClr val="FFFFFF"/>
                </a:solidFill>
                <a:latin typeface="Cascadia Code" pitchFamily="34" charset="0"/>
                <a:ea typeface="Cascadia Code" pitchFamily="34" charset="-122"/>
                <a:cs typeface="Cascadia Code" pitchFamily="34" charset="-120"/>
              </a:rPr>
              <a:t>50 files</a:t>
            </a:r>
            <a:endParaRPr lang="en-US" sz="700" dirty="0"/>
          </a:p>
          <a:p>
            <a:pPr algn="ctr" indent="0" marL="0">
              <a:buNone/>
            </a:pPr>
            <a:r>
              <a:rPr lang="en-US" sz="700" dirty="0">
                <a:solidFill>
                  <a:srgbClr val="FFFFFF"/>
                </a:solidFill>
                <a:latin typeface="Cascadia Code" pitchFamily="34" charset="0"/>
                <a:ea typeface="Cascadia Code" pitchFamily="34" charset="-122"/>
                <a:cs typeface="Cascadia Code" pitchFamily="34" charset="-120"/>
              </a:rPr>
              <a:t>baseline</a:t>
            </a:r>
            <a:endParaRPr lang="en-US" sz="700" dirty="0"/>
          </a:p>
        </p:txBody>
      </p:sp>
      <p:sp>
        <p:nvSpPr>
          <p:cNvPr id="26" name="Text 24"/>
          <p:cNvSpPr/>
          <p:nvPr/>
        </p:nvSpPr>
        <p:spPr>
          <a:xfrm>
            <a:off x="576072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Mon</a:t>
            </a:r>
            <a:endParaRPr lang="en-US" sz="800" dirty="0"/>
          </a:p>
        </p:txBody>
      </p:sp>
      <p:sp>
        <p:nvSpPr>
          <p:cNvPr id="27" name="Shape 25"/>
          <p:cNvSpPr/>
          <p:nvPr/>
        </p:nvSpPr>
        <p:spPr>
          <a:xfrm>
            <a:off x="6720840" y="4251960"/>
            <a:ext cx="777240" cy="457200"/>
          </a:xfrm>
          <a:prstGeom prst="rect">
            <a:avLst/>
          </a:prstGeom>
          <a:solidFill>
            <a:srgbClr val="10B981">
              <a:alpha val="70000"/>
            </a:srgbClr>
          </a:solidFill>
          <a:ln w="12700">
            <a:solidFill>
              <a:srgbClr val="10B981"/>
            </a:solidFill>
            <a:prstDash val="solid"/>
          </a:ln>
        </p:spPr>
      </p:sp>
      <p:sp>
        <p:nvSpPr>
          <p:cNvPr id="28" name="Text 26"/>
          <p:cNvSpPr/>
          <p:nvPr/>
        </p:nvSpPr>
        <p:spPr>
          <a:xfrm>
            <a:off x="6720840" y="4050792"/>
            <a:ext cx="777240" cy="201168"/>
          </a:xfrm>
          <a:prstGeom prst="rect">
            <a:avLst/>
          </a:prstGeom>
          <a:noFill/>
          <a:ln/>
        </p:spPr>
        <p:txBody>
          <a:bodyPr wrap="square" rtlCol="0" anchor="ctr"/>
          <a:lstStyle/>
          <a:p>
            <a:pPr algn="ctr" indent="0" marL="0">
              <a:buNone/>
            </a:pPr>
            <a:r>
              <a:rPr lang="en-US" sz="700" dirty="0">
                <a:solidFill>
                  <a:srgbClr val="636E72"/>
                </a:solidFill>
                <a:latin typeface="Cascadia Code" pitchFamily="34" charset="0"/>
                <a:ea typeface="Cascadia Code" pitchFamily="34" charset="-122"/>
                <a:cs typeface="Cascadia Code" pitchFamily="34" charset="-120"/>
              </a:rPr>
              <a:t>2 files</a:t>
            </a:r>
            <a:endParaRPr lang="en-US" sz="700" dirty="0"/>
          </a:p>
        </p:txBody>
      </p:sp>
      <p:sp>
        <p:nvSpPr>
          <p:cNvPr id="29" name="Text 27"/>
          <p:cNvSpPr/>
          <p:nvPr/>
        </p:nvSpPr>
        <p:spPr>
          <a:xfrm>
            <a:off x="672084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Tue</a:t>
            </a:r>
            <a:endParaRPr lang="en-US" sz="800" dirty="0"/>
          </a:p>
        </p:txBody>
      </p:sp>
      <p:sp>
        <p:nvSpPr>
          <p:cNvPr id="30" name="Shape 28"/>
          <p:cNvSpPr/>
          <p:nvPr/>
        </p:nvSpPr>
        <p:spPr>
          <a:xfrm>
            <a:off x="7680960" y="4069080"/>
            <a:ext cx="777240" cy="640080"/>
          </a:xfrm>
          <a:prstGeom prst="rect">
            <a:avLst/>
          </a:prstGeom>
          <a:solidFill>
            <a:srgbClr val="10B981">
              <a:alpha val="70000"/>
            </a:srgbClr>
          </a:solidFill>
          <a:ln w="12700">
            <a:solidFill>
              <a:srgbClr val="10B981"/>
            </a:solidFill>
            <a:prstDash val="solid"/>
          </a:ln>
        </p:spPr>
      </p:sp>
      <p:sp>
        <p:nvSpPr>
          <p:cNvPr id="31" name="Text 29"/>
          <p:cNvSpPr/>
          <p:nvPr/>
        </p:nvSpPr>
        <p:spPr>
          <a:xfrm>
            <a:off x="7680960" y="3867912"/>
            <a:ext cx="777240" cy="201168"/>
          </a:xfrm>
          <a:prstGeom prst="rect">
            <a:avLst/>
          </a:prstGeom>
          <a:noFill/>
          <a:ln/>
        </p:spPr>
        <p:txBody>
          <a:bodyPr wrap="square" rtlCol="0" anchor="ctr"/>
          <a:lstStyle/>
          <a:p>
            <a:pPr algn="ctr" indent="0" marL="0">
              <a:buNone/>
            </a:pPr>
            <a:r>
              <a:rPr lang="en-US" sz="700" dirty="0">
                <a:solidFill>
                  <a:srgbClr val="636E72"/>
                </a:solidFill>
                <a:latin typeface="Cascadia Code" pitchFamily="34" charset="0"/>
                <a:ea typeface="Cascadia Code" pitchFamily="34" charset="-122"/>
                <a:cs typeface="Cascadia Code" pitchFamily="34" charset="-120"/>
              </a:rPr>
              <a:t>3 files</a:t>
            </a:r>
            <a:endParaRPr lang="en-US" sz="700" dirty="0"/>
          </a:p>
        </p:txBody>
      </p:sp>
      <p:sp>
        <p:nvSpPr>
          <p:cNvPr id="32" name="Text 30"/>
          <p:cNvSpPr/>
          <p:nvPr/>
        </p:nvSpPr>
        <p:spPr>
          <a:xfrm>
            <a:off x="768096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Wed</a:t>
            </a:r>
            <a:endParaRPr lang="en-US" sz="800" dirty="0"/>
          </a:p>
        </p:txBody>
      </p:sp>
      <p:sp>
        <p:nvSpPr>
          <p:cNvPr id="33" name="Shape 31"/>
          <p:cNvSpPr/>
          <p:nvPr/>
        </p:nvSpPr>
        <p:spPr>
          <a:xfrm>
            <a:off x="8641080" y="4389120"/>
            <a:ext cx="777240" cy="320040"/>
          </a:xfrm>
          <a:prstGeom prst="rect">
            <a:avLst/>
          </a:prstGeom>
          <a:solidFill>
            <a:srgbClr val="10B981">
              <a:alpha val="70000"/>
            </a:srgbClr>
          </a:solidFill>
          <a:ln w="12700">
            <a:solidFill>
              <a:srgbClr val="10B981"/>
            </a:solidFill>
            <a:prstDash val="solid"/>
          </a:ln>
        </p:spPr>
      </p:sp>
      <p:sp>
        <p:nvSpPr>
          <p:cNvPr id="34" name="Text 32"/>
          <p:cNvSpPr/>
          <p:nvPr/>
        </p:nvSpPr>
        <p:spPr>
          <a:xfrm>
            <a:off x="8641080" y="4187952"/>
            <a:ext cx="777240" cy="201168"/>
          </a:xfrm>
          <a:prstGeom prst="rect">
            <a:avLst/>
          </a:prstGeom>
          <a:noFill/>
          <a:ln/>
        </p:spPr>
        <p:txBody>
          <a:bodyPr wrap="square" rtlCol="0" anchor="ctr"/>
          <a:lstStyle/>
          <a:p>
            <a:pPr algn="ctr" indent="0" marL="0">
              <a:buNone/>
            </a:pPr>
            <a:r>
              <a:rPr lang="en-US" sz="700" dirty="0">
                <a:solidFill>
                  <a:srgbClr val="636E72"/>
                </a:solidFill>
                <a:latin typeface="Cascadia Code" pitchFamily="34" charset="0"/>
                <a:ea typeface="Cascadia Code" pitchFamily="34" charset="-122"/>
                <a:cs typeface="Cascadia Code" pitchFamily="34" charset="-120"/>
              </a:rPr>
              <a:t>1 file</a:t>
            </a:r>
            <a:endParaRPr lang="en-US" sz="700" dirty="0"/>
          </a:p>
        </p:txBody>
      </p:sp>
      <p:sp>
        <p:nvSpPr>
          <p:cNvPr id="35" name="Text 33"/>
          <p:cNvSpPr/>
          <p:nvPr/>
        </p:nvSpPr>
        <p:spPr>
          <a:xfrm>
            <a:off x="864108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Thu</a:t>
            </a:r>
            <a:endParaRPr lang="en-US" sz="800" dirty="0"/>
          </a:p>
        </p:txBody>
      </p:sp>
      <p:sp>
        <p:nvSpPr>
          <p:cNvPr id="36" name="Shape 34"/>
          <p:cNvSpPr/>
          <p:nvPr/>
        </p:nvSpPr>
        <p:spPr>
          <a:xfrm>
            <a:off x="9601200" y="4206240"/>
            <a:ext cx="777240" cy="502920"/>
          </a:xfrm>
          <a:prstGeom prst="rect">
            <a:avLst/>
          </a:prstGeom>
          <a:solidFill>
            <a:srgbClr val="10B981">
              <a:alpha val="70000"/>
            </a:srgbClr>
          </a:solidFill>
          <a:ln w="12700">
            <a:solidFill>
              <a:srgbClr val="10B981"/>
            </a:solidFill>
            <a:prstDash val="solid"/>
          </a:ln>
        </p:spPr>
      </p:sp>
      <p:sp>
        <p:nvSpPr>
          <p:cNvPr id="37" name="Text 35"/>
          <p:cNvSpPr/>
          <p:nvPr/>
        </p:nvSpPr>
        <p:spPr>
          <a:xfrm>
            <a:off x="9601200" y="4005072"/>
            <a:ext cx="777240" cy="201168"/>
          </a:xfrm>
          <a:prstGeom prst="rect">
            <a:avLst/>
          </a:prstGeom>
          <a:noFill/>
          <a:ln/>
        </p:spPr>
        <p:txBody>
          <a:bodyPr wrap="square" rtlCol="0" anchor="ctr"/>
          <a:lstStyle/>
          <a:p>
            <a:pPr algn="ctr" indent="0" marL="0">
              <a:buNone/>
            </a:pPr>
            <a:r>
              <a:rPr lang="en-US" sz="700" dirty="0">
                <a:solidFill>
                  <a:srgbClr val="636E72"/>
                </a:solidFill>
                <a:latin typeface="Cascadia Code" pitchFamily="34" charset="0"/>
                <a:ea typeface="Cascadia Code" pitchFamily="34" charset="-122"/>
                <a:cs typeface="Cascadia Code" pitchFamily="34" charset="-120"/>
              </a:rPr>
              <a:t>2 files</a:t>
            </a:r>
            <a:endParaRPr lang="en-US" sz="700" dirty="0"/>
          </a:p>
        </p:txBody>
      </p:sp>
      <p:sp>
        <p:nvSpPr>
          <p:cNvPr id="38" name="Text 36"/>
          <p:cNvSpPr/>
          <p:nvPr/>
        </p:nvSpPr>
        <p:spPr>
          <a:xfrm>
            <a:off x="9601200" y="4754880"/>
            <a:ext cx="777240" cy="228600"/>
          </a:xfrm>
          <a:prstGeom prst="rect">
            <a:avLst/>
          </a:prstGeom>
          <a:noFill/>
          <a:ln/>
        </p:spPr>
        <p:txBody>
          <a:bodyPr wrap="square" rtlCol="0" anchor="ctr"/>
          <a:lstStyle/>
          <a:p>
            <a:pPr algn="ctr" indent="0" marL="0">
              <a:buNone/>
            </a:pPr>
            <a:r>
              <a:rPr lang="en-US" sz="800" dirty="0">
                <a:solidFill>
                  <a:srgbClr val="636E72"/>
                </a:solidFill>
                <a:latin typeface="Cascadia Code" pitchFamily="34" charset="0"/>
                <a:ea typeface="Cascadia Code" pitchFamily="34" charset="-122"/>
                <a:cs typeface="Cascadia Code" pitchFamily="34" charset="-120"/>
              </a:rPr>
              <a:t>Fri</a:t>
            </a:r>
            <a:endParaRPr lang="en-US" sz="800" dirty="0"/>
          </a:p>
        </p:txBody>
      </p:sp>
      <p:sp>
        <p:nvSpPr>
          <p:cNvPr id="39" name="Shape 37"/>
          <p:cNvSpPr/>
          <p:nvPr/>
        </p:nvSpPr>
        <p:spPr>
          <a:xfrm>
            <a:off x="6720840" y="1965960"/>
            <a:ext cx="4206240" cy="1463040"/>
          </a:xfrm>
          <a:prstGeom prst="roundRect">
            <a:avLst>
              <a:gd name="adj" fmla="val 6250"/>
            </a:avLst>
          </a:prstGeom>
          <a:solidFill>
            <a:srgbClr val="EDFAF5"/>
          </a:solidFill>
          <a:ln w="12700">
            <a:solidFill>
              <a:srgbClr val="10B981"/>
            </a:solidFill>
            <a:prstDash val="solid"/>
          </a:ln>
        </p:spPr>
      </p:sp>
      <p:sp>
        <p:nvSpPr>
          <p:cNvPr id="40" name="Text 38"/>
          <p:cNvSpPr/>
          <p:nvPr/>
        </p:nvSpPr>
        <p:spPr>
          <a:xfrm>
            <a:off x="6720840" y="2103120"/>
            <a:ext cx="4206240" cy="822960"/>
          </a:xfrm>
          <a:prstGeom prst="rect">
            <a:avLst/>
          </a:prstGeom>
          <a:noFill/>
          <a:ln/>
        </p:spPr>
        <p:txBody>
          <a:bodyPr wrap="square" rtlCol="0" anchor="ctr"/>
          <a:lstStyle/>
          <a:p>
            <a:pPr algn="ctr" indent="0" marL="0">
              <a:buNone/>
            </a:pPr>
            <a:r>
              <a:rPr lang="en-US" sz="3600" b="1" dirty="0">
                <a:solidFill>
                  <a:srgbClr val="00B894"/>
                </a:solidFill>
                <a:latin typeface="Georgia" pitchFamily="34" charset="0"/>
                <a:ea typeface="Georgia" pitchFamily="34" charset="-122"/>
                <a:cs typeface="Georgia" pitchFamily="34" charset="-120"/>
              </a:rPr>
              <a:t>80–95%</a:t>
            </a:r>
            <a:endParaRPr lang="en-US" sz="3600" dirty="0"/>
          </a:p>
        </p:txBody>
      </p:sp>
      <p:sp>
        <p:nvSpPr>
          <p:cNvPr id="41" name="Text 39"/>
          <p:cNvSpPr/>
          <p:nvPr/>
        </p:nvSpPr>
        <p:spPr>
          <a:xfrm>
            <a:off x="6720840" y="2880360"/>
            <a:ext cx="4206240" cy="32004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token savings after first run</a:t>
            </a:r>
            <a:endParaRPr lang="en-US" sz="900" dirty="0"/>
          </a:p>
        </p:txBody>
      </p:sp>
      <p:sp>
        <p:nvSpPr>
          <p:cNvPr id="42" name="Text 40"/>
          <p:cNvSpPr/>
          <p:nvPr/>
        </p:nvSpPr>
        <p:spPr>
          <a:xfrm>
            <a:off x="457200" y="5212080"/>
            <a:ext cx="11247120" cy="365760"/>
          </a:xfrm>
          <a:prstGeom prst="rect">
            <a:avLst/>
          </a:prstGeom>
          <a:noFill/>
          <a:ln/>
        </p:spPr>
        <p:txBody>
          <a:bodyPr wrap="square" rtlCol="0" anchor="ctr"/>
          <a:lstStyle/>
          <a:p>
            <a:pPr algn="ctr" indent="0" marL="0">
              <a:buNone/>
            </a:pPr>
            <a:r>
              <a:rPr lang="en-US" sz="1200" i="1" dirty="0">
                <a:solidFill>
                  <a:srgbClr val="636E72"/>
                </a:solidFill>
                <a:latin typeface="Segoe UI" pitchFamily="34" charset="0"/>
                <a:ea typeface="Segoe UI" pitchFamily="34" charset="-122"/>
                <a:cs typeface="Segoe UI" pitchFamily="34" charset="-120"/>
              </a:rPr>
              <a:t>This is Dev B’s morning — every morning. Re-reading raw text is not understanding.</a:t>
            </a:r>
            <a:endParaRPr lang="en-US" sz="1200" dirty="0"/>
          </a:p>
        </p:txBody>
      </p:sp>
      <p:sp>
        <p:nvSpPr>
          <p:cNvPr id="43" name="Text 41"/>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29 / 44</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Build the map once — for the machine to traverse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457200" y="868680"/>
            <a:ext cx="11247120" cy="548640"/>
          </a:xfrm>
          <a:prstGeom prst="rect">
            <a:avLst/>
          </a:prstGeom>
          <a:noFill/>
          <a:ln/>
        </p:spPr>
        <p:txBody>
          <a:bodyPr wrap="square" rtlCol="0" anchor="ctr"/>
          <a:lstStyle/>
          <a:p>
            <a:pPr indent="0" marL="0">
              <a:buNone/>
            </a:pPr>
            <a:r>
              <a:rPr lang="en-US" sz="1300" dirty="0">
                <a:solidFill>
                  <a:srgbClr val="636E72"/>
                </a:solidFill>
                <a:latin typeface="Segoe UI" pitchFamily="34" charset="0"/>
                <a:ea typeface="Segoe UI" pitchFamily="34" charset="-122"/>
                <a:cs typeface="Segoe UI" pitchFamily="34" charset="-120"/>
              </a:rPr>
              <a:t>The knowledge graph is the single place the AI orients from: a machine-readable structure it traverses and searches in milliseconds. The old per-feature domain-map was retired into it (ADR 0038).</a:t>
            </a:r>
            <a:endParaRPr lang="en-US" sz="1300" dirty="0"/>
          </a:p>
        </p:txBody>
      </p:sp>
      <p:sp>
        <p:nvSpPr>
          <p:cNvPr id="6" name="Shape 4"/>
          <p:cNvSpPr/>
          <p:nvPr/>
        </p:nvSpPr>
        <p:spPr>
          <a:xfrm>
            <a:off x="457200" y="1554480"/>
            <a:ext cx="7589520" cy="3383280"/>
          </a:xfrm>
          <a:prstGeom prst="roundRect">
            <a:avLst>
              <a:gd name="adj" fmla="val 2162"/>
            </a:avLst>
          </a:prstGeom>
          <a:solidFill>
            <a:srgbClr val="0D1F35"/>
          </a:solidFill>
          <a:ln w="12700">
            <a:solidFill>
              <a:srgbClr val="2C5F8A"/>
            </a:solidFill>
            <a:prstDash val="solid"/>
          </a:ln>
        </p:spPr>
      </p:sp>
      <p:sp>
        <p:nvSpPr>
          <p:cNvPr id="7" name="Text 5"/>
          <p:cNvSpPr/>
          <p:nvPr/>
        </p:nvSpPr>
        <p:spPr>
          <a:xfrm>
            <a:off x="640080" y="1691640"/>
            <a:ext cx="7315200" cy="3108960"/>
          </a:xfrm>
          <a:prstGeom prst="rect">
            <a:avLst/>
          </a:prstGeom>
          <a:noFill/>
          <a:ln/>
        </p:spPr>
        <p:txBody>
          <a:bodyPr wrap="square" rtlCol="0" anchor="t"/>
          <a:lstStyle/>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.claude/graph/</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graph.json      structure of record: typed nodes +</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edges (confidence), fingerprints. committed.</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graph-index.md  always-loaded map — 1 row/module.</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paths: always   ( &lt; 350 tokens )</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orders.md   ┐   per-module detail (200–400 tokens):</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payments.md ┤   purpose, key files, deps, fingerprint;</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auth.md     ┘   auto-loads via  paths: src/&lt;Module&gt;/**</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.stale          refresh flag — cleared by /graph-sync</a:t>
            </a:r>
            <a:endParaRPr lang="en-US" sz="950" dirty="0"/>
          </a:p>
          <a:p>
            <a:pPr indent="0" marL="0">
              <a:lnSpc>
                <a:spcPct val="105000"/>
              </a:lnSpc>
              <a:buNone/>
            </a:pPr>
            <a:r>
              <a:rPr lang="en-US" sz="950" dirty="0">
                <a:solidFill>
                  <a:srgbClr val="CDD9E6"/>
                </a:solidFill>
                <a:latin typeface="Cascadia Code" pitchFamily="34" charset="0"/>
                <a:ea typeface="Cascadia Code" pitchFamily="34" charset="-122"/>
                <a:cs typeface="Cascadia Code" pitchFamily="34" charset="-120"/>
              </a:rPr>
              <a:t>└─ graph.html      offline map from /graph-viz (gitignored)</a:t>
            </a:r>
            <a:endParaRPr lang="en-US" sz="950" dirty="0"/>
          </a:p>
        </p:txBody>
      </p:sp>
      <p:sp>
        <p:nvSpPr>
          <p:cNvPr id="8" name="Shape 6"/>
          <p:cNvSpPr/>
          <p:nvPr/>
        </p:nvSpPr>
        <p:spPr>
          <a:xfrm>
            <a:off x="8229600" y="1554480"/>
            <a:ext cx="3474720" cy="3383280"/>
          </a:xfrm>
          <a:prstGeom prst="roundRect">
            <a:avLst>
              <a:gd name="adj" fmla="val 2162"/>
            </a:avLst>
          </a:prstGeom>
          <a:solidFill>
            <a:srgbClr val="FFFFFF"/>
          </a:solidFill>
          <a:ln w="12700">
            <a:solidFill>
              <a:srgbClr val="DFE6E9"/>
            </a:solidFill>
            <a:prstDash val="solid"/>
          </a:ln>
        </p:spPr>
      </p:sp>
      <p:sp>
        <p:nvSpPr>
          <p:cNvPr id="9" name="Text 7"/>
          <p:cNvSpPr/>
          <p:nvPr/>
        </p:nvSpPr>
        <p:spPr>
          <a:xfrm>
            <a:off x="8412480" y="1691640"/>
            <a:ext cx="3108960" cy="274320"/>
          </a:xfrm>
          <a:prstGeom prst="rect">
            <a:avLst/>
          </a:prstGeom>
          <a:noFill/>
          <a:ln/>
        </p:spPr>
        <p:txBody>
          <a:bodyPr wrap="square" rtlCol="0" anchor="ctr"/>
          <a:lstStyle/>
          <a:p>
            <a:pPr indent="0" marL="0">
              <a:buNone/>
            </a:pPr>
            <a:r>
              <a:rPr lang="en-US" sz="850" b="1" spc="100" kern="0" dirty="0">
                <a:solidFill>
                  <a:srgbClr val="C8A951"/>
                </a:solidFill>
                <a:latin typeface="Cascadia Code" pitchFamily="34" charset="0"/>
                <a:ea typeface="Cascadia Code" pitchFamily="34" charset="-122"/>
                <a:cs typeface="Cascadia Code" pitchFamily="34" charset="-120"/>
              </a:rPr>
              <a:t>EDGE CONFIDENCE</a:t>
            </a:r>
            <a:endParaRPr lang="en-US" sz="850" dirty="0"/>
          </a:p>
        </p:txBody>
      </p:sp>
      <p:sp>
        <p:nvSpPr>
          <p:cNvPr id="10" name="Shape 8"/>
          <p:cNvSpPr/>
          <p:nvPr/>
        </p:nvSpPr>
        <p:spPr>
          <a:xfrm>
            <a:off x="8458200" y="2148840"/>
            <a:ext cx="201168" cy="201168"/>
          </a:xfrm>
          <a:prstGeom prst="ellipse">
            <a:avLst/>
          </a:prstGeom>
          <a:solidFill>
            <a:srgbClr val="00B894"/>
          </a:solidFill>
          <a:ln w="12700">
            <a:solidFill>
              <a:srgbClr val="00B894"/>
            </a:solidFill>
            <a:prstDash val="solid"/>
          </a:ln>
        </p:spPr>
      </p:sp>
      <p:sp>
        <p:nvSpPr>
          <p:cNvPr id="11" name="Text 9"/>
          <p:cNvSpPr/>
          <p:nvPr/>
        </p:nvSpPr>
        <p:spPr>
          <a:xfrm>
            <a:off x="8778240" y="2103120"/>
            <a:ext cx="2743200" cy="274320"/>
          </a:xfrm>
          <a:prstGeom prst="rect">
            <a:avLst/>
          </a:prstGeom>
          <a:noFill/>
          <a:ln/>
        </p:spPr>
        <p:txBody>
          <a:bodyPr wrap="square" rtlCol="0" anchor="ctr"/>
          <a:lstStyle/>
          <a:p>
            <a:pPr indent="0" marL="0">
              <a:buNone/>
            </a:pPr>
            <a:r>
              <a:rPr lang="en-US" sz="1000" b="1" dirty="0">
                <a:solidFill>
                  <a:srgbClr val="1A3A5C"/>
                </a:solidFill>
                <a:latin typeface="Cascadia Code" pitchFamily="34" charset="0"/>
                <a:ea typeface="Cascadia Code" pitchFamily="34" charset="-122"/>
                <a:cs typeface="Cascadia Code" pitchFamily="34" charset="-120"/>
              </a:rPr>
              <a:t>EXTRACTED</a:t>
            </a:r>
            <a:endParaRPr lang="en-US" sz="1000" dirty="0"/>
          </a:p>
        </p:txBody>
      </p:sp>
      <p:sp>
        <p:nvSpPr>
          <p:cNvPr id="12" name="Text 10"/>
          <p:cNvSpPr/>
          <p:nvPr/>
        </p:nvSpPr>
        <p:spPr>
          <a:xfrm>
            <a:off x="8778240" y="2359152"/>
            <a:ext cx="2743200" cy="22860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mechanically known</a:t>
            </a:r>
            <a:endParaRPr lang="en-US" sz="1000" dirty="0"/>
          </a:p>
        </p:txBody>
      </p:sp>
      <p:sp>
        <p:nvSpPr>
          <p:cNvPr id="13" name="Shape 11"/>
          <p:cNvSpPr/>
          <p:nvPr/>
        </p:nvSpPr>
        <p:spPr>
          <a:xfrm>
            <a:off x="8458200" y="2788920"/>
            <a:ext cx="201168" cy="201168"/>
          </a:xfrm>
          <a:prstGeom prst="ellipse">
            <a:avLst/>
          </a:prstGeom>
          <a:solidFill>
            <a:srgbClr val="C8A951"/>
          </a:solidFill>
          <a:ln w="12700">
            <a:solidFill>
              <a:srgbClr val="C8A951"/>
            </a:solidFill>
            <a:prstDash val="solid"/>
          </a:ln>
        </p:spPr>
      </p:sp>
      <p:sp>
        <p:nvSpPr>
          <p:cNvPr id="14" name="Text 12"/>
          <p:cNvSpPr/>
          <p:nvPr/>
        </p:nvSpPr>
        <p:spPr>
          <a:xfrm>
            <a:off x="8778240" y="2743200"/>
            <a:ext cx="2743200" cy="274320"/>
          </a:xfrm>
          <a:prstGeom prst="rect">
            <a:avLst/>
          </a:prstGeom>
          <a:noFill/>
          <a:ln/>
        </p:spPr>
        <p:txBody>
          <a:bodyPr wrap="square" rtlCol="0" anchor="ctr"/>
          <a:lstStyle/>
          <a:p>
            <a:pPr indent="0" marL="0">
              <a:buNone/>
            </a:pPr>
            <a:r>
              <a:rPr lang="en-US" sz="1000" b="1" dirty="0">
                <a:solidFill>
                  <a:srgbClr val="1A3A5C"/>
                </a:solidFill>
                <a:latin typeface="Cascadia Code" pitchFamily="34" charset="0"/>
                <a:ea typeface="Cascadia Code" pitchFamily="34" charset="-122"/>
                <a:cs typeface="Cascadia Code" pitchFamily="34" charset="-120"/>
              </a:rPr>
              <a:t>INFERRED</a:t>
            </a:r>
            <a:endParaRPr lang="en-US" sz="1000" dirty="0"/>
          </a:p>
        </p:txBody>
      </p:sp>
      <p:sp>
        <p:nvSpPr>
          <p:cNvPr id="15" name="Text 13"/>
          <p:cNvSpPr/>
          <p:nvPr/>
        </p:nvSpPr>
        <p:spPr>
          <a:xfrm>
            <a:off x="8778240" y="2999232"/>
            <a:ext cx="2743200" cy="22860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model judgment</a:t>
            </a:r>
            <a:endParaRPr lang="en-US" sz="1000" dirty="0"/>
          </a:p>
        </p:txBody>
      </p:sp>
      <p:sp>
        <p:nvSpPr>
          <p:cNvPr id="16" name="Shape 14"/>
          <p:cNvSpPr/>
          <p:nvPr/>
        </p:nvSpPr>
        <p:spPr>
          <a:xfrm>
            <a:off x="8458200" y="3429000"/>
            <a:ext cx="201168" cy="201168"/>
          </a:xfrm>
          <a:prstGeom prst="ellipse">
            <a:avLst/>
          </a:prstGeom>
          <a:solidFill>
            <a:srgbClr val="E17055"/>
          </a:solidFill>
          <a:ln w="12700">
            <a:solidFill>
              <a:srgbClr val="E17055"/>
            </a:solidFill>
            <a:prstDash val="solid"/>
          </a:ln>
        </p:spPr>
      </p:sp>
      <p:sp>
        <p:nvSpPr>
          <p:cNvPr id="17" name="Text 15"/>
          <p:cNvSpPr/>
          <p:nvPr/>
        </p:nvSpPr>
        <p:spPr>
          <a:xfrm>
            <a:off x="8778240" y="3383280"/>
            <a:ext cx="2743200" cy="274320"/>
          </a:xfrm>
          <a:prstGeom prst="rect">
            <a:avLst/>
          </a:prstGeom>
          <a:noFill/>
          <a:ln/>
        </p:spPr>
        <p:txBody>
          <a:bodyPr wrap="square" rtlCol="0" anchor="ctr"/>
          <a:lstStyle/>
          <a:p>
            <a:pPr indent="0" marL="0">
              <a:buNone/>
            </a:pPr>
            <a:r>
              <a:rPr lang="en-US" sz="1000" b="1" dirty="0">
                <a:solidFill>
                  <a:srgbClr val="1A3A5C"/>
                </a:solidFill>
                <a:latin typeface="Cascadia Code" pitchFamily="34" charset="0"/>
                <a:ea typeface="Cascadia Code" pitchFamily="34" charset="-122"/>
                <a:cs typeface="Cascadia Code" pitchFamily="34" charset="-120"/>
              </a:rPr>
              <a:t>AMBIGUOUS</a:t>
            </a:r>
            <a:endParaRPr lang="en-US" sz="1000" dirty="0"/>
          </a:p>
        </p:txBody>
      </p:sp>
      <p:sp>
        <p:nvSpPr>
          <p:cNvPr id="18" name="Text 16"/>
          <p:cNvSpPr/>
          <p:nvPr/>
        </p:nvSpPr>
        <p:spPr>
          <a:xfrm>
            <a:off x="8778240" y="3639312"/>
            <a:ext cx="2743200" cy="22860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needs a human</a:t>
            </a:r>
            <a:endParaRPr lang="en-US" sz="1000" dirty="0"/>
          </a:p>
        </p:txBody>
      </p:sp>
      <p:sp>
        <p:nvSpPr>
          <p:cNvPr id="19" name="Text 17"/>
          <p:cNvSpPr/>
          <p:nvPr/>
        </p:nvSpPr>
        <p:spPr>
          <a:xfrm>
            <a:off x="8412480" y="4114800"/>
            <a:ext cx="3200400" cy="731520"/>
          </a:xfrm>
          <a:prstGeom prst="rect">
            <a:avLst/>
          </a:prstGeom>
          <a:noFill/>
          <a:ln/>
        </p:spPr>
        <p:txBody>
          <a:bodyPr wrap="square"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/graph-viz renders it as an offline map — hubs ringed gold, stale nodes red.</a:t>
            </a:r>
            <a:endParaRPr lang="en-US" sz="1000" dirty="0"/>
          </a:p>
        </p:txBody>
      </p:sp>
      <p:sp>
        <p:nvSpPr>
          <p:cNvPr id="20" name="Text 18"/>
          <p:cNvSpPr/>
          <p:nvPr/>
        </p:nvSpPr>
        <p:spPr>
          <a:xfrm>
            <a:off x="457200" y="5074920"/>
            <a:ext cx="11247120" cy="365760"/>
          </a:xfrm>
          <a:prstGeom prst="rect">
            <a:avLst/>
          </a:prstGeom>
          <a:noFill/>
          <a:ln/>
        </p:spPr>
        <p:txBody>
          <a:bodyPr wrap="square" rtlCol="0" anchor="ctr"/>
          <a:lstStyle/>
          <a:p>
            <a:pPr algn="ctr" indent="0" marL="0">
              <a:buNone/>
            </a:pPr>
            <a:r>
              <a:rPr lang="en-US" sz="1200" i="1" dirty="0">
                <a:solidFill>
                  <a:srgbClr val="636E72"/>
                </a:solidFill>
                <a:latin typeface="Segoe UI" pitchFamily="34" charset="0"/>
                <a:ea typeface="Segoe UI" pitchFamily="34" charset="-122"/>
                <a:cs typeface="Segoe UI" pitchFamily="34" charset="-120"/>
              </a:rPr>
              <a:t>Committed &amp; PR-reviewed — shared across the team, reviewed like source.</a:t>
            </a:r>
            <a:endParaRPr lang="en-US" sz="1200" dirty="0"/>
          </a:p>
        </p:txBody>
      </p:sp>
      <p:sp>
        <p:nvSpPr>
          <p:cNvPr id="21" name="Text 19"/>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30 / 44</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What a parser can know, a parser should know</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DETERMINISTIC EDGES  ·  ADR 0041</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"The part of the map a machine can know for certain — which file imports which — is computed by a parser, not guessed by a model. Same code in, same graph out."</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extract-edges.js resolves imports / usings / requires — offline, zero API cost. Supports JS/TS · Python · C# · Java. Model judgment reserved for genuinely ambiguous edges.</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0041</a:t>
            </a:r>
            <a:endParaRPr lang="en-US" sz="800" dirty="0"/>
          </a:p>
        </p:txBody>
      </p:sp>
      <p:sp>
        <p:nvSpPr>
          <p:cNvPr id="11" name="Shape 9"/>
          <p:cNvSpPr/>
          <p:nvPr/>
        </p:nvSpPr>
        <p:spPr>
          <a:xfrm>
            <a:off x="365760" y="2971800"/>
            <a:ext cx="5486400" cy="2834640"/>
          </a:xfrm>
          <a:prstGeom prst="roundRect">
            <a:avLst>
              <a:gd name="adj" fmla="val 3226"/>
            </a:avLst>
          </a:prstGeom>
          <a:solidFill>
            <a:srgbClr val="FFF0ED"/>
          </a:solidFill>
          <a:ln w="12700">
            <a:solidFill>
              <a:srgbClr val="F3B4A8"/>
            </a:solidFill>
            <a:prstDash val="solid"/>
          </a:ln>
        </p:spPr>
      </p:sp>
      <p:sp>
        <p:nvSpPr>
          <p:cNvPr id="12" name="Text 10"/>
          <p:cNvSpPr/>
          <p:nvPr/>
        </p:nvSpPr>
        <p:spPr>
          <a:xfrm>
            <a:off x="548640" y="3063240"/>
            <a:ext cx="5120640" cy="228600"/>
          </a:xfrm>
          <a:prstGeom prst="rect">
            <a:avLst/>
          </a:prstGeom>
          <a:noFill/>
          <a:ln/>
        </p:spPr>
        <p:txBody>
          <a:bodyPr wrap="square" rtlCol="0" anchor="ctr"/>
          <a:lstStyle/>
          <a:p>
            <a:pPr indent="0" marL="0">
              <a:buNone/>
            </a:pPr>
            <a:r>
              <a:rPr lang="en-US" sz="900" b="1" spc="200" kern="0" dirty="0">
                <a:solidFill>
                  <a:srgbClr val="E17055"/>
                </a:solidFill>
                <a:latin typeface="Segoe UI" pitchFamily="34" charset="0"/>
                <a:ea typeface="Segoe UI" pitchFamily="34" charset="-122"/>
                <a:cs typeface="Segoe UI" pitchFamily="34" charset="-120"/>
              </a:rPr>
              <a:t>BEFORE</a:t>
            </a:r>
            <a:endParaRPr lang="en-US" sz="900" dirty="0"/>
          </a:p>
        </p:txBody>
      </p:sp>
      <p:sp>
        <p:nvSpPr>
          <p:cNvPr id="13" name="Text 11"/>
          <p:cNvSpPr/>
          <p:nvPr/>
        </p:nvSpPr>
        <p:spPr>
          <a:xfrm>
            <a:off x="548640" y="3319272"/>
            <a:ext cx="5120640" cy="2377440"/>
          </a:xfrm>
          <a:prstGeom prst="rect">
            <a:avLst/>
          </a:prstGeom>
          <a:noFill/>
          <a:ln/>
        </p:spPr>
        <p:txBody>
          <a:bodyPr wrap="square" rtlCol="0" anchor="t"/>
          <a:lstStyle/>
          <a:p>
            <a:pPr>
              <a:spcAft>
                <a:spcPts val="700"/>
              </a:spcAft>
            </a:pPr>
            <a:r>
              <a:rPr lang="en-US" sz="1300" dirty="0">
                <a:solidFill>
                  <a:srgbClr val="2D3436"/>
                </a:solidFill>
                <a:latin typeface="Segoe UI" pitchFamily="34" charset="0"/>
                <a:ea typeface="Segoe UI" pitchFamily="34" charset="-122"/>
                <a:cs typeface="Segoe UI" pitchFamily="34" charset="-120"/>
              </a:rPr>
              <a:t>Non-deterministic — same file, different edges across runs</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Token-expensive — a model call per module</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Approximate — may miss transitive or multi-file imports</a:t>
            </a:r>
            <a:endParaRPr lang="en-US" sz="1300" dirty="0"/>
          </a:p>
        </p:txBody>
      </p:sp>
      <p:sp>
        <p:nvSpPr>
          <p:cNvPr id="14" name="Shape 12"/>
          <p:cNvSpPr/>
          <p:nvPr/>
        </p:nvSpPr>
        <p:spPr>
          <a:xfrm>
            <a:off x="6126480" y="2971800"/>
            <a:ext cx="5486400" cy="2834640"/>
          </a:xfrm>
          <a:prstGeom prst="roundRect">
            <a:avLst>
              <a:gd name="adj" fmla="val 3226"/>
            </a:avLst>
          </a:prstGeom>
          <a:solidFill>
            <a:srgbClr val="EEFAF6"/>
          </a:solidFill>
          <a:ln w="12700">
            <a:solidFill>
              <a:srgbClr val="A8E4D1"/>
            </a:solidFill>
            <a:prstDash val="solid"/>
          </a:ln>
        </p:spPr>
      </p:sp>
      <p:sp>
        <p:nvSpPr>
          <p:cNvPr id="15" name="Text 13"/>
          <p:cNvSpPr/>
          <p:nvPr/>
        </p:nvSpPr>
        <p:spPr>
          <a:xfrm>
            <a:off x="6309360" y="3063240"/>
            <a:ext cx="5120640" cy="228600"/>
          </a:xfrm>
          <a:prstGeom prst="rect">
            <a:avLst/>
          </a:prstGeom>
          <a:noFill/>
          <a:ln/>
        </p:spPr>
        <p:txBody>
          <a:bodyPr wrap="square" rtlCol="0" anchor="ctr"/>
          <a:lstStyle/>
          <a:p>
            <a:pPr indent="0" marL="0">
              <a:buNone/>
            </a:pPr>
            <a:r>
              <a:rPr lang="en-US" sz="900" b="1" spc="200" kern="0" dirty="0">
                <a:solidFill>
                  <a:srgbClr val="00B894"/>
                </a:solidFill>
                <a:latin typeface="Segoe UI" pitchFamily="34" charset="0"/>
                <a:ea typeface="Segoe UI" pitchFamily="34" charset="-122"/>
                <a:cs typeface="Segoe UI" pitchFamily="34" charset="-120"/>
              </a:rPr>
              <a:t>AFTER</a:t>
            </a:r>
            <a:endParaRPr lang="en-US" sz="900" dirty="0"/>
          </a:p>
        </p:txBody>
      </p:sp>
      <p:sp>
        <p:nvSpPr>
          <p:cNvPr id="16" name="Text 14"/>
          <p:cNvSpPr/>
          <p:nvPr/>
        </p:nvSpPr>
        <p:spPr>
          <a:xfrm>
            <a:off x="6309360" y="3319272"/>
            <a:ext cx="5120640" cy="2377440"/>
          </a:xfrm>
          <a:prstGeom prst="rect">
            <a:avLst/>
          </a:prstGeom>
          <a:noFill/>
          <a:ln/>
        </p:spPr>
        <p:txBody>
          <a:bodyPr wrap="square" rtlCol="0" anchor="t"/>
          <a:lstStyle/>
          <a:p>
            <a:pPr>
              <a:spcAft>
                <a:spcPts val="700"/>
              </a:spcAft>
            </a:pPr>
            <a:r>
              <a:rPr lang="en-US" sz="1300" dirty="0">
                <a:solidFill>
                  <a:srgbClr val="2D3436"/>
                </a:solidFill>
                <a:latin typeface="Segoe UI" pitchFamily="34" charset="0"/>
                <a:ea typeface="Segoe UI" pitchFamily="34" charset="-122"/>
                <a:cs typeface="Segoe UI" pitchFamily="34" charset="-120"/>
              </a:rPr>
              <a:t>Deterministic — identical output for identical input</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Free — Node stdlib only, zero tokens, fully offline</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Accurate — resolves the real import graph per language</a:t>
            </a:r>
            <a:endParaRPr lang="en-US" sz="1300" dirty="0"/>
          </a:p>
        </p:txBody>
      </p:sp>
      <p:sp>
        <p:nvSpPr>
          <p:cNvPr id="17" name="Text 15"/>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31 / 44</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other half: docs that answer an architect’s questions</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457200" y="868680"/>
            <a:ext cx="11247120" cy="457200"/>
          </a:xfrm>
          <a:prstGeom prst="rect">
            <a:avLst/>
          </a:prstGeom>
          <a:noFill/>
          <a:ln/>
        </p:spPr>
        <p:txBody>
          <a:bodyPr wrap="square" rtlCol="0" anchor="ctr"/>
          <a:lstStyle/>
          <a:p>
            <a:pPr indent="0" marL="0">
              <a:buNone/>
            </a:pPr>
            <a:r>
              <a:rPr lang="en-US" sz="1300" i="1" dirty="0">
                <a:solidFill>
                  <a:srgbClr val="636E72"/>
                </a:solidFill>
                <a:latin typeface="Segoe UI" pitchFamily="34" charset="0"/>
                <a:ea typeface="Segoe UI" pitchFamily="34" charset="-122"/>
                <a:cs typeface="Segoe UI" pitchFamily="34" charset="-120"/>
              </a:rPr>
              <a:t>Graph = structure (for the machine).  Architecture docs = understanding (for the human) — built from your target application. The set grew 4 → 8 (ADR 0050).</a:t>
            </a:r>
            <a:endParaRPr lang="en-US" sz="1300" dirty="0"/>
          </a:p>
        </p:txBody>
      </p:sp>
      <p:sp>
        <p:nvSpPr>
          <p:cNvPr id="6" name="Shape 4"/>
          <p:cNvSpPr/>
          <p:nvPr/>
        </p:nvSpPr>
        <p:spPr>
          <a:xfrm>
            <a:off x="457200" y="1417320"/>
            <a:ext cx="5486400" cy="932688"/>
          </a:xfrm>
          <a:prstGeom prst="roundRect">
            <a:avLst>
              <a:gd name="adj" fmla="val 7843"/>
            </a:avLst>
          </a:prstGeom>
          <a:solidFill>
            <a:srgbClr val="FFFFFF"/>
          </a:solidFill>
          <a:ln w="12700">
            <a:solidFill>
              <a:srgbClr val="DFE6E9"/>
            </a:solidFill>
            <a:prstDash val="solid"/>
          </a:ln>
        </p:spPr>
      </p:sp>
      <p:sp>
        <p:nvSpPr>
          <p:cNvPr id="7" name="Text 5"/>
          <p:cNvSpPr/>
          <p:nvPr/>
        </p:nvSpPr>
        <p:spPr>
          <a:xfrm>
            <a:off x="594360" y="1508760"/>
            <a:ext cx="5212080" cy="274320"/>
          </a:xfrm>
          <a:prstGeom prst="rect">
            <a:avLst/>
          </a:prstGeom>
          <a:noFill/>
          <a:ln/>
        </p:spPr>
        <p:txBody>
          <a:bodyPr wrap="square" rtlCol="0" anchor="ctr"/>
          <a:lstStyle/>
          <a:p>
            <a:pPr indent="0" marL="0">
              <a:buNone/>
            </a:pPr>
            <a:r>
              <a:rPr lang="en-US" sz="1100" b="1" dirty="0">
                <a:solidFill>
                  <a:srgbClr val="1A3A5C"/>
                </a:solidFill>
                <a:latin typeface="Cascadia Code" pitchFamily="34" charset="0"/>
                <a:ea typeface="Cascadia Code" pitchFamily="34" charset="-122"/>
                <a:cs typeface="Cascadia Code" pitchFamily="34" charset="-120"/>
              </a:rPr>
              <a:t>architecture.md</a:t>
            </a:r>
            <a:endParaRPr lang="en-US" sz="1100" dirty="0"/>
          </a:p>
        </p:txBody>
      </p:sp>
      <p:sp>
        <p:nvSpPr>
          <p:cNvPr id="8" name="Text 6"/>
          <p:cNvSpPr/>
          <p:nvPr/>
        </p:nvSpPr>
        <p:spPr>
          <a:xfrm>
            <a:off x="594360" y="1801368"/>
            <a:ext cx="5212080" cy="50292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What’s the shape? (overview + Mermaid diagrams)</a:t>
            </a:r>
            <a:endParaRPr lang="en-US" sz="1100" dirty="0"/>
          </a:p>
        </p:txBody>
      </p:sp>
      <p:sp>
        <p:nvSpPr>
          <p:cNvPr id="9" name="Shape 7"/>
          <p:cNvSpPr/>
          <p:nvPr/>
        </p:nvSpPr>
        <p:spPr>
          <a:xfrm>
            <a:off x="6126480" y="1417320"/>
            <a:ext cx="5486400" cy="932688"/>
          </a:xfrm>
          <a:prstGeom prst="roundRect">
            <a:avLst>
              <a:gd name="adj" fmla="val 7843"/>
            </a:avLst>
          </a:prstGeom>
          <a:solidFill>
            <a:srgbClr val="FFFFFF"/>
          </a:solidFill>
          <a:ln w="12700">
            <a:solidFill>
              <a:srgbClr val="DFE6E9"/>
            </a:solidFill>
            <a:prstDash val="solid"/>
          </a:ln>
        </p:spPr>
      </p:sp>
      <p:sp>
        <p:nvSpPr>
          <p:cNvPr id="10" name="Text 8"/>
          <p:cNvSpPr/>
          <p:nvPr/>
        </p:nvSpPr>
        <p:spPr>
          <a:xfrm>
            <a:off x="6263640" y="1508760"/>
            <a:ext cx="5212080" cy="274320"/>
          </a:xfrm>
          <a:prstGeom prst="rect">
            <a:avLst/>
          </a:prstGeom>
          <a:noFill/>
          <a:ln/>
        </p:spPr>
        <p:txBody>
          <a:bodyPr wrap="square" rtlCol="0" anchor="ctr"/>
          <a:lstStyle/>
          <a:p>
            <a:pPr indent="0" marL="0">
              <a:buNone/>
            </a:pPr>
            <a:r>
              <a:rPr lang="en-US" sz="1100" b="1" dirty="0">
                <a:solidFill>
                  <a:srgbClr val="1A3A5C"/>
                </a:solidFill>
                <a:latin typeface="Cascadia Code" pitchFamily="34" charset="0"/>
                <a:ea typeface="Cascadia Code" pitchFamily="34" charset="-122"/>
                <a:cs typeface="Cascadia Code" pitchFamily="34" charset="-120"/>
              </a:rPr>
              <a:t>architecture-callchains.md</a:t>
            </a:r>
            <a:endParaRPr lang="en-US" sz="1100" dirty="0"/>
          </a:p>
        </p:txBody>
      </p:sp>
      <p:sp>
        <p:nvSpPr>
          <p:cNvPr id="11" name="Text 9"/>
          <p:cNvSpPr/>
          <p:nvPr/>
        </p:nvSpPr>
        <p:spPr>
          <a:xfrm>
            <a:off x="6263640" y="1801368"/>
            <a:ext cx="5212080" cy="50292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How does a request flow through the layers?</a:t>
            </a:r>
            <a:endParaRPr lang="en-US" sz="1100" dirty="0"/>
          </a:p>
        </p:txBody>
      </p:sp>
      <p:sp>
        <p:nvSpPr>
          <p:cNvPr id="12" name="Shape 10"/>
          <p:cNvSpPr/>
          <p:nvPr/>
        </p:nvSpPr>
        <p:spPr>
          <a:xfrm>
            <a:off x="457200" y="2468880"/>
            <a:ext cx="5486400" cy="932688"/>
          </a:xfrm>
          <a:prstGeom prst="roundRect">
            <a:avLst>
              <a:gd name="adj" fmla="val 7843"/>
            </a:avLst>
          </a:prstGeom>
          <a:solidFill>
            <a:srgbClr val="FDFCF5"/>
          </a:solidFill>
          <a:ln w="12700">
            <a:solidFill>
              <a:srgbClr val="C8A951"/>
            </a:solidFill>
            <a:prstDash val="solid"/>
          </a:ln>
        </p:spPr>
      </p:sp>
      <p:sp>
        <p:nvSpPr>
          <p:cNvPr id="13" name="Text 11"/>
          <p:cNvSpPr/>
          <p:nvPr/>
        </p:nvSpPr>
        <p:spPr>
          <a:xfrm>
            <a:off x="594360" y="2560320"/>
            <a:ext cx="5212080" cy="274320"/>
          </a:xfrm>
          <a:prstGeom prst="rect">
            <a:avLst/>
          </a:prstGeom>
          <a:noFill/>
          <a:ln/>
        </p:spPr>
        <p:txBody>
          <a:bodyPr wrap="square" rtlCol="0" anchor="ctr"/>
          <a:lstStyle/>
          <a:p>
            <a:pPr indent="0" marL="0">
              <a:buNone/>
            </a:pPr>
            <a:r>
              <a:rPr lang="en-US" sz="1100" b="1" dirty="0">
                <a:solidFill>
                  <a:srgbClr val="1A3A5C"/>
                </a:solidFill>
                <a:latin typeface="Cascadia Code" pitchFamily="34" charset="0"/>
                <a:ea typeface="Cascadia Code" pitchFamily="34" charset="-122"/>
                <a:cs typeface="Cascadia Code" pitchFamily="34" charset="-120"/>
              </a:rPr>
              <a:t>architecture-data.md</a:t>
            </a:r>
            <a:pPr indent="0" marL="0">
              <a:buNone/>
            </a:pPr>
            <a:r>
              <a:rPr lang="en-US" sz="900" dirty="0">
                <a:solidFill>
                  <a:srgbClr val="C8A951"/>
                </a:solidFill>
                <a:latin typeface="Cascadia Code" pitchFamily="34" charset="0"/>
                <a:ea typeface="Cascadia Code" pitchFamily="34" charset="-122"/>
                <a:cs typeface="Cascadia Code" pitchFamily="34" charset="-120"/>
              </a:rPr>
              <a:t>  ★ new</a:t>
            </a:r>
            <a:endParaRPr lang="en-US" sz="1100" dirty="0"/>
          </a:p>
        </p:txBody>
      </p:sp>
      <p:sp>
        <p:nvSpPr>
          <p:cNvPr id="14" name="Text 12"/>
          <p:cNvSpPr/>
          <p:nvPr/>
        </p:nvSpPr>
        <p:spPr>
          <a:xfrm>
            <a:off x="594360" y="2852928"/>
            <a:ext cx="5212080" cy="50292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What is the data? (entities, relationships, ownership)</a:t>
            </a:r>
            <a:endParaRPr lang="en-US" sz="1100" dirty="0"/>
          </a:p>
        </p:txBody>
      </p:sp>
      <p:sp>
        <p:nvSpPr>
          <p:cNvPr id="15" name="Shape 13"/>
          <p:cNvSpPr/>
          <p:nvPr/>
        </p:nvSpPr>
        <p:spPr>
          <a:xfrm>
            <a:off x="6126480" y="2468880"/>
            <a:ext cx="5486400" cy="932688"/>
          </a:xfrm>
          <a:prstGeom prst="roundRect">
            <a:avLst>
              <a:gd name="adj" fmla="val 7843"/>
            </a:avLst>
          </a:prstGeom>
          <a:solidFill>
            <a:srgbClr val="FDFCF5"/>
          </a:solidFill>
          <a:ln w="12700">
            <a:solidFill>
              <a:srgbClr val="C8A951"/>
            </a:solidFill>
            <a:prstDash val="solid"/>
          </a:ln>
        </p:spPr>
      </p:sp>
      <p:sp>
        <p:nvSpPr>
          <p:cNvPr id="16" name="Text 14"/>
          <p:cNvSpPr/>
          <p:nvPr/>
        </p:nvSpPr>
        <p:spPr>
          <a:xfrm>
            <a:off x="6263640" y="2560320"/>
            <a:ext cx="5212080" cy="274320"/>
          </a:xfrm>
          <a:prstGeom prst="rect">
            <a:avLst/>
          </a:prstGeom>
          <a:noFill/>
          <a:ln/>
        </p:spPr>
        <p:txBody>
          <a:bodyPr wrap="square" rtlCol="0" anchor="ctr"/>
          <a:lstStyle/>
          <a:p>
            <a:pPr indent="0" marL="0">
              <a:buNone/>
            </a:pPr>
            <a:r>
              <a:rPr lang="en-US" sz="1100" b="1" dirty="0">
                <a:solidFill>
                  <a:srgbClr val="1A3A5C"/>
                </a:solidFill>
                <a:latin typeface="Cascadia Code" pitchFamily="34" charset="0"/>
                <a:ea typeface="Cascadia Code" pitchFamily="34" charset="-122"/>
                <a:cs typeface="Cascadia Code" pitchFamily="34" charset="-120"/>
              </a:rPr>
              <a:t>architecture-integrations.md</a:t>
            </a:r>
            <a:pPr indent="0" marL="0">
              <a:buNone/>
            </a:pPr>
            <a:r>
              <a:rPr lang="en-US" sz="900" dirty="0">
                <a:solidFill>
                  <a:srgbClr val="C8A951"/>
                </a:solidFill>
                <a:latin typeface="Cascadia Code" pitchFamily="34" charset="0"/>
                <a:ea typeface="Cascadia Code" pitchFamily="34" charset="-122"/>
                <a:cs typeface="Cascadia Code" pitchFamily="34" charset="-120"/>
              </a:rPr>
              <a:t>  ★ new</a:t>
            </a:r>
            <a:endParaRPr lang="en-US" sz="1100" dirty="0"/>
          </a:p>
        </p:txBody>
      </p:sp>
      <p:sp>
        <p:nvSpPr>
          <p:cNvPr id="17" name="Text 15"/>
          <p:cNvSpPr/>
          <p:nvPr/>
        </p:nvSpPr>
        <p:spPr>
          <a:xfrm>
            <a:off x="6263640" y="2852928"/>
            <a:ext cx="5212080" cy="50292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Who do we depend on — and what happens when they fail?</a:t>
            </a:r>
            <a:endParaRPr lang="en-US" sz="1100" dirty="0"/>
          </a:p>
        </p:txBody>
      </p:sp>
      <p:sp>
        <p:nvSpPr>
          <p:cNvPr id="18" name="Shape 16"/>
          <p:cNvSpPr/>
          <p:nvPr/>
        </p:nvSpPr>
        <p:spPr>
          <a:xfrm>
            <a:off x="457200" y="3520440"/>
            <a:ext cx="5486400" cy="932688"/>
          </a:xfrm>
          <a:prstGeom prst="roundRect">
            <a:avLst>
              <a:gd name="adj" fmla="val 7843"/>
            </a:avLst>
          </a:prstGeom>
          <a:solidFill>
            <a:srgbClr val="FDFCF5"/>
          </a:solidFill>
          <a:ln w="12700">
            <a:solidFill>
              <a:srgbClr val="C8A951"/>
            </a:solidFill>
            <a:prstDash val="solid"/>
          </a:ln>
        </p:spPr>
      </p:sp>
      <p:sp>
        <p:nvSpPr>
          <p:cNvPr id="19" name="Text 17"/>
          <p:cNvSpPr/>
          <p:nvPr/>
        </p:nvSpPr>
        <p:spPr>
          <a:xfrm>
            <a:off x="594360" y="3611880"/>
            <a:ext cx="5212080" cy="274320"/>
          </a:xfrm>
          <a:prstGeom prst="rect">
            <a:avLst/>
          </a:prstGeom>
          <a:noFill/>
          <a:ln/>
        </p:spPr>
        <p:txBody>
          <a:bodyPr wrap="square" rtlCol="0" anchor="ctr"/>
          <a:lstStyle/>
          <a:p>
            <a:pPr indent="0" marL="0">
              <a:buNone/>
            </a:pPr>
            <a:r>
              <a:rPr lang="en-US" sz="1100" b="1" dirty="0">
                <a:solidFill>
                  <a:srgbClr val="1A3A5C"/>
                </a:solidFill>
                <a:latin typeface="Cascadia Code" pitchFamily="34" charset="0"/>
                <a:ea typeface="Cascadia Code" pitchFamily="34" charset="-122"/>
                <a:cs typeface="Cascadia Code" pitchFamily="34" charset="-120"/>
              </a:rPr>
              <a:t>architecture-security.md</a:t>
            </a:r>
            <a:pPr indent="0" marL="0">
              <a:buNone/>
            </a:pPr>
            <a:r>
              <a:rPr lang="en-US" sz="900" dirty="0">
                <a:solidFill>
                  <a:srgbClr val="C8A951"/>
                </a:solidFill>
                <a:latin typeface="Cascadia Code" pitchFamily="34" charset="0"/>
                <a:ea typeface="Cascadia Code" pitchFamily="34" charset="-122"/>
                <a:cs typeface="Cascadia Code" pitchFamily="34" charset="-120"/>
              </a:rPr>
              <a:t>  ★ new</a:t>
            </a:r>
            <a:endParaRPr lang="en-US" sz="1100" dirty="0"/>
          </a:p>
        </p:txBody>
      </p:sp>
      <p:sp>
        <p:nvSpPr>
          <p:cNvPr id="20" name="Text 18"/>
          <p:cNvSpPr/>
          <p:nvPr/>
        </p:nvSpPr>
        <p:spPr>
          <a:xfrm>
            <a:off x="594360" y="3904488"/>
            <a:ext cx="5212080" cy="50292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Who’s allowed to do what? (Action → Role → Enforced-at)</a:t>
            </a:r>
            <a:endParaRPr lang="en-US" sz="1100" dirty="0"/>
          </a:p>
        </p:txBody>
      </p:sp>
      <p:sp>
        <p:nvSpPr>
          <p:cNvPr id="21" name="Shape 19"/>
          <p:cNvSpPr/>
          <p:nvPr/>
        </p:nvSpPr>
        <p:spPr>
          <a:xfrm>
            <a:off x="6126480" y="3520440"/>
            <a:ext cx="5486400" cy="932688"/>
          </a:xfrm>
          <a:prstGeom prst="roundRect">
            <a:avLst>
              <a:gd name="adj" fmla="val 7843"/>
            </a:avLst>
          </a:prstGeom>
          <a:solidFill>
            <a:srgbClr val="FDFCF5"/>
          </a:solidFill>
          <a:ln w="12700">
            <a:solidFill>
              <a:srgbClr val="C8A951"/>
            </a:solidFill>
            <a:prstDash val="solid"/>
          </a:ln>
        </p:spPr>
      </p:sp>
      <p:sp>
        <p:nvSpPr>
          <p:cNvPr id="22" name="Text 20"/>
          <p:cNvSpPr/>
          <p:nvPr/>
        </p:nvSpPr>
        <p:spPr>
          <a:xfrm>
            <a:off x="6263640" y="3611880"/>
            <a:ext cx="5212080" cy="274320"/>
          </a:xfrm>
          <a:prstGeom prst="rect">
            <a:avLst/>
          </a:prstGeom>
          <a:noFill/>
          <a:ln/>
        </p:spPr>
        <p:txBody>
          <a:bodyPr wrap="square" rtlCol="0" anchor="ctr"/>
          <a:lstStyle/>
          <a:p>
            <a:pPr indent="0" marL="0">
              <a:buNone/>
            </a:pPr>
            <a:r>
              <a:rPr lang="en-US" sz="1100" b="1" dirty="0">
                <a:solidFill>
                  <a:srgbClr val="1A3A5C"/>
                </a:solidFill>
                <a:latin typeface="Cascadia Code" pitchFamily="34" charset="0"/>
                <a:ea typeface="Cascadia Code" pitchFamily="34" charset="-122"/>
                <a:cs typeface="Cascadia Code" pitchFamily="34" charset="-120"/>
              </a:rPr>
              <a:t>architecture-decisions.md</a:t>
            </a:r>
            <a:pPr indent="0" marL="0">
              <a:buNone/>
            </a:pPr>
            <a:r>
              <a:rPr lang="en-US" sz="900" dirty="0">
                <a:solidFill>
                  <a:srgbClr val="C8A951"/>
                </a:solidFill>
                <a:latin typeface="Cascadia Code" pitchFamily="34" charset="0"/>
                <a:ea typeface="Cascadia Code" pitchFamily="34" charset="-122"/>
                <a:cs typeface="Cascadia Code" pitchFamily="34" charset="-120"/>
              </a:rPr>
              <a:t>  ★ new</a:t>
            </a:r>
            <a:endParaRPr lang="en-US" sz="1100" dirty="0"/>
          </a:p>
        </p:txBody>
      </p:sp>
      <p:sp>
        <p:nvSpPr>
          <p:cNvPr id="23" name="Text 21"/>
          <p:cNvSpPr/>
          <p:nvPr/>
        </p:nvSpPr>
        <p:spPr>
          <a:xfrm>
            <a:off x="6263640" y="3904488"/>
            <a:ext cx="5212080" cy="50292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Why did we build it this way? (AD-NNN log)</a:t>
            </a:r>
            <a:endParaRPr lang="en-US" sz="1100" dirty="0"/>
          </a:p>
        </p:txBody>
      </p:sp>
      <p:sp>
        <p:nvSpPr>
          <p:cNvPr id="24" name="Shape 22"/>
          <p:cNvSpPr/>
          <p:nvPr/>
        </p:nvSpPr>
        <p:spPr>
          <a:xfrm>
            <a:off x="457200" y="4572000"/>
            <a:ext cx="5486400" cy="932688"/>
          </a:xfrm>
          <a:prstGeom prst="roundRect">
            <a:avLst>
              <a:gd name="adj" fmla="val 7843"/>
            </a:avLst>
          </a:prstGeom>
          <a:solidFill>
            <a:srgbClr val="FFFFFF"/>
          </a:solidFill>
          <a:ln w="12700">
            <a:solidFill>
              <a:srgbClr val="DFE6E9"/>
            </a:solidFill>
            <a:prstDash val="solid"/>
          </a:ln>
        </p:spPr>
      </p:sp>
      <p:sp>
        <p:nvSpPr>
          <p:cNvPr id="25" name="Text 23"/>
          <p:cNvSpPr/>
          <p:nvPr/>
        </p:nvSpPr>
        <p:spPr>
          <a:xfrm>
            <a:off x="594360" y="4663440"/>
            <a:ext cx="5212080" cy="274320"/>
          </a:xfrm>
          <a:prstGeom prst="rect">
            <a:avLst/>
          </a:prstGeom>
          <a:noFill/>
          <a:ln/>
        </p:spPr>
        <p:txBody>
          <a:bodyPr wrap="square" rtlCol="0" anchor="ctr"/>
          <a:lstStyle/>
          <a:p>
            <a:pPr indent="0" marL="0">
              <a:buNone/>
            </a:pPr>
            <a:r>
              <a:rPr lang="en-US" sz="1100" b="1" dirty="0">
                <a:solidFill>
                  <a:srgbClr val="1A3A5C"/>
                </a:solidFill>
                <a:latin typeface="Cascadia Code" pitchFamily="34" charset="0"/>
                <a:ea typeface="Cascadia Code" pitchFamily="34" charset="-122"/>
                <a:cs typeface="Cascadia Code" pitchFamily="34" charset="-120"/>
              </a:rPr>
              <a:t>architecture-deployment.md</a:t>
            </a:r>
            <a:endParaRPr lang="en-US" sz="1100" dirty="0"/>
          </a:p>
        </p:txBody>
      </p:sp>
      <p:sp>
        <p:nvSpPr>
          <p:cNvPr id="26" name="Text 24"/>
          <p:cNvSpPr/>
          <p:nvPr/>
        </p:nvSpPr>
        <p:spPr>
          <a:xfrm>
            <a:off x="594360" y="4956048"/>
            <a:ext cx="5212080" cy="50292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How and where does it run? (+ non-functional envelope)</a:t>
            </a:r>
            <a:endParaRPr lang="en-US" sz="1100" dirty="0"/>
          </a:p>
        </p:txBody>
      </p:sp>
      <p:sp>
        <p:nvSpPr>
          <p:cNvPr id="27" name="Shape 25"/>
          <p:cNvSpPr/>
          <p:nvPr/>
        </p:nvSpPr>
        <p:spPr>
          <a:xfrm>
            <a:off x="6126480" y="4572000"/>
            <a:ext cx="5486400" cy="932688"/>
          </a:xfrm>
          <a:prstGeom prst="roundRect">
            <a:avLst>
              <a:gd name="adj" fmla="val 7843"/>
            </a:avLst>
          </a:prstGeom>
          <a:solidFill>
            <a:srgbClr val="FFFFFF"/>
          </a:solidFill>
          <a:ln w="12700">
            <a:solidFill>
              <a:srgbClr val="DFE6E9"/>
            </a:solidFill>
            <a:prstDash val="solid"/>
          </a:ln>
        </p:spPr>
      </p:sp>
      <p:sp>
        <p:nvSpPr>
          <p:cNvPr id="28" name="Text 26"/>
          <p:cNvSpPr/>
          <p:nvPr/>
        </p:nvSpPr>
        <p:spPr>
          <a:xfrm>
            <a:off x="6263640" y="4663440"/>
            <a:ext cx="5212080" cy="274320"/>
          </a:xfrm>
          <a:prstGeom prst="rect">
            <a:avLst/>
          </a:prstGeom>
          <a:noFill/>
          <a:ln/>
        </p:spPr>
        <p:txBody>
          <a:bodyPr wrap="square" rtlCol="0" anchor="ctr"/>
          <a:lstStyle/>
          <a:p>
            <a:pPr indent="0" marL="0">
              <a:buNone/>
            </a:pPr>
            <a:r>
              <a:rPr lang="en-US" sz="1100" b="1" dirty="0">
                <a:solidFill>
                  <a:srgbClr val="1A3A5C"/>
                </a:solidFill>
                <a:latin typeface="Cascadia Code" pitchFamily="34" charset="0"/>
                <a:ea typeface="Cascadia Code" pitchFamily="34" charset="-122"/>
                <a:cs typeface="Cascadia Code" pitchFamily="34" charset="-120"/>
              </a:rPr>
              <a:t>architecture-reference.md</a:t>
            </a:r>
            <a:endParaRPr lang="en-US" sz="1100" dirty="0"/>
          </a:p>
        </p:txBody>
      </p:sp>
      <p:sp>
        <p:nvSpPr>
          <p:cNvPr id="29" name="Text 27"/>
          <p:cNvSpPr/>
          <p:nvPr/>
        </p:nvSpPr>
        <p:spPr>
          <a:xfrm>
            <a:off x="6263640" y="4956048"/>
            <a:ext cx="5212080" cy="50292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What are the conventions?</a:t>
            </a:r>
            <a:endParaRPr lang="en-US" sz="1100" dirty="0"/>
          </a:p>
        </p:txBody>
      </p:sp>
      <p:sp>
        <p:nvSpPr>
          <p:cNvPr id="30" name="Text 28"/>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32 / 44</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Documents you can actually trust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365760" y="1097280"/>
            <a:ext cx="5486400" cy="3291840"/>
          </a:xfrm>
          <a:prstGeom prst="roundRect">
            <a:avLst>
              <a:gd name="adj" fmla="val 2778"/>
            </a:avLst>
          </a:prstGeom>
          <a:solidFill>
            <a:srgbClr val="FFF0ED"/>
          </a:solidFill>
          <a:ln w="12700">
            <a:solidFill>
              <a:srgbClr val="F3B4A8"/>
            </a:solidFill>
            <a:prstDash val="solid"/>
          </a:ln>
        </p:spPr>
      </p:sp>
      <p:sp>
        <p:nvSpPr>
          <p:cNvPr id="6" name="Text 4"/>
          <p:cNvSpPr/>
          <p:nvPr/>
        </p:nvSpPr>
        <p:spPr>
          <a:xfrm>
            <a:off x="548640" y="1188720"/>
            <a:ext cx="5120640" cy="228600"/>
          </a:xfrm>
          <a:prstGeom prst="rect">
            <a:avLst/>
          </a:prstGeom>
          <a:noFill/>
          <a:ln/>
        </p:spPr>
        <p:txBody>
          <a:bodyPr wrap="square" rtlCol="0" anchor="ctr"/>
          <a:lstStyle/>
          <a:p>
            <a:pPr indent="0" marL="0">
              <a:buNone/>
            </a:pPr>
            <a:r>
              <a:rPr lang="en-US" sz="900" b="1" spc="200" kern="0" dirty="0">
                <a:solidFill>
                  <a:srgbClr val="E17055"/>
                </a:solidFill>
                <a:latin typeface="Segoe UI" pitchFamily="34" charset="0"/>
                <a:ea typeface="Segoe UI" pitchFamily="34" charset="-122"/>
                <a:cs typeface="Segoe UI" pitchFamily="34" charset="-120"/>
              </a:rPr>
              <a:t>HOW THEY’RE WRITTEN</a:t>
            </a:r>
            <a:endParaRPr lang="en-US" sz="900" dirty="0"/>
          </a:p>
        </p:txBody>
      </p:sp>
      <p:sp>
        <p:nvSpPr>
          <p:cNvPr id="7" name="Text 5"/>
          <p:cNvSpPr/>
          <p:nvPr/>
        </p:nvSpPr>
        <p:spPr>
          <a:xfrm>
            <a:off x="548640" y="1444752"/>
            <a:ext cx="5120640" cy="2834640"/>
          </a:xfrm>
          <a:prstGeom prst="rect">
            <a:avLst/>
          </a:prstGeom>
          <a:noFill/>
          <a:ln/>
        </p:spPr>
        <p:txBody>
          <a:bodyPr wrap="square" rtlCol="0" anchor="t"/>
          <a:lstStyle/>
          <a:p>
            <a:pPr>
              <a:spcAft>
                <a:spcPts val="700"/>
              </a:spcAft>
            </a:pPr>
            <a:r>
              <a:rPr lang="en-US" sz="1300" dirty="0">
                <a:solidFill>
                  <a:srgbClr val="2D3436"/>
                </a:solidFill>
                <a:latin typeface="Segoe UI" pitchFamily="34" charset="0"/>
                <a:ea typeface="Segoe UI" pitchFamily="34" charset="-122"/>
                <a:cs typeface="Segoe UI" pitchFamily="34" charset="-120"/>
              </a:rPr>
              <a:t>✅ Extracted from code — fill only what the code proves</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 Flagged “needs manual input” — authz rules, SLAs, retry policy, decision rationale</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Never invents the parts a human must own</a:t>
            </a:r>
            <a:endParaRPr lang="en-US" sz="1300" dirty="0"/>
          </a:p>
        </p:txBody>
      </p:sp>
      <p:sp>
        <p:nvSpPr>
          <p:cNvPr id="8" name="Shape 6"/>
          <p:cNvSpPr/>
          <p:nvPr/>
        </p:nvSpPr>
        <p:spPr>
          <a:xfrm>
            <a:off x="6126480" y="1097280"/>
            <a:ext cx="5486400" cy="3291840"/>
          </a:xfrm>
          <a:prstGeom prst="roundRect">
            <a:avLst>
              <a:gd name="adj" fmla="val 2778"/>
            </a:avLst>
          </a:prstGeom>
          <a:solidFill>
            <a:srgbClr val="EEFAF6"/>
          </a:solidFill>
          <a:ln w="12700">
            <a:solidFill>
              <a:srgbClr val="A8E4D1"/>
            </a:solidFill>
            <a:prstDash val="solid"/>
          </a:ln>
        </p:spPr>
      </p:sp>
      <p:sp>
        <p:nvSpPr>
          <p:cNvPr id="9" name="Text 7"/>
          <p:cNvSpPr/>
          <p:nvPr/>
        </p:nvSpPr>
        <p:spPr>
          <a:xfrm>
            <a:off x="6309360" y="1188720"/>
            <a:ext cx="5120640" cy="228600"/>
          </a:xfrm>
          <a:prstGeom prst="rect">
            <a:avLst/>
          </a:prstGeom>
          <a:noFill/>
          <a:ln/>
        </p:spPr>
        <p:txBody>
          <a:bodyPr wrap="square" rtlCol="0" anchor="ctr"/>
          <a:lstStyle/>
          <a:p>
            <a:pPr indent="0" marL="0">
              <a:buNone/>
            </a:pPr>
            <a:r>
              <a:rPr lang="en-US" sz="900" b="1" spc="200" kern="0" dirty="0">
                <a:solidFill>
                  <a:srgbClr val="00B894"/>
                </a:solidFill>
                <a:latin typeface="Segoe UI" pitchFamily="34" charset="0"/>
                <a:ea typeface="Segoe UI" pitchFamily="34" charset="-122"/>
                <a:cs typeface="Segoe UI" pitchFamily="34" charset="-120"/>
              </a:rPr>
              <a:t>HOW THEY STAY ALIVE</a:t>
            </a:r>
            <a:endParaRPr lang="en-US" sz="900" dirty="0"/>
          </a:p>
        </p:txBody>
      </p:sp>
      <p:sp>
        <p:nvSpPr>
          <p:cNvPr id="10" name="Text 8"/>
          <p:cNvSpPr/>
          <p:nvPr/>
        </p:nvSpPr>
        <p:spPr>
          <a:xfrm>
            <a:off x="6309360" y="1444752"/>
            <a:ext cx="5120640" cy="2834640"/>
          </a:xfrm>
          <a:prstGeom prst="rect">
            <a:avLst/>
          </a:prstGeom>
          <a:noFill/>
          <a:ln/>
        </p:spPr>
        <p:txBody>
          <a:bodyPr wrap="square" rtlCol="0" anchor="t"/>
          <a:lstStyle/>
          <a:p>
            <a:pPr>
              <a:spcAft>
                <a:spcPts val="700"/>
              </a:spcAft>
            </a:pPr>
            <a:r>
              <a:rPr lang="en-US" sz="1300" dirty="0">
                <a:solidFill>
                  <a:srgbClr val="2D3436"/>
                </a:solidFill>
                <a:latin typeface="Segoe UI" pitchFamily="34" charset="0"/>
                <a:ea typeface="Segoe UI" pitchFamily="34" charset="-122"/>
                <a:cs typeface="Segoe UI" pitchFamily="34" charset="-120"/>
              </a:rPr>
              <a:t>Committed &amp; PR-reviewed — like source</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Mermaid diagrams render right in the pull request</a:t>
            </a:r>
            <a:endParaRPr lang="en-US" sz="1300" dirty="0"/>
          </a:p>
          <a:p>
            <a:pPr>
              <a:spcAft>
                <a:spcPts val="700"/>
              </a:spcAft>
            </a:pPr>
            <a:r>
              <a:rPr lang="en-US" sz="1300" dirty="0">
                <a:solidFill>
                  <a:srgbClr val="2D3436"/>
                </a:solidFill>
                <a:latin typeface="Segoe UI" pitchFamily="34" charset="0"/>
                <a:ea typeface="Segoe UI" pitchFamily="34" charset="-122"/>
                <a:cs typeface="Segoe UI" pitchFamily="34" charset="-120"/>
              </a:rPr>
              <a:t>Read on every run by: security · icea-feature · icea-review · app-readiness</a:t>
            </a:r>
            <a:endParaRPr lang="en-US" sz="1300" dirty="0"/>
          </a:p>
        </p:txBody>
      </p:sp>
      <p:sp>
        <p:nvSpPr>
          <p:cNvPr id="11" name="Shape 9"/>
          <p:cNvSpPr/>
          <p:nvPr/>
        </p:nvSpPr>
        <p:spPr>
          <a:xfrm>
            <a:off x="457200" y="4572000"/>
            <a:ext cx="11338560" cy="1097280"/>
          </a:xfrm>
          <a:prstGeom prst="roundRect">
            <a:avLst>
              <a:gd name="adj" fmla="val 8333"/>
            </a:avLst>
          </a:prstGeom>
          <a:solidFill>
            <a:srgbClr val="FDFCF5"/>
          </a:solidFill>
          <a:ln w="12700">
            <a:solidFill>
              <a:srgbClr val="C8A951"/>
            </a:solidFill>
            <a:prstDash val="solid"/>
          </a:ln>
        </p:spPr>
      </p:sp>
      <p:sp>
        <p:nvSpPr>
          <p:cNvPr id="12" name="Text 10"/>
          <p:cNvSpPr/>
          <p:nvPr/>
        </p:nvSpPr>
        <p:spPr>
          <a:xfrm>
            <a:off x="685800" y="4663440"/>
            <a:ext cx="10972800" cy="914400"/>
          </a:xfrm>
          <a:prstGeom prst="rect">
            <a:avLst/>
          </a:prstGeom>
          <a:noFill/>
          <a:ln/>
        </p:spPr>
        <p:txBody>
          <a:bodyPr wrap="square" rtlCol="0" anchor="ctr"/>
          <a:lstStyle/>
          <a:p>
            <a:pPr indent="0" marL="0">
              <a:buNone/>
            </a:pPr>
            <a:r>
              <a:rPr lang="en-US" sz="1300" i="1" dirty="0">
                <a:solidFill>
                  <a:srgbClr val="1A3A5C"/>
                </a:solidFill>
                <a:latin typeface="Segoe UI" pitchFamily="34" charset="0"/>
                <a:ea typeface="Segoe UI" pitchFamily="34" charset="-122"/>
                <a:cs typeface="Segoe UI" pitchFamily="34" charset="-120"/>
              </a:rPr>
              <a:t>And notice architecture-decisions.md — the “why,” written down — is the same principle this whole talk is built on.</a:t>
            </a:r>
            <a:endParaRPr lang="en-US" sz="1300" dirty="0"/>
          </a:p>
        </p:txBody>
      </p:sp>
      <p:sp>
        <p:nvSpPr>
          <p:cNvPr id="13" name="Text 11"/>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33 / 44</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41A35"/>
        </a:solidFill>
      </p:bgPr>
    </p:bg>
    <p:spTree>
      <p:nvGrpSpPr>
        <p:cNvPr id="1" name=""/>
        <p:cNvGrpSpPr/>
        <p:nvPr/>
      </p:nvGrpSpPr>
      <p:grpSpPr>
        <a:xfrm>
          <a:off x="0" y="0"/>
          <a:ext cx="0" cy="0"/>
          <a:chOff x="0" y="0"/>
          <a:chExt cx="0" cy="0"/>
        </a:xfrm>
      </p:grpSpPr>
      <p:sp>
        <p:nvSpPr>
          <p:cNvPr id="2" name="Text 0"/>
          <p:cNvSpPr/>
          <p:nvPr/>
        </p:nvSpPr>
        <p:spPr>
          <a:xfrm>
            <a:off x="548640" y="100584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INTERLUDE · GUARDRAILS</a:t>
            </a:r>
            <a:endParaRPr lang="en-US" sz="900" dirty="0"/>
          </a:p>
        </p:txBody>
      </p:sp>
      <p:sp>
        <p:nvSpPr>
          <p:cNvPr id="3" name="Text 1"/>
          <p:cNvSpPr/>
          <p:nvPr/>
        </p:nvSpPr>
        <p:spPr>
          <a:xfrm>
            <a:off x="548640" y="1371600"/>
            <a:ext cx="10515600" cy="12801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Your conventions live in the system</a:t>
            </a:r>
            <a:endParaRPr lang="en-US" sz="3200" dirty="0"/>
          </a:p>
        </p:txBody>
      </p:sp>
      <p:sp>
        <p:nvSpPr>
          <p:cNvPr id="4" name="Shape 2"/>
          <p:cNvSpPr/>
          <p:nvPr/>
        </p:nvSpPr>
        <p:spPr>
          <a:xfrm>
            <a:off x="548640" y="2743200"/>
            <a:ext cx="54864" cy="640080"/>
          </a:xfrm>
          <a:prstGeom prst="rect">
            <a:avLst/>
          </a:prstGeom>
          <a:solidFill>
            <a:srgbClr val="A78BFA"/>
          </a:solidFill>
          <a:ln w="12700">
            <a:solidFill>
              <a:srgbClr val="A78BFA"/>
            </a:solidFill>
            <a:prstDash val="solid"/>
          </a:ln>
        </p:spPr>
      </p:sp>
      <p:sp>
        <p:nvSpPr>
          <p:cNvPr id="5" name="Text 3"/>
          <p:cNvSpPr/>
          <p:nvPr/>
        </p:nvSpPr>
        <p:spPr>
          <a:xfrm>
            <a:off x="731520" y="2743200"/>
            <a:ext cx="10424160" cy="640080"/>
          </a:xfrm>
          <a:prstGeom prst="rect">
            <a:avLst/>
          </a:prstGeom>
          <a:noFill/>
          <a:ln/>
        </p:spPr>
        <p:txBody>
          <a:bodyPr wrap="square" rtlCol="0" anchor="ctr"/>
          <a:lstStyle/>
          <a:p>
            <a:pPr indent="0" marL="0">
              <a:buNone/>
            </a:pPr>
            <a:r>
              <a:rPr lang="en-US" sz="1500" i="1" dirty="0">
                <a:solidFill>
                  <a:srgbClr val="C9BDE6"/>
                </a:solidFill>
                <a:latin typeface="Segoe UI" pitchFamily="34" charset="0"/>
                <a:ea typeface="Segoe UI" pitchFamily="34" charset="-122"/>
                <a:cs typeface="Segoe UI" pitchFamily="34" charset="-120"/>
              </a:rPr>
              <a:t>"Identical AI behavior — every developer, every session, no matter who’s driving."</a:t>
            </a:r>
            <a:endParaRPr lang="en-US" sz="1500" dirty="0"/>
          </a:p>
        </p:txBody>
      </p:sp>
      <p:sp>
        <p:nvSpPr>
          <p:cNvPr id="6" name="Text 4"/>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34 / 44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Guidance that flexes, guardrails that don’t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457200" y="1097280"/>
            <a:ext cx="3688080" cy="2743200"/>
          </a:xfrm>
          <a:prstGeom prst="roundRect">
            <a:avLst>
              <a:gd name="adj" fmla="val 3333"/>
            </a:avLst>
          </a:prstGeom>
          <a:solidFill>
            <a:srgbClr val="FFFFFF"/>
          </a:solidFill>
          <a:ln w="12700">
            <a:solidFill>
              <a:srgbClr val="DFE6E9"/>
            </a:solidFill>
            <a:prstDash val="solid"/>
          </a:ln>
        </p:spPr>
      </p:sp>
      <p:sp>
        <p:nvSpPr>
          <p:cNvPr id="6" name="Text 4"/>
          <p:cNvSpPr/>
          <p:nvPr/>
        </p:nvSpPr>
        <p:spPr>
          <a:xfrm>
            <a:off x="594360" y="120700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ALWAYS-ON</a:t>
            </a:r>
            <a:endParaRPr lang="en-US" sz="800" dirty="0"/>
          </a:p>
        </p:txBody>
      </p:sp>
      <p:sp>
        <p:nvSpPr>
          <p:cNvPr id="7" name="Text 5"/>
          <p:cNvSpPr/>
          <p:nvPr/>
        </p:nvSpPr>
        <p:spPr>
          <a:xfrm>
            <a:off x="594360" y="142646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CLAUDE.md system prompt</a:t>
            </a:r>
            <a:endParaRPr lang="en-US" sz="1300" dirty="0"/>
          </a:p>
        </p:txBody>
      </p:sp>
      <p:sp>
        <p:nvSpPr>
          <p:cNvPr id="8" name="Text 6"/>
          <p:cNvSpPr/>
          <p:nvPr/>
        </p:nvSpPr>
        <p:spPr>
          <a:xfrm>
            <a:off x="594360" y="1883664"/>
            <a:ext cx="3413760" cy="182880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Loaded every session. Write gate, feature gate, "Dapper + parameterised SQL, never EF Core", commit &amp; branch format. Applies everywhere.</a:t>
            </a:r>
            <a:endParaRPr lang="en-US" sz="1100" dirty="0"/>
          </a:p>
        </p:txBody>
      </p:sp>
      <p:sp>
        <p:nvSpPr>
          <p:cNvPr id="9" name="Shape 7"/>
          <p:cNvSpPr/>
          <p:nvPr/>
        </p:nvSpPr>
        <p:spPr>
          <a:xfrm>
            <a:off x="4282440" y="1097280"/>
            <a:ext cx="3688080" cy="2743200"/>
          </a:xfrm>
          <a:prstGeom prst="roundRect">
            <a:avLst>
              <a:gd name="adj" fmla="val 3333"/>
            </a:avLst>
          </a:prstGeom>
          <a:solidFill>
            <a:srgbClr val="FFFFFF"/>
          </a:solidFill>
          <a:ln w="12700">
            <a:solidFill>
              <a:srgbClr val="DFE6E9"/>
            </a:solidFill>
            <a:prstDash val="solid"/>
          </a:ln>
        </p:spPr>
      </p:sp>
      <p:sp>
        <p:nvSpPr>
          <p:cNvPr id="10" name="Text 8"/>
          <p:cNvSpPr/>
          <p:nvPr/>
        </p:nvSpPr>
        <p:spPr>
          <a:xfrm>
            <a:off x="4419600" y="120700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PER FILE-TYPE</a:t>
            </a:r>
            <a:endParaRPr lang="en-US" sz="800" dirty="0"/>
          </a:p>
        </p:txBody>
      </p:sp>
      <p:sp>
        <p:nvSpPr>
          <p:cNvPr id="11" name="Text 9"/>
          <p:cNvSpPr/>
          <p:nvPr/>
        </p:nvSpPr>
        <p:spPr>
          <a:xfrm>
            <a:off x="4419600" y="142646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43 scoped rule files</a:t>
            </a:r>
            <a:endParaRPr lang="en-US" sz="1300" dirty="0"/>
          </a:p>
        </p:txBody>
      </p:sp>
      <p:sp>
        <p:nvSpPr>
          <p:cNvPr id="12" name="Text 10"/>
          <p:cNvSpPr/>
          <p:nvPr/>
        </p:nvSpPr>
        <p:spPr>
          <a:xfrm>
            <a:off x="4419600" y="1883664"/>
            <a:ext cx="3413760" cy="182880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*.cs → C#/.NET/data-access · *.tsx → React/hooks · middleware/** → api-security. Load only when a matching file is touched — zero cost otherwise.</a:t>
            </a:r>
            <a:endParaRPr lang="en-US" sz="1100" dirty="0"/>
          </a:p>
        </p:txBody>
      </p:sp>
      <p:sp>
        <p:nvSpPr>
          <p:cNvPr id="13" name="Shape 11"/>
          <p:cNvSpPr/>
          <p:nvPr/>
        </p:nvSpPr>
        <p:spPr>
          <a:xfrm>
            <a:off x="8107680" y="1097280"/>
            <a:ext cx="3688080" cy="2743200"/>
          </a:xfrm>
          <a:prstGeom prst="roundRect">
            <a:avLst>
              <a:gd name="adj" fmla="val 3333"/>
            </a:avLst>
          </a:prstGeom>
          <a:solidFill>
            <a:srgbClr val="FFFFFF"/>
          </a:solidFill>
          <a:ln w="12700">
            <a:solidFill>
              <a:srgbClr val="DFE6E9"/>
            </a:solidFill>
            <a:prstDash val="solid"/>
          </a:ln>
        </p:spPr>
      </p:sp>
      <p:sp>
        <p:nvSpPr>
          <p:cNvPr id="14" name="Text 12"/>
          <p:cNvSpPr/>
          <p:nvPr/>
        </p:nvSpPr>
        <p:spPr>
          <a:xfrm>
            <a:off x="8244840" y="120700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DETERMINISTIC</a:t>
            </a:r>
            <a:endParaRPr lang="en-US" sz="800" dirty="0"/>
          </a:p>
        </p:txBody>
      </p:sp>
      <p:sp>
        <p:nvSpPr>
          <p:cNvPr id="15" name="Text 13"/>
          <p:cNvSpPr/>
          <p:nvPr/>
        </p:nvSpPr>
        <p:spPr>
          <a:xfrm>
            <a:off x="8244840" y="142646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Hooks intercept the call</a:t>
            </a:r>
            <a:endParaRPr lang="en-US" sz="1300" dirty="0"/>
          </a:p>
        </p:txBody>
      </p:sp>
      <p:sp>
        <p:nvSpPr>
          <p:cNvPr id="16" name="Text 14"/>
          <p:cNvSpPr/>
          <p:nvPr/>
        </p:nvSpPr>
        <p:spPr>
          <a:xfrm>
            <a:off x="8244840" y="1883664"/>
            <a:ext cx="3413760" cy="182880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System prompts &amp; rules instruct the model (probabilistic). Hooks intercept the tool call itself — Layer B from Act I’s ladder. It doesn’t negotiate.</a:t>
            </a:r>
            <a:endParaRPr lang="en-US" sz="1100" dirty="0"/>
          </a:p>
        </p:txBody>
      </p:sp>
      <p:sp>
        <p:nvSpPr>
          <p:cNvPr id="17" name="Shape 15"/>
          <p:cNvSpPr/>
          <p:nvPr/>
        </p:nvSpPr>
        <p:spPr>
          <a:xfrm>
            <a:off x="457200" y="4114800"/>
            <a:ext cx="11338560" cy="1371600"/>
          </a:xfrm>
          <a:prstGeom prst="roundRect">
            <a:avLst>
              <a:gd name="adj" fmla="val 6667"/>
            </a:avLst>
          </a:prstGeom>
          <a:solidFill>
            <a:srgbClr val="F4F7FA"/>
          </a:solidFill>
          <a:ln w="12700">
            <a:solidFill>
              <a:srgbClr val="DFE6E9"/>
            </a:solidFill>
            <a:prstDash val="solid"/>
          </a:ln>
        </p:spPr>
      </p:sp>
      <p:sp>
        <p:nvSpPr>
          <p:cNvPr id="18" name="Text 16"/>
          <p:cNvSpPr/>
          <p:nvPr/>
        </p:nvSpPr>
        <p:spPr>
          <a:xfrm>
            <a:off x="685800" y="4224528"/>
            <a:ext cx="10972800" cy="36576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Probabilistic guidance everywhere  ·  deterministic guardrails exactly where the risk is real</a:t>
            </a:r>
            <a:endParaRPr lang="en-US" sz="1300" dirty="0"/>
          </a:p>
        </p:txBody>
      </p:sp>
      <p:sp>
        <p:nvSpPr>
          <p:cNvPr id="19" name="Text 17"/>
          <p:cNvSpPr/>
          <p:nvPr/>
        </p:nvSpPr>
        <p:spPr>
          <a:xfrm>
            <a:off x="685800" y="4617720"/>
            <a:ext cx="10972800" cy="777240"/>
          </a:xfrm>
          <a:prstGeom prst="rect">
            <a:avLst/>
          </a:prstGeom>
          <a:noFill/>
          <a:ln/>
        </p:spPr>
        <p:txBody>
          <a:bodyPr wrap="square" rtlCol="0" anchor="ctr"/>
          <a:lstStyle/>
          <a:p>
            <a:pPr indent="0" marL="0">
              <a:buNone/>
            </a:pPr>
            <a:r>
              <a:rPr lang="en-US" sz="1200" dirty="0">
                <a:solidFill>
                  <a:srgbClr val="636E72"/>
                </a:solidFill>
                <a:latin typeface="Segoe UI" pitchFamily="34" charset="0"/>
                <a:ea typeface="Segoe UI" pitchFamily="34" charset="-122"/>
                <a:cs typeface="Segoe UI" pitchFamily="34" charset="-120"/>
              </a:rPr>
              <a:t>The skills and commands carry hard rules too, and the source-file consent model gates what the AI is even allowed to read.</a:t>
            </a:r>
            <a:endParaRPr lang="en-US" sz="1200" dirty="0"/>
          </a:p>
        </p:txBody>
      </p:sp>
      <p:sp>
        <p:nvSpPr>
          <p:cNvPr id="20" name="Text 18"/>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35 / 44</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5"/>
        </a:solidFill>
      </p:bgPr>
    </p:bg>
    <p:spTree>
      <p:nvGrpSpPr>
        <p:cNvPr id="1" name=""/>
        <p:cNvGrpSpPr/>
        <p:nvPr/>
      </p:nvGrpSpPr>
      <p:grpSpPr>
        <a:xfrm>
          <a:off x="0" y="0"/>
          <a:ext cx="0" cy="0"/>
          <a:chOff x="0" y="0"/>
          <a:chExt cx="0" cy="0"/>
        </a:xfrm>
      </p:grpSpPr>
      <p:sp>
        <p:nvSpPr>
          <p:cNvPr id="2" name="Text 0"/>
          <p:cNvSpPr/>
          <p:nvPr/>
        </p:nvSpPr>
        <p:spPr>
          <a:xfrm>
            <a:off x="365760" y="182880"/>
            <a:ext cx="2743200" cy="2286000"/>
          </a:xfrm>
          <a:prstGeom prst="rect">
            <a:avLst/>
          </a:prstGeom>
          <a:noFill/>
          <a:ln/>
        </p:spPr>
        <p:txBody>
          <a:bodyPr wrap="square" rtlCol="0" anchor="ctr"/>
          <a:lstStyle/>
          <a:p>
            <a:pPr indent="0" marL="0">
              <a:buNone/>
            </a:pPr>
            <a:r>
              <a:rPr lang="en-US" sz="12000" b="1" dirty="0">
                <a:solidFill>
                  <a:srgbClr val="1A3A5C"/>
                </a:solidFill>
                <a:latin typeface="Cascadia Code" pitchFamily="34" charset="0"/>
                <a:ea typeface="Cascadia Code" pitchFamily="34" charset="-122"/>
                <a:cs typeface="Cascadia Code" pitchFamily="34" charset="-120"/>
              </a:rPr>
              <a:t>V</a:t>
            </a:r>
            <a:endParaRPr lang="en-US" sz="12000" dirty="0"/>
          </a:p>
        </p:txBody>
      </p:sp>
      <p:sp>
        <p:nvSpPr>
          <p:cNvPr id="3" name="Text 1"/>
          <p:cNvSpPr/>
          <p:nvPr/>
        </p:nvSpPr>
        <p:spPr>
          <a:xfrm>
            <a:off x="548640" y="100584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ACT V · THE FIFTH ABSENCE</a:t>
            </a:r>
            <a:endParaRPr lang="en-US" sz="900" dirty="0"/>
          </a:p>
        </p:txBody>
      </p:sp>
      <p:sp>
        <p:nvSpPr>
          <p:cNvPr id="4" name="Text 2"/>
          <p:cNvSpPr/>
          <p:nvPr/>
        </p:nvSpPr>
        <p:spPr>
          <a:xfrm>
            <a:off x="548640" y="1371600"/>
            <a:ext cx="10515600" cy="12801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Observability — Proof, Not Trust</a:t>
            </a:r>
            <a:endParaRPr lang="en-US" sz="3200" dirty="0"/>
          </a:p>
        </p:txBody>
      </p:sp>
      <p:sp>
        <p:nvSpPr>
          <p:cNvPr id="5" name="Shape 3"/>
          <p:cNvSpPr/>
          <p:nvPr/>
        </p:nvSpPr>
        <p:spPr>
          <a:xfrm>
            <a:off x="548640" y="2743200"/>
            <a:ext cx="54864" cy="502920"/>
          </a:xfrm>
          <a:prstGeom prst="rect">
            <a:avLst/>
          </a:prstGeom>
          <a:solidFill>
            <a:srgbClr val="C8A951"/>
          </a:solidFill>
          <a:ln w="12700">
            <a:solidFill>
              <a:srgbClr val="C8A951"/>
            </a:solidFill>
            <a:prstDash val="solid"/>
          </a:ln>
        </p:spPr>
      </p:sp>
      <p:sp>
        <p:nvSpPr>
          <p:cNvPr id="6" name="Text 4"/>
          <p:cNvSpPr/>
          <p:nvPr/>
        </p:nvSpPr>
        <p:spPr>
          <a:xfrm>
            <a:off x="731520" y="2743200"/>
            <a:ext cx="10058400" cy="502920"/>
          </a:xfrm>
          <a:prstGeom prst="rect">
            <a:avLst/>
          </a:prstGeom>
          <a:noFill/>
          <a:ln/>
        </p:spPr>
        <p:txBody>
          <a:bodyPr wrap="square" rtlCol="0" anchor="ctr"/>
          <a:lstStyle/>
          <a:p>
            <a:pPr indent="0" marL="0">
              <a:buNone/>
            </a:pPr>
            <a:r>
              <a:rPr lang="en-US" sz="1500" i="1" dirty="0">
                <a:solidFill>
                  <a:srgbClr val="B7C6D6"/>
                </a:solidFill>
                <a:latin typeface="Segoe UI" pitchFamily="34" charset="0"/>
                <a:ea typeface="Segoe UI" pitchFamily="34" charset="-122"/>
                <a:cs typeface="Segoe UI" pitchFamily="34" charset="-120"/>
              </a:rPr>
              <a:t>"You’re accountable for what ships. “The AI said it’s fine” isn’t evidence."</a:t>
            </a:r>
            <a:endParaRPr lang="en-US" sz="1500" dirty="0"/>
          </a:p>
        </p:txBody>
      </p:sp>
      <p:sp>
        <p:nvSpPr>
          <p:cNvPr id="7" name="Text 5"/>
          <p:cNvSpPr/>
          <p:nvPr/>
        </p:nvSpPr>
        <p:spPr>
          <a:xfrm>
            <a:off x="548640" y="6309360"/>
            <a:ext cx="11064240" cy="228600"/>
          </a:xfrm>
          <a:prstGeom prst="rect">
            <a:avLst/>
          </a:prstGeom>
          <a:noFill/>
          <a:ln/>
        </p:spPr>
        <p:txBody>
          <a:bodyPr wrap="square" rtlCol="0" anchor="ctr"/>
          <a:lstStyle/>
          <a:p>
            <a:pPr algn="r" indent="0" marL="0">
              <a:buNone/>
            </a:pPr>
            <a:r>
              <a:rPr lang="en-US" sz="800" dirty="0">
                <a:solidFill>
                  <a:srgbClr val="3A5A7C"/>
                </a:solidFill>
                <a:latin typeface="Cascadia Code" pitchFamily="34" charset="0"/>
                <a:ea typeface="Cascadia Code" pitchFamily="34" charset="-122"/>
                <a:cs typeface="Cascadia Code" pitchFamily="34" charset="-120"/>
              </a:rPr>
              <a:t>ADRs 0004 · 0014 · 0015 · 0019 · 0020 · 0045</a:t>
            </a:r>
            <a:endParaRPr lang="en-US" sz="800" dirty="0"/>
          </a:p>
        </p:txBody>
      </p:sp>
      <p:sp>
        <p:nvSpPr>
          <p:cNvPr id="8" name="Text 6"/>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36 / 44</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failure mode: zero observability on the AI’s decisions</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548640" y="914400"/>
            <a:ext cx="10789920" cy="3291840"/>
          </a:xfrm>
          <a:prstGeom prst="rect">
            <a:avLst/>
          </a:prstGeom>
          <a:noFill/>
          <a:ln/>
        </p:spPr>
        <p:txBody>
          <a:bodyPr wrap="square" rtlCol="0" anchor="t"/>
          <a:lstStyle/>
          <a:p>
            <a:pPr>
              <a:spcAft>
                <a:spcPts val="600"/>
              </a:spcAft>
            </a:pPr>
            <a:r>
              <a:rPr lang="en-US" sz="1400" dirty="0">
                <a:solidFill>
                  <a:srgbClr val="2D3436"/>
                </a:solidFill>
                <a:latin typeface="Segoe UI" pitchFamily="34" charset="0"/>
                <a:ea typeface="Segoe UI" pitchFamily="34" charset="-122"/>
                <a:cs typeface="Segoe UI" pitchFamily="34" charset="-120"/>
              </a:rPr>
              <a:t>No audit trail of what the AI actually generated — and whether it was right.</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No line you could draw from a requirement to the code that satisfies it.</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No evidence that what shipped matched what was agreed.</a:t>
            </a:r>
            <a:endParaRPr lang="en-US" sz="1400" dirty="0"/>
          </a:p>
          <a:p>
            <a:pPr>
              <a:spcAft>
                <a:spcPts val="600"/>
              </a:spcAft>
            </a:pPr>
            <a:r>
              <a:rPr lang="en-US" sz="1400" dirty="0">
                <a:solidFill>
                  <a:srgbClr val="2D3436"/>
                </a:solidFill>
                <a:latin typeface="Segoe UI" pitchFamily="34" charset="0"/>
                <a:ea typeface="Segoe UI" pitchFamily="34" charset="-122"/>
                <a:cs typeface="Segoe UI" pitchFamily="34" charset="-120"/>
              </a:rPr>
              <a:t>When a finding was waved off, the reason went with it.</a:t>
            </a:r>
            <a:endParaRPr lang="en-US" sz="1400" dirty="0"/>
          </a:p>
        </p:txBody>
      </p:sp>
      <p:sp>
        <p:nvSpPr>
          <p:cNvPr id="6" name="Shape 4"/>
          <p:cNvSpPr/>
          <p:nvPr/>
        </p:nvSpPr>
        <p:spPr>
          <a:xfrm>
            <a:off x="457200" y="4297680"/>
            <a:ext cx="3657600" cy="1005840"/>
          </a:xfrm>
          <a:prstGeom prst="roundRect">
            <a:avLst>
              <a:gd name="adj" fmla="val 9091"/>
            </a:avLst>
          </a:prstGeom>
          <a:solidFill>
            <a:srgbClr val="FFF0ED"/>
          </a:solidFill>
          <a:ln w="12700">
            <a:solidFill>
              <a:srgbClr val="F3B4A8"/>
            </a:solidFill>
            <a:prstDash val="solid"/>
          </a:ln>
        </p:spPr>
      </p:sp>
      <p:sp>
        <p:nvSpPr>
          <p:cNvPr id="7" name="Text 5"/>
          <p:cNvSpPr/>
          <p:nvPr/>
        </p:nvSpPr>
        <p:spPr>
          <a:xfrm>
            <a:off x="594360" y="4389120"/>
            <a:ext cx="548640" cy="822960"/>
          </a:xfrm>
          <a:prstGeom prst="rect">
            <a:avLst/>
          </a:prstGeom>
          <a:noFill/>
          <a:ln/>
        </p:spPr>
        <p:txBody>
          <a:bodyPr wrap="square" rtlCol="0" anchor="ctr"/>
          <a:lstStyle/>
          <a:p>
            <a:pPr indent="0" marL="0">
              <a:buNone/>
            </a:pPr>
            <a:r>
              <a:rPr lang="en-US" sz="3400" b="1" dirty="0">
                <a:solidFill>
                  <a:srgbClr val="E17055"/>
                </a:solidFill>
                <a:latin typeface="Georgia" pitchFamily="34" charset="0"/>
                <a:ea typeface="Georgia" pitchFamily="34" charset="-122"/>
                <a:cs typeface="Georgia" pitchFamily="34" charset="-120"/>
              </a:rPr>
              <a:t>?</a:t>
            </a:r>
            <a:endParaRPr lang="en-US" sz="3400" dirty="0"/>
          </a:p>
        </p:txBody>
      </p:sp>
      <p:sp>
        <p:nvSpPr>
          <p:cNvPr id="8" name="Text 6"/>
          <p:cNvSpPr/>
          <p:nvPr/>
        </p:nvSpPr>
        <p:spPr>
          <a:xfrm>
            <a:off x="1234440" y="4389120"/>
            <a:ext cx="2743200" cy="822960"/>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what did it generate?</a:t>
            </a:r>
            <a:endParaRPr lang="en-US" sz="1200" dirty="0"/>
          </a:p>
        </p:txBody>
      </p:sp>
      <p:sp>
        <p:nvSpPr>
          <p:cNvPr id="9" name="Shape 7"/>
          <p:cNvSpPr/>
          <p:nvPr/>
        </p:nvSpPr>
        <p:spPr>
          <a:xfrm>
            <a:off x="4251960" y="4297680"/>
            <a:ext cx="3657600" cy="1005840"/>
          </a:xfrm>
          <a:prstGeom prst="roundRect">
            <a:avLst>
              <a:gd name="adj" fmla="val 9091"/>
            </a:avLst>
          </a:prstGeom>
          <a:solidFill>
            <a:srgbClr val="FFF0ED"/>
          </a:solidFill>
          <a:ln w="12700">
            <a:solidFill>
              <a:srgbClr val="F3B4A8"/>
            </a:solidFill>
            <a:prstDash val="solid"/>
          </a:ln>
        </p:spPr>
      </p:sp>
      <p:sp>
        <p:nvSpPr>
          <p:cNvPr id="10" name="Text 8"/>
          <p:cNvSpPr/>
          <p:nvPr/>
        </p:nvSpPr>
        <p:spPr>
          <a:xfrm>
            <a:off x="4389120" y="4389120"/>
            <a:ext cx="548640" cy="822960"/>
          </a:xfrm>
          <a:prstGeom prst="rect">
            <a:avLst/>
          </a:prstGeom>
          <a:noFill/>
          <a:ln/>
        </p:spPr>
        <p:txBody>
          <a:bodyPr wrap="square" rtlCol="0" anchor="ctr"/>
          <a:lstStyle/>
          <a:p>
            <a:pPr indent="0" marL="0">
              <a:buNone/>
            </a:pPr>
            <a:r>
              <a:rPr lang="en-US" sz="3400" b="1" dirty="0">
                <a:solidFill>
                  <a:srgbClr val="E17055"/>
                </a:solidFill>
                <a:latin typeface="Georgia" pitchFamily="34" charset="0"/>
                <a:ea typeface="Georgia" pitchFamily="34" charset="-122"/>
                <a:cs typeface="Georgia" pitchFamily="34" charset="-120"/>
              </a:rPr>
              <a:t>?</a:t>
            </a:r>
            <a:endParaRPr lang="en-US" sz="3400" dirty="0"/>
          </a:p>
        </p:txBody>
      </p:sp>
      <p:sp>
        <p:nvSpPr>
          <p:cNvPr id="11" name="Text 9"/>
          <p:cNvSpPr/>
          <p:nvPr/>
        </p:nvSpPr>
        <p:spPr>
          <a:xfrm>
            <a:off x="5029200" y="4389120"/>
            <a:ext cx="2743200" cy="822960"/>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does it match what we agreed?</a:t>
            </a:r>
            <a:endParaRPr lang="en-US" sz="1200" dirty="0"/>
          </a:p>
        </p:txBody>
      </p:sp>
      <p:sp>
        <p:nvSpPr>
          <p:cNvPr id="12" name="Shape 10"/>
          <p:cNvSpPr/>
          <p:nvPr/>
        </p:nvSpPr>
        <p:spPr>
          <a:xfrm>
            <a:off x="8046720" y="4297680"/>
            <a:ext cx="3657600" cy="1005840"/>
          </a:xfrm>
          <a:prstGeom prst="roundRect">
            <a:avLst>
              <a:gd name="adj" fmla="val 9091"/>
            </a:avLst>
          </a:prstGeom>
          <a:solidFill>
            <a:srgbClr val="FFF0ED"/>
          </a:solidFill>
          <a:ln w="12700">
            <a:solidFill>
              <a:srgbClr val="F3B4A8"/>
            </a:solidFill>
            <a:prstDash val="solid"/>
          </a:ln>
        </p:spPr>
      </p:sp>
      <p:sp>
        <p:nvSpPr>
          <p:cNvPr id="13" name="Text 11"/>
          <p:cNvSpPr/>
          <p:nvPr/>
        </p:nvSpPr>
        <p:spPr>
          <a:xfrm>
            <a:off x="8183880" y="4389120"/>
            <a:ext cx="548640" cy="822960"/>
          </a:xfrm>
          <a:prstGeom prst="rect">
            <a:avLst/>
          </a:prstGeom>
          <a:noFill/>
          <a:ln/>
        </p:spPr>
        <p:txBody>
          <a:bodyPr wrap="square" rtlCol="0" anchor="ctr"/>
          <a:lstStyle/>
          <a:p>
            <a:pPr indent="0" marL="0">
              <a:buNone/>
            </a:pPr>
            <a:r>
              <a:rPr lang="en-US" sz="3400" b="1" dirty="0">
                <a:solidFill>
                  <a:srgbClr val="E17055"/>
                </a:solidFill>
                <a:latin typeface="Georgia" pitchFamily="34" charset="0"/>
                <a:ea typeface="Georgia" pitchFamily="34" charset="-122"/>
                <a:cs typeface="Georgia" pitchFamily="34" charset="-120"/>
              </a:rPr>
              <a:t>?</a:t>
            </a:r>
            <a:endParaRPr lang="en-US" sz="3400" dirty="0"/>
          </a:p>
        </p:txBody>
      </p:sp>
      <p:sp>
        <p:nvSpPr>
          <p:cNvPr id="14" name="Text 12"/>
          <p:cNvSpPr/>
          <p:nvPr/>
        </p:nvSpPr>
        <p:spPr>
          <a:xfrm>
            <a:off x="8823960" y="4389120"/>
            <a:ext cx="2743200" cy="822960"/>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what did we choose to ignore?</a:t>
            </a:r>
            <a:endParaRPr lang="en-US" sz="1200" dirty="0"/>
          </a:p>
        </p:txBody>
      </p:sp>
      <p:sp>
        <p:nvSpPr>
          <p:cNvPr id="15" name="Text 13"/>
          <p:cNvSpPr/>
          <p:nvPr/>
        </p:nvSpPr>
        <p:spPr>
          <a:xfrm>
            <a:off x="457200" y="5486400"/>
            <a:ext cx="11247120" cy="365760"/>
          </a:xfrm>
          <a:prstGeom prst="rect">
            <a:avLst/>
          </a:prstGeom>
          <a:noFill/>
          <a:ln/>
        </p:spPr>
        <p:txBody>
          <a:bodyPr wrap="square" rtlCol="0" anchor="ctr"/>
          <a:lstStyle/>
          <a:p>
            <a:pPr algn="ctr" indent="0" marL="0">
              <a:buNone/>
            </a:pPr>
            <a:r>
              <a:rPr lang="en-US" sz="1300" i="1" dirty="0">
                <a:solidFill>
                  <a:srgbClr val="636E72"/>
                </a:solidFill>
                <a:latin typeface="Segoe UI" pitchFamily="34" charset="0"/>
                <a:ea typeface="Segoe UI" pitchFamily="34" charset="-122"/>
                <a:cs typeface="Segoe UI" pitchFamily="34" charset="-120"/>
              </a:rPr>
              <a:t>Accountable — with trust as the only instrument. Trust doesn’t survive an audit.</a:t>
            </a:r>
            <a:endParaRPr lang="en-US" sz="1300" dirty="0"/>
          </a:p>
        </p:txBody>
      </p:sp>
      <p:sp>
        <p:nvSpPr>
          <p:cNvPr id="16" name="Text 14"/>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37 / 44</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Traceability: from a requirement to the shipped line</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457200" y="868680"/>
            <a:ext cx="11247120" cy="411480"/>
          </a:xfrm>
          <a:prstGeom prst="rect">
            <a:avLst/>
          </a:prstGeom>
          <a:noFill/>
          <a:ln/>
        </p:spPr>
        <p:txBody>
          <a:bodyPr wrap="square" rtlCol="0" anchor="ctr"/>
          <a:lstStyle/>
          <a:p>
            <a:pPr indent="0" marL="0">
              <a:buNone/>
            </a:pPr>
            <a:r>
              <a:rPr lang="en-US" sz="1400" i="1" dirty="0">
                <a:solidFill>
                  <a:srgbClr val="636E72"/>
                </a:solidFill>
                <a:latin typeface="Segoe UI" pitchFamily="34" charset="0"/>
                <a:ea typeface="Segoe UI" pitchFamily="34" charset="-122"/>
                <a:cs typeface="Segoe UI" pitchFamily="34" charset="-120"/>
              </a:rPr>
              <a:t>Can you prove you built what you agreed — and only that? Every Acceptance Criterion maps forward.</a:t>
            </a:r>
            <a:endParaRPr lang="en-US" sz="1400" dirty="0"/>
          </a:p>
        </p:txBody>
      </p:sp>
      <p:sp>
        <p:nvSpPr>
          <p:cNvPr id="6" name="Shape 4"/>
          <p:cNvSpPr/>
          <p:nvPr/>
        </p:nvSpPr>
        <p:spPr>
          <a:xfrm>
            <a:off x="274320" y="1737360"/>
            <a:ext cx="2651760" cy="548640"/>
          </a:xfrm>
          <a:prstGeom prst="roundRect">
            <a:avLst>
              <a:gd name="adj" fmla="val 11667"/>
            </a:avLst>
          </a:prstGeom>
          <a:solidFill>
            <a:srgbClr val="FFFFFF"/>
          </a:solidFill>
          <a:ln w="12700">
            <a:solidFill>
              <a:srgbClr val="DFE6E9"/>
            </a:solidFill>
            <a:prstDash val="solid"/>
          </a:ln>
        </p:spPr>
      </p:sp>
      <p:sp>
        <p:nvSpPr>
          <p:cNvPr id="7" name="Text 5"/>
          <p:cNvSpPr/>
          <p:nvPr/>
        </p:nvSpPr>
        <p:spPr>
          <a:xfrm>
            <a:off x="274320" y="1737360"/>
            <a:ext cx="265176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ICEA</a:t>
            </a:r>
            <a:endParaRPr lang="en-US" sz="950" dirty="0"/>
          </a:p>
          <a:p>
            <a:pPr algn="ctr" indent="0" marL="0">
              <a:buNone/>
            </a:pPr>
            <a:r>
              <a:rPr lang="en-US" sz="950" b="1" dirty="0">
                <a:solidFill>
                  <a:srgbClr val="1A3A5C"/>
                </a:solidFill>
                <a:latin typeface="Segoe UI" pitchFamily="34" charset="0"/>
                <a:ea typeface="Segoe UI" pitchFamily="34" charset="-122"/>
                <a:cs typeface="Segoe UI" pitchFamily="34" charset="-120"/>
              </a:rPr>
              <a:t>Acceptance Criterion</a:t>
            </a:r>
            <a:endParaRPr lang="en-US" sz="950" dirty="0"/>
          </a:p>
        </p:txBody>
      </p:sp>
      <p:sp>
        <p:nvSpPr>
          <p:cNvPr id="8" name="Text 6"/>
          <p:cNvSpPr/>
          <p:nvPr/>
        </p:nvSpPr>
        <p:spPr>
          <a:xfrm>
            <a:off x="2926080" y="173736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9" name="Shape 7"/>
          <p:cNvSpPr/>
          <p:nvPr/>
        </p:nvSpPr>
        <p:spPr>
          <a:xfrm>
            <a:off x="3291840" y="1737360"/>
            <a:ext cx="2651760" cy="548640"/>
          </a:xfrm>
          <a:prstGeom prst="roundRect">
            <a:avLst>
              <a:gd name="adj" fmla="val 11667"/>
            </a:avLst>
          </a:prstGeom>
          <a:solidFill>
            <a:srgbClr val="FFFFFF"/>
          </a:solidFill>
          <a:ln w="12700">
            <a:solidFill>
              <a:srgbClr val="DFE6E9"/>
            </a:solidFill>
            <a:prstDash val="solid"/>
          </a:ln>
        </p:spPr>
      </p:sp>
      <p:sp>
        <p:nvSpPr>
          <p:cNvPr id="10" name="Text 8"/>
          <p:cNvSpPr/>
          <p:nvPr/>
        </p:nvSpPr>
        <p:spPr>
          <a:xfrm>
            <a:off x="3291840" y="1737360"/>
            <a:ext cx="265176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ADO</a:t>
            </a:r>
            <a:endParaRPr lang="en-US" sz="950" dirty="0"/>
          </a:p>
          <a:p>
            <a:pPr algn="ctr" indent="0" marL="0">
              <a:buNone/>
            </a:pPr>
            <a:r>
              <a:rPr lang="en-US" sz="950" b="1" dirty="0">
                <a:solidFill>
                  <a:srgbClr val="1A3A5C"/>
                </a:solidFill>
                <a:latin typeface="Segoe UI" pitchFamily="34" charset="0"/>
                <a:ea typeface="Segoe UI" pitchFamily="34" charset="-122"/>
                <a:cs typeface="Segoe UI" pitchFamily="34" charset="-120"/>
              </a:rPr>
              <a:t>task</a:t>
            </a:r>
            <a:endParaRPr lang="en-US" sz="950" dirty="0"/>
          </a:p>
        </p:txBody>
      </p:sp>
      <p:sp>
        <p:nvSpPr>
          <p:cNvPr id="11" name="Text 9"/>
          <p:cNvSpPr/>
          <p:nvPr/>
        </p:nvSpPr>
        <p:spPr>
          <a:xfrm>
            <a:off x="5943600" y="173736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2" name="Shape 10"/>
          <p:cNvSpPr/>
          <p:nvPr/>
        </p:nvSpPr>
        <p:spPr>
          <a:xfrm>
            <a:off x="6309360" y="1737360"/>
            <a:ext cx="2651760" cy="548640"/>
          </a:xfrm>
          <a:prstGeom prst="roundRect">
            <a:avLst>
              <a:gd name="adj" fmla="val 11667"/>
            </a:avLst>
          </a:prstGeom>
          <a:solidFill>
            <a:srgbClr val="FFFFFF"/>
          </a:solidFill>
          <a:ln w="12700">
            <a:solidFill>
              <a:srgbClr val="DFE6E9"/>
            </a:solidFill>
            <a:prstDash val="solid"/>
          </a:ln>
        </p:spPr>
      </p:sp>
      <p:sp>
        <p:nvSpPr>
          <p:cNvPr id="13" name="Text 11"/>
          <p:cNvSpPr/>
          <p:nvPr/>
        </p:nvSpPr>
        <p:spPr>
          <a:xfrm>
            <a:off x="6309360" y="1737360"/>
            <a:ext cx="2651760" cy="548640"/>
          </a:xfrm>
          <a:prstGeom prst="rect">
            <a:avLst/>
          </a:prstGeom>
          <a:noFill/>
          <a:ln/>
        </p:spPr>
        <p:txBody>
          <a:bodyPr wrap="square" rtlCol="0" anchor="ctr"/>
          <a:lstStyle/>
          <a:p>
            <a:pPr algn="ctr" indent="0" marL="0">
              <a:buNone/>
            </a:pPr>
            <a:r>
              <a:rPr lang="en-US" sz="950" b="1" dirty="0">
                <a:solidFill>
                  <a:srgbClr val="1A3A5C"/>
                </a:solidFill>
                <a:latin typeface="Segoe UI" pitchFamily="34" charset="0"/>
                <a:ea typeface="Segoe UI" pitchFamily="34" charset="-122"/>
                <a:cs typeface="Segoe UI" pitchFamily="34" charset="-120"/>
              </a:rPr>
              <a:t>changed</a:t>
            </a:r>
            <a:endParaRPr lang="en-US" sz="950" dirty="0"/>
          </a:p>
          <a:p>
            <a:pPr algn="ctr" indent="0" marL="0">
              <a:buNone/>
            </a:pPr>
            <a:r>
              <a:rPr lang="en-US" sz="950" b="1" dirty="0">
                <a:solidFill>
                  <a:srgbClr val="1A3A5C"/>
                </a:solidFill>
                <a:latin typeface="Segoe UI" pitchFamily="34" charset="0"/>
                <a:ea typeface="Segoe UI" pitchFamily="34" charset="-122"/>
                <a:cs typeface="Segoe UI" pitchFamily="34" charset="-120"/>
              </a:rPr>
              <a:t>file</a:t>
            </a:r>
            <a:endParaRPr lang="en-US" sz="950" dirty="0"/>
          </a:p>
        </p:txBody>
      </p:sp>
      <p:sp>
        <p:nvSpPr>
          <p:cNvPr id="14" name="Text 12"/>
          <p:cNvSpPr/>
          <p:nvPr/>
        </p:nvSpPr>
        <p:spPr>
          <a:xfrm>
            <a:off x="8961120" y="1737360"/>
            <a:ext cx="365760" cy="548640"/>
          </a:xfrm>
          <a:prstGeom prst="rect">
            <a:avLst/>
          </a:prstGeom>
          <a:noFill/>
          <a:ln/>
        </p:spPr>
        <p:txBody>
          <a:bodyPr wrap="square" rtlCol="0" anchor="ctr"/>
          <a:lstStyle/>
          <a:p>
            <a:pPr algn="ctr" indent="0" marL="0">
              <a:buNone/>
            </a:pPr>
            <a:r>
              <a:rPr lang="en-US" sz="1400" b="1" dirty="0">
                <a:solidFill>
                  <a:srgbClr val="C8A951"/>
                </a:solidFill>
                <a:latin typeface="Segoe UI" pitchFamily="34" charset="0"/>
                <a:ea typeface="Segoe UI" pitchFamily="34" charset="-122"/>
                <a:cs typeface="Segoe UI" pitchFamily="34" charset="-120"/>
              </a:rPr>
              <a:t>→</a:t>
            </a:r>
            <a:endParaRPr lang="en-US" sz="1400" dirty="0"/>
          </a:p>
        </p:txBody>
      </p:sp>
      <p:sp>
        <p:nvSpPr>
          <p:cNvPr id="15" name="Shape 13"/>
          <p:cNvSpPr/>
          <p:nvPr/>
        </p:nvSpPr>
        <p:spPr>
          <a:xfrm>
            <a:off x="9326880" y="1737360"/>
            <a:ext cx="2651760" cy="548640"/>
          </a:xfrm>
          <a:prstGeom prst="roundRect">
            <a:avLst>
              <a:gd name="adj" fmla="val 11667"/>
            </a:avLst>
          </a:prstGeom>
          <a:solidFill>
            <a:srgbClr val="00B894"/>
          </a:solidFill>
          <a:ln w="12700">
            <a:solidFill>
              <a:srgbClr val="00B894"/>
            </a:solidFill>
            <a:prstDash val="solid"/>
          </a:ln>
        </p:spPr>
      </p:sp>
      <p:sp>
        <p:nvSpPr>
          <p:cNvPr id="16" name="Text 14"/>
          <p:cNvSpPr/>
          <p:nvPr/>
        </p:nvSpPr>
        <p:spPr>
          <a:xfrm>
            <a:off x="9326880" y="1737360"/>
            <a:ext cx="2651760" cy="54864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the exact</a:t>
            </a:r>
            <a:endParaRPr lang="en-US" sz="950" dirty="0"/>
          </a:p>
          <a:p>
            <a:pPr algn="ctr" indent="0" marL="0">
              <a:buNone/>
            </a:pPr>
            <a:r>
              <a:rPr lang="en-US" sz="950" b="1" dirty="0">
                <a:solidFill>
                  <a:srgbClr val="FFFFFF"/>
                </a:solidFill>
                <a:latin typeface="Segoe UI" pitchFamily="34" charset="0"/>
                <a:ea typeface="Segoe UI" pitchFamily="34" charset="-122"/>
                <a:cs typeface="Segoe UI" pitchFamily="34" charset="-120"/>
              </a:rPr>
              <a:t>line</a:t>
            </a:r>
            <a:endParaRPr lang="en-US" sz="950" dirty="0"/>
          </a:p>
        </p:txBody>
      </p:sp>
      <p:sp>
        <p:nvSpPr>
          <p:cNvPr id="17" name="Shape 15"/>
          <p:cNvSpPr/>
          <p:nvPr/>
        </p:nvSpPr>
        <p:spPr>
          <a:xfrm>
            <a:off x="548640" y="2834640"/>
            <a:ext cx="5486400" cy="2286000"/>
          </a:xfrm>
          <a:prstGeom prst="roundRect">
            <a:avLst>
              <a:gd name="adj" fmla="val 4000"/>
            </a:avLst>
          </a:prstGeom>
          <a:solidFill>
            <a:srgbClr val="EEFAF6"/>
          </a:solidFill>
          <a:ln w="12700">
            <a:solidFill>
              <a:srgbClr val="00B894"/>
            </a:solidFill>
            <a:prstDash val="solid"/>
          </a:ln>
        </p:spPr>
      </p:sp>
      <p:sp>
        <p:nvSpPr>
          <p:cNvPr id="18" name="Text 16"/>
          <p:cNvSpPr/>
          <p:nvPr/>
        </p:nvSpPr>
        <p:spPr>
          <a:xfrm>
            <a:off x="777240" y="2971800"/>
            <a:ext cx="5029200" cy="274320"/>
          </a:xfrm>
          <a:prstGeom prst="rect">
            <a:avLst/>
          </a:prstGeom>
          <a:noFill/>
          <a:ln/>
        </p:spPr>
        <p:txBody>
          <a:bodyPr wrap="square" rtlCol="0" anchor="ctr"/>
          <a:lstStyle/>
          <a:p>
            <a:pPr indent="0" marL="0">
              <a:buNone/>
            </a:pPr>
            <a:r>
              <a:rPr lang="en-US" sz="1000" b="1" spc="100" kern="0" dirty="0">
                <a:solidFill>
                  <a:srgbClr val="00B894"/>
                </a:solidFill>
                <a:latin typeface="Cascadia Code" pitchFamily="34" charset="0"/>
                <a:ea typeface="Cascadia Code" pitchFamily="34" charset="-122"/>
                <a:cs typeface="Cascadia Code" pitchFamily="34" charset="-120"/>
              </a:rPr>
              <a:t>✅ TRACED</a:t>
            </a:r>
            <a:endParaRPr lang="en-US" sz="1000" dirty="0"/>
          </a:p>
        </p:txBody>
      </p:sp>
      <p:sp>
        <p:nvSpPr>
          <p:cNvPr id="19" name="Text 17"/>
          <p:cNvSpPr/>
          <p:nvPr/>
        </p:nvSpPr>
        <p:spPr>
          <a:xfrm>
            <a:off x="777240" y="3291840"/>
            <a:ext cx="5029200" cy="1645920"/>
          </a:xfrm>
          <a:prstGeom prst="rect">
            <a:avLst/>
          </a:prstGeom>
          <a:noFill/>
          <a:ln/>
        </p:spPr>
        <p:txBody>
          <a:bodyPr wrap="square" rtlCol="0" anchor="t"/>
          <a:lstStyle/>
          <a:p>
            <a:pPr indent="0" marL="0">
              <a:buNone/>
            </a:pPr>
            <a:r>
              <a:rPr lang="en-US" sz="1300" dirty="0">
                <a:solidFill>
                  <a:srgbClr val="2D3436"/>
                </a:solidFill>
                <a:latin typeface="Segoe UI" pitchFamily="34" charset="0"/>
                <a:ea typeface="Segoe UI" pitchFamily="34" charset="-122"/>
                <a:cs typeface="Segoe UI" pitchFamily="34" charset="-120"/>
              </a:rPr>
              <a:t>This AC → satisfied here. The compliance report draws the line for you.</a:t>
            </a:r>
            <a:endParaRPr lang="en-US" sz="1300" dirty="0"/>
          </a:p>
        </p:txBody>
      </p:sp>
      <p:sp>
        <p:nvSpPr>
          <p:cNvPr id="20" name="Shape 18"/>
          <p:cNvSpPr/>
          <p:nvPr/>
        </p:nvSpPr>
        <p:spPr>
          <a:xfrm>
            <a:off x="6263640" y="2834640"/>
            <a:ext cx="5486400" cy="2286000"/>
          </a:xfrm>
          <a:prstGeom prst="roundRect">
            <a:avLst>
              <a:gd name="adj" fmla="val 4000"/>
            </a:avLst>
          </a:prstGeom>
          <a:solidFill>
            <a:srgbClr val="FFF0ED"/>
          </a:solidFill>
          <a:ln w="12700">
            <a:solidFill>
              <a:srgbClr val="E17055"/>
            </a:solidFill>
            <a:prstDash val="solid"/>
          </a:ln>
        </p:spPr>
      </p:sp>
      <p:sp>
        <p:nvSpPr>
          <p:cNvPr id="21" name="Text 19"/>
          <p:cNvSpPr/>
          <p:nvPr/>
        </p:nvSpPr>
        <p:spPr>
          <a:xfrm>
            <a:off x="6492240" y="2971800"/>
            <a:ext cx="5029200" cy="274320"/>
          </a:xfrm>
          <a:prstGeom prst="rect">
            <a:avLst/>
          </a:prstGeom>
          <a:noFill/>
          <a:ln/>
        </p:spPr>
        <p:txBody>
          <a:bodyPr wrap="square" rtlCol="0" anchor="ctr"/>
          <a:lstStyle/>
          <a:p>
            <a:pPr indent="0" marL="0">
              <a:buNone/>
            </a:pPr>
            <a:r>
              <a:rPr lang="en-US" sz="1000" b="1" spc="100" kern="0" dirty="0">
                <a:solidFill>
                  <a:srgbClr val="E17055"/>
                </a:solidFill>
                <a:latin typeface="Cascadia Code" pitchFamily="34" charset="0"/>
                <a:ea typeface="Cascadia Code" pitchFamily="34" charset="-122"/>
                <a:cs typeface="Cascadia Code" pitchFamily="34" charset="-120"/>
              </a:rPr>
              <a:t>❌ SCOPE CREEP</a:t>
            </a:r>
            <a:endParaRPr lang="en-US" sz="1000" dirty="0"/>
          </a:p>
        </p:txBody>
      </p:sp>
      <p:sp>
        <p:nvSpPr>
          <p:cNvPr id="22" name="Text 20"/>
          <p:cNvSpPr/>
          <p:nvPr/>
        </p:nvSpPr>
        <p:spPr>
          <a:xfrm>
            <a:off x="6492240" y="3291840"/>
            <a:ext cx="5029200" cy="1645920"/>
          </a:xfrm>
          <a:prstGeom prst="rect">
            <a:avLst/>
          </a:prstGeom>
          <a:noFill/>
          <a:ln/>
        </p:spPr>
        <p:txBody>
          <a:bodyPr wrap="square" rtlCol="0" anchor="t"/>
          <a:lstStyle/>
          <a:p>
            <a:pPr indent="0" marL="0">
              <a:buNone/>
            </a:pPr>
            <a:r>
              <a:rPr lang="en-US" sz="1300" dirty="0">
                <a:solidFill>
                  <a:srgbClr val="2D3436"/>
                </a:solidFill>
                <a:latin typeface="Segoe UI" pitchFamily="34" charset="0"/>
                <a:ea typeface="Segoe UI" pitchFamily="34" charset="-122"/>
                <a:cs typeface="Segoe UI" pitchFamily="34" charset="-120"/>
              </a:rPr>
              <a:t>This file traces to no AC — flagged. Something got built that nobody agreed to.</a:t>
            </a:r>
            <a:endParaRPr lang="en-US" sz="1300" dirty="0"/>
          </a:p>
        </p:txBody>
      </p:sp>
      <p:sp>
        <p:nvSpPr>
          <p:cNvPr id="23" name="Text 21"/>
          <p:cNvSpPr/>
          <p:nvPr/>
        </p:nvSpPr>
        <p:spPr>
          <a:xfrm>
            <a:off x="457200" y="5349240"/>
            <a:ext cx="11247120" cy="365760"/>
          </a:xfrm>
          <a:prstGeom prst="rect">
            <a:avLst/>
          </a:prstGeom>
          <a:noFill/>
          <a:ln/>
        </p:spPr>
        <p:txBody>
          <a:bodyPr wrap="square" rtlCol="0" anchor="ctr"/>
          <a:lstStyle/>
          <a:p>
            <a:pPr algn="ctr" indent="0" marL="0">
              <a:buNone/>
            </a:pPr>
            <a:r>
              <a:rPr lang="en-US" sz="1200" i="1" dirty="0">
                <a:solidFill>
                  <a:srgbClr val="636E72"/>
                </a:solidFill>
                <a:latin typeface="Segoe UI" pitchFamily="34" charset="0"/>
                <a:ea typeface="Segoe UI" pitchFamily="34" charset="-122"/>
                <a:cs typeface="Segoe UI" pitchFamily="34" charset="-120"/>
              </a:rPr>
              <a:t>“Did we build what we agreed, and only what we agreed?” — a matter of evidence, not opinion.</a:t>
            </a:r>
            <a:endParaRPr lang="en-US" sz="1200" dirty="0"/>
          </a:p>
        </p:txBody>
      </p:sp>
      <p:sp>
        <p:nvSpPr>
          <p:cNvPr id="24" name="Text 22"/>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38 / 44</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Every finding has a life you can audit</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PERSISTENT LEDGERS  ·  ADR 0014</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"A dismissal is a claim about specific code — so the moment that code changes, the finding re-opens automatically. You can’t bury it by dismissing it once."</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One schema across three ledgers: Open · Fixed (who/when/git ref) · Dismissed (reason + justification) · Baseline (never gates). /fix FP-xxxxxxxx works across all three.</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0014</a:t>
            </a:r>
            <a:endParaRPr lang="en-US" sz="800" dirty="0"/>
          </a:p>
        </p:txBody>
      </p:sp>
      <p:sp>
        <p:nvSpPr>
          <p:cNvPr id="11" name="Shape 9"/>
          <p:cNvSpPr/>
          <p:nvPr/>
        </p:nvSpPr>
        <p:spPr>
          <a:xfrm>
            <a:off x="457200" y="2926080"/>
            <a:ext cx="3688080" cy="1691640"/>
          </a:xfrm>
          <a:prstGeom prst="roundRect">
            <a:avLst>
              <a:gd name="adj" fmla="val 5405"/>
            </a:avLst>
          </a:prstGeom>
          <a:solidFill>
            <a:srgbClr val="FFFFFF"/>
          </a:solidFill>
          <a:ln w="12700">
            <a:solidFill>
              <a:srgbClr val="DFE6E9"/>
            </a:solidFill>
            <a:prstDash val="solid"/>
          </a:ln>
        </p:spPr>
      </p:sp>
      <p:sp>
        <p:nvSpPr>
          <p:cNvPr id="12" name="Text 10"/>
          <p:cNvSpPr/>
          <p:nvPr/>
        </p:nvSpPr>
        <p:spPr>
          <a:xfrm>
            <a:off x="594360" y="303580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CODE-REVIEW</a:t>
            </a:r>
            <a:endParaRPr lang="en-US" sz="800" dirty="0"/>
          </a:p>
        </p:txBody>
      </p:sp>
      <p:sp>
        <p:nvSpPr>
          <p:cNvPr id="13" name="Text 11"/>
          <p:cNvSpPr/>
          <p:nvPr/>
        </p:nvSpPr>
        <p:spPr>
          <a:xfrm>
            <a:off x="594360" y="325526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code-review-ledger.md</a:t>
            </a:r>
            <a:endParaRPr lang="en-US" sz="1300" dirty="0"/>
          </a:p>
        </p:txBody>
      </p:sp>
      <p:sp>
        <p:nvSpPr>
          <p:cNvPr id="14" name="Text 12"/>
          <p:cNvSpPr/>
          <p:nvPr/>
        </p:nvSpPr>
        <p:spPr>
          <a:xfrm>
            <a:off x="594360" y="3712464"/>
            <a:ext cx="3413760" cy="77724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Static analysis findings, FP-fingerprinted. Cache-aware rescan.</a:t>
            </a:r>
            <a:endParaRPr lang="en-US" sz="1100" dirty="0"/>
          </a:p>
        </p:txBody>
      </p:sp>
      <p:sp>
        <p:nvSpPr>
          <p:cNvPr id="15" name="Shape 13"/>
          <p:cNvSpPr/>
          <p:nvPr/>
        </p:nvSpPr>
        <p:spPr>
          <a:xfrm>
            <a:off x="4282440" y="2926080"/>
            <a:ext cx="3688080" cy="1691640"/>
          </a:xfrm>
          <a:prstGeom prst="roundRect">
            <a:avLst>
              <a:gd name="adj" fmla="val 5405"/>
            </a:avLst>
          </a:prstGeom>
          <a:solidFill>
            <a:srgbClr val="FFFFFF"/>
          </a:solidFill>
          <a:ln w="12700">
            <a:solidFill>
              <a:srgbClr val="DFE6E9"/>
            </a:solidFill>
            <a:prstDash val="solid"/>
          </a:ln>
        </p:spPr>
      </p:sp>
      <p:sp>
        <p:nvSpPr>
          <p:cNvPr id="16" name="Text 14"/>
          <p:cNvSpPr/>
          <p:nvPr/>
        </p:nvSpPr>
        <p:spPr>
          <a:xfrm>
            <a:off x="4419600" y="303580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SECURITY</a:t>
            </a:r>
            <a:endParaRPr lang="en-US" sz="800" dirty="0"/>
          </a:p>
        </p:txBody>
      </p:sp>
      <p:sp>
        <p:nvSpPr>
          <p:cNvPr id="17" name="Text 15"/>
          <p:cNvSpPr/>
          <p:nvPr/>
        </p:nvSpPr>
        <p:spPr>
          <a:xfrm>
            <a:off x="4419600" y="325526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security-ledger.md</a:t>
            </a:r>
            <a:endParaRPr lang="en-US" sz="1300" dirty="0"/>
          </a:p>
        </p:txBody>
      </p:sp>
      <p:sp>
        <p:nvSpPr>
          <p:cNvPr id="18" name="Text 16"/>
          <p:cNvSpPr/>
          <p:nvPr/>
        </p:nvSpPr>
        <p:spPr>
          <a:xfrm>
            <a:off x="4419600" y="3712464"/>
            <a:ext cx="3413760" cy="77724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OWASP/CWE/CVSS with B1–B7 business-context escalation.</a:t>
            </a:r>
            <a:endParaRPr lang="en-US" sz="1100" dirty="0"/>
          </a:p>
        </p:txBody>
      </p:sp>
      <p:sp>
        <p:nvSpPr>
          <p:cNvPr id="19" name="Shape 17"/>
          <p:cNvSpPr/>
          <p:nvPr/>
        </p:nvSpPr>
        <p:spPr>
          <a:xfrm>
            <a:off x="8107680" y="2926080"/>
            <a:ext cx="3688080" cy="1691640"/>
          </a:xfrm>
          <a:prstGeom prst="roundRect">
            <a:avLst>
              <a:gd name="adj" fmla="val 5405"/>
            </a:avLst>
          </a:prstGeom>
          <a:solidFill>
            <a:srgbClr val="FFFFFF"/>
          </a:solidFill>
          <a:ln w="12700">
            <a:solidFill>
              <a:srgbClr val="DFE6E9"/>
            </a:solidFill>
            <a:prstDash val="solid"/>
          </a:ln>
        </p:spPr>
      </p:sp>
      <p:sp>
        <p:nvSpPr>
          <p:cNvPr id="20" name="Text 18"/>
          <p:cNvSpPr/>
          <p:nvPr/>
        </p:nvSpPr>
        <p:spPr>
          <a:xfrm>
            <a:off x="8244840" y="303580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DYNAMIC-SCAN</a:t>
            </a:r>
            <a:endParaRPr lang="en-US" sz="800" dirty="0"/>
          </a:p>
        </p:txBody>
      </p:sp>
      <p:sp>
        <p:nvSpPr>
          <p:cNvPr id="21" name="Text 19"/>
          <p:cNvSpPr/>
          <p:nvPr/>
        </p:nvSpPr>
        <p:spPr>
          <a:xfrm>
            <a:off x="8244840" y="325526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dynamic-scan-ledger.md</a:t>
            </a:r>
            <a:endParaRPr lang="en-US" sz="1300" dirty="0"/>
          </a:p>
        </p:txBody>
      </p:sp>
      <p:sp>
        <p:nvSpPr>
          <p:cNvPr id="22" name="Text 20"/>
          <p:cNvSpPr/>
          <p:nvPr/>
        </p:nvSpPr>
        <p:spPr>
          <a:xfrm>
            <a:off x="8244840" y="3712464"/>
            <a:ext cx="3413760" cy="77724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DAST runtime findings. Same schema, same /fix flow.</a:t>
            </a:r>
            <a:endParaRPr lang="en-US" sz="1100" dirty="0"/>
          </a:p>
        </p:txBody>
      </p:sp>
      <p:sp>
        <p:nvSpPr>
          <p:cNvPr id="23" name="Text 21"/>
          <p:cNvSpPr/>
          <p:nvPr/>
        </p:nvSpPr>
        <p:spPr>
          <a:xfrm>
            <a:off x="457200" y="4800600"/>
            <a:ext cx="11247120" cy="45720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How findings get produced:  PHASE D (parsers, zero-token)  →  PHASE P (model judgment)  →  ARCHITECTURAL (hypotheses, evidence, ≤7)   ·  ADR 0019 + 0045</a:t>
            </a:r>
            <a:endParaRPr lang="en-US" sz="900" dirty="0"/>
          </a:p>
        </p:txBody>
      </p:sp>
      <p:sp>
        <p:nvSpPr>
          <p:cNvPr id="24" name="Text 22"/>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39 / 44</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aggregate view: are we actually getting better?</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Text 3"/>
          <p:cNvSpPr/>
          <p:nvPr/>
        </p:nvSpPr>
        <p:spPr>
          <a:xfrm>
            <a:off x="457200" y="868680"/>
            <a:ext cx="11247120" cy="411480"/>
          </a:xfrm>
          <a:prstGeom prst="rect">
            <a:avLst/>
          </a:prstGeom>
          <a:noFill/>
          <a:ln/>
        </p:spPr>
        <p:txBody>
          <a:bodyPr wrap="square" rtlCol="0" anchor="ctr"/>
          <a:lstStyle/>
          <a:p>
            <a:pPr indent="0" marL="0">
              <a:buNone/>
            </a:pPr>
            <a:r>
              <a:rPr lang="en-US" sz="1400" i="1" dirty="0">
                <a:solidFill>
                  <a:srgbClr val="636E72"/>
                </a:solidFill>
                <a:latin typeface="Segoe UI" pitchFamily="34" charset="0"/>
                <a:ea typeface="Segoe UI" pitchFamily="34" charset="-122"/>
                <a:cs typeface="Segoe UI" pitchFamily="34" charset="-120"/>
              </a:rPr>
              <a:t>Observability isn’t only per-finding — it’s the trend. After each sprint, straight from Azure DevOps.</a:t>
            </a:r>
            <a:endParaRPr lang="en-US" sz="1400" dirty="0"/>
          </a:p>
        </p:txBody>
      </p:sp>
      <p:sp>
        <p:nvSpPr>
          <p:cNvPr id="6" name="Shape 4"/>
          <p:cNvSpPr/>
          <p:nvPr/>
        </p:nvSpPr>
        <p:spPr>
          <a:xfrm>
            <a:off x="548640" y="1463040"/>
            <a:ext cx="3611880" cy="1737360"/>
          </a:xfrm>
          <a:prstGeom prst="roundRect">
            <a:avLst>
              <a:gd name="adj" fmla="val 5263"/>
            </a:avLst>
          </a:prstGeom>
          <a:solidFill>
            <a:srgbClr val="FFFFFF"/>
          </a:solidFill>
          <a:ln w="12700">
            <a:solidFill>
              <a:srgbClr val="DFE6E9"/>
            </a:solidFill>
            <a:prstDash val="solid"/>
          </a:ln>
        </p:spPr>
      </p:sp>
      <p:sp>
        <p:nvSpPr>
          <p:cNvPr id="7" name="Shape 5"/>
          <p:cNvSpPr/>
          <p:nvPr/>
        </p:nvSpPr>
        <p:spPr>
          <a:xfrm>
            <a:off x="548640" y="1463040"/>
            <a:ext cx="3611880" cy="64008"/>
          </a:xfrm>
          <a:prstGeom prst="rect">
            <a:avLst/>
          </a:prstGeom>
          <a:solidFill>
            <a:srgbClr val="00B894"/>
          </a:solidFill>
          <a:ln w="12700">
            <a:solidFill>
              <a:srgbClr val="00B894"/>
            </a:solidFill>
            <a:prstDash val="solid"/>
          </a:ln>
        </p:spPr>
      </p:sp>
      <p:sp>
        <p:nvSpPr>
          <p:cNvPr id="8" name="Text 6"/>
          <p:cNvSpPr/>
          <p:nvPr/>
        </p:nvSpPr>
        <p:spPr>
          <a:xfrm>
            <a:off x="548640" y="1691640"/>
            <a:ext cx="3611880" cy="640080"/>
          </a:xfrm>
          <a:prstGeom prst="rect">
            <a:avLst/>
          </a:prstGeom>
          <a:noFill/>
          <a:ln/>
        </p:spPr>
        <p:txBody>
          <a:bodyPr wrap="square" rtlCol="0" anchor="ctr"/>
          <a:lstStyle/>
          <a:p>
            <a:pPr algn="ctr" indent="0" marL="0">
              <a:buNone/>
            </a:pPr>
            <a:r>
              <a:rPr lang="en-US" sz="2800" b="1" dirty="0">
                <a:solidFill>
                  <a:srgbClr val="00B894"/>
                </a:solidFill>
                <a:latin typeface="Georgia" pitchFamily="34" charset="0"/>
                <a:ea typeface="Georgia" pitchFamily="34" charset="-122"/>
                <a:cs typeface="Georgia" pitchFamily="34" charset="-120"/>
              </a:rPr>
              <a:t>↑ rising</a:t>
            </a:r>
            <a:endParaRPr lang="en-US" sz="2800" dirty="0"/>
          </a:p>
        </p:txBody>
      </p:sp>
      <p:sp>
        <p:nvSpPr>
          <p:cNvPr id="9" name="Text 7"/>
          <p:cNvSpPr/>
          <p:nvPr/>
        </p:nvSpPr>
        <p:spPr>
          <a:xfrm>
            <a:off x="685800" y="2468880"/>
            <a:ext cx="3337560" cy="548640"/>
          </a:xfrm>
          <a:prstGeom prst="rect">
            <a:avLst/>
          </a:prstGeom>
          <a:noFill/>
          <a:ln/>
        </p:spPr>
        <p:txBody>
          <a:bodyPr wrap="square" rtlCol="0" anchor="ctr"/>
          <a:lstStyle/>
          <a:p>
            <a:pPr algn="ctr" indent="0" marL="0">
              <a:buNone/>
            </a:pPr>
            <a:r>
              <a:rPr lang="en-US" sz="1400" b="1" dirty="0">
                <a:solidFill>
                  <a:srgbClr val="1A3A5C"/>
                </a:solidFill>
                <a:latin typeface="Segoe UI" pitchFamily="34" charset="0"/>
                <a:ea typeface="Segoe UI" pitchFamily="34" charset="-122"/>
                <a:cs typeface="Segoe UI" pitchFamily="34" charset="-120"/>
              </a:rPr>
              <a:t>ICEA compliance</a:t>
            </a:r>
            <a:endParaRPr lang="en-US" sz="1400" dirty="0"/>
          </a:p>
        </p:txBody>
      </p:sp>
      <p:sp>
        <p:nvSpPr>
          <p:cNvPr id="10" name="Shape 8"/>
          <p:cNvSpPr/>
          <p:nvPr/>
        </p:nvSpPr>
        <p:spPr>
          <a:xfrm>
            <a:off x="4343400" y="1463040"/>
            <a:ext cx="3611880" cy="1737360"/>
          </a:xfrm>
          <a:prstGeom prst="roundRect">
            <a:avLst>
              <a:gd name="adj" fmla="val 5263"/>
            </a:avLst>
          </a:prstGeom>
          <a:solidFill>
            <a:srgbClr val="FFFFFF"/>
          </a:solidFill>
          <a:ln w="12700">
            <a:solidFill>
              <a:srgbClr val="DFE6E9"/>
            </a:solidFill>
            <a:prstDash val="solid"/>
          </a:ln>
        </p:spPr>
      </p:sp>
      <p:sp>
        <p:nvSpPr>
          <p:cNvPr id="11" name="Shape 9"/>
          <p:cNvSpPr/>
          <p:nvPr/>
        </p:nvSpPr>
        <p:spPr>
          <a:xfrm>
            <a:off x="4343400" y="1463040"/>
            <a:ext cx="3611880" cy="64008"/>
          </a:xfrm>
          <a:prstGeom prst="rect">
            <a:avLst/>
          </a:prstGeom>
          <a:solidFill>
            <a:srgbClr val="00B894"/>
          </a:solidFill>
          <a:ln w="12700">
            <a:solidFill>
              <a:srgbClr val="00B894"/>
            </a:solidFill>
            <a:prstDash val="solid"/>
          </a:ln>
        </p:spPr>
      </p:sp>
      <p:sp>
        <p:nvSpPr>
          <p:cNvPr id="12" name="Text 10"/>
          <p:cNvSpPr/>
          <p:nvPr/>
        </p:nvSpPr>
        <p:spPr>
          <a:xfrm>
            <a:off x="4343400" y="1691640"/>
            <a:ext cx="3611880" cy="640080"/>
          </a:xfrm>
          <a:prstGeom prst="rect">
            <a:avLst/>
          </a:prstGeom>
          <a:noFill/>
          <a:ln/>
        </p:spPr>
        <p:txBody>
          <a:bodyPr wrap="square" rtlCol="0" anchor="ctr"/>
          <a:lstStyle/>
          <a:p>
            <a:pPr algn="ctr" indent="0" marL="0">
              <a:buNone/>
            </a:pPr>
            <a:r>
              <a:rPr lang="en-US" sz="2800" b="1" dirty="0">
                <a:solidFill>
                  <a:srgbClr val="00B894"/>
                </a:solidFill>
                <a:latin typeface="Georgia" pitchFamily="34" charset="0"/>
                <a:ea typeface="Georgia" pitchFamily="34" charset="-122"/>
                <a:cs typeface="Georgia" pitchFamily="34" charset="-120"/>
              </a:rPr>
              <a:t>↓ falling</a:t>
            </a:r>
            <a:endParaRPr lang="en-US" sz="2800" dirty="0"/>
          </a:p>
        </p:txBody>
      </p:sp>
      <p:sp>
        <p:nvSpPr>
          <p:cNvPr id="13" name="Text 11"/>
          <p:cNvSpPr/>
          <p:nvPr/>
        </p:nvSpPr>
        <p:spPr>
          <a:xfrm>
            <a:off x="4480560" y="2468880"/>
            <a:ext cx="3337560" cy="548640"/>
          </a:xfrm>
          <a:prstGeom prst="rect">
            <a:avLst/>
          </a:prstGeom>
          <a:noFill/>
          <a:ln/>
        </p:spPr>
        <p:txBody>
          <a:bodyPr wrap="square" rtlCol="0" anchor="ctr"/>
          <a:lstStyle/>
          <a:p>
            <a:pPr algn="ctr" indent="0" marL="0">
              <a:buNone/>
            </a:pPr>
            <a:r>
              <a:rPr lang="en-US" sz="1400" b="1" dirty="0">
                <a:solidFill>
                  <a:srgbClr val="1A3A5C"/>
                </a:solidFill>
                <a:latin typeface="Segoe UI" pitchFamily="34" charset="0"/>
                <a:ea typeface="Segoe UI" pitchFamily="34" charset="-122"/>
                <a:cs typeface="Segoe UI" pitchFamily="34" charset="-120"/>
              </a:rPr>
              <a:t>PR rejection rate</a:t>
            </a:r>
            <a:endParaRPr lang="en-US" sz="1400" dirty="0"/>
          </a:p>
        </p:txBody>
      </p:sp>
      <p:sp>
        <p:nvSpPr>
          <p:cNvPr id="14" name="Shape 12"/>
          <p:cNvSpPr/>
          <p:nvPr/>
        </p:nvSpPr>
        <p:spPr>
          <a:xfrm>
            <a:off x="8138160" y="1463040"/>
            <a:ext cx="3611880" cy="1737360"/>
          </a:xfrm>
          <a:prstGeom prst="roundRect">
            <a:avLst>
              <a:gd name="adj" fmla="val 5263"/>
            </a:avLst>
          </a:prstGeom>
          <a:solidFill>
            <a:srgbClr val="FFFFFF"/>
          </a:solidFill>
          <a:ln w="12700">
            <a:solidFill>
              <a:srgbClr val="DFE6E9"/>
            </a:solidFill>
            <a:prstDash val="solid"/>
          </a:ln>
        </p:spPr>
      </p:sp>
      <p:sp>
        <p:nvSpPr>
          <p:cNvPr id="15" name="Shape 13"/>
          <p:cNvSpPr/>
          <p:nvPr/>
        </p:nvSpPr>
        <p:spPr>
          <a:xfrm>
            <a:off x="8138160" y="1463040"/>
            <a:ext cx="3611880" cy="64008"/>
          </a:xfrm>
          <a:prstGeom prst="rect">
            <a:avLst/>
          </a:prstGeom>
          <a:solidFill>
            <a:srgbClr val="00B894"/>
          </a:solidFill>
          <a:ln w="12700">
            <a:solidFill>
              <a:srgbClr val="00B894"/>
            </a:solidFill>
            <a:prstDash val="solid"/>
          </a:ln>
        </p:spPr>
      </p:sp>
      <p:sp>
        <p:nvSpPr>
          <p:cNvPr id="16" name="Text 14"/>
          <p:cNvSpPr/>
          <p:nvPr/>
        </p:nvSpPr>
        <p:spPr>
          <a:xfrm>
            <a:off x="8138160" y="1691640"/>
            <a:ext cx="3611880" cy="640080"/>
          </a:xfrm>
          <a:prstGeom prst="rect">
            <a:avLst/>
          </a:prstGeom>
          <a:noFill/>
          <a:ln/>
        </p:spPr>
        <p:txBody>
          <a:bodyPr wrap="square" rtlCol="0" anchor="ctr"/>
          <a:lstStyle/>
          <a:p>
            <a:pPr algn="ctr" indent="0" marL="0">
              <a:buNone/>
            </a:pPr>
            <a:r>
              <a:rPr lang="en-US" sz="2800" b="1" dirty="0">
                <a:solidFill>
                  <a:srgbClr val="00B894"/>
                </a:solidFill>
                <a:latin typeface="Georgia" pitchFamily="34" charset="0"/>
                <a:ea typeface="Georgia" pitchFamily="34" charset="-122"/>
                <a:cs typeface="Georgia" pitchFamily="34" charset="-120"/>
              </a:rPr>
              <a:t>↓ falling</a:t>
            </a:r>
            <a:endParaRPr lang="en-US" sz="2800" dirty="0"/>
          </a:p>
        </p:txBody>
      </p:sp>
      <p:sp>
        <p:nvSpPr>
          <p:cNvPr id="17" name="Text 15"/>
          <p:cNvSpPr/>
          <p:nvPr/>
        </p:nvSpPr>
        <p:spPr>
          <a:xfrm>
            <a:off x="8275320" y="2468880"/>
            <a:ext cx="3337560" cy="548640"/>
          </a:xfrm>
          <a:prstGeom prst="rect">
            <a:avLst/>
          </a:prstGeom>
          <a:noFill/>
          <a:ln/>
        </p:spPr>
        <p:txBody>
          <a:bodyPr wrap="square" rtlCol="0" anchor="ctr"/>
          <a:lstStyle/>
          <a:p>
            <a:pPr algn="ctr" indent="0" marL="0">
              <a:buNone/>
            </a:pPr>
            <a:r>
              <a:rPr lang="en-US" sz="1400" b="1" dirty="0">
                <a:solidFill>
                  <a:srgbClr val="1A3A5C"/>
                </a:solidFill>
                <a:latin typeface="Segoe UI" pitchFamily="34" charset="0"/>
                <a:ea typeface="Segoe UI" pitchFamily="34" charset="-122"/>
                <a:cs typeface="Segoe UI" pitchFamily="34" charset="-120"/>
              </a:rPr>
              <a:t>Rework hours</a:t>
            </a:r>
            <a:endParaRPr lang="en-US" sz="1400" dirty="0"/>
          </a:p>
        </p:txBody>
      </p:sp>
      <p:sp>
        <p:nvSpPr>
          <p:cNvPr id="18" name="Text 16"/>
          <p:cNvSpPr/>
          <p:nvPr/>
        </p:nvSpPr>
        <p:spPr>
          <a:xfrm>
            <a:off x="548640" y="3246120"/>
            <a:ext cx="10972800" cy="274320"/>
          </a:xfrm>
          <a:prstGeom prst="rect">
            <a:avLst/>
          </a:prstGeom>
          <a:noFill/>
          <a:ln/>
        </p:spPr>
        <p:txBody>
          <a:bodyPr wrap="square" rtlCol="0" anchor="ctr"/>
          <a:lstStyle/>
          <a:p>
            <a:pPr algn="ctr" indent="0" marL="0">
              <a:buNone/>
            </a:pPr>
            <a:r>
              <a:rPr lang="en-US" sz="900" dirty="0">
                <a:solidFill>
                  <a:srgbClr val="636E72"/>
                </a:solidFill>
                <a:latin typeface="Cascadia Code" pitchFamily="34" charset="0"/>
                <a:ea typeface="Cascadia Code" pitchFamily="34" charset="-122"/>
                <a:cs typeface="Cascadia Code" pitchFamily="34" charset="-120"/>
              </a:rPr>
              <a:t>sprint-metrics  ·  via ADO REST API</a:t>
            </a:r>
            <a:endParaRPr lang="en-US" sz="900" dirty="0"/>
          </a:p>
        </p:txBody>
      </p:sp>
      <p:sp>
        <p:nvSpPr>
          <p:cNvPr id="19" name="Shape 17"/>
          <p:cNvSpPr/>
          <p:nvPr/>
        </p:nvSpPr>
        <p:spPr>
          <a:xfrm>
            <a:off x="457200" y="3749040"/>
            <a:ext cx="3688080" cy="1737360"/>
          </a:xfrm>
          <a:prstGeom prst="roundRect">
            <a:avLst>
              <a:gd name="adj" fmla="val 5263"/>
            </a:avLst>
          </a:prstGeom>
          <a:solidFill>
            <a:srgbClr val="FFFFFF"/>
          </a:solidFill>
          <a:ln w="12700">
            <a:solidFill>
              <a:srgbClr val="DFE6E9"/>
            </a:solidFill>
            <a:prstDash val="solid"/>
          </a:ln>
        </p:spPr>
      </p:sp>
      <p:sp>
        <p:nvSpPr>
          <p:cNvPr id="20" name="Text 18"/>
          <p:cNvSpPr/>
          <p:nvPr/>
        </p:nvSpPr>
        <p:spPr>
          <a:xfrm>
            <a:off x="594360" y="385876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HEALTH</a:t>
            </a:r>
            <a:endParaRPr lang="en-US" sz="800" dirty="0"/>
          </a:p>
        </p:txBody>
      </p:sp>
      <p:sp>
        <p:nvSpPr>
          <p:cNvPr id="21" name="Text 19"/>
          <p:cNvSpPr/>
          <p:nvPr/>
        </p:nvSpPr>
        <p:spPr>
          <a:xfrm>
            <a:off x="594360" y="407822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Memory</a:t>
            </a:r>
            <a:endParaRPr lang="en-US" sz="1300" dirty="0"/>
          </a:p>
        </p:txBody>
      </p:sp>
      <p:sp>
        <p:nvSpPr>
          <p:cNvPr id="22" name="Text 20"/>
          <p:cNvSpPr/>
          <p:nvPr/>
        </p:nvSpPr>
        <p:spPr>
          <a:xfrm>
            <a:off x="594360" y="4535424"/>
            <a:ext cx="3413760" cy="82296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Confidence, decay curve, promote-ready — /dream-health.</a:t>
            </a:r>
            <a:endParaRPr lang="en-US" sz="1100" dirty="0"/>
          </a:p>
        </p:txBody>
      </p:sp>
      <p:sp>
        <p:nvSpPr>
          <p:cNvPr id="23" name="Shape 21"/>
          <p:cNvSpPr/>
          <p:nvPr/>
        </p:nvSpPr>
        <p:spPr>
          <a:xfrm>
            <a:off x="4282440" y="3749040"/>
            <a:ext cx="3688080" cy="1737360"/>
          </a:xfrm>
          <a:prstGeom prst="roundRect">
            <a:avLst>
              <a:gd name="adj" fmla="val 5263"/>
            </a:avLst>
          </a:prstGeom>
          <a:solidFill>
            <a:srgbClr val="FFFFFF"/>
          </a:solidFill>
          <a:ln w="12700">
            <a:solidFill>
              <a:srgbClr val="DFE6E9"/>
            </a:solidFill>
            <a:prstDash val="solid"/>
          </a:ln>
        </p:spPr>
      </p:sp>
      <p:sp>
        <p:nvSpPr>
          <p:cNvPr id="24" name="Text 22"/>
          <p:cNvSpPr/>
          <p:nvPr/>
        </p:nvSpPr>
        <p:spPr>
          <a:xfrm>
            <a:off x="4419600" y="385876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HEALTH</a:t>
            </a:r>
            <a:endParaRPr lang="en-US" sz="800" dirty="0"/>
          </a:p>
        </p:txBody>
      </p:sp>
      <p:sp>
        <p:nvSpPr>
          <p:cNvPr id="25" name="Text 23"/>
          <p:cNvSpPr/>
          <p:nvPr/>
        </p:nvSpPr>
        <p:spPr>
          <a:xfrm>
            <a:off x="4419600" y="407822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Graph staleness</a:t>
            </a:r>
            <a:endParaRPr lang="en-US" sz="1300" dirty="0"/>
          </a:p>
        </p:txBody>
      </p:sp>
      <p:sp>
        <p:nvSpPr>
          <p:cNvPr id="26" name="Text 24"/>
          <p:cNvSpPr/>
          <p:nvPr/>
        </p:nvSpPr>
        <p:spPr>
          <a:xfrm>
            <a:off x="4419600" y="4535424"/>
            <a:ext cx="3413760" cy="82296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Which modules drifted from the code — setup-status.</a:t>
            </a:r>
            <a:endParaRPr lang="en-US" sz="1100" dirty="0"/>
          </a:p>
        </p:txBody>
      </p:sp>
      <p:sp>
        <p:nvSpPr>
          <p:cNvPr id="27" name="Shape 25"/>
          <p:cNvSpPr/>
          <p:nvPr/>
        </p:nvSpPr>
        <p:spPr>
          <a:xfrm>
            <a:off x="8107680" y="3749040"/>
            <a:ext cx="3688080" cy="1737360"/>
          </a:xfrm>
          <a:prstGeom prst="roundRect">
            <a:avLst>
              <a:gd name="adj" fmla="val 5263"/>
            </a:avLst>
          </a:prstGeom>
          <a:solidFill>
            <a:srgbClr val="FFFFFF"/>
          </a:solidFill>
          <a:ln w="12700">
            <a:solidFill>
              <a:srgbClr val="DFE6E9"/>
            </a:solidFill>
            <a:prstDash val="solid"/>
          </a:ln>
        </p:spPr>
      </p:sp>
      <p:sp>
        <p:nvSpPr>
          <p:cNvPr id="28" name="Text 26"/>
          <p:cNvSpPr/>
          <p:nvPr/>
        </p:nvSpPr>
        <p:spPr>
          <a:xfrm>
            <a:off x="8244840" y="3858768"/>
            <a:ext cx="3413760" cy="201168"/>
          </a:xfrm>
          <a:prstGeom prst="rect">
            <a:avLst/>
          </a:prstGeom>
          <a:noFill/>
          <a:ln/>
        </p:spPr>
        <p:txBody>
          <a:bodyPr wrap="square" rtlCol="0" anchor="ctr"/>
          <a:lstStyle/>
          <a:p>
            <a:pPr indent="0" marL="0">
              <a:buNone/>
            </a:pPr>
            <a:r>
              <a:rPr lang="en-US" sz="800" spc="100" kern="0" dirty="0">
                <a:solidFill>
                  <a:srgbClr val="C8A951"/>
                </a:solidFill>
                <a:latin typeface="Cascadia Code" pitchFamily="34" charset="0"/>
                <a:ea typeface="Cascadia Code" pitchFamily="34" charset="-122"/>
                <a:cs typeface="Cascadia Code" pitchFamily="34" charset="-120"/>
              </a:rPr>
              <a:t>HEALTH</a:t>
            </a:r>
            <a:endParaRPr lang="en-US" sz="800" dirty="0"/>
          </a:p>
        </p:txBody>
      </p:sp>
      <p:sp>
        <p:nvSpPr>
          <p:cNvPr id="29" name="Text 27"/>
          <p:cNvSpPr/>
          <p:nvPr/>
        </p:nvSpPr>
        <p:spPr>
          <a:xfrm>
            <a:off x="8244840" y="4078224"/>
            <a:ext cx="3413760" cy="457200"/>
          </a:xfrm>
          <a:prstGeom prst="rect">
            <a:avLst/>
          </a:prstGeom>
          <a:noFill/>
          <a:ln/>
        </p:spPr>
        <p:txBody>
          <a:bodyPr wrap="square" rtlCol="0" anchor="ctr"/>
          <a:lstStyle/>
          <a:p>
            <a:pPr indent="0" marL="0">
              <a:buNone/>
            </a:pPr>
            <a:r>
              <a:rPr lang="en-US" sz="1300" b="1" dirty="0">
                <a:solidFill>
                  <a:srgbClr val="1A3A5C"/>
                </a:solidFill>
                <a:latin typeface="Segoe UI" pitchFamily="34" charset="0"/>
                <a:ea typeface="Segoe UI" pitchFamily="34" charset="-122"/>
                <a:cs typeface="Segoe UI" pitchFamily="34" charset="-120"/>
              </a:rPr>
              <a:t>Open findings</a:t>
            </a:r>
            <a:endParaRPr lang="en-US" sz="1300" dirty="0"/>
          </a:p>
        </p:txBody>
      </p:sp>
      <p:sp>
        <p:nvSpPr>
          <p:cNvPr id="30" name="Text 28"/>
          <p:cNvSpPr/>
          <p:nvPr/>
        </p:nvSpPr>
        <p:spPr>
          <a:xfrm>
            <a:off x="8244840" y="4535424"/>
            <a:ext cx="3413760" cy="822960"/>
          </a:xfrm>
          <a:prstGeom prst="rect">
            <a:avLst/>
          </a:prstGeom>
          <a:noFill/>
          <a:ln/>
        </p:spPr>
        <p:txBody>
          <a:bodyPr wrap="square" rtlCol="0" anchor="t"/>
          <a:lstStyle/>
          <a:p>
            <a:pPr indent="0" marL="0">
              <a:buNone/>
            </a:pPr>
            <a:r>
              <a:rPr lang="en-US" sz="1100" dirty="0">
                <a:solidFill>
                  <a:srgbClr val="636E72"/>
                </a:solidFill>
                <a:latin typeface="Segoe UI" pitchFamily="34" charset="0"/>
                <a:ea typeface="Segoe UI" pitchFamily="34" charset="-122"/>
                <a:cs typeface="Segoe UI" pitchFamily="34" charset="-120"/>
              </a:rPr>
              <a:t>Critical / High / Medium across all three ledgers.</a:t>
            </a:r>
            <a:endParaRPr lang="en-US" sz="1100" dirty="0"/>
          </a:p>
        </p:txBody>
      </p:sp>
      <p:sp>
        <p:nvSpPr>
          <p:cNvPr id="31" name="Text 29"/>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40 / 44</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The plugin holds itself to the same bar</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548640" y="914400"/>
            <a:ext cx="64008" cy="1828800"/>
          </a:xfrm>
          <a:prstGeom prst="rect">
            <a:avLst/>
          </a:prstGeom>
          <a:solidFill>
            <a:srgbClr val="C8A951"/>
          </a:solidFill>
          <a:ln w="12700">
            <a:solidFill>
              <a:srgbClr val="C8A951"/>
            </a:solidFill>
            <a:prstDash val="solid"/>
          </a:ln>
        </p:spPr>
      </p:sp>
      <p:sp>
        <p:nvSpPr>
          <p:cNvPr id="6" name="Shape 4"/>
          <p:cNvSpPr/>
          <p:nvPr/>
        </p:nvSpPr>
        <p:spPr>
          <a:xfrm>
            <a:off x="612648" y="914400"/>
            <a:ext cx="11000232" cy="1828800"/>
          </a:xfrm>
          <a:prstGeom prst="rect">
            <a:avLst/>
          </a:prstGeom>
          <a:solidFill>
            <a:srgbClr val="FDFCF5"/>
          </a:solidFill>
          <a:ln w="12700">
            <a:solidFill>
              <a:srgbClr val="DFE6E9"/>
            </a:solidFill>
            <a:prstDash val="solid"/>
          </a:ln>
        </p:spPr>
      </p:sp>
      <p:sp>
        <p:nvSpPr>
          <p:cNvPr id="7" name="Text 5"/>
          <p:cNvSpPr/>
          <p:nvPr/>
        </p:nvSpPr>
        <p:spPr>
          <a:xfrm>
            <a:off x="731520" y="102412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DETERMINISTIC WHERE POSSIBLE  ·  ADR 0046</a:t>
            </a:r>
            <a:endParaRPr lang="en-US" sz="800" dirty="0"/>
          </a:p>
        </p:txBody>
      </p:sp>
      <p:sp>
        <p:nvSpPr>
          <p:cNvPr id="8" name="Text 6"/>
          <p:cNvSpPr/>
          <p:nvPr/>
        </p:nvSpPr>
        <p:spPr>
          <a:xfrm>
            <a:off x="731520" y="1207008"/>
            <a:ext cx="10607040" cy="118872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"setup-init was 30–60 sequential LLM tool calls before any real work began."</a:t>
            </a:r>
            <a:endParaRPr lang="en-US" sz="1300" dirty="0"/>
          </a:p>
        </p:txBody>
      </p:sp>
      <p:sp>
        <p:nvSpPr>
          <p:cNvPr id="9" name="Text 7"/>
          <p:cNvSpPr/>
          <p:nvPr/>
        </p:nvSpPr>
        <p:spPr>
          <a:xfrm>
            <a:off x="731520" y="239572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Collapsed to one deterministic Node.js bootstrap script. Rules deployed last — after the architect skill actually knows the stack. Crash-safe manifest as recovery checkpoint.</a:t>
            </a:r>
            <a:endParaRPr lang="en-US" sz="1000" dirty="0"/>
          </a:p>
        </p:txBody>
      </p:sp>
      <p:sp>
        <p:nvSpPr>
          <p:cNvPr id="10" name="Text 8"/>
          <p:cNvSpPr/>
          <p:nvPr/>
        </p:nvSpPr>
        <p:spPr>
          <a:xfrm>
            <a:off x="10607040" y="246888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0046</a:t>
            </a:r>
            <a:endParaRPr lang="en-US" sz="800" dirty="0"/>
          </a:p>
        </p:txBody>
      </p:sp>
      <p:sp>
        <p:nvSpPr>
          <p:cNvPr id="11" name="Shape 9"/>
          <p:cNvSpPr/>
          <p:nvPr/>
        </p:nvSpPr>
        <p:spPr>
          <a:xfrm>
            <a:off x="548640" y="2926080"/>
            <a:ext cx="64008" cy="1828800"/>
          </a:xfrm>
          <a:prstGeom prst="rect">
            <a:avLst/>
          </a:prstGeom>
          <a:solidFill>
            <a:srgbClr val="C8A951"/>
          </a:solidFill>
          <a:ln w="12700">
            <a:solidFill>
              <a:srgbClr val="C8A951"/>
            </a:solidFill>
            <a:prstDash val="solid"/>
          </a:ln>
        </p:spPr>
      </p:sp>
      <p:sp>
        <p:nvSpPr>
          <p:cNvPr id="12" name="Shape 10"/>
          <p:cNvSpPr/>
          <p:nvPr/>
        </p:nvSpPr>
        <p:spPr>
          <a:xfrm>
            <a:off x="612648" y="2926080"/>
            <a:ext cx="11000232" cy="1828800"/>
          </a:xfrm>
          <a:prstGeom prst="rect">
            <a:avLst/>
          </a:prstGeom>
          <a:solidFill>
            <a:srgbClr val="FDFCF5"/>
          </a:solidFill>
          <a:ln w="12700">
            <a:solidFill>
              <a:srgbClr val="DFE6E9"/>
            </a:solidFill>
            <a:prstDash val="solid"/>
          </a:ln>
        </p:spPr>
      </p:sp>
      <p:sp>
        <p:nvSpPr>
          <p:cNvPr id="13" name="Text 11"/>
          <p:cNvSpPr/>
          <p:nvPr/>
        </p:nvSpPr>
        <p:spPr>
          <a:xfrm>
            <a:off x="731520" y="3035808"/>
            <a:ext cx="10607040" cy="201168"/>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HONESTY OVER OVERCLAIM  ·  ADR 0048</a:t>
            </a:r>
            <a:endParaRPr lang="en-US" sz="800" dirty="0"/>
          </a:p>
        </p:txBody>
      </p:sp>
      <p:sp>
        <p:nvSpPr>
          <p:cNvPr id="14" name="Text 12"/>
          <p:cNvSpPr/>
          <p:nvPr/>
        </p:nvSpPr>
        <p:spPr>
          <a:xfrm>
            <a:off x="731520" y="3218688"/>
            <a:ext cx="10607040" cy="1188720"/>
          </a:xfrm>
          <a:prstGeom prst="rect">
            <a:avLst/>
          </a:prstGeom>
          <a:noFill/>
          <a:ln/>
        </p:spPr>
        <p:txBody>
          <a:bodyPr wrap="square" rtlCol="0" anchor="t"/>
          <a:lstStyle/>
          <a:p>
            <a:pPr indent="0" marL="0">
              <a:buNone/>
            </a:pPr>
            <a:r>
              <a:rPr lang="en-US" sz="1300" b="1" dirty="0">
                <a:solidFill>
                  <a:srgbClr val="1A3A5C"/>
                </a:solidFill>
                <a:latin typeface="Segoe UI" pitchFamily="34" charset="0"/>
                <a:ea typeface="Segoe UI" pitchFamily="34" charset="-122"/>
                <a:cs typeface="Segoe UI" pitchFamily="34" charset="-120"/>
              </a:rPr>
              <a:t>"A hidden dependency could quietly fail and still report success."</a:t>
            </a:r>
            <a:endParaRPr lang="en-US" sz="1300" dirty="0"/>
          </a:p>
        </p:txBody>
      </p:sp>
      <p:sp>
        <p:nvSpPr>
          <p:cNvPr id="15" name="Text 13"/>
          <p:cNvSpPr/>
          <p:nvPr/>
        </p:nvSpPr>
        <p:spPr>
          <a:xfrm>
            <a:off x="731520" y="4407408"/>
            <a:ext cx="9692640" cy="27432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Eliminated. One canonical resolver reads the registry — O(1), no crawl, no guessing. It either knows, or says it doesn’t. A tool that asks you to be accountable is accountable itself.</a:t>
            </a:r>
            <a:endParaRPr lang="en-US" sz="1000" dirty="0"/>
          </a:p>
        </p:txBody>
      </p:sp>
      <p:sp>
        <p:nvSpPr>
          <p:cNvPr id="16" name="Text 14"/>
          <p:cNvSpPr/>
          <p:nvPr/>
        </p:nvSpPr>
        <p:spPr>
          <a:xfrm>
            <a:off x="10607040" y="4480560"/>
            <a:ext cx="868680" cy="201168"/>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ADR 0048</a:t>
            </a:r>
            <a:endParaRPr lang="en-US" sz="800" dirty="0"/>
          </a:p>
        </p:txBody>
      </p:sp>
      <p:sp>
        <p:nvSpPr>
          <p:cNvPr id="17" name="Text 15"/>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41 / 44</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What 52 decisions taught us</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365760" y="914400"/>
            <a:ext cx="2651760" cy="1828800"/>
          </a:xfrm>
          <a:prstGeom prst="roundRect">
            <a:avLst>
              <a:gd name="adj" fmla="val 5000"/>
            </a:avLst>
          </a:prstGeom>
          <a:solidFill>
            <a:srgbClr val="FFFFFF"/>
          </a:solidFill>
          <a:ln w="12700">
            <a:solidFill>
              <a:srgbClr val="DFE6E9"/>
            </a:solidFill>
            <a:prstDash val="solid"/>
          </a:ln>
        </p:spPr>
      </p:sp>
      <p:sp>
        <p:nvSpPr>
          <p:cNvPr id="6" name="Text 4"/>
          <p:cNvSpPr/>
          <p:nvPr/>
        </p:nvSpPr>
        <p:spPr>
          <a:xfrm>
            <a:off x="475488" y="1005840"/>
            <a:ext cx="242316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01</a:t>
            </a:r>
            <a:endParaRPr lang="en-US" sz="900" dirty="0"/>
          </a:p>
        </p:txBody>
      </p:sp>
      <p:sp>
        <p:nvSpPr>
          <p:cNvPr id="7" name="Text 5"/>
          <p:cNvSpPr/>
          <p:nvPr/>
        </p:nvSpPr>
        <p:spPr>
          <a:xfrm>
            <a:off x="475488" y="1234440"/>
            <a:ext cx="2423160" cy="384048"/>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Gates are incentive structures</a:t>
            </a:r>
            <a:endParaRPr lang="en-US" sz="1200" dirty="0"/>
          </a:p>
        </p:txBody>
      </p:sp>
      <p:sp>
        <p:nvSpPr>
          <p:cNvPr id="8" name="Text 6"/>
          <p:cNvSpPr/>
          <p:nvPr/>
        </p:nvSpPr>
        <p:spPr>
          <a:xfrm>
            <a:off x="475488" y="1627632"/>
            <a:ext cx="2423160" cy="82296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They change what people do before anyone else has to review their work.</a:t>
            </a:r>
            <a:endParaRPr lang="en-US" sz="1000" dirty="0"/>
          </a:p>
        </p:txBody>
      </p:sp>
      <p:sp>
        <p:nvSpPr>
          <p:cNvPr id="9" name="Text 7"/>
          <p:cNvSpPr/>
          <p:nvPr/>
        </p:nvSpPr>
        <p:spPr>
          <a:xfrm>
            <a:off x="475488" y="2487168"/>
            <a:ext cx="2423160" cy="201168"/>
          </a:xfrm>
          <a:prstGeom prst="rect">
            <a:avLst/>
          </a:prstGeom>
          <a:noFill/>
          <a:ln/>
        </p:spPr>
        <p:txBody>
          <a:bodyPr wrap="square" rtlCol="0" anchor="ctr"/>
          <a:lstStyle/>
          <a:p>
            <a:pPr indent="0" marL="0">
              <a:buNone/>
            </a:pPr>
            <a:r>
              <a:rPr lang="en-US" sz="800" dirty="0">
                <a:solidFill>
                  <a:srgbClr val="636E72"/>
                </a:solidFill>
                <a:latin typeface="Cascadia Code" pitchFamily="34" charset="0"/>
                <a:ea typeface="Cascadia Code" pitchFamily="34" charset="-122"/>
                <a:cs typeface="Cascadia Code" pitchFamily="34" charset="-120"/>
              </a:rPr>
              <a:t>ADR 0001</a:t>
            </a:r>
            <a:endParaRPr lang="en-US" sz="800" dirty="0"/>
          </a:p>
        </p:txBody>
      </p:sp>
      <p:sp>
        <p:nvSpPr>
          <p:cNvPr id="10" name="Shape 8"/>
          <p:cNvSpPr/>
          <p:nvPr/>
        </p:nvSpPr>
        <p:spPr>
          <a:xfrm>
            <a:off x="3154680" y="914400"/>
            <a:ext cx="2651760" cy="1828800"/>
          </a:xfrm>
          <a:prstGeom prst="roundRect">
            <a:avLst>
              <a:gd name="adj" fmla="val 5000"/>
            </a:avLst>
          </a:prstGeom>
          <a:solidFill>
            <a:srgbClr val="FFFFFF"/>
          </a:solidFill>
          <a:ln w="12700">
            <a:solidFill>
              <a:srgbClr val="DFE6E9"/>
            </a:solidFill>
            <a:prstDash val="solid"/>
          </a:ln>
        </p:spPr>
      </p:sp>
      <p:sp>
        <p:nvSpPr>
          <p:cNvPr id="11" name="Text 9"/>
          <p:cNvSpPr/>
          <p:nvPr/>
        </p:nvSpPr>
        <p:spPr>
          <a:xfrm>
            <a:off x="3264408" y="1005840"/>
            <a:ext cx="242316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02</a:t>
            </a:r>
            <a:endParaRPr lang="en-US" sz="900" dirty="0"/>
          </a:p>
        </p:txBody>
      </p:sp>
      <p:sp>
        <p:nvSpPr>
          <p:cNvPr id="12" name="Text 10"/>
          <p:cNvSpPr/>
          <p:nvPr/>
        </p:nvSpPr>
        <p:spPr>
          <a:xfrm>
            <a:off x="3264408" y="1234440"/>
            <a:ext cx="2423160" cy="384048"/>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Honesty over overclaim</a:t>
            </a:r>
            <a:endParaRPr lang="en-US" sz="1200" dirty="0"/>
          </a:p>
        </p:txBody>
      </p:sp>
      <p:sp>
        <p:nvSpPr>
          <p:cNvPr id="13" name="Text 11"/>
          <p:cNvSpPr/>
          <p:nvPr/>
        </p:nvSpPr>
        <p:spPr>
          <a:xfrm>
            <a:off x="3264408" y="1627632"/>
            <a:ext cx="2423160" cy="82296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Never claim a floor the system can’t hold. Make bypass visible instead.</a:t>
            </a:r>
            <a:endParaRPr lang="en-US" sz="1000" dirty="0"/>
          </a:p>
        </p:txBody>
      </p:sp>
      <p:sp>
        <p:nvSpPr>
          <p:cNvPr id="14" name="Text 12"/>
          <p:cNvSpPr/>
          <p:nvPr/>
        </p:nvSpPr>
        <p:spPr>
          <a:xfrm>
            <a:off x="3264408" y="2487168"/>
            <a:ext cx="2423160" cy="201168"/>
          </a:xfrm>
          <a:prstGeom prst="rect">
            <a:avLst/>
          </a:prstGeom>
          <a:noFill/>
          <a:ln/>
        </p:spPr>
        <p:txBody>
          <a:bodyPr wrap="square" rtlCol="0" anchor="ctr"/>
          <a:lstStyle/>
          <a:p>
            <a:pPr indent="0" marL="0">
              <a:buNone/>
            </a:pPr>
            <a:r>
              <a:rPr lang="en-US" sz="800" dirty="0">
                <a:solidFill>
                  <a:srgbClr val="636E72"/>
                </a:solidFill>
                <a:latin typeface="Cascadia Code" pitchFamily="34" charset="0"/>
                <a:ea typeface="Cascadia Code" pitchFamily="34" charset="-122"/>
                <a:cs typeface="Cascadia Code" pitchFamily="34" charset="-120"/>
              </a:rPr>
              <a:t>ADR 0010</a:t>
            </a:r>
            <a:endParaRPr lang="en-US" sz="800" dirty="0"/>
          </a:p>
        </p:txBody>
      </p:sp>
      <p:sp>
        <p:nvSpPr>
          <p:cNvPr id="15" name="Shape 13"/>
          <p:cNvSpPr/>
          <p:nvPr/>
        </p:nvSpPr>
        <p:spPr>
          <a:xfrm>
            <a:off x="5943600" y="914400"/>
            <a:ext cx="2651760" cy="1828800"/>
          </a:xfrm>
          <a:prstGeom prst="roundRect">
            <a:avLst>
              <a:gd name="adj" fmla="val 5000"/>
            </a:avLst>
          </a:prstGeom>
          <a:solidFill>
            <a:srgbClr val="FFFFFF"/>
          </a:solidFill>
          <a:ln w="12700">
            <a:solidFill>
              <a:srgbClr val="DFE6E9"/>
            </a:solidFill>
            <a:prstDash val="solid"/>
          </a:ln>
        </p:spPr>
      </p:sp>
      <p:sp>
        <p:nvSpPr>
          <p:cNvPr id="16" name="Text 14"/>
          <p:cNvSpPr/>
          <p:nvPr/>
        </p:nvSpPr>
        <p:spPr>
          <a:xfrm>
            <a:off x="6053328" y="1005840"/>
            <a:ext cx="242316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03</a:t>
            </a:r>
            <a:endParaRPr lang="en-US" sz="900" dirty="0"/>
          </a:p>
        </p:txBody>
      </p:sp>
      <p:sp>
        <p:nvSpPr>
          <p:cNvPr id="17" name="Text 15"/>
          <p:cNvSpPr/>
          <p:nvPr/>
        </p:nvSpPr>
        <p:spPr>
          <a:xfrm>
            <a:off x="6053328" y="1234440"/>
            <a:ext cx="2423160" cy="384048"/>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One source of truth per concept</a:t>
            </a:r>
            <a:endParaRPr lang="en-US" sz="1200" dirty="0"/>
          </a:p>
        </p:txBody>
      </p:sp>
      <p:sp>
        <p:nvSpPr>
          <p:cNvPr id="18" name="Text 16"/>
          <p:cNvSpPr/>
          <p:nvPr/>
        </p:nvSpPr>
        <p:spPr>
          <a:xfrm>
            <a:off x="6053328" y="1627632"/>
            <a:ext cx="2423160" cy="82296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Duplication is the enemy. Shared primitives; the graph as sole orientation layer.</a:t>
            </a:r>
            <a:endParaRPr lang="en-US" sz="1000" dirty="0"/>
          </a:p>
        </p:txBody>
      </p:sp>
      <p:sp>
        <p:nvSpPr>
          <p:cNvPr id="19" name="Text 17"/>
          <p:cNvSpPr/>
          <p:nvPr/>
        </p:nvSpPr>
        <p:spPr>
          <a:xfrm>
            <a:off x="6053328" y="2487168"/>
            <a:ext cx="2423160" cy="201168"/>
          </a:xfrm>
          <a:prstGeom prst="rect">
            <a:avLst/>
          </a:prstGeom>
          <a:noFill/>
          <a:ln/>
        </p:spPr>
        <p:txBody>
          <a:bodyPr wrap="square" rtlCol="0" anchor="ctr"/>
          <a:lstStyle/>
          <a:p>
            <a:pPr indent="0" marL="0">
              <a:buNone/>
            </a:pPr>
            <a:r>
              <a:rPr lang="en-US" sz="800" dirty="0">
                <a:solidFill>
                  <a:srgbClr val="636E72"/>
                </a:solidFill>
                <a:latin typeface="Cascadia Code" pitchFamily="34" charset="0"/>
                <a:ea typeface="Cascadia Code" pitchFamily="34" charset="-122"/>
                <a:cs typeface="Cascadia Code" pitchFamily="34" charset="-120"/>
              </a:rPr>
              <a:t>ADR 0003</a:t>
            </a:r>
            <a:endParaRPr lang="en-US" sz="800" dirty="0"/>
          </a:p>
        </p:txBody>
      </p:sp>
      <p:sp>
        <p:nvSpPr>
          <p:cNvPr id="20" name="Shape 18"/>
          <p:cNvSpPr/>
          <p:nvPr/>
        </p:nvSpPr>
        <p:spPr>
          <a:xfrm>
            <a:off x="8732520" y="914400"/>
            <a:ext cx="2651760" cy="1828800"/>
          </a:xfrm>
          <a:prstGeom prst="roundRect">
            <a:avLst>
              <a:gd name="adj" fmla="val 5000"/>
            </a:avLst>
          </a:prstGeom>
          <a:solidFill>
            <a:srgbClr val="FFFFFF"/>
          </a:solidFill>
          <a:ln w="12700">
            <a:solidFill>
              <a:srgbClr val="DFE6E9"/>
            </a:solidFill>
            <a:prstDash val="solid"/>
          </a:ln>
        </p:spPr>
      </p:sp>
      <p:sp>
        <p:nvSpPr>
          <p:cNvPr id="21" name="Text 19"/>
          <p:cNvSpPr/>
          <p:nvPr/>
        </p:nvSpPr>
        <p:spPr>
          <a:xfrm>
            <a:off x="8842248" y="1005840"/>
            <a:ext cx="242316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04</a:t>
            </a:r>
            <a:endParaRPr lang="en-US" sz="900" dirty="0"/>
          </a:p>
        </p:txBody>
      </p:sp>
      <p:sp>
        <p:nvSpPr>
          <p:cNvPr id="22" name="Text 20"/>
          <p:cNvSpPr/>
          <p:nvPr/>
        </p:nvSpPr>
        <p:spPr>
          <a:xfrm>
            <a:off x="8842248" y="1234440"/>
            <a:ext cx="2423160" cy="384048"/>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Measure trust, don’t grant it</a:t>
            </a:r>
            <a:endParaRPr lang="en-US" sz="1200" dirty="0"/>
          </a:p>
        </p:txBody>
      </p:sp>
      <p:sp>
        <p:nvSpPr>
          <p:cNvPr id="23" name="Text 21"/>
          <p:cNvSpPr/>
          <p:nvPr/>
        </p:nvSpPr>
        <p:spPr>
          <a:xfrm>
            <a:off x="8842248" y="1627632"/>
            <a:ext cx="2423160" cy="82296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You don’t grant autonomy — you measure accuracy and earn it.</a:t>
            </a:r>
            <a:endParaRPr lang="en-US" sz="1000" dirty="0"/>
          </a:p>
        </p:txBody>
      </p:sp>
      <p:sp>
        <p:nvSpPr>
          <p:cNvPr id="24" name="Text 22"/>
          <p:cNvSpPr/>
          <p:nvPr/>
        </p:nvSpPr>
        <p:spPr>
          <a:xfrm>
            <a:off x="8842248" y="2487168"/>
            <a:ext cx="2423160" cy="201168"/>
          </a:xfrm>
          <a:prstGeom prst="rect">
            <a:avLst/>
          </a:prstGeom>
          <a:noFill/>
          <a:ln/>
        </p:spPr>
        <p:txBody>
          <a:bodyPr wrap="square" rtlCol="0" anchor="ctr"/>
          <a:lstStyle/>
          <a:p>
            <a:pPr indent="0" marL="0">
              <a:buNone/>
            </a:pPr>
            <a:r>
              <a:rPr lang="en-US" sz="800" dirty="0">
                <a:solidFill>
                  <a:srgbClr val="636E72"/>
                </a:solidFill>
                <a:latin typeface="Cascadia Code" pitchFamily="34" charset="0"/>
                <a:ea typeface="Cascadia Code" pitchFamily="34" charset="-122"/>
                <a:cs typeface="Cascadia Code" pitchFamily="34" charset="-120"/>
              </a:rPr>
              <a:t>ADR 0011</a:t>
            </a:r>
            <a:endParaRPr lang="en-US" sz="800" dirty="0"/>
          </a:p>
        </p:txBody>
      </p:sp>
      <p:sp>
        <p:nvSpPr>
          <p:cNvPr id="25" name="Shape 23"/>
          <p:cNvSpPr/>
          <p:nvPr/>
        </p:nvSpPr>
        <p:spPr>
          <a:xfrm>
            <a:off x="365760" y="2880360"/>
            <a:ext cx="2651760" cy="1828800"/>
          </a:xfrm>
          <a:prstGeom prst="roundRect">
            <a:avLst>
              <a:gd name="adj" fmla="val 5000"/>
            </a:avLst>
          </a:prstGeom>
          <a:solidFill>
            <a:srgbClr val="FFFFFF"/>
          </a:solidFill>
          <a:ln w="12700">
            <a:solidFill>
              <a:srgbClr val="DFE6E9"/>
            </a:solidFill>
            <a:prstDash val="solid"/>
          </a:ln>
        </p:spPr>
      </p:sp>
      <p:sp>
        <p:nvSpPr>
          <p:cNvPr id="26" name="Text 24"/>
          <p:cNvSpPr/>
          <p:nvPr/>
        </p:nvSpPr>
        <p:spPr>
          <a:xfrm>
            <a:off x="475488" y="2971800"/>
            <a:ext cx="242316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05</a:t>
            </a:r>
            <a:endParaRPr lang="en-US" sz="900" dirty="0"/>
          </a:p>
        </p:txBody>
      </p:sp>
      <p:sp>
        <p:nvSpPr>
          <p:cNvPr id="27" name="Text 25"/>
          <p:cNvSpPr/>
          <p:nvPr/>
        </p:nvSpPr>
        <p:spPr>
          <a:xfrm>
            <a:off x="475488" y="3200400"/>
            <a:ext cx="2423160" cy="384048"/>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Deterministic where possible</a:t>
            </a:r>
            <a:endParaRPr lang="en-US" sz="1200" dirty="0"/>
          </a:p>
        </p:txBody>
      </p:sp>
      <p:sp>
        <p:nvSpPr>
          <p:cNvPr id="28" name="Text 26"/>
          <p:cNvSpPr/>
          <p:nvPr/>
        </p:nvSpPr>
        <p:spPr>
          <a:xfrm>
            <a:off x="475488" y="3593592"/>
            <a:ext cx="2423160" cy="82296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What a parser can know, a parser should know. Reserve judgment for the ambiguous.</a:t>
            </a:r>
            <a:endParaRPr lang="en-US" sz="1000" dirty="0"/>
          </a:p>
        </p:txBody>
      </p:sp>
      <p:sp>
        <p:nvSpPr>
          <p:cNvPr id="29" name="Text 27"/>
          <p:cNvSpPr/>
          <p:nvPr/>
        </p:nvSpPr>
        <p:spPr>
          <a:xfrm>
            <a:off x="475488" y="4453128"/>
            <a:ext cx="2423160" cy="201168"/>
          </a:xfrm>
          <a:prstGeom prst="rect">
            <a:avLst/>
          </a:prstGeom>
          <a:noFill/>
          <a:ln/>
        </p:spPr>
        <p:txBody>
          <a:bodyPr wrap="square" rtlCol="0" anchor="ctr"/>
          <a:lstStyle/>
          <a:p>
            <a:pPr indent="0" marL="0">
              <a:buNone/>
            </a:pPr>
            <a:r>
              <a:rPr lang="en-US" sz="800" dirty="0">
                <a:solidFill>
                  <a:srgbClr val="636E72"/>
                </a:solidFill>
                <a:latin typeface="Cascadia Code" pitchFamily="34" charset="0"/>
                <a:ea typeface="Cascadia Code" pitchFamily="34" charset="-122"/>
                <a:cs typeface="Cascadia Code" pitchFamily="34" charset="-120"/>
              </a:rPr>
              <a:t>ADR 0041</a:t>
            </a:r>
            <a:endParaRPr lang="en-US" sz="800" dirty="0"/>
          </a:p>
        </p:txBody>
      </p:sp>
      <p:sp>
        <p:nvSpPr>
          <p:cNvPr id="30" name="Shape 28"/>
          <p:cNvSpPr/>
          <p:nvPr/>
        </p:nvSpPr>
        <p:spPr>
          <a:xfrm>
            <a:off x="3154680" y="2880360"/>
            <a:ext cx="2651760" cy="1828800"/>
          </a:xfrm>
          <a:prstGeom prst="roundRect">
            <a:avLst>
              <a:gd name="adj" fmla="val 5000"/>
            </a:avLst>
          </a:prstGeom>
          <a:solidFill>
            <a:srgbClr val="FFFFFF"/>
          </a:solidFill>
          <a:ln w="12700">
            <a:solidFill>
              <a:srgbClr val="DFE6E9"/>
            </a:solidFill>
            <a:prstDash val="solid"/>
          </a:ln>
        </p:spPr>
      </p:sp>
      <p:sp>
        <p:nvSpPr>
          <p:cNvPr id="31" name="Text 29"/>
          <p:cNvSpPr/>
          <p:nvPr/>
        </p:nvSpPr>
        <p:spPr>
          <a:xfrm>
            <a:off x="3264408" y="2971800"/>
            <a:ext cx="242316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06</a:t>
            </a:r>
            <a:endParaRPr lang="en-US" sz="900" dirty="0"/>
          </a:p>
        </p:txBody>
      </p:sp>
      <p:sp>
        <p:nvSpPr>
          <p:cNvPr id="32" name="Text 30"/>
          <p:cNvSpPr/>
          <p:nvPr/>
        </p:nvSpPr>
        <p:spPr>
          <a:xfrm>
            <a:off x="3264408" y="3200400"/>
            <a:ext cx="2423160" cy="384048"/>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Friction is multiplicative</a:t>
            </a:r>
            <a:endParaRPr lang="en-US" sz="1200" dirty="0"/>
          </a:p>
        </p:txBody>
      </p:sp>
      <p:sp>
        <p:nvSpPr>
          <p:cNvPr id="33" name="Text 31"/>
          <p:cNvSpPr/>
          <p:nvPr/>
        </p:nvSpPr>
        <p:spPr>
          <a:xfrm>
            <a:off x="3264408" y="3593592"/>
            <a:ext cx="2423160" cy="82296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Small UX wins compound across 50+ sessions a month. Auditable exceptions beat gatekeeping.</a:t>
            </a:r>
            <a:endParaRPr lang="en-US" sz="1000" dirty="0"/>
          </a:p>
        </p:txBody>
      </p:sp>
      <p:sp>
        <p:nvSpPr>
          <p:cNvPr id="34" name="Text 32"/>
          <p:cNvSpPr/>
          <p:nvPr/>
        </p:nvSpPr>
        <p:spPr>
          <a:xfrm>
            <a:off x="3264408" y="4453128"/>
            <a:ext cx="2423160" cy="201168"/>
          </a:xfrm>
          <a:prstGeom prst="rect">
            <a:avLst/>
          </a:prstGeom>
          <a:noFill/>
          <a:ln/>
        </p:spPr>
        <p:txBody>
          <a:bodyPr wrap="square" rtlCol="0" anchor="ctr"/>
          <a:lstStyle/>
          <a:p>
            <a:pPr indent="0" marL="0">
              <a:buNone/>
            </a:pPr>
            <a:r>
              <a:rPr lang="en-US" sz="800" dirty="0">
                <a:solidFill>
                  <a:srgbClr val="636E72"/>
                </a:solidFill>
                <a:latin typeface="Cascadia Code" pitchFamily="34" charset="0"/>
                <a:ea typeface="Cascadia Code" pitchFamily="34" charset="-122"/>
                <a:cs typeface="Cascadia Code" pitchFamily="34" charset="-120"/>
              </a:rPr>
              <a:t>ADR 0036</a:t>
            </a:r>
            <a:endParaRPr lang="en-US" sz="800" dirty="0"/>
          </a:p>
        </p:txBody>
      </p:sp>
      <p:sp>
        <p:nvSpPr>
          <p:cNvPr id="35" name="Shape 33"/>
          <p:cNvSpPr/>
          <p:nvPr/>
        </p:nvSpPr>
        <p:spPr>
          <a:xfrm>
            <a:off x="5943600" y="2880360"/>
            <a:ext cx="5806440" cy="1828800"/>
          </a:xfrm>
          <a:prstGeom prst="roundRect">
            <a:avLst>
              <a:gd name="adj" fmla="val 5000"/>
            </a:avLst>
          </a:prstGeom>
          <a:solidFill>
            <a:srgbClr val="FFFFFF"/>
          </a:solidFill>
          <a:ln w="12700">
            <a:solidFill>
              <a:srgbClr val="DFE6E9"/>
            </a:solidFill>
            <a:prstDash val="solid"/>
          </a:ln>
        </p:spPr>
      </p:sp>
      <p:sp>
        <p:nvSpPr>
          <p:cNvPr id="36" name="Text 34"/>
          <p:cNvSpPr/>
          <p:nvPr/>
        </p:nvSpPr>
        <p:spPr>
          <a:xfrm>
            <a:off x="6053328" y="2971800"/>
            <a:ext cx="5577840" cy="228600"/>
          </a:xfrm>
          <a:prstGeom prst="rect">
            <a:avLst/>
          </a:prstGeom>
          <a:noFill/>
          <a:ln/>
        </p:spPr>
        <p:txBody>
          <a:bodyPr wrap="square" rtlCol="0" anchor="ctr"/>
          <a:lstStyle/>
          <a:p>
            <a:pPr indent="0" marL="0">
              <a:buNone/>
            </a:pPr>
            <a:r>
              <a:rPr lang="en-US" sz="900" b="1" dirty="0">
                <a:solidFill>
                  <a:srgbClr val="C8A951"/>
                </a:solidFill>
                <a:latin typeface="Cascadia Code" pitchFamily="34" charset="0"/>
                <a:ea typeface="Cascadia Code" pitchFamily="34" charset="-122"/>
                <a:cs typeface="Cascadia Code" pitchFamily="34" charset="-120"/>
              </a:rPr>
              <a:t>07</a:t>
            </a:r>
            <a:endParaRPr lang="en-US" sz="900" dirty="0"/>
          </a:p>
        </p:txBody>
      </p:sp>
      <p:sp>
        <p:nvSpPr>
          <p:cNvPr id="37" name="Text 35"/>
          <p:cNvSpPr/>
          <p:nvPr/>
        </p:nvSpPr>
        <p:spPr>
          <a:xfrm>
            <a:off x="6053328" y="3200400"/>
            <a:ext cx="5577840" cy="384048"/>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Design for deployment reality</a:t>
            </a:r>
            <a:endParaRPr lang="en-US" sz="1200" dirty="0"/>
          </a:p>
        </p:txBody>
      </p:sp>
      <p:sp>
        <p:nvSpPr>
          <p:cNvPr id="38" name="Text 36"/>
          <p:cNvSpPr/>
          <p:nvPr/>
        </p:nvSpPr>
        <p:spPr>
          <a:xfrm>
            <a:off x="6053328" y="3593592"/>
            <a:ext cx="5577840" cy="822960"/>
          </a:xfrm>
          <a:prstGeom prst="rect">
            <a:avLst/>
          </a:prstGeom>
          <a:noFill/>
          <a:ln/>
        </p:spPr>
        <p:txBody>
          <a:bodyPr wrap="square" rtlCol="0" anchor="ctr"/>
          <a:lstStyle/>
          <a:p>
            <a:pPr indent="0" marL="0">
              <a:buNone/>
            </a:pPr>
            <a:r>
              <a:rPr lang="en-US" sz="1000" dirty="0">
                <a:solidFill>
                  <a:srgbClr val="636E72"/>
                </a:solidFill>
                <a:latin typeface="Segoe UI" pitchFamily="34" charset="0"/>
                <a:ea typeface="Segoe UI" pitchFamily="34" charset="-122"/>
                <a:cs typeface="Segoe UI" pitchFamily="34" charset="-120"/>
              </a:rPr>
              <a:t>The org never runs the plugin in CI. Design around that; surface the gap honestly.</a:t>
            </a:r>
            <a:endParaRPr lang="en-US" sz="1000" dirty="0"/>
          </a:p>
        </p:txBody>
      </p:sp>
      <p:sp>
        <p:nvSpPr>
          <p:cNvPr id="39" name="Text 37"/>
          <p:cNvSpPr/>
          <p:nvPr/>
        </p:nvSpPr>
        <p:spPr>
          <a:xfrm>
            <a:off x="6053328" y="4453128"/>
            <a:ext cx="5577840" cy="201168"/>
          </a:xfrm>
          <a:prstGeom prst="rect">
            <a:avLst/>
          </a:prstGeom>
          <a:noFill/>
          <a:ln/>
        </p:spPr>
        <p:txBody>
          <a:bodyPr wrap="square" rtlCol="0" anchor="ctr"/>
          <a:lstStyle/>
          <a:p>
            <a:pPr indent="0" marL="0">
              <a:buNone/>
            </a:pPr>
            <a:r>
              <a:rPr lang="en-US" sz="800" dirty="0">
                <a:solidFill>
                  <a:srgbClr val="636E72"/>
                </a:solidFill>
                <a:latin typeface="Cascadia Code" pitchFamily="34" charset="0"/>
                <a:ea typeface="Cascadia Code" pitchFamily="34" charset="-122"/>
                <a:cs typeface="Cascadia Code" pitchFamily="34" charset="-120"/>
              </a:rPr>
              <a:t>ADR 0010</a:t>
            </a:r>
            <a:endParaRPr lang="en-US" sz="800" dirty="0"/>
          </a:p>
        </p:txBody>
      </p:sp>
      <p:sp>
        <p:nvSpPr>
          <p:cNvPr id="40" name="Text 38"/>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42 / 44</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84048"/>
            <a:ext cx="137160" cy="137160"/>
          </a:xfrm>
          <a:prstGeom prst="rect">
            <a:avLst>
              <a:gd name="adj" fmla="val 20000"/>
            </a:avLst>
          </a:prstGeom>
          <a:solidFill>
            <a:srgbClr val="C8A951"/>
          </a:solidFill>
          <a:ln w="12700">
            <a:solidFill>
              <a:srgbClr val="C8A951"/>
            </a:solidFill>
            <a:prstDash val="solid"/>
          </a:ln>
        </p:spPr>
      </p:sp>
      <p:sp>
        <p:nvSpPr>
          <p:cNvPr id="3" name="Text 1"/>
          <p:cNvSpPr/>
          <p:nvPr/>
        </p:nvSpPr>
        <p:spPr>
          <a:xfrm>
            <a:off x="685800" y="292608"/>
            <a:ext cx="10972800" cy="347472"/>
          </a:xfrm>
          <a:prstGeom prst="rect">
            <a:avLst/>
          </a:prstGeom>
          <a:noFill/>
          <a:ln/>
        </p:spPr>
        <p:txBody>
          <a:bodyPr wrap="square" rtlCol="0" anchor="ctr"/>
          <a:lstStyle/>
          <a:p>
            <a:pPr indent="0" marL="0">
              <a:buNone/>
            </a:pPr>
            <a:r>
              <a:rPr lang="en-US" sz="2200" b="1" dirty="0">
                <a:solidFill>
                  <a:srgbClr val="1A3A5C"/>
                </a:solidFill>
                <a:latin typeface="Segoe UI" pitchFamily="34" charset="0"/>
                <a:ea typeface="Segoe UI" pitchFamily="34" charset="-122"/>
                <a:cs typeface="Segoe UI" pitchFamily="34" charset="-120"/>
              </a:rPr>
              <a:t>Five walls, climbed — your five responsibilities, answered</a:t>
            </a:r>
            <a:endParaRPr lang="en-US" sz="2200" dirty="0"/>
          </a:p>
        </p:txBody>
      </p:sp>
      <p:sp>
        <p:nvSpPr>
          <p:cNvPr id="4" name="Shape 2"/>
          <p:cNvSpPr/>
          <p:nvPr/>
        </p:nvSpPr>
        <p:spPr>
          <a:xfrm>
            <a:off x="457200" y="713232"/>
            <a:ext cx="11338560" cy="0"/>
          </a:xfrm>
          <a:prstGeom prst="line">
            <a:avLst/>
          </a:prstGeom>
          <a:noFill/>
          <a:ln w="12700">
            <a:solidFill>
              <a:srgbClr val="DFE6E9"/>
            </a:solidFill>
            <a:prstDash val="solid"/>
          </a:ln>
        </p:spPr>
      </p:sp>
      <p:sp>
        <p:nvSpPr>
          <p:cNvPr id="5" name="Shape 3"/>
          <p:cNvSpPr/>
          <p:nvPr/>
        </p:nvSpPr>
        <p:spPr>
          <a:xfrm>
            <a:off x="457200" y="1051560"/>
            <a:ext cx="3383280" cy="804672"/>
          </a:xfrm>
          <a:prstGeom prst="roundRect">
            <a:avLst>
              <a:gd name="adj" fmla="val 9091"/>
            </a:avLst>
          </a:prstGeom>
          <a:solidFill>
            <a:srgbClr val="F4F7FA"/>
          </a:solidFill>
          <a:ln w="12700">
            <a:solidFill>
              <a:srgbClr val="DFE6E9"/>
            </a:solidFill>
            <a:prstDash val="solid"/>
          </a:ln>
        </p:spPr>
      </p:sp>
      <p:sp>
        <p:nvSpPr>
          <p:cNvPr id="6" name="Text 4"/>
          <p:cNvSpPr/>
          <p:nvPr/>
        </p:nvSpPr>
        <p:spPr>
          <a:xfrm>
            <a:off x="594360" y="1051560"/>
            <a:ext cx="3108960" cy="80467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Own the intent (BA hat)</a:t>
            </a:r>
            <a:endParaRPr lang="en-US" sz="1200" dirty="0"/>
          </a:p>
        </p:txBody>
      </p:sp>
      <p:sp>
        <p:nvSpPr>
          <p:cNvPr id="7" name="Text 5"/>
          <p:cNvSpPr/>
          <p:nvPr/>
        </p:nvSpPr>
        <p:spPr>
          <a:xfrm>
            <a:off x="3886200" y="1051560"/>
            <a:ext cx="457200" cy="804672"/>
          </a:xfrm>
          <a:prstGeom prst="rect">
            <a:avLst/>
          </a:prstGeom>
          <a:noFill/>
          <a:ln/>
        </p:spPr>
        <p:txBody>
          <a:bodyPr wrap="square" rtlCol="0" anchor="ctr"/>
          <a:lstStyle/>
          <a:p>
            <a:pPr algn="ctr" indent="0" marL="0">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8" name="Shape 6"/>
          <p:cNvSpPr/>
          <p:nvPr/>
        </p:nvSpPr>
        <p:spPr>
          <a:xfrm>
            <a:off x="4389120" y="1051560"/>
            <a:ext cx="2743200" cy="804672"/>
          </a:xfrm>
          <a:prstGeom prst="roundRect">
            <a:avLst>
              <a:gd name="adj" fmla="val 9091"/>
            </a:avLst>
          </a:prstGeom>
          <a:solidFill>
            <a:srgbClr val="1A3A5C"/>
          </a:solidFill>
          <a:ln w="12700">
            <a:solidFill>
              <a:srgbClr val="1A3A5C"/>
            </a:solidFill>
            <a:prstDash val="solid"/>
          </a:ln>
        </p:spPr>
      </p:sp>
      <p:sp>
        <p:nvSpPr>
          <p:cNvPr id="9" name="Text 7"/>
          <p:cNvSpPr/>
          <p:nvPr/>
        </p:nvSpPr>
        <p:spPr>
          <a:xfrm>
            <a:off x="4480560" y="1051560"/>
            <a:ext cx="2560320" cy="804672"/>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Act I · Spec</a:t>
            </a:r>
            <a:endParaRPr lang="en-US" sz="1100" dirty="0"/>
          </a:p>
        </p:txBody>
      </p:sp>
      <p:sp>
        <p:nvSpPr>
          <p:cNvPr id="10" name="Text 8"/>
          <p:cNvSpPr/>
          <p:nvPr/>
        </p:nvSpPr>
        <p:spPr>
          <a:xfrm>
            <a:off x="7315200" y="1051560"/>
            <a:ext cx="4389120" cy="804672"/>
          </a:xfrm>
          <a:prstGeom prst="rect">
            <a:avLst/>
          </a:prstGeom>
          <a:noFill/>
          <a:ln/>
        </p:spPr>
        <p:txBody>
          <a:bodyPr wrap="square" rtlCol="0" anchor="ctr"/>
          <a:lstStyle/>
          <a:p>
            <a:pPr indent="0" marL="0">
              <a:buNone/>
            </a:pPr>
            <a:r>
              <a:rPr lang="en-US" sz="1100" dirty="0">
                <a:solidFill>
                  <a:srgbClr val="636E72"/>
                </a:solidFill>
                <a:latin typeface="Segoe UI" pitchFamily="34" charset="0"/>
                <a:ea typeface="Segoe UI" pitchFamily="34" charset="-122"/>
                <a:cs typeface="Segoe UI" pitchFamily="34" charset="-120"/>
              </a:rPr>
              <a:t>ICEA gate makes it the path of least resistance</a:t>
            </a:r>
            <a:endParaRPr lang="en-US" sz="1100" dirty="0"/>
          </a:p>
        </p:txBody>
      </p:sp>
      <p:sp>
        <p:nvSpPr>
          <p:cNvPr id="11" name="Shape 9"/>
          <p:cNvSpPr/>
          <p:nvPr/>
        </p:nvSpPr>
        <p:spPr>
          <a:xfrm>
            <a:off x="457200" y="1984248"/>
            <a:ext cx="3383280" cy="804672"/>
          </a:xfrm>
          <a:prstGeom prst="roundRect">
            <a:avLst>
              <a:gd name="adj" fmla="val 9091"/>
            </a:avLst>
          </a:prstGeom>
          <a:solidFill>
            <a:srgbClr val="F4F7FA"/>
          </a:solidFill>
          <a:ln w="12700">
            <a:solidFill>
              <a:srgbClr val="DFE6E9"/>
            </a:solidFill>
            <a:prstDash val="solid"/>
          </a:ln>
        </p:spPr>
      </p:sp>
      <p:sp>
        <p:nvSpPr>
          <p:cNvPr id="12" name="Text 10"/>
          <p:cNvSpPr/>
          <p:nvPr/>
        </p:nvSpPr>
        <p:spPr>
          <a:xfrm>
            <a:off x="594360" y="1984248"/>
            <a:ext cx="3108960" cy="80467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Review the AI’s judgment</a:t>
            </a:r>
            <a:endParaRPr lang="en-US" sz="1200" dirty="0"/>
          </a:p>
        </p:txBody>
      </p:sp>
      <p:sp>
        <p:nvSpPr>
          <p:cNvPr id="13" name="Text 11"/>
          <p:cNvSpPr/>
          <p:nvPr/>
        </p:nvSpPr>
        <p:spPr>
          <a:xfrm>
            <a:off x="3886200" y="1984248"/>
            <a:ext cx="457200" cy="804672"/>
          </a:xfrm>
          <a:prstGeom prst="rect">
            <a:avLst/>
          </a:prstGeom>
          <a:noFill/>
          <a:ln/>
        </p:spPr>
        <p:txBody>
          <a:bodyPr wrap="square" rtlCol="0" anchor="ctr"/>
          <a:lstStyle/>
          <a:p>
            <a:pPr algn="ctr" indent="0" marL="0">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4389120" y="1984248"/>
            <a:ext cx="2743200" cy="804672"/>
          </a:xfrm>
          <a:prstGeom prst="roundRect">
            <a:avLst>
              <a:gd name="adj" fmla="val 9091"/>
            </a:avLst>
          </a:prstGeom>
          <a:solidFill>
            <a:srgbClr val="1A3A5C"/>
          </a:solidFill>
          <a:ln w="12700">
            <a:solidFill>
              <a:srgbClr val="1A3A5C"/>
            </a:solidFill>
            <a:prstDash val="solid"/>
          </a:ln>
        </p:spPr>
      </p:sp>
      <p:sp>
        <p:nvSpPr>
          <p:cNvPr id="15" name="Text 13"/>
          <p:cNvSpPr/>
          <p:nvPr/>
        </p:nvSpPr>
        <p:spPr>
          <a:xfrm>
            <a:off x="4480560" y="1984248"/>
            <a:ext cx="2560320" cy="804672"/>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Act II · Trust</a:t>
            </a:r>
            <a:endParaRPr lang="en-US" sz="1100" dirty="0"/>
          </a:p>
        </p:txBody>
      </p:sp>
      <p:sp>
        <p:nvSpPr>
          <p:cNvPr id="16" name="Text 14"/>
          <p:cNvSpPr/>
          <p:nvPr/>
        </p:nvSpPr>
        <p:spPr>
          <a:xfrm>
            <a:off x="7315200" y="1984248"/>
            <a:ext cx="4389120" cy="804672"/>
          </a:xfrm>
          <a:prstGeom prst="rect">
            <a:avLst/>
          </a:prstGeom>
          <a:noFill/>
          <a:ln/>
        </p:spPr>
        <p:txBody>
          <a:bodyPr wrap="square" rtlCol="0" anchor="ctr"/>
          <a:lstStyle/>
          <a:p>
            <a:pPr indent="0" marL="0">
              <a:buNone/>
            </a:pPr>
            <a:r>
              <a:rPr lang="en-US" sz="1100" dirty="0">
                <a:solidFill>
                  <a:srgbClr val="636E72"/>
                </a:solidFill>
                <a:latin typeface="Segoe UI" pitchFamily="34" charset="0"/>
                <a:ea typeface="Segoe UI" pitchFamily="34" charset="-122"/>
                <a:cs typeface="Segoe UI" pitchFamily="34" charset="-120"/>
              </a:rPr>
              <a:t>The critic — a second opinion when it’s possible</a:t>
            </a:r>
            <a:endParaRPr lang="en-US" sz="1100" dirty="0"/>
          </a:p>
        </p:txBody>
      </p:sp>
      <p:sp>
        <p:nvSpPr>
          <p:cNvPr id="17" name="Shape 15"/>
          <p:cNvSpPr/>
          <p:nvPr/>
        </p:nvSpPr>
        <p:spPr>
          <a:xfrm>
            <a:off x="457200" y="2916936"/>
            <a:ext cx="3383280" cy="804672"/>
          </a:xfrm>
          <a:prstGeom prst="roundRect">
            <a:avLst>
              <a:gd name="adj" fmla="val 9091"/>
            </a:avLst>
          </a:prstGeom>
          <a:solidFill>
            <a:srgbClr val="F4F7FA"/>
          </a:solidFill>
          <a:ln w="12700">
            <a:solidFill>
              <a:srgbClr val="DFE6E9"/>
            </a:solidFill>
            <a:prstDash val="solid"/>
          </a:ln>
        </p:spPr>
      </p:sp>
      <p:sp>
        <p:nvSpPr>
          <p:cNvPr id="18" name="Text 16"/>
          <p:cNvSpPr/>
          <p:nvPr/>
        </p:nvSpPr>
        <p:spPr>
          <a:xfrm>
            <a:off x="594360" y="2916936"/>
            <a:ext cx="3108960" cy="80467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Carry decisions forward</a:t>
            </a:r>
            <a:endParaRPr lang="en-US" sz="1200" dirty="0"/>
          </a:p>
        </p:txBody>
      </p:sp>
      <p:sp>
        <p:nvSpPr>
          <p:cNvPr id="19" name="Text 17"/>
          <p:cNvSpPr/>
          <p:nvPr/>
        </p:nvSpPr>
        <p:spPr>
          <a:xfrm>
            <a:off x="3886200" y="2916936"/>
            <a:ext cx="457200" cy="804672"/>
          </a:xfrm>
          <a:prstGeom prst="rect">
            <a:avLst/>
          </a:prstGeom>
          <a:noFill/>
          <a:ln/>
        </p:spPr>
        <p:txBody>
          <a:bodyPr wrap="square" rtlCol="0" anchor="ctr"/>
          <a:lstStyle/>
          <a:p>
            <a:pPr algn="ctr" indent="0" marL="0">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20" name="Shape 18"/>
          <p:cNvSpPr/>
          <p:nvPr/>
        </p:nvSpPr>
        <p:spPr>
          <a:xfrm>
            <a:off x="4389120" y="2916936"/>
            <a:ext cx="2743200" cy="804672"/>
          </a:xfrm>
          <a:prstGeom prst="roundRect">
            <a:avLst>
              <a:gd name="adj" fmla="val 9091"/>
            </a:avLst>
          </a:prstGeom>
          <a:solidFill>
            <a:srgbClr val="1A3A5C"/>
          </a:solidFill>
          <a:ln w="12700">
            <a:solidFill>
              <a:srgbClr val="1A3A5C"/>
            </a:solidFill>
            <a:prstDash val="solid"/>
          </a:ln>
        </p:spPr>
      </p:sp>
      <p:sp>
        <p:nvSpPr>
          <p:cNvPr id="21" name="Text 19"/>
          <p:cNvSpPr/>
          <p:nvPr/>
        </p:nvSpPr>
        <p:spPr>
          <a:xfrm>
            <a:off x="4480560" y="2916936"/>
            <a:ext cx="2560320" cy="804672"/>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Act III + Dream</a:t>
            </a:r>
            <a:endParaRPr lang="en-US" sz="1100" dirty="0"/>
          </a:p>
        </p:txBody>
      </p:sp>
      <p:sp>
        <p:nvSpPr>
          <p:cNvPr id="22" name="Text 20"/>
          <p:cNvSpPr/>
          <p:nvPr/>
        </p:nvSpPr>
        <p:spPr>
          <a:xfrm>
            <a:off x="7315200" y="2916936"/>
            <a:ext cx="4389120" cy="804672"/>
          </a:xfrm>
          <a:prstGeom prst="rect">
            <a:avLst/>
          </a:prstGeom>
          <a:noFill/>
          <a:ln/>
        </p:spPr>
        <p:txBody>
          <a:bodyPr wrap="square" rtlCol="0" anchor="ctr"/>
          <a:lstStyle/>
          <a:p>
            <a:pPr indent="0" marL="0">
              <a:buNone/>
            </a:pPr>
            <a:r>
              <a:rPr lang="en-US" sz="1100" dirty="0">
                <a:solidFill>
                  <a:srgbClr val="636E72"/>
                </a:solidFill>
                <a:latin typeface="Segoe UI" pitchFamily="34" charset="0"/>
                <a:ea typeface="Segoe UI" pitchFamily="34" charset="-122"/>
                <a:cs typeface="Segoe UI" pitchFamily="34" charset="-120"/>
              </a:rPr>
              <a:t>Disk-state &amp; Dream mean they survive</a:t>
            </a:r>
            <a:endParaRPr lang="en-US" sz="1100" dirty="0"/>
          </a:p>
        </p:txBody>
      </p:sp>
      <p:sp>
        <p:nvSpPr>
          <p:cNvPr id="23" name="Shape 21"/>
          <p:cNvSpPr/>
          <p:nvPr/>
        </p:nvSpPr>
        <p:spPr>
          <a:xfrm>
            <a:off x="457200" y="3849624"/>
            <a:ext cx="3383280" cy="804672"/>
          </a:xfrm>
          <a:prstGeom prst="roundRect">
            <a:avLst>
              <a:gd name="adj" fmla="val 9091"/>
            </a:avLst>
          </a:prstGeom>
          <a:solidFill>
            <a:srgbClr val="F4F7FA"/>
          </a:solidFill>
          <a:ln w="12700">
            <a:solidFill>
              <a:srgbClr val="DFE6E9"/>
            </a:solidFill>
            <a:prstDash val="solid"/>
          </a:ln>
        </p:spPr>
      </p:sp>
      <p:sp>
        <p:nvSpPr>
          <p:cNvPr id="24" name="Text 22"/>
          <p:cNvSpPr/>
          <p:nvPr/>
        </p:nvSpPr>
        <p:spPr>
          <a:xfrm>
            <a:off x="594360" y="3849624"/>
            <a:ext cx="3108960" cy="80467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Understand the whole system</a:t>
            </a:r>
            <a:endParaRPr lang="en-US" sz="1200" dirty="0"/>
          </a:p>
        </p:txBody>
      </p:sp>
      <p:sp>
        <p:nvSpPr>
          <p:cNvPr id="25" name="Text 23"/>
          <p:cNvSpPr/>
          <p:nvPr/>
        </p:nvSpPr>
        <p:spPr>
          <a:xfrm>
            <a:off x="3886200" y="3849624"/>
            <a:ext cx="457200" cy="804672"/>
          </a:xfrm>
          <a:prstGeom prst="rect">
            <a:avLst/>
          </a:prstGeom>
          <a:noFill/>
          <a:ln/>
        </p:spPr>
        <p:txBody>
          <a:bodyPr wrap="square" rtlCol="0" anchor="ctr"/>
          <a:lstStyle/>
          <a:p>
            <a:pPr algn="ctr" indent="0" marL="0">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26" name="Shape 24"/>
          <p:cNvSpPr/>
          <p:nvPr/>
        </p:nvSpPr>
        <p:spPr>
          <a:xfrm>
            <a:off x="4389120" y="3849624"/>
            <a:ext cx="2743200" cy="804672"/>
          </a:xfrm>
          <a:prstGeom prst="roundRect">
            <a:avLst>
              <a:gd name="adj" fmla="val 9091"/>
            </a:avLst>
          </a:prstGeom>
          <a:solidFill>
            <a:srgbClr val="1A3A5C"/>
          </a:solidFill>
          <a:ln w="12700">
            <a:solidFill>
              <a:srgbClr val="1A3A5C"/>
            </a:solidFill>
            <a:prstDash val="solid"/>
          </a:ln>
        </p:spPr>
      </p:sp>
      <p:sp>
        <p:nvSpPr>
          <p:cNvPr id="27" name="Text 25"/>
          <p:cNvSpPr/>
          <p:nvPr/>
        </p:nvSpPr>
        <p:spPr>
          <a:xfrm>
            <a:off x="4480560" y="3849624"/>
            <a:ext cx="2560320" cy="804672"/>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Act IV · Knowledge</a:t>
            </a:r>
            <a:endParaRPr lang="en-US" sz="1100" dirty="0"/>
          </a:p>
        </p:txBody>
      </p:sp>
      <p:sp>
        <p:nvSpPr>
          <p:cNvPr id="28" name="Text 26"/>
          <p:cNvSpPr/>
          <p:nvPr/>
        </p:nvSpPr>
        <p:spPr>
          <a:xfrm>
            <a:off x="7315200" y="3849624"/>
            <a:ext cx="4389120" cy="804672"/>
          </a:xfrm>
          <a:prstGeom prst="rect">
            <a:avLst/>
          </a:prstGeom>
          <a:noFill/>
          <a:ln/>
        </p:spPr>
        <p:txBody>
          <a:bodyPr wrap="square" rtlCol="0" anchor="ctr"/>
          <a:lstStyle/>
          <a:p>
            <a:pPr indent="0" marL="0">
              <a:buNone/>
            </a:pPr>
            <a:r>
              <a:rPr lang="en-US" sz="1100" dirty="0">
                <a:solidFill>
                  <a:srgbClr val="636E72"/>
                </a:solidFill>
                <a:latin typeface="Segoe UI" pitchFamily="34" charset="0"/>
                <a:ea typeface="Segoe UI" pitchFamily="34" charset="-122"/>
                <a:cs typeface="Segoe UI" pitchFamily="34" charset="-120"/>
              </a:rPr>
              <a:t>The graph + architecture docs hand you the map</a:t>
            </a:r>
            <a:endParaRPr lang="en-US" sz="1100" dirty="0"/>
          </a:p>
        </p:txBody>
      </p:sp>
      <p:sp>
        <p:nvSpPr>
          <p:cNvPr id="29" name="Shape 27"/>
          <p:cNvSpPr/>
          <p:nvPr/>
        </p:nvSpPr>
        <p:spPr>
          <a:xfrm>
            <a:off x="457200" y="4782312"/>
            <a:ext cx="3383280" cy="804672"/>
          </a:xfrm>
          <a:prstGeom prst="roundRect">
            <a:avLst>
              <a:gd name="adj" fmla="val 9091"/>
            </a:avLst>
          </a:prstGeom>
          <a:solidFill>
            <a:srgbClr val="F4F7FA"/>
          </a:solidFill>
          <a:ln w="12700">
            <a:solidFill>
              <a:srgbClr val="DFE6E9"/>
            </a:solidFill>
            <a:prstDash val="solid"/>
          </a:ln>
        </p:spPr>
      </p:sp>
      <p:sp>
        <p:nvSpPr>
          <p:cNvPr id="30" name="Text 28"/>
          <p:cNvSpPr/>
          <p:nvPr/>
        </p:nvSpPr>
        <p:spPr>
          <a:xfrm>
            <a:off x="594360" y="4782312"/>
            <a:ext cx="3108960" cy="804672"/>
          </a:xfrm>
          <a:prstGeom prst="rect">
            <a:avLst/>
          </a:prstGeom>
          <a:noFill/>
          <a:ln/>
        </p:spPr>
        <p:txBody>
          <a:bodyPr wrap="square" rtlCol="0" anchor="ctr"/>
          <a:lstStyle/>
          <a:p>
            <a:pPr indent="0" marL="0">
              <a:buNone/>
            </a:pPr>
            <a:r>
              <a:rPr lang="en-US" sz="1200" b="1" dirty="0">
                <a:solidFill>
                  <a:srgbClr val="1A3A5C"/>
                </a:solidFill>
                <a:latin typeface="Segoe UI" pitchFamily="34" charset="0"/>
                <a:ea typeface="Segoe UI" pitchFamily="34" charset="-122"/>
                <a:cs typeface="Segoe UI" pitchFamily="34" charset="-120"/>
              </a:rPr>
              <a:t>Prove it actually held</a:t>
            </a:r>
            <a:endParaRPr lang="en-US" sz="1200" dirty="0"/>
          </a:p>
        </p:txBody>
      </p:sp>
      <p:sp>
        <p:nvSpPr>
          <p:cNvPr id="31" name="Text 29"/>
          <p:cNvSpPr/>
          <p:nvPr/>
        </p:nvSpPr>
        <p:spPr>
          <a:xfrm>
            <a:off x="3886200" y="4782312"/>
            <a:ext cx="457200" cy="804672"/>
          </a:xfrm>
          <a:prstGeom prst="rect">
            <a:avLst/>
          </a:prstGeom>
          <a:noFill/>
          <a:ln/>
        </p:spPr>
        <p:txBody>
          <a:bodyPr wrap="square" rtlCol="0" anchor="ctr"/>
          <a:lstStyle/>
          <a:p>
            <a:pPr algn="ctr" indent="0" marL="0">
              <a:buNone/>
            </a:pPr>
            <a:r>
              <a:rPr lang="en-US" sz="1600" b="1" dirty="0">
                <a:solidFill>
                  <a:srgbClr val="C8A951"/>
                </a:solidFill>
                <a:latin typeface="Segoe UI" pitchFamily="34" charset="0"/>
                <a:ea typeface="Segoe UI" pitchFamily="34" charset="-122"/>
                <a:cs typeface="Segoe UI" pitchFamily="34" charset="-120"/>
              </a:rPr>
              <a:t>→</a:t>
            </a:r>
            <a:endParaRPr lang="en-US" sz="1600" dirty="0"/>
          </a:p>
        </p:txBody>
      </p:sp>
      <p:sp>
        <p:nvSpPr>
          <p:cNvPr id="32" name="Shape 30"/>
          <p:cNvSpPr/>
          <p:nvPr/>
        </p:nvSpPr>
        <p:spPr>
          <a:xfrm>
            <a:off x="4389120" y="4782312"/>
            <a:ext cx="2743200" cy="804672"/>
          </a:xfrm>
          <a:prstGeom prst="roundRect">
            <a:avLst>
              <a:gd name="adj" fmla="val 9091"/>
            </a:avLst>
          </a:prstGeom>
          <a:solidFill>
            <a:srgbClr val="1A3A5C"/>
          </a:solidFill>
          <a:ln w="12700">
            <a:solidFill>
              <a:srgbClr val="1A3A5C"/>
            </a:solidFill>
            <a:prstDash val="solid"/>
          </a:ln>
        </p:spPr>
      </p:sp>
      <p:sp>
        <p:nvSpPr>
          <p:cNvPr id="33" name="Text 31"/>
          <p:cNvSpPr/>
          <p:nvPr/>
        </p:nvSpPr>
        <p:spPr>
          <a:xfrm>
            <a:off x="4480560" y="4782312"/>
            <a:ext cx="2560320" cy="804672"/>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Act V · Observability</a:t>
            </a:r>
            <a:endParaRPr lang="en-US" sz="1100" dirty="0"/>
          </a:p>
        </p:txBody>
      </p:sp>
      <p:sp>
        <p:nvSpPr>
          <p:cNvPr id="34" name="Text 32"/>
          <p:cNvSpPr/>
          <p:nvPr/>
        </p:nvSpPr>
        <p:spPr>
          <a:xfrm>
            <a:off x="7315200" y="4782312"/>
            <a:ext cx="4389120" cy="804672"/>
          </a:xfrm>
          <a:prstGeom prst="rect">
            <a:avLst/>
          </a:prstGeom>
          <a:noFill/>
          <a:ln/>
        </p:spPr>
        <p:txBody>
          <a:bodyPr wrap="square" rtlCol="0" anchor="ctr"/>
          <a:lstStyle/>
          <a:p>
            <a:pPr indent="0" marL="0">
              <a:buNone/>
            </a:pPr>
            <a:r>
              <a:rPr lang="en-US" sz="1100" dirty="0">
                <a:solidFill>
                  <a:srgbClr val="636E72"/>
                </a:solidFill>
                <a:latin typeface="Segoe UI" pitchFamily="34" charset="0"/>
                <a:ea typeface="Segoe UI" pitchFamily="34" charset="-122"/>
                <a:cs typeface="Segoe UI" pitchFamily="34" charset="-120"/>
              </a:rPr>
              <a:t>Traceability + ledgers give you the evidence</a:t>
            </a:r>
            <a:endParaRPr lang="en-US" sz="1100" dirty="0"/>
          </a:p>
        </p:txBody>
      </p:sp>
      <p:sp>
        <p:nvSpPr>
          <p:cNvPr id="35" name="Text 33"/>
          <p:cNvSpPr/>
          <p:nvPr/>
        </p:nvSpPr>
        <p:spPr>
          <a:xfrm>
            <a:off x="457200" y="5806440"/>
            <a:ext cx="11247120" cy="365760"/>
          </a:xfrm>
          <a:prstGeom prst="rect">
            <a:avLst/>
          </a:prstGeom>
          <a:noFill/>
          <a:ln/>
        </p:spPr>
        <p:txBody>
          <a:bodyPr wrap="square" rtlCol="0" anchor="ctr"/>
          <a:lstStyle/>
          <a:p>
            <a:pPr algn="ctr" indent="0" marL="0">
              <a:buNone/>
            </a:pPr>
            <a:r>
              <a:rPr lang="en-US" sz="1200" i="1" dirty="0">
                <a:solidFill>
                  <a:srgbClr val="636E72"/>
                </a:solidFill>
                <a:latin typeface="Segoe UI" pitchFamily="34" charset="0"/>
                <a:ea typeface="Segoe UI" pitchFamily="34" charset="-122"/>
                <a:cs typeface="Segoe UI" pitchFamily="34" charset="-120"/>
              </a:rPr>
              <a:t>Each wall became visible only after you’d climbed the one before it.</a:t>
            </a:r>
            <a:endParaRPr lang="en-US" sz="1200" dirty="0"/>
          </a:p>
        </p:txBody>
      </p:sp>
      <p:sp>
        <p:nvSpPr>
          <p:cNvPr id="36" name="Text 34"/>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43 / 44</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A3A5C"/>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900" b="1" spc="300" kern="0" dirty="0">
                <a:solidFill>
                  <a:srgbClr val="C8A951"/>
                </a:solidFill>
                <a:latin typeface="Segoe UI" pitchFamily="34" charset="0"/>
                <a:ea typeface="Segoe UI" pitchFamily="34" charset="-122"/>
                <a:cs typeface="Segoe UI" pitchFamily="34" charset="-120"/>
              </a:rPr>
              <a:t>IN SUMMARY</a:t>
            </a:r>
            <a:endParaRPr lang="en-US" sz="900" dirty="0"/>
          </a:p>
        </p:txBody>
      </p:sp>
      <p:sp>
        <p:nvSpPr>
          <p:cNvPr id="3" name="Text 1"/>
          <p:cNvSpPr/>
          <p:nvPr/>
        </p:nvSpPr>
        <p:spPr>
          <a:xfrm>
            <a:off x="548640" y="868680"/>
            <a:ext cx="10972800" cy="1463040"/>
          </a:xfrm>
          <a:prstGeom prst="rect">
            <a:avLst/>
          </a:prstGeom>
          <a:noFill/>
          <a:ln/>
        </p:spPr>
        <p:txBody>
          <a:bodyPr wrap="square" rtlCol="0" anchor="ctr"/>
          <a:lstStyle/>
          <a:p>
            <a:pPr indent="0" marL="0">
              <a:buNone/>
            </a:pPr>
            <a:r>
              <a:rPr lang="en-US" sz="3400" b="1" dirty="0">
                <a:solidFill>
                  <a:srgbClr val="FFFFFF"/>
                </a:solidFill>
                <a:latin typeface="Segoe UI" pitchFamily="34" charset="0"/>
                <a:ea typeface="Segoe UI" pitchFamily="34" charset="-122"/>
                <a:cs typeface="Segoe UI" pitchFamily="34" charset="-120"/>
              </a:rPr>
              <a:t>You’re not the coder anymore.</a:t>
            </a:r>
            <a:endParaRPr lang="en-US" sz="3400" dirty="0"/>
          </a:p>
          <a:p>
            <a:pPr indent="0" marL="0">
              <a:buNone/>
            </a:pPr>
            <a:r>
              <a:rPr lang="en-US" sz="3400" b="1" dirty="0">
                <a:solidFill>
                  <a:srgbClr val="FFFFFF"/>
                </a:solidFill>
                <a:latin typeface="Segoe UI" pitchFamily="34" charset="0"/>
                <a:ea typeface="Segoe UI" pitchFamily="34" charset="-122"/>
                <a:cs typeface="Segoe UI" pitchFamily="34" charset="-120"/>
              </a:rPr>
              <a:t>You’re the one the AI answers to.</a:t>
            </a:r>
            <a:endParaRPr lang="en-US" sz="3400" dirty="0"/>
          </a:p>
        </p:txBody>
      </p:sp>
      <p:sp>
        <p:nvSpPr>
          <p:cNvPr id="4" name="Text 2"/>
          <p:cNvSpPr/>
          <p:nvPr/>
        </p:nvSpPr>
        <p:spPr>
          <a:xfrm>
            <a:off x="548640" y="2331720"/>
            <a:ext cx="10972800" cy="1280160"/>
          </a:xfrm>
          <a:prstGeom prst="rect">
            <a:avLst/>
          </a:prstGeom>
          <a:noFill/>
          <a:ln/>
        </p:spPr>
        <p:txBody>
          <a:bodyPr wrap="square" rtlCol="0" anchor="ctr"/>
          <a:lstStyle/>
          <a:p>
            <a:pPr indent="0" marL="0">
              <a:buNone/>
            </a:pPr>
            <a:r>
              <a:rPr lang="en-US" sz="1500" dirty="0">
                <a:solidFill>
                  <a:srgbClr val="CDD9E6"/>
                </a:solidFill>
                <a:latin typeface="Segoe UI" pitchFamily="34" charset="0"/>
                <a:ea typeface="Segoe UI" pitchFamily="34" charset="-122"/>
                <a:cs typeface="Segoe UI" pitchFamily="34" charset="-120"/>
              </a:rPr>
              <a:t>The coding got cheaper; the thinking became the job — wearing the BA hat, holding the system in your head, judging the plan, owning the decisions, proving what shipped. That’s a role, not a tool. And 52 decisions on disk exist to make that role trustworthy — so when you sign off, you sign off on evidence, not faith.</a:t>
            </a:r>
            <a:endParaRPr lang="en-US" sz="1500" dirty="0"/>
          </a:p>
        </p:txBody>
      </p:sp>
      <p:sp>
        <p:nvSpPr>
          <p:cNvPr id="5" name="Shape 3"/>
          <p:cNvSpPr/>
          <p:nvPr/>
        </p:nvSpPr>
        <p:spPr>
          <a:xfrm>
            <a:off x="548640" y="3840480"/>
            <a:ext cx="3566160" cy="1554480"/>
          </a:xfrm>
          <a:prstGeom prst="roundRect">
            <a:avLst>
              <a:gd name="adj" fmla="val 7059"/>
            </a:avLst>
          </a:prstGeom>
          <a:solidFill>
            <a:srgbClr val="1E4870"/>
          </a:solidFill>
          <a:ln w="12700">
            <a:solidFill>
              <a:srgbClr val="4A7AAA"/>
            </a:solidFill>
            <a:prstDash val="solid"/>
          </a:ln>
        </p:spPr>
      </p:sp>
      <p:sp>
        <p:nvSpPr>
          <p:cNvPr id="6" name="Text 4"/>
          <p:cNvSpPr/>
          <p:nvPr/>
        </p:nvSpPr>
        <p:spPr>
          <a:xfrm>
            <a:off x="685800" y="3950208"/>
            <a:ext cx="3291840" cy="256032"/>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THE DECISIONS</a:t>
            </a:r>
            <a:endParaRPr lang="en-US" sz="800" dirty="0"/>
          </a:p>
        </p:txBody>
      </p:sp>
      <p:sp>
        <p:nvSpPr>
          <p:cNvPr id="7" name="Text 5"/>
          <p:cNvSpPr/>
          <p:nvPr/>
        </p:nvSpPr>
        <p:spPr>
          <a:xfrm>
            <a:off x="685800" y="4224528"/>
            <a:ext cx="3291840" cy="1051560"/>
          </a:xfrm>
          <a:prstGeom prst="rect">
            <a:avLst/>
          </a:prstGeom>
          <a:noFill/>
          <a:ln/>
        </p:spPr>
        <p:txBody>
          <a:bodyPr wrap="square" rtlCol="0" anchor="ctr"/>
          <a:lstStyle/>
          <a:p>
            <a:pPr indent="0" marL="0">
              <a:buNone/>
            </a:pPr>
            <a:r>
              <a:rPr lang="en-US" sz="1300" dirty="0">
                <a:solidFill>
                  <a:srgbClr val="DCE6F0"/>
                </a:solidFill>
                <a:latin typeface="Segoe UI" pitchFamily="34" charset="0"/>
                <a:ea typeface="Segoe UI" pitchFamily="34" charset="-122"/>
                <a:cs typeface="Segoe UI" pitchFamily="34" charset="-120"/>
              </a:rPr>
              <a:t>docs/adr/</a:t>
            </a:r>
            <a:endParaRPr lang="en-US" sz="1300" dirty="0"/>
          </a:p>
          <a:p>
            <a:pPr indent="0" marL="0">
              <a:buNone/>
            </a:pPr>
            <a:r>
              <a:rPr lang="en-US" sz="1300" dirty="0">
                <a:solidFill>
                  <a:srgbClr val="DCE6F0"/>
                </a:solidFill>
                <a:latin typeface="Segoe UI" pitchFamily="34" charset="0"/>
                <a:ea typeface="Segoe UI" pitchFamily="34" charset="-122"/>
                <a:cs typeface="Segoe UI" pitchFamily="34" charset="-120"/>
              </a:rPr>
              <a:t>52 ADRs, numbered and dated</a:t>
            </a:r>
            <a:endParaRPr lang="en-US" sz="1300" dirty="0"/>
          </a:p>
        </p:txBody>
      </p:sp>
      <p:sp>
        <p:nvSpPr>
          <p:cNvPr id="8" name="Shape 6"/>
          <p:cNvSpPr/>
          <p:nvPr/>
        </p:nvSpPr>
        <p:spPr>
          <a:xfrm>
            <a:off x="4297680" y="3840480"/>
            <a:ext cx="3566160" cy="1554480"/>
          </a:xfrm>
          <a:prstGeom prst="roundRect">
            <a:avLst>
              <a:gd name="adj" fmla="val 7059"/>
            </a:avLst>
          </a:prstGeom>
          <a:solidFill>
            <a:srgbClr val="1E4870"/>
          </a:solidFill>
          <a:ln w="12700">
            <a:solidFill>
              <a:srgbClr val="4A7AAA"/>
            </a:solidFill>
            <a:prstDash val="solid"/>
          </a:ln>
        </p:spPr>
      </p:sp>
      <p:sp>
        <p:nvSpPr>
          <p:cNvPr id="9" name="Text 7"/>
          <p:cNvSpPr/>
          <p:nvPr/>
        </p:nvSpPr>
        <p:spPr>
          <a:xfrm>
            <a:off x="4434840" y="3950208"/>
            <a:ext cx="3291840" cy="256032"/>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THE PRINCIPLES</a:t>
            </a:r>
            <a:endParaRPr lang="en-US" sz="800" dirty="0"/>
          </a:p>
        </p:txBody>
      </p:sp>
      <p:sp>
        <p:nvSpPr>
          <p:cNvPr id="10" name="Text 8"/>
          <p:cNvSpPr/>
          <p:nvPr/>
        </p:nvSpPr>
        <p:spPr>
          <a:xfrm>
            <a:off x="4434840" y="4224528"/>
            <a:ext cx="3291840" cy="1051560"/>
          </a:xfrm>
          <a:prstGeom prst="rect">
            <a:avLst/>
          </a:prstGeom>
          <a:noFill/>
          <a:ln/>
        </p:spPr>
        <p:txBody>
          <a:bodyPr wrap="square" rtlCol="0" anchor="ctr"/>
          <a:lstStyle/>
          <a:p>
            <a:pPr indent="0" marL="0">
              <a:buNone/>
            </a:pPr>
            <a:r>
              <a:rPr lang="en-US" sz="1300" dirty="0">
                <a:solidFill>
                  <a:srgbClr val="DCE6F0"/>
                </a:solidFill>
                <a:latin typeface="Segoe UI" pitchFamily="34" charset="0"/>
                <a:ea typeface="Segoe UI" pitchFamily="34" charset="-122"/>
                <a:cs typeface="Segoe UI" pitchFamily="34" charset="-120"/>
              </a:rPr>
              <a:t>CLAUDE.md</a:t>
            </a:r>
            <a:endParaRPr lang="en-US" sz="1300" dirty="0"/>
          </a:p>
          <a:p>
            <a:pPr indent="0" marL="0">
              <a:buNone/>
            </a:pPr>
            <a:r>
              <a:rPr lang="en-US" sz="1300" dirty="0">
                <a:solidFill>
                  <a:srgbClr val="DCE6F0"/>
                </a:solidFill>
                <a:latin typeface="Segoe UI" pitchFamily="34" charset="0"/>
                <a:ea typeface="Segoe UI" pitchFamily="34" charset="-122"/>
                <a:cs typeface="Segoe UI" pitchFamily="34" charset="-120"/>
              </a:rPr>
              <a:t>The principles, every session</a:t>
            </a:r>
            <a:endParaRPr lang="en-US" sz="1300" dirty="0"/>
          </a:p>
        </p:txBody>
      </p:sp>
      <p:sp>
        <p:nvSpPr>
          <p:cNvPr id="11" name="Shape 9"/>
          <p:cNvSpPr/>
          <p:nvPr/>
        </p:nvSpPr>
        <p:spPr>
          <a:xfrm>
            <a:off x="8046720" y="3840480"/>
            <a:ext cx="3566160" cy="1554480"/>
          </a:xfrm>
          <a:prstGeom prst="roundRect">
            <a:avLst>
              <a:gd name="adj" fmla="val 7059"/>
            </a:avLst>
          </a:prstGeom>
          <a:solidFill>
            <a:srgbClr val="1E4870"/>
          </a:solidFill>
          <a:ln w="12700">
            <a:solidFill>
              <a:srgbClr val="4A7AAA"/>
            </a:solidFill>
            <a:prstDash val="solid"/>
          </a:ln>
        </p:spPr>
      </p:sp>
      <p:sp>
        <p:nvSpPr>
          <p:cNvPr id="12" name="Text 10"/>
          <p:cNvSpPr/>
          <p:nvPr/>
        </p:nvSpPr>
        <p:spPr>
          <a:xfrm>
            <a:off x="8183880" y="3950208"/>
            <a:ext cx="3291840" cy="256032"/>
          </a:xfrm>
          <a:prstGeom prst="rect">
            <a:avLst/>
          </a:prstGeom>
          <a:noFill/>
          <a:ln/>
        </p:spPr>
        <p:txBody>
          <a:bodyPr wrap="square" rtlCol="0" anchor="ctr"/>
          <a:lstStyle/>
          <a:p>
            <a:pPr indent="0" marL="0">
              <a:buNone/>
            </a:pPr>
            <a:r>
              <a:rPr lang="en-US" sz="800" b="1" spc="150" kern="0" dirty="0">
                <a:solidFill>
                  <a:srgbClr val="C8A951"/>
                </a:solidFill>
                <a:latin typeface="Cascadia Code" pitchFamily="34" charset="0"/>
                <a:ea typeface="Cascadia Code" pitchFamily="34" charset="-122"/>
                <a:cs typeface="Cascadia Code" pitchFamily="34" charset="-120"/>
              </a:rPr>
              <a:t>GO DEEPER ON DREAM</a:t>
            </a:r>
            <a:endParaRPr lang="en-US" sz="800" dirty="0"/>
          </a:p>
        </p:txBody>
      </p:sp>
      <p:sp>
        <p:nvSpPr>
          <p:cNvPr id="13" name="Text 11"/>
          <p:cNvSpPr/>
          <p:nvPr/>
        </p:nvSpPr>
        <p:spPr>
          <a:xfrm>
            <a:off x="8183880" y="4224528"/>
            <a:ext cx="3291840" cy="1051560"/>
          </a:xfrm>
          <a:prstGeom prst="rect">
            <a:avLst/>
          </a:prstGeom>
          <a:noFill/>
          <a:ln/>
        </p:spPr>
        <p:txBody>
          <a:bodyPr wrap="square" rtlCol="0" anchor="ctr"/>
          <a:lstStyle/>
          <a:p>
            <a:pPr indent="0" marL="0">
              <a:buNone/>
            </a:pPr>
            <a:r>
              <a:rPr lang="en-US" sz="1300" dirty="0">
                <a:solidFill>
                  <a:srgbClr val="DCE6F0"/>
                </a:solidFill>
                <a:latin typeface="Segoe UI" pitchFamily="34" charset="0"/>
                <a:ea typeface="Segoe UI" pitchFamily="34" charset="-122"/>
                <a:cs typeface="Segoe UI" pitchFamily="34" charset="-120"/>
              </a:rPr>
              <a:t>dream-skill.pptx</a:t>
            </a:r>
            <a:endParaRPr lang="en-US" sz="1300" dirty="0"/>
          </a:p>
          <a:p>
            <a:pPr indent="0" marL="0">
              <a:buNone/>
            </a:pPr>
            <a:r>
              <a:rPr lang="en-US" sz="1300" dirty="0">
                <a:solidFill>
                  <a:srgbClr val="DCE6F0"/>
                </a:solidFill>
                <a:latin typeface="Segoe UI" pitchFamily="34" charset="0"/>
                <a:ea typeface="Segoe UI" pitchFamily="34" charset="-122"/>
                <a:cs typeface="Segoe UI" pitchFamily="34" charset="-120"/>
              </a:rPr>
              <a:t>The 19-slide deep-dive</a:t>
            </a:r>
            <a:endParaRPr lang="en-US" sz="1300" dirty="0"/>
          </a:p>
        </p:txBody>
      </p:sp>
      <p:sp>
        <p:nvSpPr>
          <p:cNvPr id="14" name="Text 12"/>
          <p:cNvSpPr/>
          <p:nvPr/>
        </p:nvSpPr>
        <p:spPr>
          <a:xfrm>
            <a:off x="548640" y="5806440"/>
            <a:ext cx="10972800" cy="320040"/>
          </a:xfrm>
          <a:prstGeom prst="rect">
            <a:avLst/>
          </a:prstGeom>
          <a:noFill/>
          <a:ln/>
        </p:spPr>
        <p:txBody>
          <a:bodyPr wrap="square" rtlCol="0" anchor="ctr"/>
          <a:lstStyle/>
          <a:p>
            <a:pPr indent="0" marL="0">
              <a:buNone/>
            </a:pPr>
            <a:r>
              <a:rPr lang="en-US" sz="1400" dirty="0">
                <a:solidFill>
                  <a:srgbClr val="9DB2C7"/>
                </a:solidFill>
                <a:latin typeface="Segoe UI" pitchFamily="34" charset="0"/>
                <a:ea typeface="Segoe UI" pitchFamily="34" charset="-122"/>
                <a:cs typeface="Segoe UI" pitchFamily="34" charset="-120"/>
              </a:rPr>
              <a:t>Discussion.</a:t>
            </a:r>
            <a:endParaRPr lang="en-US" sz="1400" dirty="0"/>
          </a:p>
        </p:txBody>
      </p:sp>
      <p:sp>
        <p:nvSpPr>
          <p:cNvPr id="15" name="Text 13"/>
          <p:cNvSpPr/>
          <p:nvPr/>
        </p:nvSpPr>
        <p:spPr>
          <a:xfrm>
            <a:off x="10515600" y="6492240"/>
            <a:ext cx="1371600" cy="228600"/>
          </a:xfrm>
          <a:prstGeom prst="rect">
            <a:avLst/>
          </a:prstGeom>
          <a:noFill/>
          <a:ln/>
        </p:spPr>
        <p:txBody>
          <a:bodyPr wrap="square" rtlCol="0" anchor="ctr"/>
          <a:lstStyle/>
          <a:p>
            <a:pPr algn="r" indent="0" marL="0">
              <a:buNone/>
            </a:pPr>
            <a:r>
              <a:rPr lang="en-US" sz="800" dirty="0">
                <a:solidFill>
                  <a:srgbClr val="636E72"/>
                </a:solidFill>
                <a:latin typeface="Cascadia Code" pitchFamily="34" charset="0"/>
                <a:ea typeface="Cascadia Code" pitchFamily="34" charset="-122"/>
                <a:cs typeface="Cascadia Code" pitchFamily="34" charset="-120"/>
              </a:rPr>
              <a:t>44 / 44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2026-07-11T22:44:13Z</dcterms:created>
  <dcterms:modified xsi:type="dcterms:W3CDTF">2026-07-11T22:44:13Z</dcterms:modified>
</cp:coreProperties>
</file>