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3349" autoAdjust="0"/>
  </p:normalViewPr>
  <p:slideViewPr>
    <p:cSldViewPr snapToGrid="0" snapToObjects="1">
      <p:cViewPr varScale="1">
        <p:scale>
          <a:sx n="103" d="100"/>
          <a:sy n="103" d="100"/>
        </p:scale>
        <p:origin x="876" y="114"/>
      </p:cViewPr>
      <p:guideLst/>
    </p:cSldViewPr>
  </p:slideViewPr>
  <p:notesTextViewPr>
    <p:cViewPr>
      <p:scale>
        <a:sx n="100" d="100"/>
        <a:sy n="100" d="100"/>
      </p:scale>
      <p:origin x="0" y="-972"/>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3339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I am Vivek Rawat and I am working with Kirkland as Solution architect.</a:t>
            </a:r>
          </a:p>
          <a:p>
            <a:endParaRPr lang="en-US" sz="1400" b="0" dirty="0"/>
          </a:p>
          <a:p>
            <a:r>
              <a:rPr lang="en-US" sz="1400" b="0" dirty="0"/>
              <a:t>I love stories, specially Science fiction, Unfortunately, the story that we will go though today is not fiction, its the hard reality that we are working in.</a:t>
            </a:r>
          </a:p>
          <a:p>
            <a:endParaRPr lang="en-US" sz="1400" b="0" dirty="0"/>
          </a:p>
          <a:p>
            <a:r>
              <a:rPr lang="en-US" sz="1400" b="0" dirty="0"/>
              <a:t>And the story is</a:t>
            </a:r>
            <a:r>
              <a:rPr lang="en-US" dirty="0"/>
              <a:t>
AI writes the code now. And honestly — the interesting question was never whether it replaces us. It is what's left for us.
While thinking a lot, I keep coming back to four questions:
Craft — if I'm not writing the code, what is my craft now? What do I bring?
Responsibility — when it gets it wrong, who actually understands what went wrong? And who answers for it?
Team — there's a new member on every team now. Never sleeps, never complains, and sometimes confidently ships something completely broken. Do we work with it… or manage it?
And a fourth, judgment. AI can generate code but it can't decide if something should be built. That's still a human call. And in a world where it's this easy to ship things fast… that call matters more than ever.
Everything ahead is built around those four.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this. Understand the change. Make it. Push it. Ask someone to review it.
Honestly — how many of us still run this exact process today?
I bet… most of us. Because it works. And it did — for a long time. So, what quietly changed?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look into what changed.
This is the loop that we just talk about. Make it, Push it, Ask someone to review and ship it. the look is still the same, but that 1 person who was keep this loop honest by asking "Are you sure?", "will it do what it is supposed to?" has either completely gone or is asking AI to review.</a:t>
            </a:r>
          </a:p>
          <a:p>
            <a:br>
              <a:rPr lang="en-US" dirty="0"/>
            </a:br>
            <a:r>
              <a:rPr lang="en-US" dirty="0"/>
              <a:t>So, its kind of.. AI is asking AI about the code written by AI to be reviewed by AI and AI says "All is well".</a:t>
            </a:r>
          </a:p>
          <a:p>
            <a:br>
              <a:rPr lang="en-US" dirty="0"/>
            </a:br>
            <a:r>
              <a:rPr lang="en-US" dirty="0"/>
              <a:t>Everything I built next was a one long attempt to put that missing check back.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to this important slide, which again asks,  what is your role now?</a:t>
            </a:r>
          </a:p>
          <a:p>
            <a:br>
              <a:rPr lang="en-US" dirty="0"/>
            </a:br>
            <a:r>
              <a:rPr lang="en-US" dirty="0"/>
              <a:t>Believe me, this is not a simple question and I am trying my best mentoring my team to fit in this new role. </a:t>
            </a:r>
          </a:p>
          <a:p>
            <a:r>
              <a:rPr lang="en-US" dirty="0"/>
              <a:t>Its hard, because it requires a mind shift.</a:t>
            </a:r>
          </a:p>
          <a:p>
            <a:br>
              <a:rPr lang="en-US" dirty="0"/>
            </a:br>
            <a:r>
              <a:rPr lang="en-US" dirty="0"/>
              <a:t>Your new role needs you to wear all these 5 hats (irrespective of junior or senior title).</a:t>
            </a:r>
          </a:p>
          <a:p>
            <a:r>
              <a:rPr lang="en-US" dirty="0"/>
              <a:t>So, first is responsibility: BA, You can no longer understand just the story, you need to look at big picture where this story fits. </a:t>
            </a:r>
          </a:p>
          <a:p>
            <a:r>
              <a:rPr lang="en-US" dirty="0"/>
              <a:t>Second: You can no longer look at a file, do a patch work and say I did it. you need to start thinking like a lead and have understanding of the whole system.</a:t>
            </a:r>
          </a:p>
          <a:p>
            <a:r>
              <a:rPr lang="en-US" dirty="0"/>
              <a:t>Third: AI generates a plan before it does anything, so you should be able to review the plan and like a detective identify what's out of scope.</a:t>
            </a:r>
          </a:p>
          <a:p>
            <a:r>
              <a:rPr lang="en-US" dirty="0"/>
              <a:t>and finally: AI has joined as a new team member. You are not supposed to work with it, your role is to manage it.</a:t>
            </a:r>
          </a:p>
          <a:p>
            <a:endParaRPr lang="en-US" dirty="0"/>
          </a:p>
          <a:p>
            <a:r>
              <a:rPr lang="en-US" dirty="0"/>
              <a:t>As you can see, its hard and this line at the bottom, coder -&gt; conductor is how your job is shifting. </a:t>
            </a:r>
          </a:p>
          <a:p>
            <a:r>
              <a:rPr lang="en-US" dirty="0"/>
              <a:t>Lets look into each one of these.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the thing — none of those five things are new tools. They're new responsibilities. And a responsibility with no system behind it just quietly collapses back into "someone please review the PR." So each of the five acts coming up is the machinery behind one of these: owning intent, reviewing judgment, keeping continuity, understanding the system, and proving it held. Watch them line up one to one — because at the very end, this exact mapping is how we'll close the loop.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matrix. Three columns — your new responsibility, what was missing, and the system we built to fill it.
Spec. Trust. Continuity. Knowledge. Observability.
Five gaps. Five systems. Let's go through them one by 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question is — why a plugin and not just a prompt library?
A prompt is a suggestion, and the AI may or may not follow it. A plugin enforces how you work — it's not optional, it's the system. And in this new role, where you're managing an AI rather than out-typing it, a suggestion simply isn't enough — you need something that actually holds.
What I ended up with is a governance workflow — five discoveries, each one unlocking the next. Let's start with the first.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way, I learn is to first look at what failed and why, then understand it and finally the benefits. So, today we will also follow that. </a:t>
            </a:r>
            <a:br>
              <a:rPr lang="en-US" dirty="0"/>
            </a:br>
            <a:br>
              <a:rPr lang="en-US" dirty="0"/>
            </a:br>
            <a:r>
              <a:rPr lang="en-US" dirty="0"/>
              <a:t>So discovery one is Spec — and the reason it comes first is straightforward. </a:t>
            </a:r>
            <a:br>
              <a:rPr lang="en-US" dirty="0"/>
            </a:br>
            <a:br>
              <a:rPr lang="en-US" dirty="0"/>
            </a:br>
            <a:r>
              <a:rPr lang="en-US" dirty="0"/>
              <a:t>The AI will never ask you what you meant. It'll take whatever you give it and build with complete confidence, even if it's heading entirely in the wrong direction. Someone has to capture the intent before that happens, and that someone is you. That's what the spec is for.</a:t>
            </a:r>
            <a:br>
              <a:rPr lang="en-US" dirty="0"/>
            </a:br>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many of you are working on stories where the requirement lives in a user story, an email, a chat message, or someone's head?
I bet… most of you. And the real issue is not where it lives — it is that nobody has a complete picture of what is actually being built.
So the requirement is scattered, the code lives in the pull request, and the first time anyone compares the two is during code review — days later, after the AI has already built confidently against whatever it assumed.
That is why we built the spec process. To make sure the AI is not assuming, and you are not rewriting.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the spec? We call it ICEA — four questions that together give the AI everything it needs to build the right thing.
The first is Intent — what are we actually building and why, not the ticket title but the real business goal behind the ask. </a:t>
            </a:r>
            <a:br>
              <a:rPr lang="en-US" dirty="0"/>
            </a:br>
            <a:r>
              <a:rPr lang="en-US" dirty="0"/>
              <a:t>The second is Context — this is where you describe where the feature lives, what the stack looks like, what the auth model is, and what the edge cases are. </a:t>
            </a:r>
            <a:br>
              <a:rPr lang="en-US" dirty="0"/>
            </a:br>
            <a:r>
              <a:rPr lang="en-US" dirty="0"/>
              <a:t>The third is Examples — this is where you show instead of tell, using real scenarios, given this situation, when this happens, then this is the expected result. And the fourth is Acceptance — a definition of done that is specific enough that you could test it and get a clear pass or fail, with no room for argument.
In nutshell, It is not a form. It is the thinking that used to just not happen — and each part feeds directly into what comes next, whether that is the design, the tests, or closing the ticket.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you're looking at is a sample ICEA format.
Let me show you the real one.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while, people just treated it like a form. Something the tool was making them fill out before they could get on with the actual work. I get it — it feels that way.
But that's not what it is. This is actually the craft — the thinking that made you good at this job in the first place. Taking something ambiguous and making it precise enough to build against. That skill didn't go away when the AI started writing the code. It became everything.
And honestly the thing that surprised me most — we never had to tell anyone. Once the pain of a thin spec landed on the person who wrote it… they just changed. Quietly.
One honest admission — we wanted CI enforcement. The plugin doesn't run there. So bypass is possible. We just made sure it leaves a trace. There's a difference between "can't bypass" and "can't bypass quietly" — and we settled for the second one.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Mechanically, act one is really just a relationship. You write the contract — Intent, Context, Examples, Acceptance. The AI builds against it. You type APPROVE, and that's your signature. Nothing gets built without it. And before a single file lands on disk, you see the diff and you sign again.
Under the hood there's a ladder — the model proposes, hooks intercept, Git and CI hold the floor — but I don't really care about the plumbing here. What matters is that at every step, there's a named person who owns a decision.
That's the exact thing that disappeared when the AI became the peer. This is where we put it back.
And then it creates a new problem almost immediately.</a:t>
            </a:r>
            <a:br>
              <a:rPr lang="en-US" dirty="0"/>
            </a:br>
            <a:r>
              <a:rPr lang="en-US" dirty="0"/>
              <a:t>So, let’s look into that problem now.</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two. Trust without measurement.
We now have gates. So the problem is solved, right?
Not quite. Because now you're asked to review the AI's judgment.
Sure, fine. But… how do you review judgment you can't see?
Think about it for a second. What does that actually mean?
Let's look at the failure scenario.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wall that bothered me the most.
We have always considered review as a gate, but when does it actually happen. ICEA review was before any code existed, and the code review was afterwards — by that time everyone has already forgotten the spec. So that one comparison "does code actually do what we agreed on?" never happened.
On top of that, a generalist AI was reviewing specialist work, so a security problem reviewed through a general lens will get skipped, and the only response we get was: the AI said it looks good.
I was being asked to trust something I had no way to measure. Same model, same lens — spec drafting, security review, architecture decisions — every time. That is not trust. That is just hoping.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 built the one thing that could be there when I could not — the critic.
When the AI generates code, the critic engine hands me a real second opinion instead of a blank diff. And it fires at three important moments, each time with a specialized persona and a different model.
After the ICEA is drafted, the critic analyzes the document and provides a second opinion on whether the intent is clear and complete. When the tech spec is generated, it loads the ICEA into memory and maps the tech spec against it. And after the code is generated, it loads the tech spec and validates the code against what was agreed.
At each step, if it finds discrepancies, it surfaces the findings to the developer — and up to twice, it can send the work back for rework before it ever reaches the lead.
So by the time the lead starts the review, it has already survived a skeptic. Then it gets out of the way.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many of you have been a reviewer? When you look at code, do you just put on the Tech Lead hat and ignore the intent?
No. You wear different hats and use different lenses — security, product, maintainability — depending on what you are looking at.
That is exactly what I built here. Different models provide different lenses, used by different personas for specialized activities. Same code, completely different read depending on who is looking and why.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as you can see, we have thirteen personas in total, each one giving a different perspective on the same code.
I can bet… no one can hold thirteen viewpoints in their head on every single review. So the plugin asks them for you and brings back what each one flagged.
I hope this is making sense. Next, let us look into some of the design decisions we took to make this work.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process of trust was built on three design principles.
First, you can see what it reads. Every file it opens, it declares upfront — because if you are supposed to trust a tool, you need to know what it is actually doing. Second, we always need the right brain on the job. Critical judgment is routed to a stronger model, routine work to a faster one. Third, risk should be judged by business context, not a textbook. A medium finding that exposes privileged client data is not medium in a legal domain. Business context can escalate a finding — and it can never quietly downgrade one.
Once we got those three right, the second opinion becomes something you can actually trust.
With that, let us move on to the next act.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three. Continuity between sessions.
How many of you have faced this? You work with AI through a session — you take decisions, fix mistakes, have a real back and forth — and then at the end of the day, you close the session. Next morning, your AI agent is making the same mistakes you fixed yesterday.
The model is not the issue. It is the memory.
So with that, let us first look into the failure mode.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see what is actually falling off under the disguise of a memory issue.
Governance — there is no place for enforcement if nothing is remembered. Authority — your decisions are meaningless if every next session makes the same mistake. Auditability — no trail of who decided what, when, why, and whether the decision was followed. Consistency — AI is free to make assumptions, so the same task will follow different approaches. Traceability — the chain between the conversation and code is broken, you can not connect a requirement to a decision. Finally, Accountability — this is the deepest one… you can not be answerable for whether decisions were followed, if the system never knew they existed.
Overall, it is the Ownership issue.
Next, let us see how I solved 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 is simple — instead of explaining it, let me just show you what it means, "Save the truth and then talk to it like a person."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go to the next act, let me take a detour here — because this next piece deserves its own moment.
Dream… hmmm. Have you ever noticed, if you do not get good sleep then you start forgetting small things?
Our brain is like a model, and whole day it is accumulating a lot of information. The only time it can train itself on this new information is when we sleep — so it adds, updates, deletes and promotes memories to keep those organized.
So I built the same system and called it Dream. Let us quickly go through the next three slides and then let us look into a live example of Dream.</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the failure first, because you've almost certainly felt it. You tell the AI on Monday: we use pnpm, we've migrated to Vitest. By Friday it's confidently suggesting npm and Jest again. Not because it got dumber — because unmanaged memory rots. It grows every single session. It starts contradicting itself: pnpm versus npm, Jest versus Vitest, both sitting there as if both are true. Stale notes pile up — "deploy to staging today," written weeks ago. And past a couple hundred lines, the model literally cannot see the bottom of the file. At that point your memory isn't neutral, it's harmful — it's feeding the AI wrong signal with total confidence. A bad memory is genuinely worse than no memory at all.</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gave memory something like sleep — and I mean that as the actual design, not a cute metaphor. Every five to eight sessions, Dream does what your brain does overnight: it keeps what proved true, prunes what's stale, and strengthens the patterns worth keeping. Six phases — it takes inventory of what's there, scores each fact's confidence, proposes changes, stops for your review, applies them in a safe order, and logs everything it did. It runs periodically, and — this matters — it never writes a single thing without showing you first.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the whole life of a single fact, because this is the part I'm proudest of. It's born automatically — you never type "remember this." At five natural moments in your work — a plan approved, a task finished, an error fixed, an approach abandoned, an architecture decision made — the important "why" gets captured while it's still fresh. Then it has to earn its keep. Every fact carries a confidence score, and every cycle it isn't used, it loses a tenth of a point. So "deploy to staging today," written in session three, quietly fades — 0.7, 0.6, 0.5 — until it drops below the line and deletes itself around session sixteen. Nobody went hunting for it. Born automatically, retired automatically. You don't feed it and you don't weed it — it curates itself.</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the part that makes it safe to trust: you are never not in control. Dream sorts every change into three tiers. Trivial things apply silently. Content changes show you a before-and-after and wait. And anything that touches your always-loaded CLAUDE.md — promoting a fact to permanent, or demoting one out of it — always stops for an explicit yes or no, no matter how high the confidence score is. Every run is written to an append-only log with its reasoning and its sources, and any run can be rolled back. That's the whole point: it's your project's memory, and you sign off on what it's allowed to remember. If you want the full mechanics, there's a nineteen-slide deep-dive deck just on Dream. Now — back to the acts.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four. Structured knowledge of the codebase.
How many of you have been asked to work on an application you have never worked on before? A new member joins your team and spends hours fixing a small issue.
Let us look into the problem a little deeper.</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two developers you probably recognize.
They are on the same team, handed the same bug. The first finds it in twenty minutes, fixes it cleanly, and it never comes back. The second spends two days, patches the symptom, and quietly breaks something else — same seniority, same intelligence.
So, what is the difference? Because it is not talent. The first developer understands the system and carries a picture of how everything fits together, so a change is just a small edit to a structure they already have in their head. The second is reading cold, one file at a time, hoping to find the thread.
Now let us talk about the uncomfortable part: your AI is that second developer — fast, confident, and completely without a model of your system unless you give it one. And honestly, so are you, the first time you open an unfamiliar codebase. This act is about turning both of you into the first developer.
Before we look into the live example, let me give you a bit of statistics…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 could prove the AI was that second developer. Three months in, we ran a token analysis, and the number was ugly: it was treating every single run as a cold start, re-scanning fifty files when forty-eight of them hadn't changed in a week. Reading cold, file by file, exactly like the developer who struggles. Cache-aware scanning fixed the cost — eighty to ninety-five percent off after the first run. But the deeper lesson is the one that matters here: re-reading raw text was never going to make it, or you, the developer who understands the system. For that you need a model — not a bigger pile of text.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build the map once, and we keep it current. It's a knowledge graph, and it's the map the machine reads: what depends on what, which modules are the hubs, what's gone stale — traversed and searched in milliseconds, one read instead of a hundred. On disk it's three things: a lean index that's always loaded, per-module detail files that only load when you're actually working in that area, and a graph.json underneath that is the real source of truth. And every relationship carries a confidence level — extracted means a parser knows it for a fact, inferred means the model judged it, ambiguous means a human should look. So the map doesn't just tell you the shape of the system; it tells you how much to trust each line on it. This retired the old per-feature domain-map entirely.</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 principle underneath that graph that I care about a lot. The part a machine can know for certain — which file imports which — should be computed by a parser, not guessed by a language model. So we extract the import graph deterministically: same code in, same graph out, every time, for free, completely offline. The model's judgment is reserved only for the genuinely ambiguous relationships a parser can't resolve. Before, the graph was non-deterministic, token-expensive, and approximate — the same file could produce different edges on different runs. After, it's identical every time, free, and accurate. What a parser can know, a parser should know.</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graph tells you what connects to what. But that's not actually the question you ask when you put on the architect hat. You ask: what is the data? Who do we depend on, and what happens when they fall over? Who's allowed to do what? And why did we build it this way in the first place? So the graph is only half the knowledge system. The other half is the architecture documents — and unlike the graph, these are written for a human to read, and they're generated from your actual application. We grew the set from four documents to eight, and the four new ones each answer a real architect's question: the data model, the integrations and how they fail, the security and authorization model, and the decision log — the why.</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make these documents worth relying on instead of rotting on a shelf. First, how they're written: the AI fills in only what the code actually proves, and everything it can't verify — an authorization rule, an SLA, a retry policy, the rationale behind a decision — it flags as "needs manual input" rather than inventing it. It never makes up the parts a human has to own. Second, they don't go stale, because they aren't decoration: they're committed and pull-request-reviewed like source, their diagrams render right inside the PR, and four different skills read them on every run — security, ICEA planning, reviews, readiness. A document that's actually consumed stays honest. And notice that decision log — the why, written down — because that is the exact principle this whole talk is built on.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moving on to the last act, let me take a quick detour — because I keep saying manage your AI and not work with it.
The only way to achieve that is through consistency — ensuring AI behaves the same way, no matter which developer is managing it.
Let us look at how I achieved it.</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many of you think guardrails are just system prompts? You tell the model "do not do this" and it nods along.
Spoiler alert: it is lying.
A prompt guardrail is a suggestion. A really polite one. The AI can ignore it — and I bet, probably on a Friday.
I started my design with CLAUDE.md as the centerpiece and forty-three scoped rule files that auto-invoke when needed. Brilliant, right? The right rule at the right time. Except — plot twist — they are still prompts, still probabilistic, still ignorable.
The issue is not the model, but this probabilistic nature — which is good for reasoning, but not for enforcement.
So I designed a hooks system to bring enforcement. Hooks intercept a tool call itself and define a deterministic gate that the AI cannot ignore.
With that… let us move on to the last act of this session. I am sure you will love this.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five… Observability.
So, we built enforcement — gates that cannot be bypassed, guardrails that stick. Excellent — we are in control.
Then something ships and breaks in production.
Client asks: "What happened?"
You say: "AI said it was fine." And the client stares at you.
How many of you are comfortable with this?
Let us dig deep into this… as this is one thing that will make or break the trust on you, as you are accountable for the system.</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last wall — and it is the one that would make an auditor stare.
Accountability requires observability. You need to see the decision tree. What did it consider? What did it rule out? What tradeoffs did it make? And many more questions. Without that, you are not accountable — you are just hoping.
So you need logs. Traces. A complete record of what the system decided and why. Not for punishment. For proof. So when something goes wrong, you can walk the chain. So you can say: "Here is exactly what happened, here is where it diverged from the plan, here is what we will fix."
That is when you actually own the outcome. Because without observability, enforcement is just security theater with better intentions.
Now, let us look into how we implemented it.</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started with the biggest question of all: can you prove you built what you agreed to — and only what you agreed to? Every acceptance criterion in the ICEA now maps forward: to the tasks, to the changed files, all the way down to the exact lines that implement it. The PR compliance report draws that line for you — this criterion, satisfied right here. And it works in reverse too, which is the part reviewers love: if a file changes behavior that traces back to no criterion at all, that's scope creep, and it gets flagged. So "did we build what we agreed, and nothing we didn't?" stops being a matter of opinion in a review meeting and becomes a matter of evidence.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the findings. Every one gets a fingerprint and a permanent home — a ledger, with one shared schema across code review, security, and dynamic scanning. A finding is Open; or Fixed, with the actual commit and author that closed it; or Dismissed, with a written reason you can go back and challenge; or Baseline — inherited debt we track but never block you on. And here's my favorite detail: a dismissal is a claim about a specific piece of code, so the instant that code changes, the finding re-opens itself. You cannot quietly bury a problem by dismissing it once. You can even see how each finding was caught — parsers first for what's provable, then model judgment for intent, then a capped architectural pass for the cross-file risks, clearly labelled as hypotheses. Full visibility into every issue, and how it surfaced.</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then zoom all the way out, because observability isn't only about one finding or one PR — it's about the trend. After every sprint, the numbers come straight out of Azure DevOps: how often the ICEA workflow was actually followed, how often PRs got rejected, how many hours went to rework. Health dashboards show memory confidence and decay, how stale the graph has drifted, and open findings across every ledger. So the question stops being "is this one change clean" and becomes "is the whole way we work with AI getting better, month over month" — answered with numbers instead of anecdotes. That's the last act. Let me bring it home.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thing before I land this, and it's about credibility. A tool that demands you be accountable had better be accountable itself — so the plugin turns its whole philosophy inward. Setup used to be thirty to sixty sequential AI calls before any real work even began; we collapsed it into a single deterministic bootstrap script, because what can be mechanical should be. And it refuses to overclaim: there was a point where a hidden dependency could quietly fail and still report success — that's gone now, replaced by one honest resolver that either knows the answer or tells you it doesn't. It practices exactly what it enforces.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Fifty-five decisions, and a handful of lessons that outlived any single feature.
Gates work because they are incentive structures — they change behavior before review is needed. Make bypass visible instead of pretending it is impossible. One source of truth per concept. Duplication kills you. If a parser can know it, a parser should know it. You do not grant trust — you measure it.
When code ships, you need the thread: what did the system consider, where did it apply the rules, what did it trade off? That is accountability. That is proof.
Friction compounds across fifty sessions. Small wins add up. Design for the reality you have, not the slide. That is where decisions actually live.
When you can show why something shipped, you own the outcome. Not because you prevented failure. Because you can trace what happened and fix it if you were wrong.</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go back to where we started. That table of five walls.
Read it one way, it is a list of everything that was broken. Read it the other way — it is actually the whole talk.
Own the intent: the spec gate makes that the path of least resistance. Review the AI's judgment: the critic hands you a real second opinion at the one moment it is possible. Carry decisions forward: disk state and Dream mean they survive the session. Understand the whole system: the graph and the architecture docs give you the map. Prove it held: traceability and the ledgers give you the evidence.
Every single one of those walls only became visible after we had climbed the one before it. That was not a plan. That is just how it actually happened.</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is the whole thing.
You are not the coder anymore. The coding got cheaper, and that is not where your value lives now. You are the person who manages an AI to a result — wearing the BA hat, holding the system in your head, judging the plan, owning the decisions, proving what shipped.
That is a role, not a tool. And honestly? It is a harder job than the one you had.
Everything we built — all fifty-five decisions written down — exists for one reason: to make that role something you can actually trust. So when you sign off, you are signing off on evidence. Not on faith.
The decisions are all in docs/adr. The principles live in CLAUDE.md, loaded every session. And if you want to go deeper on the memory system, there is a whole deck on Dream.
That is the story. Let us talk.</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a:effectLst/>
      </p:bgPr>
    </p:bg>
    <p:spTree>
      <p:nvGrpSpPr>
        <p:cNvPr id="1" name=""/>
        <p:cNvGrpSpPr/>
        <p:nvPr/>
      </p:nvGrpSpPr>
      <p:grpSpPr>
        <a:xfrm>
          <a:off x="0" y="0"/>
          <a:ext cx="0" cy="0"/>
          <a:chOff x="0" y="0"/>
          <a:chExt cx="0" cy="0"/>
        </a:xfrm>
      </p:grpSpPr>
      <p:sp>
        <p:nvSpPr>
          <p:cNvPr id="2" name="Text 0"/>
          <p:cNvSpPr/>
          <p:nvPr/>
        </p:nvSpPr>
        <p:spPr>
          <a:xfrm>
            <a:off x="0" y="457200"/>
            <a:ext cx="12192000" cy="274320"/>
          </a:xfrm>
          <a:prstGeom prst="rect">
            <a:avLst/>
          </a:prstGeom>
          <a:noFill/>
          <a:ln/>
        </p:spPr>
        <p:txBody>
          <a:bodyPr wrap="square" rtlCol="0" anchor="ctr"/>
          <a:lstStyle/>
          <a:p>
            <a:pPr marL="0" indent="0" algn="ctr">
              <a:buNone/>
            </a:pPr>
            <a:r>
              <a:rPr lang="en-US" sz="1600" b="1" kern="0" spc="300" dirty="0">
                <a:solidFill>
                  <a:srgbClr val="C8A951"/>
                </a:solidFill>
                <a:latin typeface="Segoe UI" pitchFamily="34" charset="0"/>
                <a:ea typeface="Segoe UI" pitchFamily="34" charset="-122"/>
                <a:cs typeface="Segoe UI" pitchFamily="34" charset="-120"/>
              </a:rPr>
              <a:t>A STORY IN FIVE ACTS</a:t>
            </a:r>
            <a:endParaRPr lang="en-US" sz="1600" dirty="0"/>
          </a:p>
        </p:txBody>
      </p:sp>
      <p:sp>
        <p:nvSpPr>
          <p:cNvPr id="3" name="Text 1"/>
          <p:cNvSpPr/>
          <p:nvPr/>
        </p:nvSpPr>
        <p:spPr>
          <a:xfrm>
            <a:off x="0" y="917698"/>
            <a:ext cx="12192000" cy="1371600"/>
          </a:xfrm>
          <a:prstGeom prst="rect">
            <a:avLst/>
          </a:prstGeom>
          <a:noFill/>
          <a:ln/>
        </p:spPr>
        <p:txBody>
          <a:bodyPr wrap="square" rtlCol="0" anchor="ctr"/>
          <a:lstStyle/>
          <a:p>
            <a:pPr marL="0" indent="0" algn="ctr">
              <a:buNone/>
            </a:pPr>
            <a:r>
              <a:rPr lang="en-US" sz="6000" b="1" dirty="0">
                <a:solidFill>
                  <a:srgbClr val="FFFFFF"/>
                </a:solidFill>
                <a:latin typeface="Segoe UI" pitchFamily="34" charset="0"/>
                <a:ea typeface="Segoe UI" pitchFamily="34" charset="-122"/>
                <a:cs typeface="Segoe UI" pitchFamily="34" charset="-120"/>
              </a:rPr>
              <a:t>What’s left for us?</a:t>
            </a:r>
            <a:endParaRPr lang="en-US" sz="6000" dirty="0"/>
          </a:p>
        </p:txBody>
      </p:sp>
      <p:sp>
        <p:nvSpPr>
          <p:cNvPr id="4" name="Text 2"/>
          <p:cNvSpPr/>
          <p:nvPr/>
        </p:nvSpPr>
        <p:spPr>
          <a:xfrm>
            <a:off x="-1" y="2468880"/>
            <a:ext cx="12191999" cy="1005840"/>
          </a:xfrm>
          <a:prstGeom prst="rect">
            <a:avLst/>
          </a:prstGeom>
          <a:noFill/>
          <a:ln/>
        </p:spPr>
        <p:txBody>
          <a:bodyPr wrap="square" rtlCol="0" anchor="ctr"/>
          <a:lstStyle/>
          <a:p>
            <a:pPr marL="0" indent="0" algn="ctr">
              <a:buNone/>
            </a:pPr>
            <a:r>
              <a:rPr lang="en-US" sz="1800" dirty="0">
                <a:solidFill>
                  <a:srgbClr val="CDD9E6"/>
                </a:solidFill>
                <a:latin typeface="Segoe UI" pitchFamily="34" charset="0"/>
                <a:ea typeface="Segoe UI" pitchFamily="34" charset="-122"/>
                <a:cs typeface="Segoe UI" pitchFamily="34" charset="-120"/>
              </a:rPr>
              <a:t>What your job becomes when the AI writes the code —</a:t>
            </a:r>
            <a:endParaRPr lang="en-US" sz="1800" dirty="0"/>
          </a:p>
          <a:p>
            <a:pPr marL="0" indent="0" algn="ctr">
              <a:buNone/>
            </a:pPr>
            <a:r>
              <a:rPr lang="en-US" sz="1800" dirty="0">
                <a:solidFill>
                  <a:srgbClr val="CDD9E6"/>
                </a:solidFill>
                <a:latin typeface="Segoe UI" pitchFamily="34" charset="0"/>
                <a:ea typeface="Segoe UI" pitchFamily="34" charset="-122"/>
                <a:cs typeface="Segoe UI" pitchFamily="34" charset="-120"/>
              </a:rPr>
              <a:t>and the system that makes that new role trustworthy.</a:t>
            </a:r>
            <a:endParaRPr lang="en-US" sz="1800" dirty="0"/>
          </a:p>
        </p:txBody>
      </p:sp>
      <p:sp>
        <p:nvSpPr>
          <p:cNvPr id="5" name="Shape 3"/>
          <p:cNvSpPr/>
          <p:nvPr/>
        </p:nvSpPr>
        <p:spPr>
          <a:xfrm>
            <a:off x="1051560" y="5483572"/>
            <a:ext cx="2514600" cy="347472"/>
          </a:xfrm>
          <a:prstGeom prst="roundRect">
            <a:avLst>
              <a:gd name="adj" fmla="val 50000"/>
            </a:avLst>
          </a:prstGeom>
          <a:solidFill>
            <a:srgbClr val="1E4870"/>
          </a:solidFill>
          <a:ln w="12700">
            <a:solidFill>
              <a:srgbClr val="4A7AAA"/>
            </a:solidFill>
            <a:prstDash val="solid"/>
          </a:ln>
        </p:spPr>
        <p:txBody>
          <a:bodyPr/>
          <a:lstStyle/>
          <a:p>
            <a:endParaRPr lang="en-US"/>
          </a:p>
        </p:txBody>
      </p:sp>
      <p:sp>
        <p:nvSpPr>
          <p:cNvPr id="6" name="Text 4"/>
          <p:cNvSpPr/>
          <p:nvPr/>
        </p:nvSpPr>
        <p:spPr>
          <a:xfrm>
            <a:off x="1051560" y="5483572"/>
            <a:ext cx="2514600" cy="347472"/>
          </a:xfrm>
          <a:prstGeom prst="rect">
            <a:avLst/>
          </a:prstGeom>
          <a:noFill/>
          <a:ln/>
        </p:spPr>
        <p:txBody>
          <a:bodyPr wrap="square" rtlCol="0" anchor="ctr"/>
          <a:lstStyle/>
          <a:p>
            <a:pPr marL="0" indent="0" algn="ctr">
              <a:buNone/>
            </a:pPr>
            <a:r>
              <a:rPr lang="en-US" sz="1100" dirty="0">
                <a:solidFill>
                  <a:srgbClr val="EAF1F8"/>
                </a:solidFill>
                <a:latin typeface="Segoe UI" pitchFamily="34" charset="0"/>
                <a:ea typeface="Segoe UI" pitchFamily="34" charset="-122"/>
                <a:cs typeface="Segoe UI" pitchFamily="34" charset="-120"/>
              </a:rPr>
              <a:t>v3.13.0</a:t>
            </a:r>
            <a:endParaRPr lang="en-US" sz="1100" dirty="0"/>
          </a:p>
        </p:txBody>
      </p:sp>
      <p:sp>
        <p:nvSpPr>
          <p:cNvPr id="7" name="Shape 5"/>
          <p:cNvSpPr/>
          <p:nvPr/>
        </p:nvSpPr>
        <p:spPr>
          <a:xfrm>
            <a:off x="3703320" y="5483572"/>
            <a:ext cx="2514600" cy="347472"/>
          </a:xfrm>
          <a:prstGeom prst="roundRect">
            <a:avLst>
              <a:gd name="adj" fmla="val 50000"/>
            </a:avLst>
          </a:prstGeom>
          <a:solidFill>
            <a:srgbClr val="1E4870"/>
          </a:solidFill>
          <a:ln w="12700">
            <a:solidFill>
              <a:srgbClr val="4A7AAA"/>
            </a:solidFill>
            <a:prstDash val="solid"/>
          </a:ln>
        </p:spPr>
        <p:txBody>
          <a:bodyPr/>
          <a:lstStyle/>
          <a:p>
            <a:endParaRPr lang="en-US"/>
          </a:p>
        </p:txBody>
      </p:sp>
      <p:sp>
        <p:nvSpPr>
          <p:cNvPr id="8" name="Text 6"/>
          <p:cNvSpPr/>
          <p:nvPr/>
        </p:nvSpPr>
        <p:spPr>
          <a:xfrm>
            <a:off x="3703320" y="5483572"/>
            <a:ext cx="2514600" cy="347472"/>
          </a:xfrm>
          <a:prstGeom prst="rect">
            <a:avLst/>
          </a:prstGeom>
          <a:noFill/>
          <a:ln/>
        </p:spPr>
        <p:txBody>
          <a:bodyPr wrap="square" rtlCol="0" anchor="ctr"/>
          <a:lstStyle/>
          <a:p>
            <a:pPr marL="0" indent="0" algn="ctr">
              <a:buNone/>
            </a:pPr>
            <a:r>
              <a:rPr lang="en-US" sz="1100" dirty="0">
                <a:solidFill>
                  <a:srgbClr val="EAF1F8"/>
                </a:solidFill>
                <a:latin typeface="Segoe UI" pitchFamily="34" charset="0"/>
                <a:ea typeface="Segoe UI" pitchFamily="34" charset="-122"/>
                <a:cs typeface="Segoe UI" pitchFamily="34" charset="-120"/>
              </a:rPr>
              <a:t>55 ADRs on disk</a:t>
            </a:r>
            <a:endParaRPr lang="en-US" sz="1100" dirty="0"/>
          </a:p>
        </p:txBody>
      </p:sp>
      <p:sp>
        <p:nvSpPr>
          <p:cNvPr id="9" name="Shape 7"/>
          <p:cNvSpPr/>
          <p:nvPr/>
        </p:nvSpPr>
        <p:spPr>
          <a:xfrm>
            <a:off x="6355080" y="5483572"/>
            <a:ext cx="2514600" cy="347472"/>
          </a:xfrm>
          <a:prstGeom prst="roundRect">
            <a:avLst>
              <a:gd name="adj" fmla="val 50000"/>
            </a:avLst>
          </a:prstGeom>
          <a:solidFill>
            <a:srgbClr val="1E4870"/>
          </a:solidFill>
          <a:ln w="12700">
            <a:solidFill>
              <a:srgbClr val="4A7AAA"/>
            </a:solidFill>
            <a:prstDash val="solid"/>
          </a:ln>
        </p:spPr>
        <p:txBody>
          <a:bodyPr/>
          <a:lstStyle/>
          <a:p>
            <a:endParaRPr lang="en-US"/>
          </a:p>
        </p:txBody>
      </p:sp>
      <p:sp>
        <p:nvSpPr>
          <p:cNvPr id="10" name="Text 8"/>
          <p:cNvSpPr/>
          <p:nvPr/>
        </p:nvSpPr>
        <p:spPr>
          <a:xfrm>
            <a:off x="6355080" y="5483572"/>
            <a:ext cx="2514600" cy="347472"/>
          </a:xfrm>
          <a:prstGeom prst="rect">
            <a:avLst/>
          </a:prstGeom>
          <a:noFill/>
          <a:ln/>
        </p:spPr>
        <p:txBody>
          <a:bodyPr wrap="square" rtlCol="0" anchor="ctr"/>
          <a:lstStyle/>
          <a:p>
            <a:pPr marL="0" indent="0" algn="ctr">
              <a:buNone/>
            </a:pPr>
            <a:r>
              <a:rPr lang="en-US" sz="1100" dirty="0">
                <a:solidFill>
                  <a:srgbClr val="EAF1F8"/>
                </a:solidFill>
                <a:latin typeface="Segoe UI" pitchFamily="34" charset="0"/>
                <a:ea typeface="Segoe UI" pitchFamily="34" charset="-122"/>
                <a:cs typeface="Segoe UI" pitchFamily="34" charset="-120"/>
              </a:rPr>
              <a:t>5 acts · 5 absences</a:t>
            </a:r>
            <a:endParaRPr lang="en-US" sz="1100" dirty="0"/>
          </a:p>
        </p:txBody>
      </p:sp>
      <p:sp>
        <p:nvSpPr>
          <p:cNvPr id="11" name="Shape 9"/>
          <p:cNvSpPr/>
          <p:nvPr/>
        </p:nvSpPr>
        <p:spPr>
          <a:xfrm>
            <a:off x="9006840" y="5483572"/>
            <a:ext cx="2514600" cy="347472"/>
          </a:xfrm>
          <a:prstGeom prst="roundRect">
            <a:avLst>
              <a:gd name="adj" fmla="val 50000"/>
            </a:avLst>
          </a:prstGeom>
          <a:solidFill>
            <a:srgbClr val="1E4870"/>
          </a:solidFill>
          <a:ln w="12700">
            <a:solidFill>
              <a:srgbClr val="4A7AAA"/>
            </a:solidFill>
            <a:prstDash val="solid"/>
          </a:ln>
        </p:spPr>
        <p:txBody>
          <a:bodyPr/>
          <a:lstStyle/>
          <a:p>
            <a:endParaRPr lang="en-US"/>
          </a:p>
        </p:txBody>
      </p:sp>
      <p:sp>
        <p:nvSpPr>
          <p:cNvPr id="12" name="Text 10"/>
          <p:cNvSpPr/>
          <p:nvPr/>
        </p:nvSpPr>
        <p:spPr>
          <a:xfrm>
            <a:off x="9006840" y="5483572"/>
            <a:ext cx="2514600" cy="347472"/>
          </a:xfrm>
          <a:prstGeom prst="rect">
            <a:avLst/>
          </a:prstGeom>
          <a:noFill/>
          <a:ln/>
        </p:spPr>
        <p:txBody>
          <a:bodyPr wrap="square" rtlCol="0" anchor="ctr"/>
          <a:lstStyle/>
          <a:p>
            <a:pPr marL="0" indent="0" algn="ctr">
              <a:buNone/>
            </a:pPr>
            <a:r>
              <a:rPr lang="en-US" sz="1100" dirty="0">
                <a:solidFill>
                  <a:srgbClr val="EAF1F8"/>
                </a:solidFill>
                <a:latin typeface="Segoe UI" pitchFamily="34" charset="0"/>
                <a:ea typeface="Segoe UI" pitchFamily="34" charset="-122"/>
                <a:cs typeface="Segoe UI" pitchFamily="34" charset="-120"/>
              </a:rPr>
              <a:t>38 commands · 26 skills</a:t>
            </a:r>
            <a:endParaRPr lang="en-US" sz="1100" dirty="0"/>
          </a:p>
        </p:txBody>
      </p:sp>
      <p:sp>
        <p:nvSpPr>
          <p:cNvPr id="13" name="Text 11"/>
          <p:cNvSpPr/>
          <p:nvPr/>
        </p:nvSpPr>
        <p:spPr>
          <a:xfrm>
            <a:off x="1" y="4179278"/>
            <a:ext cx="12191998" cy="559954"/>
          </a:xfrm>
          <a:prstGeom prst="rect">
            <a:avLst/>
          </a:prstGeom>
          <a:noFill/>
          <a:ln/>
        </p:spPr>
        <p:txBody>
          <a:bodyPr wrap="square" rtlCol="0" anchor="ctr"/>
          <a:lstStyle/>
          <a:p>
            <a:pPr marL="0" indent="0" algn="ctr">
              <a:buNone/>
            </a:pPr>
            <a:r>
              <a:rPr lang="en-US" b="1" dirty="0">
                <a:solidFill>
                  <a:srgbClr val="C8A951"/>
                </a:solidFill>
                <a:latin typeface="Segoe UI" pitchFamily="34" charset="0"/>
                <a:ea typeface="Segoe UI" pitchFamily="34" charset="-122"/>
                <a:cs typeface="Segoe UI" pitchFamily="34" charset="-120"/>
              </a:rPr>
              <a:t>Act I: Spec  ·  Act II: Trust  ·  Act III: Continuity  ·  Act IV: Knowledge  ·  Act V: Observability</a:t>
            </a:r>
            <a:endParaRPr lang="en-US" b="1" dirty="0"/>
          </a:p>
        </p:txBody>
      </p:sp>
      <p:sp>
        <p:nvSpPr>
          <p:cNvPr id="14" name="Text 12"/>
          <p:cNvSpPr/>
          <p:nvPr/>
        </p:nvSpPr>
        <p:spPr>
          <a:xfrm>
            <a:off x="548640" y="6446520"/>
            <a:ext cx="10972800" cy="228600"/>
          </a:xfrm>
          <a:prstGeom prst="rect">
            <a:avLst/>
          </a:prstGeom>
          <a:noFill/>
          <a:ln/>
        </p:spPr>
        <p:txBody>
          <a:bodyPr wrap="square" rtlCol="0" anchor="ctr"/>
          <a:lstStyle/>
          <a:p>
            <a:pPr marL="0" indent="0">
              <a:buNone/>
            </a:pPr>
            <a:r>
              <a:rPr lang="en-US" sz="900" dirty="0">
                <a:solidFill>
                  <a:srgbClr val="7A92A8"/>
                </a:solidFill>
                <a:latin typeface="Segoe UI" pitchFamily="34" charset="0"/>
                <a:ea typeface="Segoe UI" pitchFamily="34" charset="-122"/>
                <a:cs typeface="Segoe UI" pitchFamily="34" charset="-120"/>
              </a:rPr>
              <a:t>Vivek Rawat  ·  July 2026  ·  ai-assisted-development plugin</a:t>
            </a:r>
            <a:endParaRPr lang="en-US" sz="900" dirty="0"/>
          </a:p>
        </p:txBody>
      </p:sp>
      <p:sp>
        <p:nvSpPr>
          <p:cNvPr id="15" name="Text 13"/>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1 / 45</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F35"/>
        </a:solidFill>
        <a:effectLst/>
      </p:bgPr>
    </p:bg>
    <p:spTree>
      <p:nvGrpSpPr>
        <p:cNvPr id="1" name=""/>
        <p:cNvGrpSpPr/>
        <p:nvPr/>
      </p:nvGrpSpPr>
      <p:grpSpPr>
        <a:xfrm>
          <a:off x="0" y="0"/>
          <a:ext cx="0" cy="0"/>
          <a:chOff x="0" y="0"/>
          <a:chExt cx="0" cy="0"/>
        </a:xfrm>
      </p:grpSpPr>
      <p:sp>
        <p:nvSpPr>
          <p:cNvPr id="2" name="Text 0"/>
          <p:cNvSpPr/>
          <p:nvPr/>
        </p:nvSpPr>
        <p:spPr>
          <a:xfrm>
            <a:off x="914400" y="2103120"/>
            <a:ext cx="10332720" cy="2194560"/>
          </a:xfrm>
          <a:prstGeom prst="rect">
            <a:avLst/>
          </a:prstGeom>
          <a:noFill/>
          <a:ln/>
        </p:spPr>
        <p:txBody>
          <a:bodyPr wrap="square" rtlCol="0" anchor="ctr"/>
          <a:lstStyle/>
          <a:p>
            <a:pPr marL="0" indent="0" algn="ctr">
              <a:buNone/>
            </a:pPr>
            <a:r>
              <a:rPr lang="en-US" sz="3000" i="1" dirty="0">
                <a:solidFill>
                  <a:srgbClr val="EEF4FB"/>
                </a:solidFill>
                <a:latin typeface="Georgia" pitchFamily="34" charset="0"/>
                <a:ea typeface="Georgia" pitchFamily="34" charset="-122"/>
                <a:cs typeface="Georgia" pitchFamily="34" charset="-120"/>
              </a:rPr>
              <a:t>“I understand the change, I make it, I push it,</a:t>
            </a:r>
            <a:endParaRPr lang="en-US" sz="3000" dirty="0"/>
          </a:p>
          <a:p>
            <a:pPr marL="0" indent="0" algn="ctr">
              <a:buNone/>
            </a:pPr>
            <a:r>
              <a:rPr lang="en-US" sz="3000" i="1" dirty="0">
                <a:solidFill>
                  <a:srgbClr val="EEF4FB"/>
                </a:solidFill>
                <a:latin typeface="Georgia" pitchFamily="34" charset="0"/>
                <a:ea typeface="Georgia" pitchFamily="34" charset="-122"/>
                <a:cs typeface="Georgia" pitchFamily="34" charset="-120"/>
              </a:rPr>
              <a:t>I tell the lead — review it, ping me if there’s a problem.”</a:t>
            </a:r>
            <a:endParaRPr lang="en-US" sz="3000" dirty="0"/>
          </a:p>
        </p:txBody>
      </p:sp>
      <p:sp>
        <p:nvSpPr>
          <p:cNvPr id="3" name="Text 1"/>
          <p:cNvSpPr/>
          <p:nvPr/>
        </p:nvSpPr>
        <p:spPr>
          <a:xfrm>
            <a:off x="914400" y="4480560"/>
            <a:ext cx="10332720" cy="365760"/>
          </a:xfrm>
          <a:prstGeom prst="rect">
            <a:avLst/>
          </a:prstGeom>
          <a:noFill/>
          <a:ln/>
        </p:spPr>
        <p:txBody>
          <a:bodyPr wrap="square" rtlCol="0" anchor="ctr"/>
          <a:lstStyle/>
          <a:p>
            <a:pPr marL="0" indent="0" algn="ctr">
              <a:buNone/>
            </a:pPr>
            <a:r>
              <a:rPr lang="en-US" sz="1300" dirty="0">
                <a:solidFill>
                  <a:srgbClr val="6B8199"/>
                </a:solidFill>
                <a:latin typeface="Segoe UI" pitchFamily="34" charset="0"/>
                <a:ea typeface="Segoe UI" pitchFamily="34" charset="-122"/>
                <a:cs typeface="Segoe UI" pitchFamily="34" charset="-120"/>
              </a:rPr>
              <a:t>— how we work today</a:t>
            </a:r>
            <a:endParaRPr lang="en-US" sz="1300" dirty="0"/>
          </a:p>
        </p:txBody>
      </p:sp>
      <p:sp>
        <p:nvSpPr>
          <p:cNvPr id="4" name="Text 2"/>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2 / 45</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That worked — when your peer was human</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Text 3"/>
          <p:cNvSpPr/>
          <p:nvPr/>
        </p:nvSpPr>
        <p:spPr>
          <a:xfrm>
            <a:off x="548640" y="914400"/>
            <a:ext cx="11064240" cy="914400"/>
          </a:xfrm>
          <a:prstGeom prst="rect">
            <a:avLst/>
          </a:prstGeom>
          <a:noFill/>
          <a:ln/>
        </p:spPr>
        <p:txBody>
          <a:bodyPr wrap="square" rtlCol="0" anchor="ctr"/>
          <a:lstStyle/>
          <a:p>
            <a:pPr marL="0" indent="0">
              <a:buNone/>
            </a:pPr>
            <a:r>
              <a:rPr lang="en-US" sz="1500" dirty="0">
                <a:solidFill>
                  <a:srgbClr val="2D3436"/>
                </a:solidFill>
                <a:latin typeface="Segoe UI" pitchFamily="34" charset="0"/>
                <a:ea typeface="Segoe UI" pitchFamily="34" charset="-122"/>
                <a:cs typeface="Segoe UI" pitchFamily="34" charset="-120"/>
              </a:rPr>
              <a:t>A human peer pushes back. Asks “are you sure?”. Spots the wrong direction and stops you.</a:t>
            </a:r>
            <a:endParaRPr lang="en-US" sz="1500" dirty="0"/>
          </a:p>
          <a:p>
            <a:pPr marL="0" indent="0">
              <a:buNone/>
            </a:pPr>
            <a:r>
              <a:rPr lang="en-US" sz="1500" dirty="0">
                <a:solidFill>
                  <a:srgbClr val="2D3436"/>
                </a:solidFill>
                <a:latin typeface="Segoe UI" pitchFamily="34" charset="0"/>
                <a:ea typeface="Segoe UI" pitchFamily="34" charset="-122"/>
                <a:cs typeface="Segoe UI" pitchFamily="34" charset="-120"/>
              </a:rPr>
              <a:t>Your peer is now an AI that writes confidently in the wrong direction — and never hesitates.</a:t>
            </a:r>
            <a:endParaRPr lang="en-US" sz="1500" dirty="0"/>
          </a:p>
        </p:txBody>
      </p:sp>
      <p:sp>
        <p:nvSpPr>
          <p:cNvPr id="6" name="Shape 4"/>
          <p:cNvSpPr/>
          <p:nvPr/>
        </p:nvSpPr>
        <p:spPr>
          <a:xfrm>
            <a:off x="4069080" y="2560320"/>
            <a:ext cx="4023360" cy="2834640"/>
          </a:xfrm>
          <a:prstGeom prst="ellipse">
            <a:avLst/>
          </a:prstGeom>
          <a:solidFill>
            <a:srgbClr val="FFFFFF"/>
          </a:solidFill>
          <a:ln w="12700">
            <a:solidFill>
              <a:srgbClr val="DFE6E9"/>
            </a:solidFill>
            <a:prstDash val="solid"/>
          </a:ln>
        </p:spPr>
        <p:txBody>
          <a:bodyPr/>
          <a:lstStyle/>
          <a:p>
            <a:endParaRPr lang="en-US"/>
          </a:p>
        </p:txBody>
      </p:sp>
      <p:sp>
        <p:nvSpPr>
          <p:cNvPr id="7" name="Shape 5"/>
          <p:cNvSpPr/>
          <p:nvPr/>
        </p:nvSpPr>
        <p:spPr>
          <a:xfrm>
            <a:off x="2971800" y="3291840"/>
            <a:ext cx="1645920" cy="731520"/>
          </a:xfrm>
          <a:prstGeom prst="roundRect">
            <a:avLst>
              <a:gd name="adj" fmla="val 12500"/>
            </a:avLst>
          </a:prstGeom>
          <a:solidFill>
            <a:srgbClr val="EAF4FF"/>
          </a:solidFill>
          <a:ln w="12700">
            <a:solidFill>
              <a:srgbClr val="74B9FF"/>
            </a:solidFill>
            <a:prstDash val="solid"/>
          </a:ln>
        </p:spPr>
        <p:txBody>
          <a:bodyPr/>
          <a:lstStyle/>
          <a:p>
            <a:endParaRPr lang="en-US"/>
          </a:p>
        </p:txBody>
      </p:sp>
      <p:sp>
        <p:nvSpPr>
          <p:cNvPr id="8" name="Text 6"/>
          <p:cNvSpPr/>
          <p:nvPr/>
        </p:nvSpPr>
        <p:spPr>
          <a:xfrm>
            <a:off x="2971800" y="3291840"/>
            <a:ext cx="1645920" cy="731520"/>
          </a:xfrm>
          <a:prstGeom prst="rect">
            <a:avLst/>
          </a:prstGeom>
          <a:noFill/>
          <a:ln/>
        </p:spPr>
        <p:txBody>
          <a:bodyPr wrap="square" rtlCol="0" anchor="ctr"/>
          <a:lstStyle/>
          <a:p>
            <a:pPr marL="0" indent="0" algn="ctr">
              <a:buNone/>
            </a:pPr>
            <a:r>
              <a:rPr lang="en-US" sz="1000" b="1" dirty="0">
                <a:solidFill>
                  <a:srgbClr val="1A3A5C"/>
                </a:solidFill>
                <a:latin typeface="Segoe UI" pitchFamily="34" charset="0"/>
                <a:ea typeface="Segoe UI" pitchFamily="34" charset="-122"/>
                <a:cs typeface="Segoe UI" pitchFamily="34" charset="-120"/>
              </a:rPr>
              <a:t>you make</a:t>
            </a:r>
            <a:endParaRPr lang="en-US" sz="1000" dirty="0"/>
          </a:p>
          <a:p>
            <a:pPr marL="0" indent="0" algn="ctr">
              <a:buNone/>
            </a:pPr>
            <a:r>
              <a:rPr lang="en-US" sz="1000" b="1" dirty="0">
                <a:solidFill>
                  <a:srgbClr val="1A3A5C"/>
                </a:solidFill>
                <a:latin typeface="Segoe UI" pitchFamily="34" charset="0"/>
                <a:ea typeface="Segoe UI" pitchFamily="34" charset="-122"/>
                <a:cs typeface="Segoe UI" pitchFamily="34" charset="-120"/>
              </a:rPr>
              <a:t>the change</a:t>
            </a:r>
            <a:endParaRPr lang="en-US" sz="1000" dirty="0"/>
          </a:p>
        </p:txBody>
      </p:sp>
      <p:sp>
        <p:nvSpPr>
          <p:cNvPr id="9" name="Shape 7"/>
          <p:cNvSpPr/>
          <p:nvPr/>
        </p:nvSpPr>
        <p:spPr>
          <a:xfrm>
            <a:off x="5257800" y="1828800"/>
            <a:ext cx="1645920" cy="731520"/>
          </a:xfrm>
          <a:prstGeom prst="roundRect">
            <a:avLst>
              <a:gd name="adj" fmla="val 12500"/>
            </a:avLst>
          </a:prstGeom>
          <a:solidFill>
            <a:srgbClr val="EAF4FF"/>
          </a:solidFill>
          <a:ln w="12700">
            <a:solidFill>
              <a:srgbClr val="74B9FF"/>
            </a:solidFill>
            <a:prstDash val="solid"/>
          </a:ln>
        </p:spPr>
        <p:txBody>
          <a:bodyPr/>
          <a:lstStyle/>
          <a:p>
            <a:endParaRPr lang="en-US"/>
          </a:p>
        </p:txBody>
      </p:sp>
      <p:sp>
        <p:nvSpPr>
          <p:cNvPr id="10" name="Text 8"/>
          <p:cNvSpPr/>
          <p:nvPr/>
        </p:nvSpPr>
        <p:spPr>
          <a:xfrm>
            <a:off x="5257800" y="1828800"/>
            <a:ext cx="1645920" cy="731520"/>
          </a:xfrm>
          <a:prstGeom prst="rect">
            <a:avLst/>
          </a:prstGeom>
          <a:noFill/>
          <a:ln/>
        </p:spPr>
        <p:txBody>
          <a:bodyPr wrap="square" rtlCol="0" anchor="ctr"/>
          <a:lstStyle/>
          <a:p>
            <a:pPr marL="0" indent="0" algn="ctr">
              <a:buNone/>
            </a:pPr>
            <a:r>
              <a:rPr lang="en-US" sz="1000" b="1" dirty="0">
                <a:solidFill>
                  <a:srgbClr val="1A3A5C"/>
                </a:solidFill>
                <a:latin typeface="Segoe UI" pitchFamily="34" charset="0"/>
                <a:ea typeface="Segoe UI" pitchFamily="34" charset="-122"/>
                <a:cs typeface="Segoe UI" pitchFamily="34" charset="-120"/>
              </a:rPr>
              <a:t>you push it</a:t>
            </a:r>
            <a:endParaRPr lang="en-US" sz="1000" dirty="0"/>
          </a:p>
        </p:txBody>
      </p:sp>
      <p:sp>
        <p:nvSpPr>
          <p:cNvPr id="11" name="Shape 9"/>
          <p:cNvSpPr/>
          <p:nvPr/>
        </p:nvSpPr>
        <p:spPr>
          <a:xfrm>
            <a:off x="7543800" y="3291840"/>
            <a:ext cx="1645920" cy="731520"/>
          </a:xfrm>
          <a:prstGeom prst="roundRect">
            <a:avLst>
              <a:gd name="adj" fmla="val 12500"/>
            </a:avLst>
          </a:prstGeom>
          <a:solidFill>
            <a:srgbClr val="FFF0ED"/>
          </a:solidFill>
          <a:ln w="12700">
            <a:solidFill>
              <a:srgbClr val="E17055"/>
            </a:solidFill>
            <a:prstDash val="solid"/>
          </a:ln>
        </p:spPr>
        <p:txBody>
          <a:bodyPr/>
          <a:lstStyle/>
          <a:p>
            <a:endParaRPr lang="en-US"/>
          </a:p>
        </p:txBody>
      </p:sp>
      <p:sp>
        <p:nvSpPr>
          <p:cNvPr id="12" name="Text 10"/>
          <p:cNvSpPr/>
          <p:nvPr/>
        </p:nvSpPr>
        <p:spPr>
          <a:xfrm>
            <a:off x="7543800" y="3291840"/>
            <a:ext cx="1645920" cy="731520"/>
          </a:xfrm>
          <a:prstGeom prst="rect">
            <a:avLst/>
          </a:prstGeom>
          <a:noFill/>
          <a:ln/>
        </p:spPr>
        <p:txBody>
          <a:bodyPr wrap="square" rtlCol="0" anchor="ctr"/>
          <a:lstStyle/>
          <a:p>
            <a:pPr marL="0" indent="0" algn="ctr">
              <a:buNone/>
            </a:pPr>
            <a:r>
              <a:rPr lang="en-US" sz="1000" b="1" dirty="0">
                <a:solidFill>
                  <a:srgbClr val="E17055"/>
                </a:solidFill>
                <a:latin typeface="Segoe UI" pitchFamily="34" charset="0"/>
                <a:ea typeface="Segoe UI" pitchFamily="34" charset="-122"/>
                <a:cs typeface="Segoe UI" pitchFamily="34" charset="-120"/>
              </a:rPr>
              <a:t>human peer</a:t>
            </a:r>
            <a:endParaRPr lang="en-US" sz="1000" dirty="0"/>
          </a:p>
          <a:p>
            <a:pPr marL="0" indent="0" algn="ctr">
              <a:buNone/>
            </a:pPr>
            <a:r>
              <a:rPr lang="en-US" sz="1000" b="1" dirty="0">
                <a:solidFill>
                  <a:srgbClr val="E17055"/>
                </a:solidFill>
                <a:latin typeface="Segoe UI" pitchFamily="34" charset="0"/>
                <a:ea typeface="Segoe UI" pitchFamily="34" charset="-122"/>
                <a:cs typeface="Segoe UI" pitchFamily="34" charset="-120"/>
              </a:rPr>
              <a:t>pushes back</a:t>
            </a:r>
            <a:endParaRPr lang="en-US" sz="1000" dirty="0"/>
          </a:p>
        </p:txBody>
      </p:sp>
      <p:sp>
        <p:nvSpPr>
          <p:cNvPr id="13" name="Shape 11"/>
          <p:cNvSpPr/>
          <p:nvPr/>
        </p:nvSpPr>
        <p:spPr>
          <a:xfrm>
            <a:off x="7543800" y="3291840"/>
            <a:ext cx="1645920" cy="731520"/>
          </a:xfrm>
          <a:prstGeom prst="line">
            <a:avLst/>
          </a:prstGeom>
          <a:noFill/>
          <a:ln w="12700">
            <a:solidFill>
              <a:srgbClr val="E17055"/>
            </a:solidFill>
            <a:prstDash val="solid"/>
          </a:ln>
        </p:spPr>
        <p:txBody>
          <a:bodyPr/>
          <a:lstStyle/>
          <a:p>
            <a:endParaRPr lang="en-US"/>
          </a:p>
        </p:txBody>
      </p:sp>
      <p:sp>
        <p:nvSpPr>
          <p:cNvPr id="14" name="Shape 12"/>
          <p:cNvSpPr/>
          <p:nvPr/>
        </p:nvSpPr>
        <p:spPr>
          <a:xfrm>
            <a:off x="5257800" y="4754880"/>
            <a:ext cx="1645920" cy="731520"/>
          </a:xfrm>
          <a:prstGeom prst="roundRect">
            <a:avLst>
              <a:gd name="adj" fmla="val 12500"/>
            </a:avLst>
          </a:prstGeom>
          <a:solidFill>
            <a:srgbClr val="EAFAF4"/>
          </a:solidFill>
          <a:ln w="12700">
            <a:solidFill>
              <a:srgbClr val="00B894"/>
            </a:solidFill>
            <a:prstDash val="solid"/>
          </a:ln>
        </p:spPr>
        <p:txBody>
          <a:bodyPr/>
          <a:lstStyle/>
          <a:p>
            <a:endParaRPr lang="en-US"/>
          </a:p>
        </p:txBody>
      </p:sp>
      <p:sp>
        <p:nvSpPr>
          <p:cNvPr id="15" name="Text 13"/>
          <p:cNvSpPr/>
          <p:nvPr/>
        </p:nvSpPr>
        <p:spPr>
          <a:xfrm>
            <a:off x="5257800" y="4754880"/>
            <a:ext cx="1645920" cy="731520"/>
          </a:xfrm>
          <a:prstGeom prst="rect">
            <a:avLst/>
          </a:prstGeom>
          <a:noFill/>
          <a:ln/>
        </p:spPr>
        <p:txBody>
          <a:bodyPr wrap="square" rtlCol="0" anchor="ctr"/>
          <a:lstStyle/>
          <a:p>
            <a:pPr marL="0" indent="0" algn="ctr">
              <a:buNone/>
            </a:pPr>
            <a:r>
              <a:rPr lang="en-US" sz="1000" b="1" dirty="0">
                <a:solidFill>
                  <a:srgbClr val="1A3A5C"/>
                </a:solidFill>
                <a:latin typeface="Segoe UI" pitchFamily="34" charset="0"/>
                <a:ea typeface="Segoe UI" pitchFamily="34" charset="-122"/>
                <a:cs typeface="Segoe UI" pitchFamily="34" charset="-120"/>
              </a:rPr>
              <a:t>ship</a:t>
            </a:r>
            <a:endParaRPr lang="en-US" sz="1000" dirty="0"/>
          </a:p>
        </p:txBody>
      </p:sp>
      <p:sp>
        <p:nvSpPr>
          <p:cNvPr id="16" name="Text 14"/>
          <p:cNvSpPr/>
          <p:nvPr/>
        </p:nvSpPr>
        <p:spPr>
          <a:xfrm>
            <a:off x="7543800" y="4480560"/>
            <a:ext cx="2194560" cy="365760"/>
          </a:xfrm>
          <a:prstGeom prst="rect">
            <a:avLst/>
          </a:prstGeom>
          <a:noFill/>
          <a:ln/>
        </p:spPr>
        <p:txBody>
          <a:bodyPr wrap="square" rtlCol="0" anchor="ctr"/>
          <a:lstStyle/>
          <a:p>
            <a:pPr marL="0" indent="0" algn="ctr">
              <a:buNone/>
            </a:pPr>
            <a:r>
              <a:rPr lang="en-US" sz="1000" b="1" dirty="0">
                <a:solidFill>
                  <a:srgbClr val="E17055"/>
                </a:solidFill>
                <a:latin typeface="Cascadia Code" pitchFamily="34" charset="0"/>
                <a:ea typeface="Cascadia Code" pitchFamily="34" charset="-122"/>
                <a:cs typeface="Cascadia Code" pitchFamily="34" charset="-120"/>
              </a:rPr>
              <a:t>AI — never says no</a:t>
            </a:r>
            <a:endParaRPr lang="en-US" sz="1000" dirty="0"/>
          </a:p>
        </p:txBody>
      </p:sp>
      <p:sp>
        <p:nvSpPr>
          <p:cNvPr id="17" name="Text 15"/>
          <p:cNvSpPr/>
          <p:nvPr/>
        </p:nvSpPr>
        <p:spPr>
          <a:xfrm>
            <a:off x="548640" y="5989320"/>
            <a:ext cx="11064240" cy="365760"/>
          </a:xfrm>
          <a:prstGeom prst="rect">
            <a:avLst/>
          </a:prstGeom>
          <a:noFill/>
          <a:ln/>
        </p:spPr>
        <p:txBody>
          <a:bodyPr wrap="square" rtlCol="0" anchor="ctr"/>
          <a:lstStyle/>
          <a:p>
            <a:pPr marL="0" indent="0" algn="ctr">
              <a:buNone/>
            </a:pPr>
            <a:r>
              <a:rPr lang="en-US" sz="1300" i="1" dirty="0">
                <a:solidFill>
                  <a:srgbClr val="636E72"/>
                </a:solidFill>
                <a:latin typeface="Segoe UI" pitchFamily="34" charset="0"/>
                <a:ea typeface="Segoe UI" pitchFamily="34" charset="-122"/>
                <a:cs typeface="Segoe UI" pitchFamily="34" charset="-120"/>
              </a:rPr>
              <a:t>The loop still runs. But no one is checking intent anymore.</a:t>
            </a:r>
            <a:endParaRPr lang="en-US" sz="1300" dirty="0"/>
          </a:p>
        </p:txBody>
      </p:sp>
      <p:sp>
        <p:nvSpPr>
          <p:cNvPr id="18" name="Text 16"/>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3 / 45</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So what is your role now?</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Text 3"/>
          <p:cNvSpPr/>
          <p:nvPr/>
        </p:nvSpPr>
        <p:spPr>
          <a:xfrm>
            <a:off x="548640" y="914400"/>
            <a:ext cx="11064240" cy="457200"/>
          </a:xfrm>
          <a:prstGeom prst="rect">
            <a:avLst/>
          </a:prstGeom>
          <a:noFill/>
          <a:ln/>
        </p:spPr>
        <p:txBody>
          <a:bodyPr wrap="square" rtlCol="0" anchor="ctr"/>
          <a:lstStyle/>
          <a:p>
            <a:pPr marL="0" indent="0">
              <a:buNone/>
            </a:pPr>
            <a:r>
              <a:rPr lang="en-US" sz="1500" i="1" dirty="0">
                <a:solidFill>
                  <a:srgbClr val="636E72"/>
                </a:solidFill>
                <a:latin typeface="Segoe UI" pitchFamily="34" charset="0"/>
                <a:ea typeface="Segoe UI" pitchFamily="34" charset="-122"/>
                <a:cs typeface="Segoe UI" pitchFamily="34" charset="-120"/>
              </a:rPr>
              <a:t>The coding got cheaper. So the thinking got more valuable — and the thinking is now your job.</a:t>
            </a:r>
            <a:endParaRPr lang="en-US" sz="1500" dirty="0"/>
          </a:p>
        </p:txBody>
      </p:sp>
      <p:sp>
        <p:nvSpPr>
          <p:cNvPr id="6" name="Shape 4"/>
          <p:cNvSpPr/>
          <p:nvPr/>
        </p:nvSpPr>
        <p:spPr>
          <a:xfrm>
            <a:off x="457200" y="1600200"/>
            <a:ext cx="2194560" cy="4023360"/>
          </a:xfrm>
          <a:prstGeom prst="roundRect">
            <a:avLst>
              <a:gd name="adj" fmla="val 4167"/>
            </a:avLst>
          </a:prstGeom>
          <a:solidFill>
            <a:srgbClr val="FFFFFF"/>
          </a:solidFill>
          <a:ln w="12700">
            <a:solidFill>
              <a:srgbClr val="DFE6E9"/>
            </a:solidFill>
            <a:prstDash val="solid"/>
          </a:ln>
        </p:spPr>
        <p:txBody>
          <a:bodyPr/>
          <a:lstStyle/>
          <a:p>
            <a:endParaRPr lang="en-US"/>
          </a:p>
        </p:txBody>
      </p:sp>
      <p:sp>
        <p:nvSpPr>
          <p:cNvPr id="7" name="Shape 5"/>
          <p:cNvSpPr/>
          <p:nvPr/>
        </p:nvSpPr>
        <p:spPr>
          <a:xfrm>
            <a:off x="457200" y="1600200"/>
            <a:ext cx="2194560" cy="64008"/>
          </a:xfrm>
          <a:prstGeom prst="rect">
            <a:avLst/>
          </a:prstGeom>
          <a:solidFill>
            <a:srgbClr val="C8A951"/>
          </a:solidFill>
          <a:ln w="12700">
            <a:solidFill>
              <a:srgbClr val="C8A951"/>
            </a:solidFill>
            <a:prstDash val="solid"/>
          </a:ln>
        </p:spPr>
        <p:txBody>
          <a:bodyPr/>
          <a:lstStyle/>
          <a:p>
            <a:endParaRPr lang="en-US"/>
          </a:p>
        </p:txBody>
      </p:sp>
      <p:sp>
        <p:nvSpPr>
          <p:cNvPr id="8" name="Text 6"/>
          <p:cNvSpPr/>
          <p:nvPr/>
        </p:nvSpPr>
        <p:spPr>
          <a:xfrm>
            <a:off x="594360" y="1783080"/>
            <a:ext cx="1920240" cy="365760"/>
          </a:xfrm>
          <a:prstGeom prst="rect">
            <a:avLst/>
          </a:prstGeom>
          <a:noFill/>
          <a:ln/>
        </p:spPr>
        <p:txBody>
          <a:bodyPr wrap="square" rtlCol="0" anchor="ctr"/>
          <a:lstStyle/>
          <a:p>
            <a:pPr marL="0" indent="0">
              <a:buNone/>
            </a:pPr>
            <a:r>
              <a:rPr lang="en-US" sz="1400" b="1" dirty="0">
                <a:solidFill>
                  <a:srgbClr val="C8A951"/>
                </a:solidFill>
                <a:latin typeface="Cascadia Code" pitchFamily="34" charset="0"/>
                <a:ea typeface="Cascadia Code" pitchFamily="34" charset="-122"/>
                <a:cs typeface="Cascadia Code" pitchFamily="34" charset="-120"/>
              </a:rPr>
              <a:t>01</a:t>
            </a:r>
            <a:endParaRPr lang="en-US" sz="1400" dirty="0"/>
          </a:p>
        </p:txBody>
      </p:sp>
      <p:sp>
        <p:nvSpPr>
          <p:cNvPr id="9" name="Text 7"/>
          <p:cNvSpPr/>
          <p:nvPr/>
        </p:nvSpPr>
        <p:spPr>
          <a:xfrm>
            <a:off x="594360" y="2240280"/>
            <a:ext cx="1920240" cy="822960"/>
          </a:xfrm>
          <a:prstGeom prst="rect">
            <a:avLst/>
          </a:prstGeom>
          <a:noFill/>
          <a:ln/>
        </p:spPr>
        <p:txBody>
          <a:bodyPr wrap="square" rtlCol="0" anchor="ctr"/>
          <a:lstStyle/>
          <a:p>
            <a:pPr marL="0" indent="0">
              <a:buNone/>
            </a:pPr>
            <a:r>
              <a:rPr lang="en-US" sz="1400" b="1" dirty="0">
                <a:solidFill>
                  <a:srgbClr val="1A3A5C"/>
                </a:solidFill>
                <a:latin typeface="Segoe UI" pitchFamily="34" charset="0"/>
                <a:ea typeface="Segoe UI" pitchFamily="34" charset="-122"/>
                <a:cs typeface="Segoe UI" pitchFamily="34" charset="-120"/>
              </a:rPr>
              <a:t>Wear the BA hat</a:t>
            </a:r>
            <a:endParaRPr lang="en-US" sz="1400" dirty="0"/>
          </a:p>
        </p:txBody>
      </p:sp>
      <p:sp>
        <p:nvSpPr>
          <p:cNvPr id="10" name="Text 8"/>
          <p:cNvSpPr/>
          <p:nvPr/>
        </p:nvSpPr>
        <p:spPr>
          <a:xfrm>
            <a:off x="594360" y="3108960"/>
            <a:ext cx="1920240" cy="2377440"/>
          </a:xfrm>
          <a:prstGeom prst="rect">
            <a:avLst/>
          </a:prstGeom>
          <a:noFill/>
          <a:ln/>
        </p:spPr>
        <p:txBody>
          <a:bodyPr wrap="square" rtlCol="0" anchor="t"/>
          <a:lstStyle/>
          <a:p>
            <a:pPr marL="0" indent="0">
              <a:buNone/>
            </a:pPr>
            <a:r>
              <a:rPr lang="en-US" sz="1100" dirty="0">
                <a:solidFill>
                  <a:srgbClr val="636E72"/>
                </a:solidFill>
                <a:latin typeface="Segoe UI" pitchFamily="34" charset="0"/>
                <a:ea typeface="Segoe UI" pitchFamily="34" charset="-122"/>
                <a:cs typeface="Segoe UI" pitchFamily="34" charset="-120"/>
              </a:rPr>
              <a:t>Turn a one-line ask from the business into a complete, end-to-end requirement.</a:t>
            </a:r>
            <a:endParaRPr lang="en-US" sz="1100" dirty="0"/>
          </a:p>
        </p:txBody>
      </p:sp>
      <p:sp>
        <p:nvSpPr>
          <p:cNvPr id="11" name="Shape 9"/>
          <p:cNvSpPr/>
          <p:nvPr/>
        </p:nvSpPr>
        <p:spPr>
          <a:xfrm>
            <a:off x="2743200" y="1600200"/>
            <a:ext cx="2194560" cy="4023360"/>
          </a:xfrm>
          <a:prstGeom prst="roundRect">
            <a:avLst>
              <a:gd name="adj" fmla="val 4167"/>
            </a:avLst>
          </a:prstGeom>
          <a:solidFill>
            <a:srgbClr val="FFFFFF"/>
          </a:solidFill>
          <a:ln w="12700">
            <a:solidFill>
              <a:srgbClr val="DFE6E9"/>
            </a:solidFill>
            <a:prstDash val="solid"/>
          </a:ln>
        </p:spPr>
        <p:txBody>
          <a:bodyPr/>
          <a:lstStyle/>
          <a:p>
            <a:endParaRPr lang="en-US"/>
          </a:p>
        </p:txBody>
      </p:sp>
      <p:sp>
        <p:nvSpPr>
          <p:cNvPr id="12" name="Shape 10"/>
          <p:cNvSpPr/>
          <p:nvPr/>
        </p:nvSpPr>
        <p:spPr>
          <a:xfrm>
            <a:off x="2743200" y="1600200"/>
            <a:ext cx="2194560" cy="64008"/>
          </a:xfrm>
          <a:prstGeom prst="rect">
            <a:avLst/>
          </a:prstGeom>
          <a:solidFill>
            <a:srgbClr val="C8A951"/>
          </a:solidFill>
          <a:ln w="12700">
            <a:solidFill>
              <a:srgbClr val="C8A951"/>
            </a:solidFill>
            <a:prstDash val="solid"/>
          </a:ln>
        </p:spPr>
        <p:txBody>
          <a:bodyPr/>
          <a:lstStyle/>
          <a:p>
            <a:endParaRPr lang="en-US"/>
          </a:p>
        </p:txBody>
      </p:sp>
      <p:sp>
        <p:nvSpPr>
          <p:cNvPr id="13" name="Text 11"/>
          <p:cNvSpPr/>
          <p:nvPr/>
        </p:nvSpPr>
        <p:spPr>
          <a:xfrm>
            <a:off x="2880360" y="1783080"/>
            <a:ext cx="1920240" cy="365760"/>
          </a:xfrm>
          <a:prstGeom prst="rect">
            <a:avLst/>
          </a:prstGeom>
          <a:noFill/>
          <a:ln/>
        </p:spPr>
        <p:txBody>
          <a:bodyPr wrap="square" rtlCol="0" anchor="ctr"/>
          <a:lstStyle/>
          <a:p>
            <a:pPr marL="0" indent="0">
              <a:buNone/>
            </a:pPr>
            <a:r>
              <a:rPr lang="en-US" sz="1400" b="1" dirty="0">
                <a:solidFill>
                  <a:srgbClr val="C8A951"/>
                </a:solidFill>
                <a:latin typeface="Cascadia Code" pitchFamily="34" charset="0"/>
                <a:ea typeface="Cascadia Code" pitchFamily="34" charset="-122"/>
                <a:cs typeface="Cascadia Code" pitchFamily="34" charset="-120"/>
              </a:rPr>
              <a:t>02</a:t>
            </a:r>
            <a:endParaRPr lang="en-US" sz="1400" dirty="0"/>
          </a:p>
        </p:txBody>
      </p:sp>
      <p:sp>
        <p:nvSpPr>
          <p:cNvPr id="14" name="Text 12"/>
          <p:cNvSpPr/>
          <p:nvPr/>
        </p:nvSpPr>
        <p:spPr>
          <a:xfrm>
            <a:off x="2880360" y="2240280"/>
            <a:ext cx="1920240" cy="822960"/>
          </a:xfrm>
          <a:prstGeom prst="rect">
            <a:avLst/>
          </a:prstGeom>
          <a:noFill/>
          <a:ln/>
        </p:spPr>
        <p:txBody>
          <a:bodyPr wrap="square" rtlCol="0" anchor="ctr"/>
          <a:lstStyle/>
          <a:p>
            <a:pPr marL="0" indent="0">
              <a:buNone/>
            </a:pPr>
            <a:r>
              <a:rPr lang="en-US" sz="1400" b="1" dirty="0">
                <a:solidFill>
                  <a:srgbClr val="1A3A5C"/>
                </a:solidFill>
                <a:latin typeface="Segoe UI" pitchFamily="34" charset="0"/>
                <a:ea typeface="Segoe UI" pitchFamily="34" charset="-122"/>
                <a:cs typeface="Segoe UI" pitchFamily="34" charset="-120"/>
              </a:rPr>
              <a:t>Understand the whole system</a:t>
            </a:r>
            <a:endParaRPr lang="en-US" sz="1400" dirty="0"/>
          </a:p>
        </p:txBody>
      </p:sp>
      <p:sp>
        <p:nvSpPr>
          <p:cNvPr id="15" name="Text 13"/>
          <p:cNvSpPr/>
          <p:nvPr/>
        </p:nvSpPr>
        <p:spPr>
          <a:xfrm>
            <a:off x="2880360" y="3108960"/>
            <a:ext cx="1920240" cy="2377440"/>
          </a:xfrm>
          <a:prstGeom prst="rect">
            <a:avLst/>
          </a:prstGeom>
          <a:noFill/>
          <a:ln/>
        </p:spPr>
        <p:txBody>
          <a:bodyPr wrap="square" rtlCol="0" anchor="t"/>
          <a:lstStyle/>
          <a:p>
            <a:pPr marL="0" indent="0">
              <a:buNone/>
            </a:pPr>
            <a:r>
              <a:rPr lang="en-US" sz="1100" dirty="0">
                <a:solidFill>
                  <a:srgbClr val="636E72"/>
                </a:solidFill>
                <a:latin typeface="Segoe UI" pitchFamily="34" charset="0"/>
                <a:ea typeface="Segoe UI" pitchFamily="34" charset="-122"/>
                <a:cs typeface="Segoe UI" pitchFamily="34" charset="-120"/>
              </a:rPr>
              <a:t>Functionally and as a solution architect — not just the file you’re touching.</a:t>
            </a:r>
            <a:endParaRPr lang="en-US" sz="1100" dirty="0"/>
          </a:p>
        </p:txBody>
      </p:sp>
      <p:sp>
        <p:nvSpPr>
          <p:cNvPr id="16" name="Shape 14"/>
          <p:cNvSpPr/>
          <p:nvPr/>
        </p:nvSpPr>
        <p:spPr>
          <a:xfrm>
            <a:off x="5029200" y="1600200"/>
            <a:ext cx="2194560" cy="4023360"/>
          </a:xfrm>
          <a:prstGeom prst="roundRect">
            <a:avLst>
              <a:gd name="adj" fmla="val 4167"/>
            </a:avLst>
          </a:prstGeom>
          <a:solidFill>
            <a:srgbClr val="FFFFFF"/>
          </a:solidFill>
          <a:ln w="12700">
            <a:solidFill>
              <a:srgbClr val="DFE6E9"/>
            </a:solidFill>
            <a:prstDash val="solid"/>
          </a:ln>
        </p:spPr>
        <p:txBody>
          <a:bodyPr/>
          <a:lstStyle/>
          <a:p>
            <a:endParaRPr lang="en-US"/>
          </a:p>
        </p:txBody>
      </p:sp>
      <p:sp>
        <p:nvSpPr>
          <p:cNvPr id="17" name="Shape 15"/>
          <p:cNvSpPr/>
          <p:nvPr/>
        </p:nvSpPr>
        <p:spPr>
          <a:xfrm>
            <a:off x="5029200" y="1600200"/>
            <a:ext cx="2194560" cy="64008"/>
          </a:xfrm>
          <a:prstGeom prst="rect">
            <a:avLst/>
          </a:prstGeom>
          <a:solidFill>
            <a:srgbClr val="C8A951"/>
          </a:solidFill>
          <a:ln w="12700">
            <a:solidFill>
              <a:srgbClr val="C8A951"/>
            </a:solidFill>
            <a:prstDash val="solid"/>
          </a:ln>
        </p:spPr>
        <p:txBody>
          <a:bodyPr/>
          <a:lstStyle/>
          <a:p>
            <a:endParaRPr lang="en-US"/>
          </a:p>
        </p:txBody>
      </p:sp>
      <p:sp>
        <p:nvSpPr>
          <p:cNvPr id="18" name="Text 16"/>
          <p:cNvSpPr/>
          <p:nvPr/>
        </p:nvSpPr>
        <p:spPr>
          <a:xfrm>
            <a:off x="5166360" y="1783080"/>
            <a:ext cx="1920240" cy="365760"/>
          </a:xfrm>
          <a:prstGeom prst="rect">
            <a:avLst/>
          </a:prstGeom>
          <a:noFill/>
          <a:ln/>
        </p:spPr>
        <p:txBody>
          <a:bodyPr wrap="square" rtlCol="0" anchor="ctr"/>
          <a:lstStyle/>
          <a:p>
            <a:pPr marL="0" indent="0">
              <a:buNone/>
            </a:pPr>
            <a:r>
              <a:rPr lang="en-US" sz="1400" b="1" dirty="0">
                <a:solidFill>
                  <a:srgbClr val="C8A951"/>
                </a:solidFill>
                <a:latin typeface="Cascadia Code" pitchFamily="34" charset="0"/>
                <a:ea typeface="Cascadia Code" pitchFamily="34" charset="-122"/>
                <a:cs typeface="Cascadia Code" pitchFamily="34" charset="-120"/>
              </a:rPr>
              <a:t>03</a:t>
            </a:r>
            <a:endParaRPr lang="en-US" sz="1400" dirty="0"/>
          </a:p>
        </p:txBody>
      </p:sp>
      <p:sp>
        <p:nvSpPr>
          <p:cNvPr id="19" name="Text 17"/>
          <p:cNvSpPr/>
          <p:nvPr/>
        </p:nvSpPr>
        <p:spPr>
          <a:xfrm>
            <a:off x="5166360" y="2240280"/>
            <a:ext cx="1920240" cy="822960"/>
          </a:xfrm>
          <a:prstGeom prst="rect">
            <a:avLst/>
          </a:prstGeom>
          <a:noFill/>
          <a:ln/>
        </p:spPr>
        <p:txBody>
          <a:bodyPr wrap="square" rtlCol="0" anchor="ctr"/>
          <a:lstStyle/>
          <a:p>
            <a:pPr marL="0" indent="0">
              <a:buNone/>
            </a:pPr>
            <a:r>
              <a:rPr lang="en-US" sz="1400" b="1" dirty="0">
                <a:solidFill>
                  <a:srgbClr val="1A3A5C"/>
                </a:solidFill>
                <a:latin typeface="Segoe UI" pitchFamily="34" charset="0"/>
                <a:ea typeface="Segoe UI" pitchFamily="34" charset="-122"/>
                <a:cs typeface="Segoe UI" pitchFamily="34" charset="-120"/>
              </a:rPr>
              <a:t>Review the AI’s plan</a:t>
            </a:r>
            <a:endParaRPr lang="en-US" sz="1400" dirty="0"/>
          </a:p>
        </p:txBody>
      </p:sp>
      <p:sp>
        <p:nvSpPr>
          <p:cNvPr id="20" name="Text 18"/>
          <p:cNvSpPr/>
          <p:nvPr/>
        </p:nvSpPr>
        <p:spPr>
          <a:xfrm>
            <a:off x="5166360" y="3108960"/>
            <a:ext cx="1920240" cy="2377440"/>
          </a:xfrm>
          <a:prstGeom prst="rect">
            <a:avLst/>
          </a:prstGeom>
          <a:noFill/>
          <a:ln/>
        </p:spPr>
        <p:txBody>
          <a:bodyPr wrap="square" rtlCol="0" anchor="t"/>
          <a:lstStyle/>
          <a:p>
            <a:pPr marL="0" indent="0">
              <a:buNone/>
            </a:pPr>
            <a:r>
              <a:rPr lang="en-US" sz="1100" dirty="0">
                <a:solidFill>
                  <a:srgbClr val="636E72"/>
                </a:solidFill>
                <a:latin typeface="Segoe UI" pitchFamily="34" charset="0"/>
                <a:ea typeface="Segoe UI" pitchFamily="34" charset="-122"/>
                <a:cs typeface="Segoe UI" pitchFamily="34" charset="-120"/>
              </a:rPr>
              <a:t>Identify what’s out of scope — and be able to say why.</a:t>
            </a:r>
            <a:endParaRPr lang="en-US" sz="1100" dirty="0"/>
          </a:p>
        </p:txBody>
      </p:sp>
      <p:sp>
        <p:nvSpPr>
          <p:cNvPr id="21" name="Shape 19"/>
          <p:cNvSpPr/>
          <p:nvPr/>
        </p:nvSpPr>
        <p:spPr>
          <a:xfrm>
            <a:off x="7315200" y="1600200"/>
            <a:ext cx="2194560" cy="4023360"/>
          </a:xfrm>
          <a:prstGeom prst="roundRect">
            <a:avLst>
              <a:gd name="adj" fmla="val 4167"/>
            </a:avLst>
          </a:prstGeom>
          <a:solidFill>
            <a:srgbClr val="FFFFFF"/>
          </a:solidFill>
          <a:ln w="12700">
            <a:solidFill>
              <a:srgbClr val="DFE6E9"/>
            </a:solidFill>
            <a:prstDash val="solid"/>
          </a:ln>
        </p:spPr>
        <p:txBody>
          <a:bodyPr/>
          <a:lstStyle/>
          <a:p>
            <a:endParaRPr lang="en-US"/>
          </a:p>
        </p:txBody>
      </p:sp>
      <p:sp>
        <p:nvSpPr>
          <p:cNvPr id="22" name="Shape 20"/>
          <p:cNvSpPr/>
          <p:nvPr/>
        </p:nvSpPr>
        <p:spPr>
          <a:xfrm>
            <a:off x="7315200" y="1600200"/>
            <a:ext cx="2194560" cy="64008"/>
          </a:xfrm>
          <a:prstGeom prst="rect">
            <a:avLst/>
          </a:prstGeom>
          <a:solidFill>
            <a:srgbClr val="C8A951"/>
          </a:solidFill>
          <a:ln w="12700">
            <a:solidFill>
              <a:srgbClr val="C8A951"/>
            </a:solidFill>
            <a:prstDash val="solid"/>
          </a:ln>
        </p:spPr>
        <p:txBody>
          <a:bodyPr/>
          <a:lstStyle/>
          <a:p>
            <a:endParaRPr lang="en-US"/>
          </a:p>
        </p:txBody>
      </p:sp>
      <p:sp>
        <p:nvSpPr>
          <p:cNvPr id="23" name="Text 21"/>
          <p:cNvSpPr/>
          <p:nvPr/>
        </p:nvSpPr>
        <p:spPr>
          <a:xfrm>
            <a:off x="7452360" y="1783080"/>
            <a:ext cx="1920240" cy="365760"/>
          </a:xfrm>
          <a:prstGeom prst="rect">
            <a:avLst/>
          </a:prstGeom>
          <a:noFill/>
          <a:ln/>
        </p:spPr>
        <p:txBody>
          <a:bodyPr wrap="square" rtlCol="0" anchor="ctr"/>
          <a:lstStyle/>
          <a:p>
            <a:pPr marL="0" indent="0">
              <a:buNone/>
            </a:pPr>
            <a:r>
              <a:rPr lang="en-US" sz="1400" b="1" dirty="0">
                <a:solidFill>
                  <a:srgbClr val="C8A951"/>
                </a:solidFill>
                <a:latin typeface="Cascadia Code" pitchFamily="34" charset="0"/>
                <a:ea typeface="Cascadia Code" pitchFamily="34" charset="-122"/>
                <a:cs typeface="Cascadia Code" pitchFamily="34" charset="-120"/>
              </a:rPr>
              <a:t>04</a:t>
            </a:r>
            <a:endParaRPr lang="en-US" sz="1400" dirty="0"/>
          </a:p>
        </p:txBody>
      </p:sp>
      <p:sp>
        <p:nvSpPr>
          <p:cNvPr id="24" name="Text 22"/>
          <p:cNvSpPr/>
          <p:nvPr/>
        </p:nvSpPr>
        <p:spPr>
          <a:xfrm>
            <a:off x="7452360" y="2240280"/>
            <a:ext cx="1920240" cy="822960"/>
          </a:xfrm>
          <a:prstGeom prst="rect">
            <a:avLst/>
          </a:prstGeom>
          <a:noFill/>
          <a:ln/>
        </p:spPr>
        <p:txBody>
          <a:bodyPr wrap="square" rtlCol="0" anchor="ctr"/>
          <a:lstStyle/>
          <a:p>
            <a:pPr marL="0" indent="0">
              <a:buNone/>
            </a:pPr>
            <a:r>
              <a:rPr lang="en-US" sz="1400" b="1" dirty="0">
                <a:solidFill>
                  <a:srgbClr val="1A3A5C"/>
                </a:solidFill>
                <a:latin typeface="Segoe UI" pitchFamily="34" charset="0"/>
                <a:ea typeface="Segoe UI" pitchFamily="34" charset="-122"/>
                <a:cs typeface="Segoe UI" pitchFamily="34" charset="-120"/>
              </a:rPr>
              <a:t>Stop coding line-by-line</a:t>
            </a:r>
            <a:endParaRPr lang="en-US" sz="1400" dirty="0"/>
          </a:p>
        </p:txBody>
      </p:sp>
      <p:sp>
        <p:nvSpPr>
          <p:cNvPr id="25" name="Text 23"/>
          <p:cNvSpPr/>
          <p:nvPr/>
        </p:nvSpPr>
        <p:spPr>
          <a:xfrm>
            <a:off x="7452360" y="3108960"/>
            <a:ext cx="1920240" cy="2377440"/>
          </a:xfrm>
          <a:prstGeom prst="rect">
            <a:avLst/>
          </a:prstGeom>
          <a:noFill/>
          <a:ln/>
        </p:spPr>
        <p:txBody>
          <a:bodyPr wrap="square" rtlCol="0" anchor="t"/>
          <a:lstStyle/>
          <a:p>
            <a:pPr marL="0" indent="0">
              <a:buNone/>
            </a:pPr>
            <a:r>
              <a:rPr lang="en-US" sz="1100" dirty="0">
                <a:solidFill>
                  <a:srgbClr val="636E72"/>
                </a:solidFill>
                <a:latin typeface="Segoe UI" pitchFamily="34" charset="0"/>
                <a:ea typeface="Segoe UI" pitchFamily="34" charset="-122"/>
                <a:cs typeface="Segoe UI" pitchFamily="34" charset="-120"/>
              </a:rPr>
              <a:t>You no longer just look at the part of the code the change touches.</a:t>
            </a:r>
            <a:endParaRPr lang="en-US" sz="1100" dirty="0"/>
          </a:p>
        </p:txBody>
      </p:sp>
      <p:sp>
        <p:nvSpPr>
          <p:cNvPr id="26" name="Shape 24"/>
          <p:cNvSpPr/>
          <p:nvPr/>
        </p:nvSpPr>
        <p:spPr>
          <a:xfrm>
            <a:off x="9601200" y="1600200"/>
            <a:ext cx="2194560" cy="4023360"/>
          </a:xfrm>
          <a:prstGeom prst="roundRect">
            <a:avLst>
              <a:gd name="adj" fmla="val 4167"/>
            </a:avLst>
          </a:prstGeom>
          <a:solidFill>
            <a:srgbClr val="FFFFFF"/>
          </a:solidFill>
          <a:ln w="12700">
            <a:solidFill>
              <a:srgbClr val="DFE6E9"/>
            </a:solidFill>
            <a:prstDash val="solid"/>
          </a:ln>
        </p:spPr>
        <p:txBody>
          <a:bodyPr/>
          <a:lstStyle/>
          <a:p>
            <a:endParaRPr lang="en-US"/>
          </a:p>
        </p:txBody>
      </p:sp>
      <p:sp>
        <p:nvSpPr>
          <p:cNvPr id="27" name="Shape 25"/>
          <p:cNvSpPr/>
          <p:nvPr/>
        </p:nvSpPr>
        <p:spPr>
          <a:xfrm>
            <a:off x="9601200" y="1600200"/>
            <a:ext cx="2194560" cy="64008"/>
          </a:xfrm>
          <a:prstGeom prst="rect">
            <a:avLst/>
          </a:prstGeom>
          <a:solidFill>
            <a:srgbClr val="C8A951"/>
          </a:solidFill>
          <a:ln w="12700">
            <a:solidFill>
              <a:srgbClr val="C8A951"/>
            </a:solidFill>
            <a:prstDash val="solid"/>
          </a:ln>
        </p:spPr>
        <p:txBody>
          <a:bodyPr/>
          <a:lstStyle/>
          <a:p>
            <a:endParaRPr lang="en-US"/>
          </a:p>
        </p:txBody>
      </p:sp>
      <p:sp>
        <p:nvSpPr>
          <p:cNvPr id="28" name="Text 26"/>
          <p:cNvSpPr/>
          <p:nvPr/>
        </p:nvSpPr>
        <p:spPr>
          <a:xfrm>
            <a:off x="9738360" y="1783080"/>
            <a:ext cx="1920240" cy="365760"/>
          </a:xfrm>
          <a:prstGeom prst="rect">
            <a:avLst/>
          </a:prstGeom>
          <a:noFill/>
          <a:ln/>
        </p:spPr>
        <p:txBody>
          <a:bodyPr wrap="square" rtlCol="0" anchor="ctr"/>
          <a:lstStyle/>
          <a:p>
            <a:pPr marL="0" indent="0">
              <a:buNone/>
            </a:pPr>
            <a:r>
              <a:rPr lang="en-US" sz="1400" b="1" dirty="0">
                <a:solidFill>
                  <a:srgbClr val="C8A951"/>
                </a:solidFill>
                <a:latin typeface="Cascadia Code" pitchFamily="34" charset="0"/>
                <a:ea typeface="Cascadia Code" pitchFamily="34" charset="-122"/>
                <a:cs typeface="Cascadia Code" pitchFamily="34" charset="-120"/>
              </a:rPr>
              <a:t>05</a:t>
            </a:r>
            <a:endParaRPr lang="en-US" sz="1400" dirty="0"/>
          </a:p>
        </p:txBody>
      </p:sp>
      <p:sp>
        <p:nvSpPr>
          <p:cNvPr id="29" name="Text 27"/>
          <p:cNvSpPr/>
          <p:nvPr/>
        </p:nvSpPr>
        <p:spPr>
          <a:xfrm>
            <a:off x="9738360" y="2240280"/>
            <a:ext cx="1920240" cy="822960"/>
          </a:xfrm>
          <a:prstGeom prst="rect">
            <a:avLst/>
          </a:prstGeom>
          <a:noFill/>
          <a:ln/>
        </p:spPr>
        <p:txBody>
          <a:bodyPr wrap="square" rtlCol="0" anchor="ctr"/>
          <a:lstStyle/>
          <a:p>
            <a:pPr marL="0" indent="0">
              <a:buNone/>
            </a:pPr>
            <a:r>
              <a:rPr lang="en-US" sz="1400" b="1" dirty="0">
                <a:solidFill>
                  <a:srgbClr val="1A3A5C"/>
                </a:solidFill>
                <a:latin typeface="Segoe UI" pitchFamily="34" charset="0"/>
                <a:ea typeface="Segoe UI" pitchFamily="34" charset="-122"/>
                <a:cs typeface="Segoe UI" pitchFamily="34" charset="-120"/>
              </a:rPr>
              <a:t>Manage an agent</a:t>
            </a:r>
            <a:endParaRPr lang="en-US" sz="1400" dirty="0"/>
          </a:p>
        </p:txBody>
      </p:sp>
      <p:sp>
        <p:nvSpPr>
          <p:cNvPr id="30" name="Text 28"/>
          <p:cNvSpPr/>
          <p:nvPr/>
        </p:nvSpPr>
        <p:spPr>
          <a:xfrm>
            <a:off x="9738360" y="3108960"/>
            <a:ext cx="1920240" cy="2377440"/>
          </a:xfrm>
          <a:prstGeom prst="rect">
            <a:avLst/>
          </a:prstGeom>
          <a:noFill/>
          <a:ln/>
        </p:spPr>
        <p:txBody>
          <a:bodyPr wrap="square" rtlCol="0" anchor="t"/>
          <a:lstStyle/>
          <a:p>
            <a:pPr marL="0" indent="0">
              <a:buNone/>
            </a:pPr>
            <a:r>
              <a:rPr lang="en-US" sz="1100" dirty="0">
                <a:solidFill>
                  <a:srgbClr val="636E72"/>
                </a:solidFill>
                <a:latin typeface="Segoe UI" pitchFamily="34" charset="0"/>
                <a:ea typeface="Segoe UI" pitchFamily="34" charset="-122"/>
                <a:cs typeface="Segoe UI" pitchFamily="34" charset="-120"/>
              </a:rPr>
              <a:t>You are the reviewer, directing an AI to the result — the conductor, not the player.</a:t>
            </a:r>
            <a:endParaRPr lang="en-US" sz="1100" dirty="0"/>
          </a:p>
        </p:txBody>
      </p:sp>
      <p:sp>
        <p:nvSpPr>
          <p:cNvPr id="31" name="Text 29"/>
          <p:cNvSpPr/>
          <p:nvPr/>
        </p:nvSpPr>
        <p:spPr>
          <a:xfrm>
            <a:off x="548640" y="5897880"/>
            <a:ext cx="11064240" cy="365760"/>
          </a:xfrm>
          <a:prstGeom prst="rect">
            <a:avLst/>
          </a:prstGeom>
          <a:noFill/>
          <a:ln/>
        </p:spPr>
        <p:txBody>
          <a:bodyPr wrap="square" rtlCol="0" anchor="ctr"/>
          <a:lstStyle/>
          <a:p>
            <a:pPr marL="0" indent="0" algn="ctr">
              <a:buNone/>
            </a:pPr>
            <a:r>
              <a:rPr lang="en-US" sz="1400" b="1" dirty="0">
                <a:solidFill>
                  <a:srgbClr val="C8A951"/>
                </a:solidFill>
                <a:latin typeface="Segoe UI" pitchFamily="34" charset="0"/>
                <a:ea typeface="Segoe UI" pitchFamily="34" charset="-122"/>
                <a:cs typeface="Segoe UI" pitchFamily="34" charset="-120"/>
              </a:rPr>
              <a:t>Coder  →  Conductor</a:t>
            </a:r>
            <a:endParaRPr lang="en-US" sz="1400" dirty="0"/>
          </a:p>
        </p:txBody>
      </p:sp>
      <p:sp>
        <p:nvSpPr>
          <p:cNvPr id="32" name="Text 30"/>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4 / 45</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name="Slide 5">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These aren’t new tools. They’re new responsibilities.</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Text 3"/>
          <p:cNvSpPr/>
          <p:nvPr/>
        </p:nvSpPr>
        <p:spPr>
          <a:xfrm>
            <a:off x="548640" y="960120"/>
            <a:ext cx="11064240" cy="914400"/>
          </a:xfrm>
          <a:prstGeom prst="rect">
            <a:avLst/>
          </a:prstGeom>
          <a:noFill/>
          <a:ln/>
        </p:spPr>
        <p:txBody>
          <a:bodyPr wrap="square" rtlCol="0" anchor="ctr"/>
          <a:lstStyle/>
          <a:p>
            <a:pPr marL="0" indent="0">
              <a:buNone/>
            </a:pPr>
            <a:r>
              <a:rPr lang="en-US" sz="1500" dirty="0">
                <a:solidFill>
                  <a:srgbClr val="2D3436"/>
                </a:solidFill>
                <a:latin typeface="Segoe UI" pitchFamily="34" charset="0"/>
                <a:ea typeface="Segoe UI" pitchFamily="34" charset="-122"/>
                <a:cs typeface="Segoe UI" pitchFamily="34" charset="-120"/>
              </a:rPr>
              <a:t>Each responsibility needs a system behind it — or it collapses back into “just review the PR.” The rest of this deck is that system: five discoveries, each the answer to “how do I do this new job safely and repeatably?”</a:t>
            </a:r>
            <a:endParaRPr lang="en-US" sz="1500" dirty="0"/>
          </a:p>
        </p:txBody>
      </p:sp>
      <p:sp>
        <p:nvSpPr>
          <p:cNvPr id="6" name="Shape 4"/>
          <p:cNvSpPr/>
          <p:nvPr/>
        </p:nvSpPr>
        <p:spPr>
          <a:xfrm>
            <a:off x="640080" y="2194560"/>
            <a:ext cx="5669280" cy="621792"/>
          </a:xfrm>
          <a:prstGeom prst="roundRect">
            <a:avLst>
              <a:gd name="adj" fmla="val 11765"/>
            </a:avLst>
          </a:prstGeom>
          <a:solidFill>
            <a:srgbClr val="F4F7FA"/>
          </a:solidFill>
          <a:ln w="12700">
            <a:solidFill>
              <a:srgbClr val="DFE6E9"/>
            </a:solidFill>
            <a:prstDash val="solid"/>
          </a:ln>
        </p:spPr>
        <p:txBody>
          <a:bodyPr/>
          <a:lstStyle/>
          <a:p>
            <a:endParaRPr lang="en-US"/>
          </a:p>
        </p:txBody>
      </p:sp>
      <p:sp>
        <p:nvSpPr>
          <p:cNvPr id="7" name="Text 5"/>
          <p:cNvSpPr/>
          <p:nvPr/>
        </p:nvSpPr>
        <p:spPr>
          <a:xfrm>
            <a:off x="822960" y="2194560"/>
            <a:ext cx="5303520" cy="621792"/>
          </a:xfrm>
          <a:prstGeom prst="rect">
            <a:avLst/>
          </a:prstGeom>
          <a:noFill/>
          <a:ln/>
        </p:spPr>
        <p:txBody>
          <a:bodyPr wrap="square" rtlCol="0" anchor="ctr"/>
          <a:lstStyle/>
          <a:p>
            <a:pPr marL="0" indent="0">
              <a:buNone/>
            </a:pPr>
            <a:r>
              <a:rPr lang="en-US" sz="1300" b="1" dirty="0">
                <a:solidFill>
                  <a:srgbClr val="1A3A5C"/>
                </a:solidFill>
                <a:latin typeface="Segoe UI" pitchFamily="34" charset="0"/>
                <a:ea typeface="Segoe UI" pitchFamily="34" charset="-122"/>
                <a:cs typeface="Segoe UI" pitchFamily="34" charset="-120"/>
              </a:rPr>
              <a:t>Own the intent (BA hat)</a:t>
            </a:r>
            <a:endParaRPr lang="en-US" sz="1300" dirty="0"/>
          </a:p>
        </p:txBody>
      </p:sp>
      <p:sp>
        <p:nvSpPr>
          <p:cNvPr id="8" name="Text 6"/>
          <p:cNvSpPr/>
          <p:nvPr/>
        </p:nvSpPr>
        <p:spPr>
          <a:xfrm>
            <a:off x="6400800" y="2194560"/>
            <a:ext cx="548640" cy="621792"/>
          </a:xfrm>
          <a:prstGeom prst="rect">
            <a:avLst/>
          </a:prstGeom>
          <a:noFill/>
          <a:ln/>
        </p:spPr>
        <p:txBody>
          <a:bodyPr wrap="square" rtlCol="0" anchor="ctr"/>
          <a:lstStyle/>
          <a:p>
            <a:pPr marL="0" indent="0" algn="ctr">
              <a:buNone/>
            </a:pPr>
            <a:r>
              <a:rPr lang="en-US" sz="1800" b="1" dirty="0">
                <a:solidFill>
                  <a:srgbClr val="C8A951"/>
                </a:solidFill>
                <a:latin typeface="Segoe UI" pitchFamily="34" charset="0"/>
                <a:ea typeface="Segoe UI" pitchFamily="34" charset="-122"/>
                <a:cs typeface="Segoe UI" pitchFamily="34" charset="-120"/>
              </a:rPr>
              <a:t>→</a:t>
            </a:r>
            <a:endParaRPr lang="en-US" sz="1800" dirty="0"/>
          </a:p>
        </p:txBody>
      </p:sp>
      <p:sp>
        <p:nvSpPr>
          <p:cNvPr id="9" name="Shape 7"/>
          <p:cNvSpPr/>
          <p:nvPr/>
        </p:nvSpPr>
        <p:spPr>
          <a:xfrm>
            <a:off x="7040880" y="2194560"/>
            <a:ext cx="4480560" cy="621792"/>
          </a:xfrm>
          <a:prstGeom prst="roundRect">
            <a:avLst>
              <a:gd name="adj" fmla="val 11765"/>
            </a:avLst>
          </a:prstGeom>
          <a:solidFill>
            <a:srgbClr val="1A3A5C"/>
          </a:solidFill>
          <a:ln w="12700">
            <a:solidFill>
              <a:srgbClr val="1A3A5C"/>
            </a:solidFill>
            <a:prstDash val="solid"/>
          </a:ln>
        </p:spPr>
        <p:txBody>
          <a:bodyPr/>
          <a:lstStyle/>
          <a:p>
            <a:endParaRPr lang="en-US"/>
          </a:p>
        </p:txBody>
      </p:sp>
      <p:sp>
        <p:nvSpPr>
          <p:cNvPr id="10" name="Text 8"/>
          <p:cNvSpPr/>
          <p:nvPr/>
        </p:nvSpPr>
        <p:spPr>
          <a:xfrm>
            <a:off x="7223760" y="2194560"/>
            <a:ext cx="4114800" cy="621792"/>
          </a:xfrm>
          <a:prstGeom prst="rect">
            <a:avLst/>
          </a:prstGeom>
          <a:noFill/>
          <a:ln/>
        </p:spPr>
        <p:txBody>
          <a:bodyPr wrap="square" rtlCol="0" anchor="ctr"/>
          <a:lstStyle/>
          <a:p>
            <a:pPr marL="0" indent="0">
              <a:buNone/>
            </a:pPr>
            <a:r>
              <a:rPr lang="en-US" sz="1300" b="1" dirty="0">
                <a:solidFill>
                  <a:srgbClr val="FFFFFF"/>
                </a:solidFill>
                <a:latin typeface="Segoe UI" pitchFamily="34" charset="0"/>
                <a:ea typeface="Segoe UI" pitchFamily="34" charset="-122"/>
                <a:cs typeface="Segoe UI" pitchFamily="34" charset="-120"/>
              </a:rPr>
              <a:t>Act I · Spec</a:t>
            </a:r>
            <a:endParaRPr lang="en-US" sz="1300" dirty="0"/>
          </a:p>
        </p:txBody>
      </p:sp>
      <p:sp>
        <p:nvSpPr>
          <p:cNvPr id="11" name="Shape 9"/>
          <p:cNvSpPr/>
          <p:nvPr/>
        </p:nvSpPr>
        <p:spPr>
          <a:xfrm>
            <a:off x="640080" y="2944368"/>
            <a:ext cx="5669280" cy="621792"/>
          </a:xfrm>
          <a:prstGeom prst="roundRect">
            <a:avLst>
              <a:gd name="adj" fmla="val 11765"/>
            </a:avLst>
          </a:prstGeom>
          <a:solidFill>
            <a:srgbClr val="F4F7FA"/>
          </a:solidFill>
          <a:ln w="12700">
            <a:solidFill>
              <a:srgbClr val="DFE6E9"/>
            </a:solidFill>
            <a:prstDash val="solid"/>
          </a:ln>
        </p:spPr>
        <p:txBody>
          <a:bodyPr/>
          <a:lstStyle/>
          <a:p>
            <a:endParaRPr lang="en-US"/>
          </a:p>
        </p:txBody>
      </p:sp>
      <p:sp>
        <p:nvSpPr>
          <p:cNvPr id="12" name="Text 10"/>
          <p:cNvSpPr/>
          <p:nvPr/>
        </p:nvSpPr>
        <p:spPr>
          <a:xfrm>
            <a:off x="822960" y="2944368"/>
            <a:ext cx="5303520" cy="621792"/>
          </a:xfrm>
          <a:prstGeom prst="rect">
            <a:avLst/>
          </a:prstGeom>
          <a:noFill/>
          <a:ln/>
        </p:spPr>
        <p:txBody>
          <a:bodyPr wrap="square" rtlCol="0" anchor="ctr"/>
          <a:lstStyle/>
          <a:p>
            <a:pPr marL="0" indent="0">
              <a:buNone/>
            </a:pPr>
            <a:r>
              <a:rPr lang="en-US" sz="1300" b="1" dirty="0">
                <a:solidFill>
                  <a:srgbClr val="1A3A5C"/>
                </a:solidFill>
                <a:latin typeface="Segoe UI" pitchFamily="34" charset="0"/>
                <a:ea typeface="Segoe UI" pitchFamily="34" charset="-122"/>
                <a:cs typeface="Segoe UI" pitchFamily="34" charset="-120"/>
              </a:rPr>
              <a:t>Review the AI’s judgment</a:t>
            </a:r>
            <a:endParaRPr lang="en-US" sz="1300" dirty="0"/>
          </a:p>
        </p:txBody>
      </p:sp>
      <p:sp>
        <p:nvSpPr>
          <p:cNvPr id="13" name="Text 11"/>
          <p:cNvSpPr/>
          <p:nvPr/>
        </p:nvSpPr>
        <p:spPr>
          <a:xfrm>
            <a:off x="6400800" y="2944368"/>
            <a:ext cx="548640" cy="621792"/>
          </a:xfrm>
          <a:prstGeom prst="rect">
            <a:avLst/>
          </a:prstGeom>
          <a:noFill/>
          <a:ln/>
        </p:spPr>
        <p:txBody>
          <a:bodyPr wrap="square" rtlCol="0" anchor="ctr"/>
          <a:lstStyle/>
          <a:p>
            <a:pPr marL="0" indent="0" algn="ctr">
              <a:buNone/>
            </a:pPr>
            <a:r>
              <a:rPr lang="en-US" sz="1800" b="1" dirty="0">
                <a:solidFill>
                  <a:srgbClr val="C8A951"/>
                </a:solidFill>
                <a:latin typeface="Segoe UI" pitchFamily="34" charset="0"/>
                <a:ea typeface="Segoe UI" pitchFamily="34" charset="-122"/>
                <a:cs typeface="Segoe UI" pitchFamily="34" charset="-120"/>
              </a:rPr>
              <a:t>→</a:t>
            </a:r>
            <a:endParaRPr lang="en-US" sz="1800" dirty="0"/>
          </a:p>
        </p:txBody>
      </p:sp>
      <p:sp>
        <p:nvSpPr>
          <p:cNvPr id="14" name="Shape 12"/>
          <p:cNvSpPr/>
          <p:nvPr/>
        </p:nvSpPr>
        <p:spPr>
          <a:xfrm>
            <a:off x="7040880" y="2944368"/>
            <a:ext cx="4480560" cy="621792"/>
          </a:xfrm>
          <a:prstGeom prst="roundRect">
            <a:avLst>
              <a:gd name="adj" fmla="val 11765"/>
            </a:avLst>
          </a:prstGeom>
          <a:solidFill>
            <a:srgbClr val="1A3A5C"/>
          </a:solidFill>
          <a:ln w="12700">
            <a:solidFill>
              <a:srgbClr val="1A3A5C"/>
            </a:solidFill>
            <a:prstDash val="solid"/>
          </a:ln>
        </p:spPr>
        <p:txBody>
          <a:bodyPr/>
          <a:lstStyle/>
          <a:p>
            <a:endParaRPr lang="en-US"/>
          </a:p>
        </p:txBody>
      </p:sp>
      <p:sp>
        <p:nvSpPr>
          <p:cNvPr id="15" name="Text 13"/>
          <p:cNvSpPr/>
          <p:nvPr/>
        </p:nvSpPr>
        <p:spPr>
          <a:xfrm>
            <a:off x="7223760" y="2944368"/>
            <a:ext cx="4114800" cy="621792"/>
          </a:xfrm>
          <a:prstGeom prst="rect">
            <a:avLst/>
          </a:prstGeom>
          <a:noFill/>
          <a:ln/>
        </p:spPr>
        <p:txBody>
          <a:bodyPr wrap="square" rtlCol="0" anchor="ctr"/>
          <a:lstStyle/>
          <a:p>
            <a:pPr marL="0" indent="0">
              <a:buNone/>
            </a:pPr>
            <a:r>
              <a:rPr lang="en-US" sz="1300" b="1" dirty="0">
                <a:solidFill>
                  <a:srgbClr val="FFFFFF"/>
                </a:solidFill>
                <a:latin typeface="Segoe UI" pitchFamily="34" charset="0"/>
                <a:ea typeface="Segoe UI" pitchFamily="34" charset="-122"/>
                <a:cs typeface="Segoe UI" pitchFamily="34" charset="-120"/>
              </a:rPr>
              <a:t>Act II · Trust</a:t>
            </a:r>
            <a:endParaRPr lang="en-US" sz="1300" dirty="0"/>
          </a:p>
        </p:txBody>
      </p:sp>
      <p:sp>
        <p:nvSpPr>
          <p:cNvPr id="16" name="Shape 14"/>
          <p:cNvSpPr/>
          <p:nvPr/>
        </p:nvSpPr>
        <p:spPr>
          <a:xfrm>
            <a:off x="640080" y="3694176"/>
            <a:ext cx="5669280" cy="621792"/>
          </a:xfrm>
          <a:prstGeom prst="roundRect">
            <a:avLst>
              <a:gd name="adj" fmla="val 11765"/>
            </a:avLst>
          </a:prstGeom>
          <a:solidFill>
            <a:srgbClr val="F4F7FA"/>
          </a:solidFill>
          <a:ln w="12700">
            <a:solidFill>
              <a:srgbClr val="DFE6E9"/>
            </a:solidFill>
            <a:prstDash val="solid"/>
          </a:ln>
        </p:spPr>
        <p:txBody>
          <a:bodyPr/>
          <a:lstStyle/>
          <a:p>
            <a:endParaRPr lang="en-US"/>
          </a:p>
        </p:txBody>
      </p:sp>
      <p:sp>
        <p:nvSpPr>
          <p:cNvPr id="17" name="Text 15"/>
          <p:cNvSpPr/>
          <p:nvPr/>
        </p:nvSpPr>
        <p:spPr>
          <a:xfrm>
            <a:off x="822960" y="3694176"/>
            <a:ext cx="5303520" cy="621792"/>
          </a:xfrm>
          <a:prstGeom prst="rect">
            <a:avLst/>
          </a:prstGeom>
          <a:noFill/>
          <a:ln/>
        </p:spPr>
        <p:txBody>
          <a:bodyPr wrap="square" rtlCol="0" anchor="ctr"/>
          <a:lstStyle/>
          <a:p>
            <a:pPr marL="0" indent="0">
              <a:buNone/>
            </a:pPr>
            <a:r>
              <a:rPr lang="en-US" sz="1300" b="1" dirty="0">
                <a:solidFill>
                  <a:srgbClr val="1A3A5C"/>
                </a:solidFill>
                <a:latin typeface="Segoe UI" pitchFamily="34" charset="0"/>
                <a:ea typeface="Segoe UI" pitchFamily="34" charset="-122"/>
                <a:cs typeface="Segoe UI" pitchFamily="34" charset="-120"/>
              </a:rPr>
              <a:t>Carry decisions forward</a:t>
            </a:r>
            <a:endParaRPr lang="en-US" sz="1300" dirty="0"/>
          </a:p>
        </p:txBody>
      </p:sp>
      <p:sp>
        <p:nvSpPr>
          <p:cNvPr id="18" name="Text 16"/>
          <p:cNvSpPr/>
          <p:nvPr/>
        </p:nvSpPr>
        <p:spPr>
          <a:xfrm>
            <a:off x="6400800" y="3694176"/>
            <a:ext cx="548640" cy="621792"/>
          </a:xfrm>
          <a:prstGeom prst="rect">
            <a:avLst/>
          </a:prstGeom>
          <a:noFill/>
          <a:ln/>
        </p:spPr>
        <p:txBody>
          <a:bodyPr wrap="square" rtlCol="0" anchor="ctr"/>
          <a:lstStyle/>
          <a:p>
            <a:pPr marL="0" indent="0" algn="ctr">
              <a:buNone/>
            </a:pPr>
            <a:r>
              <a:rPr lang="en-US" sz="1800" b="1" dirty="0">
                <a:solidFill>
                  <a:srgbClr val="C8A951"/>
                </a:solidFill>
                <a:latin typeface="Segoe UI" pitchFamily="34" charset="0"/>
                <a:ea typeface="Segoe UI" pitchFamily="34" charset="-122"/>
                <a:cs typeface="Segoe UI" pitchFamily="34" charset="-120"/>
              </a:rPr>
              <a:t>→</a:t>
            </a:r>
            <a:endParaRPr lang="en-US" sz="1800" dirty="0"/>
          </a:p>
        </p:txBody>
      </p:sp>
      <p:sp>
        <p:nvSpPr>
          <p:cNvPr id="19" name="Shape 17"/>
          <p:cNvSpPr/>
          <p:nvPr/>
        </p:nvSpPr>
        <p:spPr>
          <a:xfrm>
            <a:off x="7040880" y="3694176"/>
            <a:ext cx="4480560" cy="621792"/>
          </a:xfrm>
          <a:prstGeom prst="roundRect">
            <a:avLst>
              <a:gd name="adj" fmla="val 11765"/>
            </a:avLst>
          </a:prstGeom>
          <a:solidFill>
            <a:srgbClr val="1A3A5C"/>
          </a:solidFill>
          <a:ln w="12700">
            <a:solidFill>
              <a:srgbClr val="1A3A5C"/>
            </a:solidFill>
            <a:prstDash val="solid"/>
          </a:ln>
        </p:spPr>
        <p:txBody>
          <a:bodyPr/>
          <a:lstStyle/>
          <a:p>
            <a:endParaRPr lang="en-US"/>
          </a:p>
        </p:txBody>
      </p:sp>
      <p:sp>
        <p:nvSpPr>
          <p:cNvPr id="20" name="Text 18"/>
          <p:cNvSpPr/>
          <p:nvPr/>
        </p:nvSpPr>
        <p:spPr>
          <a:xfrm>
            <a:off x="7223760" y="3694176"/>
            <a:ext cx="4114800" cy="621792"/>
          </a:xfrm>
          <a:prstGeom prst="rect">
            <a:avLst/>
          </a:prstGeom>
          <a:noFill/>
          <a:ln/>
        </p:spPr>
        <p:txBody>
          <a:bodyPr wrap="square" rtlCol="0" anchor="ctr"/>
          <a:lstStyle/>
          <a:p>
            <a:pPr marL="0" indent="0">
              <a:buNone/>
            </a:pPr>
            <a:r>
              <a:rPr lang="en-US" sz="1300" b="1" dirty="0">
                <a:solidFill>
                  <a:srgbClr val="FFFFFF"/>
                </a:solidFill>
                <a:latin typeface="Segoe UI" pitchFamily="34" charset="0"/>
                <a:ea typeface="Segoe UI" pitchFamily="34" charset="-122"/>
                <a:cs typeface="Segoe UI" pitchFamily="34" charset="-120"/>
              </a:rPr>
              <a:t>Act III · Continuity</a:t>
            </a:r>
            <a:endParaRPr lang="en-US" sz="1300" dirty="0"/>
          </a:p>
        </p:txBody>
      </p:sp>
      <p:sp>
        <p:nvSpPr>
          <p:cNvPr id="21" name="Shape 19"/>
          <p:cNvSpPr/>
          <p:nvPr/>
        </p:nvSpPr>
        <p:spPr>
          <a:xfrm>
            <a:off x="640080" y="4443984"/>
            <a:ext cx="5669280" cy="621792"/>
          </a:xfrm>
          <a:prstGeom prst="roundRect">
            <a:avLst>
              <a:gd name="adj" fmla="val 11765"/>
            </a:avLst>
          </a:prstGeom>
          <a:solidFill>
            <a:srgbClr val="F4F7FA"/>
          </a:solidFill>
          <a:ln w="12700">
            <a:solidFill>
              <a:srgbClr val="DFE6E9"/>
            </a:solidFill>
            <a:prstDash val="solid"/>
          </a:ln>
        </p:spPr>
        <p:txBody>
          <a:bodyPr/>
          <a:lstStyle/>
          <a:p>
            <a:endParaRPr lang="en-US"/>
          </a:p>
        </p:txBody>
      </p:sp>
      <p:sp>
        <p:nvSpPr>
          <p:cNvPr id="22" name="Text 20"/>
          <p:cNvSpPr/>
          <p:nvPr/>
        </p:nvSpPr>
        <p:spPr>
          <a:xfrm>
            <a:off x="822960" y="4443984"/>
            <a:ext cx="5303520" cy="621792"/>
          </a:xfrm>
          <a:prstGeom prst="rect">
            <a:avLst/>
          </a:prstGeom>
          <a:noFill/>
          <a:ln/>
        </p:spPr>
        <p:txBody>
          <a:bodyPr wrap="square" rtlCol="0" anchor="ctr"/>
          <a:lstStyle/>
          <a:p>
            <a:pPr marL="0" indent="0">
              <a:buNone/>
            </a:pPr>
            <a:r>
              <a:rPr lang="en-US" sz="1300" b="1" dirty="0">
                <a:solidFill>
                  <a:srgbClr val="1A3A5C"/>
                </a:solidFill>
                <a:latin typeface="Segoe UI" pitchFamily="34" charset="0"/>
                <a:ea typeface="Segoe UI" pitchFamily="34" charset="-122"/>
                <a:cs typeface="Segoe UI" pitchFamily="34" charset="-120"/>
              </a:rPr>
              <a:t>Understand the whole system</a:t>
            </a:r>
            <a:endParaRPr lang="en-US" sz="1300" dirty="0"/>
          </a:p>
        </p:txBody>
      </p:sp>
      <p:sp>
        <p:nvSpPr>
          <p:cNvPr id="23" name="Text 21"/>
          <p:cNvSpPr/>
          <p:nvPr/>
        </p:nvSpPr>
        <p:spPr>
          <a:xfrm>
            <a:off x="6400800" y="4443984"/>
            <a:ext cx="548640" cy="621792"/>
          </a:xfrm>
          <a:prstGeom prst="rect">
            <a:avLst/>
          </a:prstGeom>
          <a:noFill/>
          <a:ln/>
        </p:spPr>
        <p:txBody>
          <a:bodyPr wrap="square" rtlCol="0" anchor="ctr"/>
          <a:lstStyle/>
          <a:p>
            <a:pPr marL="0" indent="0" algn="ctr">
              <a:buNone/>
            </a:pPr>
            <a:r>
              <a:rPr lang="en-US" sz="1800" b="1" dirty="0">
                <a:solidFill>
                  <a:srgbClr val="C8A951"/>
                </a:solidFill>
                <a:latin typeface="Segoe UI" pitchFamily="34" charset="0"/>
                <a:ea typeface="Segoe UI" pitchFamily="34" charset="-122"/>
                <a:cs typeface="Segoe UI" pitchFamily="34" charset="-120"/>
              </a:rPr>
              <a:t>→</a:t>
            </a:r>
            <a:endParaRPr lang="en-US" sz="1800" dirty="0"/>
          </a:p>
        </p:txBody>
      </p:sp>
      <p:sp>
        <p:nvSpPr>
          <p:cNvPr id="24" name="Shape 22"/>
          <p:cNvSpPr/>
          <p:nvPr/>
        </p:nvSpPr>
        <p:spPr>
          <a:xfrm>
            <a:off x="7040880" y="4443984"/>
            <a:ext cx="4480560" cy="621792"/>
          </a:xfrm>
          <a:prstGeom prst="roundRect">
            <a:avLst>
              <a:gd name="adj" fmla="val 11765"/>
            </a:avLst>
          </a:prstGeom>
          <a:solidFill>
            <a:srgbClr val="1A3A5C"/>
          </a:solidFill>
          <a:ln w="12700">
            <a:solidFill>
              <a:srgbClr val="1A3A5C"/>
            </a:solidFill>
            <a:prstDash val="solid"/>
          </a:ln>
        </p:spPr>
        <p:txBody>
          <a:bodyPr/>
          <a:lstStyle/>
          <a:p>
            <a:endParaRPr lang="en-US"/>
          </a:p>
        </p:txBody>
      </p:sp>
      <p:sp>
        <p:nvSpPr>
          <p:cNvPr id="25" name="Text 23"/>
          <p:cNvSpPr/>
          <p:nvPr/>
        </p:nvSpPr>
        <p:spPr>
          <a:xfrm>
            <a:off x="7223760" y="4443984"/>
            <a:ext cx="4114800" cy="621792"/>
          </a:xfrm>
          <a:prstGeom prst="rect">
            <a:avLst/>
          </a:prstGeom>
          <a:noFill/>
          <a:ln/>
        </p:spPr>
        <p:txBody>
          <a:bodyPr wrap="square" rtlCol="0" anchor="ctr"/>
          <a:lstStyle/>
          <a:p>
            <a:pPr marL="0" indent="0">
              <a:buNone/>
            </a:pPr>
            <a:r>
              <a:rPr lang="en-US" sz="1300" b="1" dirty="0">
                <a:solidFill>
                  <a:srgbClr val="FFFFFF"/>
                </a:solidFill>
                <a:latin typeface="Segoe UI" pitchFamily="34" charset="0"/>
                <a:ea typeface="Segoe UI" pitchFamily="34" charset="-122"/>
                <a:cs typeface="Segoe UI" pitchFamily="34" charset="-120"/>
              </a:rPr>
              <a:t>Act IV · Knowledge</a:t>
            </a:r>
            <a:endParaRPr lang="en-US" sz="1300" dirty="0"/>
          </a:p>
        </p:txBody>
      </p:sp>
      <p:sp>
        <p:nvSpPr>
          <p:cNvPr id="26" name="Shape 24"/>
          <p:cNvSpPr/>
          <p:nvPr/>
        </p:nvSpPr>
        <p:spPr>
          <a:xfrm>
            <a:off x="640080" y="5193792"/>
            <a:ext cx="5669280" cy="621792"/>
          </a:xfrm>
          <a:prstGeom prst="roundRect">
            <a:avLst>
              <a:gd name="adj" fmla="val 11765"/>
            </a:avLst>
          </a:prstGeom>
          <a:solidFill>
            <a:srgbClr val="F4F7FA"/>
          </a:solidFill>
          <a:ln w="12700">
            <a:solidFill>
              <a:srgbClr val="DFE6E9"/>
            </a:solidFill>
            <a:prstDash val="solid"/>
          </a:ln>
        </p:spPr>
        <p:txBody>
          <a:bodyPr/>
          <a:lstStyle/>
          <a:p>
            <a:endParaRPr lang="en-US"/>
          </a:p>
        </p:txBody>
      </p:sp>
      <p:sp>
        <p:nvSpPr>
          <p:cNvPr id="27" name="Text 25"/>
          <p:cNvSpPr/>
          <p:nvPr/>
        </p:nvSpPr>
        <p:spPr>
          <a:xfrm>
            <a:off x="822960" y="5193792"/>
            <a:ext cx="5303520" cy="621792"/>
          </a:xfrm>
          <a:prstGeom prst="rect">
            <a:avLst/>
          </a:prstGeom>
          <a:noFill/>
          <a:ln/>
        </p:spPr>
        <p:txBody>
          <a:bodyPr wrap="square" rtlCol="0" anchor="ctr"/>
          <a:lstStyle/>
          <a:p>
            <a:pPr marL="0" indent="0">
              <a:buNone/>
            </a:pPr>
            <a:r>
              <a:rPr lang="en-US" sz="1300" b="1" dirty="0">
                <a:solidFill>
                  <a:srgbClr val="1A3A5C"/>
                </a:solidFill>
                <a:latin typeface="Segoe UI" pitchFamily="34" charset="0"/>
                <a:ea typeface="Segoe UI" pitchFamily="34" charset="-122"/>
                <a:cs typeface="Segoe UI" pitchFamily="34" charset="-120"/>
              </a:rPr>
              <a:t>Prove it actually held</a:t>
            </a:r>
            <a:endParaRPr lang="en-US" sz="1300" dirty="0"/>
          </a:p>
        </p:txBody>
      </p:sp>
      <p:sp>
        <p:nvSpPr>
          <p:cNvPr id="28" name="Text 26"/>
          <p:cNvSpPr/>
          <p:nvPr/>
        </p:nvSpPr>
        <p:spPr>
          <a:xfrm>
            <a:off x="6400800" y="5193792"/>
            <a:ext cx="548640" cy="621792"/>
          </a:xfrm>
          <a:prstGeom prst="rect">
            <a:avLst/>
          </a:prstGeom>
          <a:noFill/>
          <a:ln/>
        </p:spPr>
        <p:txBody>
          <a:bodyPr wrap="square" rtlCol="0" anchor="ctr"/>
          <a:lstStyle/>
          <a:p>
            <a:pPr marL="0" indent="0" algn="ctr">
              <a:buNone/>
            </a:pPr>
            <a:r>
              <a:rPr lang="en-US" sz="1800" b="1" dirty="0">
                <a:solidFill>
                  <a:srgbClr val="C8A951"/>
                </a:solidFill>
                <a:latin typeface="Segoe UI" pitchFamily="34" charset="0"/>
                <a:ea typeface="Segoe UI" pitchFamily="34" charset="-122"/>
                <a:cs typeface="Segoe UI" pitchFamily="34" charset="-120"/>
              </a:rPr>
              <a:t>→</a:t>
            </a:r>
            <a:endParaRPr lang="en-US" sz="1800" dirty="0"/>
          </a:p>
        </p:txBody>
      </p:sp>
      <p:sp>
        <p:nvSpPr>
          <p:cNvPr id="29" name="Shape 27"/>
          <p:cNvSpPr/>
          <p:nvPr/>
        </p:nvSpPr>
        <p:spPr>
          <a:xfrm>
            <a:off x="7040880" y="5193792"/>
            <a:ext cx="4480560" cy="621792"/>
          </a:xfrm>
          <a:prstGeom prst="roundRect">
            <a:avLst>
              <a:gd name="adj" fmla="val 11765"/>
            </a:avLst>
          </a:prstGeom>
          <a:solidFill>
            <a:srgbClr val="1A3A5C"/>
          </a:solidFill>
          <a:ln w="12700">
            <a:solidFill>
              <a:srgbClr val="1A3A5C"/>
            </a:solidFill>
            <a:prstDash val="solid"/>
          </a:ln>
        </p:spPr>
        <p:txBody>
          <a:bodyPr/>
          <a:lstStyle/>
          <a:p>
            <a:endParaRPr lang="en-US"/>
          </a:p>
        </p:txBody>
      </p:sp>
      <p:sp>
        <p:nvSpPr>
          <p:cNvPr id="30" name="Text 28"/>
          <p:cNvSpPr/>
          <p:nvPr/>
        </p:nvSpPr>
        <p:spPr>
          <a:xfrm>
            <a:off x="7223760" y="5193792"/>
            <a:ext cx="4114800" cy="621792"/>
          </a:xfrm>
          <a:prstGeom prst="rect">
            <a:avLst/>
          </a:prstGeom>
          <a:noFill/>
          <a:ln/>
        </p:spPr>
        <p:txBody>
          <a:bodyPr wrap="square" rtlCol="0" anchor="ctr"/>
          <a:lstStyle/>
          <a:p>
            <a:pPr marL="0" indent="0">
              <a:buNone/>
            </a:pPr>
            <a:r>
              <a:rPr lang="en-US" sz="1300" b="1" dirty="0">
                <a:solidFill>
                  <a:srgbClr val="FFFFFF"/>
                </a:solidFill>
                <a:latin typeface="Segoe UI" pitchFamily="34" charset="0"/>
                <a:ea typeface="Segoe UI" pitchFamily="34" charset="-122"/>
                <a:cs typeface="Segoe UI" pitchFamily="34" charset="-120"/>
              </a:rPr>
              <a:t>Act V · Observability</a:t>
            </a:r>
            <a:endParaRPr lang="en-US" sz="1300" dirty="0"/>
          </a:p>
        </p:txBody>
      </p:sp>
      <p:sp>
        <p:nvSpPr>
          <p:cNvPr id="31" name="Text 29"/>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5 / 45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Five parts of the new job. Five walls we hit.</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Text 3"/>
          <p:cNvSpPr/>
          <p:nvPr/>
        </p:nvSpPr>
        <p:spPr>
          <a:xfrm>
            <a:off x="548640" y="914400"/>
            <a:ext cx="11064240" cy="685800"/>
          </a:xfrm>
          <a:prstGeom prst="rect">
            <a:avLst/>
          </a:prstGeom>
          <a:noFill/>
          <a:ln/>
        </p:spPr>
        <p:txBody>
          <a:bodyPr wrap="square" rtlCol="0" anchor="ctr"/>
          <a:lstStyle/>
          <a:p>
            <a:pPr marL="0" indent="0">
              <a:buNone/>
            </a:pPr>
            <a:r>
              <a:rPr lang="en-US" sz="1400" i="1" dirty="0">
                <a:solidFill>
                  <a:srgbClr val="636E72"/>
                </a:solidFill>
                <a:latin typeface="Segoe UI" pitchFamily="34" charset="0"/>
                <a:ea typeface="Segoe UI" pitchFamily="34" charset="-122"/>
                <a:cs typeface="Segoe UI" pitchFamily="34" charset="-120"/>
              </a:rPr>
              <a:t>Every one of those responsibilities walked into a wall the first time we tried it with an AI in the loop. This isn’t a feature tour — it’s five walls, in the order we hit them.</a:t>
            </a:r>
            <a:endParaRPr lang="en-US" sz="1400" dirty="0"/>
          </a:p>
        </p:txBody>
      </p:sp>
      <p:sp>
        <p:nvSpPr>
          <p:cNvPr id="6" name="Shape 4"/>
          <p:cNvSpPr/>
          <p:nvPr/>
        </p:nvSpPr>
        <p:spPr>
          <a:xfrm>
            <a:off x="457200" y="1783080"/>
            <a:ext cx="4023360" cy="621792"/>
          </a:xfrm>
          <a:prstGeom prst="rect">
            <a:avLst/>
          </a:prstGeom>
          <a:solidFill>
            <a:srgbClr val="1A3A5C"/>
          </a:solidFill>
          <a:ln w="12700">
            <a:solidFill>
              <a:srgbClr val="1A3A5C"/>
            </a:solidFill>
            <a:prstDash val="solid"/>
          </a:ln>
        </p:spPr>
        <p:txBody>
          <a:bodyPr/>
          <a:lstStyle/>
          <a:p>
            <a:endParaRPr lang="en-US"/>
          </a:p>
        </p:txBody>
      </p:sp>
      <p:sp>
        <p:nvSpPr>
          <p:cNvPr id="7" name="Text 5"/>
          <p:cNvSpPr/>
          <p:nvPr/>
        </p:nvSpPr>
        <p:spPr>
          <a:xfrm>
            <a:off x="566928" y="1783080"/>
            <a:ext cx="3840480" cy="621792"/>
          </a:xfrm>
          <a:prstGeom prst="rect">
            <a:avLst/>
          </a:prstGeom>
          <a:noFill/>
          <a:ln/>
        </p:spPr>
        <p:txBody>
          <a:bodyPr wrap="square" rtlCol="0" anchor="ctr"/>
          <a:lstStyle/>
          <a:p>
            <a:pPr marL="0" indent="0">
              <a:buNone/>
            </a:pPr>
            <a:r>
              <a:rPr lang="en-US" sz="1100" b="1" dirty="0">
                <a:solidFill>
                  <a:srgbClr val="FFFFFF"/>
                </a:solidFill>
                <a:latin typeface="Segoe UI" pitchFamily="34" charset="0"/>
                <a:ea typeface="Segoe UI" pitchFamily="34" charset="-122"/>
                <a:cs typeface="Segoe UI" pitchFamily="34" charset="-120"/>
              </a:rPr>
              <a:t>Your new job asks you to…</a:t>
            </a:r>
            <a:endParaRPr lang="en-US" sz="1100" dirty="0"/>
          </a:p>
        </p:txBody>
      </p:sp>
      <p:sp>
        <p:nvSpPr>
          <p:cNvPr id="8" name="Shape 6"/>
          <p:cNvSpPr/>
          <p:nvPr/>
        </p:nvSpPr>
        <p:spPr>
          <a:xfrm>
            <a:off x="4572000" y="1783080"/>
            <a:ext cx="4023360" cy="621792"/>
          </a:xfrm>
          <a:prstGeom prst="rect">
            <a:avLst/>
          </a:prstGeom>
          <a:solidFill>
            <a:srgbClr val="1A3A5C"/>
          </a:solidFill>
          <a:ln w="12700">
            <a:solidFill>
              <a:srgbClr val="1A3A5C"/>
            </a:solidFill>
            <a:prstDash val="solid"/>
          </a:ln>
        </p:spPr>
        <p:txBody>
          <a:bodyPr/>
          <a:lstStyle/>
          <a:p>
            <a:endParaRPr lang="en-US"/>
          </a:p>
        </p:txBody>
      </p:sp>
      <p:sp>
        <p:nvSpPr>
          <p:cNvPr id="9" name="Text 7"/>
          <p:cNvSpPr/>
          <p:nvPr/>
        </p:nvSpPr>
        <p:spPr>
          <a:xfrm>
            <a:off x="4681728" y="1783080"/>
            <a:ext cx="3840480" cy="621792"/>
          </a:xfrm>
          <a:prstGeom prst="rect">
            <a:avLst/>
          </a:prstGeom>
          <a:noFill/>
          <a:ln/>
        </p:spPr>
        <p:txBody>
          <a:bodyPr wrap="square" rtlCol="0" anchor="ctr"/>
          <a:lstStyle/>
          <a:p>
            <a:pPr marL="0" indent="0">
              <a:buNone/>
            </a:pPr>
            <a:r>
              <a:rPr lang="en-US" sz="1100" b="1" dirty="0">
                <a:solidFill>
                  <a:srgbClr val="FFFFFF"/>
                </a:solidFill>
                <a:latin typeface="Segoe UI" pitchFamily="34" charset="0"/>
                <a:ea typeface="Segoe UI" pitchFamily="34" charset="-122"/>
                <a:cs typeface="Segoe UI" pitchFamily="34" charset="-120"/>
              </a:rPr>
              <a:t>…but first we hit a wall</a:t>
            </a:r>
            <a:endParaRPr lang="en-US" sz="1100" dirty="0"/>
          </a:p>
        </p:txBody>
      </p:sp>
      <p:sp>
        <p:nvSpPr>
          <p:cNvPr id="10" name="Shape 8"/>
          <p:cNvSpPr/>
          <p:nvPr/>
        </p:nvSpPr>
        <p:spPr>
          <a:xfrm>
            <a:off x="8686800" y="1783080"/>
            <a:ext cx="3017520" cy="621792"/>
          </a:xfrm>
          <a:prstGeom prst="rect">
            <a:avLst/>
          </a:prstGeom>
          <a:solidFill>
            <a:srgbClr val="1A3A5C"/>
          </a:solidFill>
          <a:ln w="12700">
            <a:solidFill>
              <a:srgbClr val="1A3A5C"/>
            </a:solidFill>
            <a:prstDash val="solid"/>
          </a:ln>
        </p:spPr>
        <p:txBody>
          <a:bodyPr/>
          <a:lstStyle/>
          <a:p>
            <a:endParaRPr lang="en-US"/>
          </a:p>
        </p:txBody>
      </p:sp>
      <p:sp>
        <p:nvSpPr>
          <p:cNvPr id="11" name="Text 9"/>
          <p:cNvSpPr/>
          <p:nvPr/>
        </p:nvSpPr>
        <p:spPr>
          <a:xfrm>
            <a:off x="8796528" y="1783080"/>
            <a:ext cx="2834640" cy="621792"/>
          </a:xfrm>
          <a:prstGeom prst="rect">
            <a:avLst/>
          </a:prstGeom>
          <a:noFill/>
          <a:ln/>
        </p:spPr>
        <p:txBody>
          <a:bodyPr wrap="square" rtlCol="0" anchor="ctr"/>
          <a:lstStyle/>
          <a:p>
            <a:pPr marL="0" indent="0">
              <a:buNone/>
            </a:pPr>
            <a:r>
              <a:rPr lang="en-US" sz="1100" b="1" dirty="0">
                <a:solidFill>
                  <a:srgbClr val="FFFFFF"/>
                </a:solidFill>
                <a:latin typeface="Cascadia Code" pitchFamily="34" charset="0"/>
                <a:ea typeface="Cascadia Code" pitchFamily="34" charset="-122"/>
                <a:cs typeface="Cascadia Code" pitchFamily="34" charset="-120"/>
              </a:rPr>
              <a:t>Act</a:t>
            </a:r>
            <a:endParaRPr lang="en-US" sz="1100" dirty="0"/>
          </a:p>
        </p:txBody>
      </p:sp>
      <p:sp>
        <p:nvSpPr>
          <p:cNvPr id="12" name="Shape 10"/>
          <p:cNvSpPr/>
          <p:nvPr/>
        </p:nvSpPr>
        <p:spPr>
          <a:xfrm>
            <a:off x="457200" y="2441448"/>
            <a:ext cx="4023360" cy="621792"/>
          </a:xfrm>
          <a:prstGeom prst="rect">
            <a:avLst/>
          </a:prstGeom>
          <a:solidFill>
            <a:srgbClr val="FFFFFF"/>
          </a:solidFill>
          <a:ln w="12700">
            <a:solidFill>
              <a:srgbClr val="DFE6E9"/>
            </a:solidFill>
            <a:prstDash val="solid"/>
          </a:ln>
        </p:spPr>
        <p:txBody>
          <a:bodyPr/>
          <a:lstStyle/>
          <a:p>
            <a:endParaRPr lang="en-US"/>
          </a:p>
        </p:txBody>
      </p:sp>
      <p:sp>
        <p:nvSpPr>
          <p:cNvPr id="13" name="Text 11"/>
          <p:cNvSpPr/>
          <p:nvPr/>
        </p:nvSpPr>
        <p:spPr>
          <a:xfrm>
            <a:off x="566928" y="2441448"/>
            <a:ext cx="3840480" cy="621792"/>
          </a:xfrm>
          <a:prstGeom prst="rect">
            <a:avLst/>
          </a:prstGeom>
          <a:noFill/>
          <a:ln/>
        </p:spPr>
        <p:txBody>
          <a:bodyPr wrap="square" rtlCol="0" anchor="ctr"/>
          <a:lstStyle/>
          <a:p>
            <a:pPr marL="0" indent="0">
              <a:buNone/>
            </a:pPr>
            <a:r>
              <a:rPr lang="en-US" sz="1200" dirty="0">
                <a:solidFill>
                  <a:srgbClr val="2D3436"/>
                </a:solidFill>
                <a:latin typeface="Segoe UI" pitchFamily="34" charset="0"/>
                <a:ea typeface="Segoe UI" pitchFamily="34" charset="-122"/>
                <a:cs typeface="Segoe UI" pitchFamily="34" charset="-120"/>
              </a:rPr>
              <a:t>Own the intent (BA hat)</a:t>
            </a:r>
            <a:endParaRPr lang="en-US" sz="1200" dirty="0"/>
          </a:p>
        </p:txBody>
      </p:sp>
      <p:sp>
        <p:nvSpPr>
          <p:cNvPr id="14" name="Shape 12"/>
          <p:cNvSpPr/>
          <p:nvPr/>
        </p:nvSpPr>
        <p:spPr>
          <a:xfrm>
            <a:off x="4572000" y="2441448"/>
            <a:ext cx="4023360" cy="621792"/>
          </a:xfrm>
          <a:prstGeom prst="rect">
            <a:avLst/>
          </a:prstGeom>
          <a:solidFill>
            <a:srgbClr val="FFFFFF"/>
          </a:solidFill>
          <a:ln w="12700">
            <a:solidFill>
              <a:srgbClr val="DFE6E9"/>
            </a:solidFill>
            <a:prstDash val="solid"/>
          </a:ln>
        </p:spPr>
        <p:txBody>
          <a:bodyPr/>
          <a:lstStyle/>
          <a:p>
            <a:endParaRPr lang="en-US"/>
          </a:p>
        </p:txBody>
      </p:sp>
      <p:sp>
        <p:nvSpPr>
          <p:cNvPr id="15" name="Text 13"/>
          <p:cNvSpPr/>
          <p:nvPr/>
        </p:nvSpPr>
        <p:spPr>
          <a:xfrm>
            <a:off x="4681728" y="2441448"/>
            <a:ext cx="3840480" cy="621792"/>
          </a:xfrm>
          <a:prstGeom prst="rect">
            <a:avLst/>
          </a:prstGeom>
          <a:noFill/>
          <a:ln/>
        </p:spPr>
        <p:txBody>
          <a:bodyPr wrap="square" rtlCol="0" anchor="ctr"/>
          <a:lstStyle/>
          <a:p>
            <a:pPr marL="0" indent="0">
              <a:buNone/>
            </a:pPr>
            <a:r>
              <a:rPr lang="en-US" sz="1200" dirty="0">
                <a:solidFill>
                  <a:srgbClr val="2D3436"/>
                </a:solidFill>
                <a:latin typeface="Segoe UI" pitchFamily="34" charset="0"/>
                <a:ea typeface="Segoe UI" pitchFamily="34" charset="-122"/>
                <a:cs typeface="Segoe UI" pitchFamily="34" charset="-120"/>
              </a:rPr>
              <a:t>Nothing captured intent</a:t>
            </a:r>
            <a:endParaRPr lang="en-US" sz="1200" dirty="0"/>
          </a:p>
        </p:txBody>
      </p:sp>
      <p:sp>
        <p:nvSpPr>
          <p:cNvPr id="16" name="Shape 14"/>
          <p:cNvSpPr/>
          <p:nvPr/>
        </p:nvSpPr>
        <p:spPr>
          <a:xfrm>
            <a:off x="8686800" y="2441448"/>
            <a:ext cx="3017520" cy="621792"/>
          </a:xfrm>
          <a:prstGeom prst="rect">
            <a:avLst/>
          </a:prstGeom>
          <a:solidFill>
            <a:srgbClr val="FFF8EC"/>
          </a:solidFill>
          <a:ln w="12700">
            <a:solidFill>
              <a:srgbClr val="DFE6E9"/>
            </a:solidFill>
            <a:prstDash val="solid"/>
          </a:ln>
        </p:spPr>
        <p:txBody>
          <a:bodyPr/>
          <a:lstStyle/>
          <a:p>
            <a:endParaRPr lang="en-US"/>
          </a:p>
        </p:txBody>
      </p:sp>
      <p:sp>
        <p:nvSpPr>
          <p:cNvPr id="17" name="Text 15"/>
          <p:cNvSpPr/>
          <p:nvPr/>
        </p:nvSpPr>
        <p:spPr>
          <a:xfrm>
            <a:off x="8796528" y="2441448"/>
            <a:ext cx="2834640" cy="621792"/>
          </a:xfrm>
          <a:prstGeom prst="rect">
            <a:avLst/>
          </a:prstGeom>
          <a:noFill/>
          <a:ln/>
        </p:spPr>
        <p:txBody>
          <a:bodyPr wrap="square" rtlCol="0" anchor="ctr"/>
          <a:lstStyle/>
          <a:p>
            <a:pPr marL="0" indent="0">
              <a:buNone/>
            </a:pPr>
            <a:r>
              <a:rPr lang="en-US" sz="1200" b="1" dirty="0">
                <a:solidFill>
                  <a:srgbClr val="C8A951"/>
                </a:solidFill>
                <a:latin typeface="Cascadia Code" pitchFamily="34" charset="0"/>
                <a:ea typeface="Cascadia Code" pitchFamily="34" charset="-122"/>
                <a:cs typeface="Cascadia Code" pitchFamily="34" charset="-120"/>
              </a:rPr>
              <a:t>I · Spec</a:t>
            </a:r>
            <a:endParaRPr lang="en-US" sz="1200" dirty="0"/>
          </a:p>
        </p:txBody>
      </p:sp>
      <p:sp>
        <p:nvSpPr>
          <p:cNvPr id="18" name="Shape 16"/>
          <p:cNvSpPr/>
          <p:nvPr/>
        </p:nvSpPr>
        <p:spPr>
          <a:xfrm>
            <a:off x="457200" y="3099816"/>
            <a:ext cx="4023360" cy="621792"/>
          </a:xfrm>
          <a:prstGeom prst="rect">
            <a:avLst/>
          </a:prstGeom>
          <a:solidFill>
            <a:srgbClr val="FFFFFF"/>
          </a:solidFill>
          <a:ln w="12700">
            <a:solidFill>
              <a:srgbClr val="DFE6E9"/>
            </a:solidFill>
            <a:prstDash val="solid"/>
          </a:ln>
        </p:spPr>
        <p:txBody>
          <a:bodyPr/>
          <a:lstStyle/>
          <a:p>
            <a:endParaRPr lang="en-US"/>
          </a:p>
        </p:txBody>
      </p:sp>
      <p:sp>
        <p:nvSpPr>
          <p:cNvPr id="19" name="Text 17"/>
          <p:cNvSpPr/>
          <p:nvPr/>
        </p:nvSpPr>
        <p:spPr>
          <a:xfrm>
            <a:off x="566928" y="3099816"/>
            <a:ext cx="3840480" cy="621792"/>
          </a:xfrm>
          <a:prstGeom prst="rect">
            <a:avLst/>
          </a:prstGeom>
          <a:noFill/>
          <a:ln/>
        </p:spPr>
        <p:txBody>
          <a:bodyPr wrap="square" rtlCol="0" anchor="ctr"/>
          <a:lstStyle/>
          <a:p>
            <a:pPr marL="0" indent="0">
              <a:buNone/>
            </a:pPr>
            <a:r>
              <a:rPr lang="en-US" sz="1200" dirty="0">
                <a:solidFill>
                  <a:srgbClr val="2D3436"/>
                </a:solidFill>
                <a:latin typeface="Segoe UI" pitchFamily="34" charset="0"/>
                <a:ea typeface="Segoe UI" pitchFamily="34" charset="-122"/>
                <a:cs typeface="Segoe UI" pitchFamily="34" charset="-120"/>
              </a:rPr>
              <a:t>Review the AI’s judgment</a:t>
            </a:r>
            <a:endParaRPr lang="en-US" sz="1200" dirty="0"/>
          </a:p>
        </p:txBody>
      </p:sp>
      <p:sp>
        <p:nvSpPr>
          <p:cNvPr id="20" name="Shape 18"/>
          <p:cNvSpPr/>
          <p:nvPr/>
        </p:nvSpPr>
        <p:spPr>
          <a:xfrm>
            <a:off x="4572000" y="3099816"/>
            <a:ext cx="4023360" cy="621792"/>
          </a:xfrm>
          <a:prstGeom prst="rect">
            <a:avLst/>
          </a:prstGeom>
          <a:solidFill>
            <a:srgbClr val="FFFFFF"/>
          </a:solidFill>
          <a:ln w="12700">
            <a:solidFill>
              <a:srgbClr val="DFE6E9"/>
            </a:solidFill>
            <a:prstDash val="solid"/>
          </a:ln>
        </p:spPr>
        <p:txBody>
          <a:bodyPr/>
          <a:lstStyle/>
          <a:p>
            <a:endParaRPr lang="en-US"/>
          </a:p>
        </p:txBody>
      </p:sp>
      <p:sp>
        <p:nvSpPr>
          <p:cNvPr id="21" name="Text 19"/>
          <p:cNvSpPr/>
          <p:nvPr/>
        </p:nvSpPr>
        <p:spPr>
          <a:xfrm>
            <a:off x="4681728" y="3099816"/>
            <a:ext cx="3840480" cy="621792"/>
          </a:xfrm>
          <a:prstGeom prst="rect">
            <a:avLst/>
          </a:prstGeom>
          <a:noFill/>
          <a:ln/>
        </p:spPr>
        <p:txBody>
          <a:bodyPr wrap="square" rtlCol="0" anchor="ctr"/>
          <a:lstStyle/>
          <a:p>
            <a:pPr marL="0" indent="0">
              <a:buNone/>
            </a:pPr>
            <a:r>
              <a:rPr lang="en-US" sz="1200" dirty="0">
                <a:solidFill>
                  <a:srgbClr val="2D3436"/>
                </a:solidFill>
                <a:latin typeface="Segoe UI" pitchFamily="34" charset="0"/>
                <a:ea typeface="Segoe UI" pitchFamily="34" charset="-122"/>
                <a:cs typeface="Segoe UI" pitchFamily="34" charset="-120"/>
              </a:rPr>
              <a:t>Nothing let you see it</a:t>
            </a:r>
            <a:endParaRPr lang="en-US" sz="1200" dirty="0"/>
          </a:p>
        </p:txBody>
      </p:sp>
      <p:sp>
        <p:nvSpPr>
          <p:cNvPr id="22" name="Shape 20"/>
          <p:cNvSpPr/>
          <p:nvPr/>
        </p:nvSpPr>
        <p:spPr>
          <a:xfrm>
            <a:off x="8686800" y="3099816"/>
            <a:ext cx="3017520" cy="621792"/>
          </a:xfrm>
          <a:prstGeom prst="rect">
            <a:avLst/>
          </a:prstGeom>
          <a:solidFill>
            <a:srgbClr val="FFF8EC"/>
          </a:solidFill>
          <a:ln w="12700">
            <a:solidFill>
              <a:srgbClr val="DFE6E9"/>
            </a:solidFill>
            <a:prstDash val="solid"/>
          </a:ln>
        </p:spPr>
        <p:txBody>
          <a:bodyPr/>
          <a:lstStyle/>
          <a:p>
            <a:endParaRPr lang="en-US"/>
          </a:p>
        </p:txBody>
      </p:sp>
      <p:sp>
        <p:nvSpPr>
          <p:cNvPr id="23" name="Text 21"/>
          <p:cNvSpPr/>
          <p:nvPr/>
        </p:nvSpPr>
        <p:spPr>
          <a:xfrm>
            <a:off x="8796528" y="3099816"/>
            <a:ext cx="2834640" cy="621792"/>
          </a:xfrm>
          <a:prstGeom prst="rect">
            <a:avLst/>
          </a:prstGeom>
          <a:noFill/>
          <a:ln/>
        </p:spPr>
        <p:txBody>
          <a:bodyPr wrap="square" rtlCol="0" anchor="ctr"/>
          <a:lstStyle/>
          <a:p>
            <a:pPr marL="0" indent="0">
              <a:buNone/>
            </a:pPr>
            <a:r>
              <a:rPr lang="en-US" sz="1200" b="1" dirty="0">
                <a:solidFill>
                  <a:srgbClr val="C8A951"/>
                </a:solidFill>
                <a:latin typeface="Cascadia Code" pitchFamily="34" charset="0"/>
                <a:ea typeface="Cascadia Code" pitchFamily="34" charset="-122"/>
                <a:cs typeface="Cascadia Code" pitchFamily="34" charset="-120"/>
              </a:rPr>
              <a:t>II · Trust</a:t>
            </a:r>
            <a:endParaRPr lang="en-US" sz="1200" dirty="0"/>
          </a:p>
        </p:txBody>
      </p:sp>
      <p:sp>
        <p:nvSpPr>
          <p:cNvPr id="24" name="Shape 22"/>
          <p:cNvSpPr/>
          <p:nvPr/>
        </p:nvSpPr>
        <p:spPr>
          <a:xfrm>
            <a:off x="457200" y="3758184"/>
            <a:ext cx="4023360" cy="621792"/>
          </a:xfrm>
          <a:prstGeom prst="rect">
            <a:avLst/>
          </a:prstGeom>
          <a:solidFill>
            <a:srgbClr val="FFFFFF"/>
          </a:solidFill>
          <a:ln w="12700">
            <a:solidFill>
              <a:srgbClr val="DFE6E9"/>
            </a:solidFill>
            <a:prstDash val="solid"/>
          </a:ln>
        </p:spPr>
        <p:txBody>
          <a:bodyPr/>
          <a:lstStyle/>
          <a:p>
            <a:endParaRPr lang="en-US"/>
          </a:p>
        </p:txBody>
      </p:sp>
      <p:sp>
        <p:nvSpPr>
          <p:cNvPr id="25" name="Text 23"/>
          <p:cNvSpPr/>
          <p:nvPr/>
        </p:nvSpPr>
        <p:spPr>
          <a:xfrm>
            <a:off x="566928" y="3758184"/>
            <a:ext cx="3840480" cy="621792"/>
          </a:xfrm>
          <a:prstGeom prst="rect">
            <a:avLst/>
          </a:prstGeom>
          <a:noFill/>
          <a:ln/>
        </p:spPr>
        <p:txBody>
          <a:bodyPr wrap="square" rtlCol="0" anchor="ctr"/>
          <a:lstStyle/>
          <a:p>
            <a:pPr marL="0" indent="0">
              <a:buNone/>
            </a:pPr>
            <a:r>
              <a:rPr lang="en-US" sz="1200" dirty="0">
                <a:solidFill>
                  <a:srgbClr val="2D3436"/>
                </a:solidFill>
                <a:latin typeface="Segoe UI" pitchFamily="34" charset="0"/>
                <a:ea typeface="Segoe UI" pitchFamily="34" charset="-122"/>
                <a:cs typeface="Segoe UI" pitchFamily="34" charset="-120"/>
              </a:rPr>
              <a:t>Carry decisions forward</a:t>
            </a:r>
            <a:endParaRPr lang="en-US" sz="1200" dirty="0"/>
          </a:p>
        </p:txBody>
      </p:sp>
      <p:sp>
        <p:nvSpPr>
          <p:cNvPr id="26" name="Shape 24"/>
          <p:cNvSpPr/>
          <p:nvPr/>
        </p:nvSpPr>
        <p:spPr>
          <a:xfrm>
            <a:off x="4572000" y="3758184"/>
            <a:ext cx="4023360" cy="621792"/>
          </a:xfrm>
          <a:prstGeom prst="rect">
            <a:avLst/>
          </a:prstGeom>
          <a:solidFill>
            <a:srgbClr val="FFFFFF"/>
          </a:solidFill>
          <a:ln w="12700">
            <a:solidFill>
              <a:srgbClr val="DFE6E9"/>
            </a:solidFill>
            <a:prstDash val="solid"/>
          </a:ln>
        </p:spPr>
        <p:txBody>
          <a:bodyPr/>
          <a:lstStyle/>
          <a:p>
            <a:endParaRPr lang="en-US"/>
          </a:p>
        </p:txBody>
      </p:sp>
      <p:sp>
        <p:nvSpPr>
          <p:cNvPr id="27" name="Text 25"/>
          <p:cNvSpPr/>
          <p:nvPr/>
        </p:nvSpPr>
        <p:spPr>
          <a:xfrm>
            <a:off x="4681728" y="3758184"/>
            <a:ext cx="3840480" cy="621792"/>
          </a:xfrm>
          <a:prstGeom prst="rect">
            <a:avLst/>
          </a:prstGeom>
          <a:noFill/>
          <a:ln/>
        </p:spPr>
        <p:txBody>
          <a:bodyPr wrap="square" rtlCol="0" anchor="ctr"/>
          <a:lstStyle/>
          <a:p>
            <a:pPr marL="0" indent="0">
              <a:buNone/>
            </a:pPr>
            <a:r>
              <a:rPr lang="en-US" sz="1200" dirty="0">
                <a:solidFill>
                  <a:srgbClr val="2D3436"/>
                </a:solidFill>
                <a:latin typeface="Segoe UI" pitchFamily="34" charset="0"/>
                <a:ea typeface="Segoe UI" pitchFamily="34" charset="-122"/>
                <a:cs typeface="Segoe UI" pitchFamily="34" charset="-120"/>
              </a:rPr>
              <a:t>Every session started cold</a:t>
            </a:r>
            <a:endParaRPr lang="en-US" sz="1200" dirty="0"/>
          </a:p>
        </p:txBody>
      </p:sp>
      <p:sp>
        <p:nvSpPr>
          <p:cNvPr id="28" name="Shape 26"/>
          <p:cNvSpPr/>
          <p:nvPr/>
        </p:nvSpPr>
        <p:spPr>
          <a:xfrm>
            <a:off x="8686800" y="3758184"/>
            <a:ext cx="3017520" cy="621792"/>
          </a:xfrm>
          <a:prstGeom prst="rect">
            <a:avLst/>
          </a:prstGeom>
          <a:solidFill>
            <a:srgbClr val="FFF8EC"/>
          </a:solidFill>
          <a:ln w="12700">
            <a:solidFill>
              <a:srgbClr val="DFE6E9"/>
            </a:solidFill>
            <a:prstDash val="solid"/>
          </a:ln>
        </p:spPr>
        <p:txBody>
          <a:bodyPr/>
          <a:lstStyle/>
          <a:p>
            <a:endParaRPr lang="en-US"/>
          </a:p>
        </p:txBody>
      </p:sp>
      <p:sp>
        <p:nvSpPr>
          <p:cNvPr id="29" name="Text 27"/>
          <p:cNvSpPr/>
          <p:nvPr/>
        </p:nvSpPr>
        <p:spPr>
          <a:xfrm>
            <a:off x="8796528" y="3758184"/>
            <a:ext cx="2834640" cy="621792"/>
          </a:xfrm>
          <a:prstGeom prst="rect">
            <a:avLst/>
          </a:prstGeom>
          <a:noFill/>
          <a:ln/>
        </p:spPr>
        <p:txBody>
          <a:bodyPr wrap="square" rtlCol="0" anchor="ctr"/>
          <a:lstStyle/>
          <a:p>
            <a:pPr marL="0" indent="0">
              <a:buNone/>
            </a:pPr>
            <a:r>
              <a:rPr lang="en-US" sz="1200" b="1" dirty="0">
                <a:solidFill>
                  <a:srgbClr val="C8A951"/>
                </a:solidFill>
                <a:latin typeface="Cascadia Code" pitchFamily="34" charset="0"/>
                <a:ea typeface="Cascadia Code" pitchFamily="34" charset="-122"/>
                <a:cs typeface="Cascadia Code" pitchFamily="34" charset="-120"/>
              </a:rPr>
              <a:t>III · Continuity</a:t>
            </a:r>
            <a:endParaRPr lang="en-US" sz="1200" dirty="0"/>
          </a:p>
        </p:txBody>
      </p:sp>
      <p:sp>
        <p:nvSpPr>
          <p:cNvPr id="30" name="Shape 28"/>
          <p:cNvSpPr/>
          <p:nvPr/>
        </p:nvSpPr>
        <p:spPr>
          <a:xfrm>
            <a:off x="457200" y="4416552"/>
            <a:ext cx="4023360" cy="621792"/>
          </a:xfrm>
          <a:prstGeom prst="rect">
            <a:avLst/>
          </a:prstGeom>
          <a:solidFill>
            <a:srgbClr val="FFFFFF"/>
          </a:solidFill>
          <a:ln w="12700">
            <a:solidFill>
              <a:srgbClr val="DFE6E9"/>
            </a:solidFill>
            <a:prstDash val="solid"/>
          </a:ln>
        </p:spPr>
        <p:txBody>
          <a:bodyPr/>
          <a:lstStyle/>
          <a:p>
            <a:endParaRPr lang="en-US"/>
          </a:p>
        </p:txBody>
      </p:sp>
      <p:sp>
        <p:nvSpPr>
          <p:cNvPr id="31" name="Text 29"/>
          <p:cNvSpPr/>
          <p:nvPr/>
        </p:nvSpPr>
        <p:spPr>
          <a:xfrm>
            <a:off x="566928" y="4416552"/>
            <a:ext cx="3840480" cy="621792"/>
          </a:xfrm>
          <a:prstGeom prst="rect">
            <a:avLst/>
          </a:prstGeom>
          <a:noFill/>
          <a:ln/>
        </p:spPr>
        <p:txBody>
          <a:bodyPr wrap="square" rtlCol="0" anchor="ctr"/>
          <a:lstStyle/>
          <a:p>
            <a:pPr marL="0" indent="0">
              <a:buNone/>
            </a:pPr>
            <a:r>
              <a:rPr lang="en-US" sz="1200" dirty="0">
                <a:solidFill>
                  <a:srgbClr val="2D3436"/>
                </a:solidFill>
                <a:latin typeface="Segoe UI" pitchFamily="34" charset="0"/>
                <a:ea typeface="Segoe UI" pitchFamily="34" charset="-122"/>
                <a:cs typeface="Segoe UI" pitchFamily="34" charset="-120"/>
              </a:rPr>
              <a:t>Understand the whole system</a:t>
            </a:r>
            <a:endParaRPr lang="en-US" sz="1200" dirty="0"/>
          </a:p>
        </p:txBody>
      </p:sp>
      <p:sp>
        <p:nvSpPr>
          <p:cNvPr id="32" name="Shape 30"/>
          <p:cNvSpPr/>
          <p:nvPr/>
        </p:nvSpPr>
        <p:spPr>
          <a:xfrm>
            <a:off x="4572000" y="4416552"/>
            <a:ext cx="4023360" cy="621792"/>
          </a:xfrm>
          <a:prstGeom prst="rect">
            <a:avLst/>
          </a:prstGeom>
          <a:solidFill>
            <a:srgbClr val="FFFFFF"/>
          </a:solidFill>
          <a:ln w="12700">
            <a:solidFill>
              <a:srgbClr val="DFE6E9"/>
            </a:solidFill>
            <a:prstDash val="solid"/>
          </a:ln>
        </p:spPr>
        <p:txBody>
          <a:bodyPr/>
          <a:lstStyle/>
          <a:p>
            <a:endParaRPr lang="en-US"/>
          </a:p>
        </p:txBody>
      </p:sp>
      <p:sp>
        <p:nvSpPr>
          <p:cNvPr id="33" name="Text 31"/>
          <p:cNvSpPr/>
          <p:nvPr/>
        </p:nvSpPr>
        <p:spPr>
          <a:xfrm>
            <a:off x="4681728" y="4416552"/>
            <a:ext cx="3840480" cy="621792"/>
          </a:xfrm>
          <a:prstGeom prst="rect">
            <a:avLst/>
          </a:prstGeom>
          <a:noFill/>
          <a:ln/>
        </p:spPr>
        <p:txBody>
          <a:bodyPr wrap="square" rtlCol="0" anchor="ctr"/>
          <a:lstStyle/>
          <a:p>
            <a:pPr marL="0" indent="0">
              <a:buNone/>
            </a:pPr>
            <a:r>
              <a:rPr lang="en-US" sz="1200" dirty="0">
                <a:solidFill>
                  <a:srgbClr val="2D3436"/>
                </a:solidFill>
                <a:latin typeface="Segoe UI" pitchFamily="34" charset="0"/>
                <a:ea typeface="Segoe UI" pitchFamily="34" charset="-122"/>
                <a:cs typeface="Segoe UI" pitchFamily="34" charset="-120"/>
              </a:rPr>
              <a:t>We re-read it every time</a:t>
            </a:r>
            <a:endParaRPr lang="en-US" sz="1200" dirty="0"/>
          </a:p>
        </p:txBody>
      </p:sp>
      <p:sp>
        <p:nvSpPr>
          <p:cNvPr id="34" name="Shape 32"/>
          <p:cNvSpPr/>
          <p:nvPr/>
        </p:nvSpPr>
        <p:spPr>
          <a:xfrm>
            <a:off x="8686800" y="4416552"/>
            <a:ext cx="3017520" cy="621792"/>
          </a:xfrm>
          <a:prstGeom prst="rect">
            <a:avLst/>
          </a:prstGeom>
          <a:solidFill>
            <a:srgbClr val="FFF8EC"/>
          </a:solidFill>
          <a:ln w="12700">
            <a:solidFill>
              <a:srgbClr val="DFE6E9"/>
            </a:solidFill>
            <a:prstDash val="solid"/>
          </a:ln>
        </p:spPr>
        <p:txBody>
          <a:bodyPr/>
          <a:lstStyle/>
          <a:p>
            <a:endParaRPr lang="en-US"/>
          </a:p>
        </p:txBody>
      </p:sp>
      <p:sp>
        <p:nvSpPr>
          <p:cNvPr id="35" name="Text 33"/>
          <p:cNvSpPr/>
          <p:nvPr/>
        </p:nvSpPr>
        <p:spPr>
          <a:xfrm>
            <a:off x="8796528" y="4416552"/>
            <a:ext cx="2834640" cy="621792"/>
          </a:xfrm>
          <a:prstGeom prst="rect">
            <a:avLst/>
          </a:prstGeom>
          <a:noFill/>
          <a:ln/>
        </p:spPr>
        <p:txBody>
          <a:bodyPr wrap="square" rtlCol="0" anchor="ctr"/>
          <a:lstStyle/>
          <a:p>
            <a:pPr marL="0" indent="0">
              <a:buNone/>
            </a:pPr>
            <a:r>
              <a:rPr lang="en-US" sz="1200" b="1" dirty="0">
                <a:solidFill>
                  <a:srgbClr val="C8A951"/>
                </a:solidFill>
                <a:latin typeface="Cascadia Code" pitchFamily="34" charset="0"/>
                <a:ea typeface="Cascadia Code" pitchFamily="34" charset="-122"/>
                <a:cs typeface="Cascadia Code" pitchFamily="34" charset="-120"/>
              </a:rPr>
              <a:t>IV · Knowledge</a:t>
            </a:r>
            <a:endParaRPr lang="en-US" sz="1200" dirty="0"/>
          </a:p>
        </p:txBody>
      </p:sp>
      <p:sp>
        <p:nvSpPr>
          <p:cNvPr id="36" name="Shape 34"/>
          <p:cNvSpPr/>
          <p:nvPr/>
        </p:nvSpPr>
        <p:spPr>
          <a:xfrm>
            <a:off x="457200" y="5074920"/>
            <a:ext cx="4023360" cy="621792"/>
          </a:xfrm>
          <a:prstGeom prst="rect">
            <a:avLst/>
          </a:prstGeom>
          <a:solidFill>
            <a:srgbClr val="FFFFFF"/>
          </a:solidFill>
          <a:ln w="12700">
            <a:solidFill>
              <a:srgbClr val="DFE6E9"/>
            </a:solidFill>
            <a:prstDash val="solid"/>
          </a:ln>
        </p:spPr>
        <p:txBody>
          <a:bodyPr/>
          <a:lstStyle/>
          <a:p>
            <a:endParaRPr lang="en-US"/>
          </a:p>
        </p:txBody>
      </p:sp>
      <p:sp>
        <p:nvSpPr>
          <p:cNvPr id="37" name="Text 35"/>
          <p:cNvSpPr/>
          <p:nvPr/>
        </p:nvSpPr>
        <p:spPr>
          <a:xfrm>
            <a:off x="566928" y="5074920"/>
            <a:ext cx="3840480" cy="621792"/>
          </a:xfrm>
          <a:prstGeom prst="rect">
            <a:avLst/>
          </a:prstGeom>
          <a:noFill/>
          <a:ln/>
        </p:spPr>
        <p:txBody>
          <a:bodyPr wrap="square" rtlCol="0" anchor="ctr"/>
          <a:lstStyle/>
          <a:p>
            <a:pPr marL="0" indent="0">
              <a:buNone/>
            </a:pPr>
            <a:r>
              <a:rPr lang="en-US" sz="1200" dirty="0">
                <a:solidFill>
                  <a:srgbClr val="2D3436"/>
                </a:solidFill>
                <a:latin typeface="Segoe UI" pitchFamily="34" charset="0"/>
                <a:ea typeface="Segoe UI" pitchFamily="34" charset="-122"/>
                <a:cs typeface="Segoe UI" pitchFamily="34" charset="-120"/>
              </a:rPr>
              <a:t>Prove it actually held</a:t>
            </a:r>
            <a:endParaRPr lang="en-US" sz="1200" dirty="0"/>
          </a:p>
        </p:txBody>
      </p:sp>
      <p:sp>
        <p:nvSpPr>
          <p:cNvPr id="38" name="Shape 36"/>
          <p:cNvSpPr/>
          <p:nvPr/>
        </p:nvSpPr>
        <p:spPr>
          <a:xfrm>
            <a:off x="4572000" y="5074920"/>
            <a:ext cx="4023360" cy="621792"/>
          </a:xfrm>
          <a:prstGeom prst="rect">
            <a:avLst/>
          </a:prstGeom>
          <a:solidFill>
            <a:srgbClr val="FFFFFF"/>
          </a:solidFill>
          <a:ln w="12700">
            <a:solidFill>
              <a:srgbClr val="DFE6E9"/>
            </a:solidFill>
            <a:prstDash val="solid"/>
          </a:ln>
        </p:spPr>
        <p:txBody>
          <a:bodyPr/>
          <a:lstStyle/>
          <a:p>
            <a:endParaRPr lang="en-US"/>
          </a:p>
        </p:txBody>
      </p:sp>
      <p:sp>
        <p:nvSpPr>
          <p:cNvPr id="39" name="Text 37"/>
          <p:cNvSpPr/>
          <p:nvPr/>
        </p:nvSpPr>
        <p:spPr>
          <a:xfrm>
            <a:off x="4681728" y="5074920"/>
            <a:ext cx="3840480" cy="621792"/>
          </a:xfrm>
          <a:prstGeom prst="rect">
            <a:avLst/>
          </a:prstGeom>
          <a:noFill/>
          <a:ln/>
        </p:spPr>
        <p:txBody>
          <a:bodyPr wrap="square" rtlCol="0" anchor="ctr"/>
          <a:lstStyle/>
          <a:p>
            <a:pPr marL="0" indent="0">
              <a:buNone/>
            </a:pPr>
            <a:r>
              <a:rPr lang="en-US" sz="1200" dirty="0">
                <a:solidFill>
                  <a:srgbClr val="2D3436"/>
                </a:solidFill>
                <a:latin typeface="Segoe UI" pitchFamily="34" charset="0"/>
                <a:ea typeface="Segoe UI" pitchFamily="34" charset="-122"/>
                <a:cs typeface="Segoe UI" pitchFamily="34" charset="-120"/>
              </a:rPr>
              <a:t>We couldn’t show it did</a:t>
            </a:r>
            <a:endParaRPr lang="en-US" sz="1200" dirty="0"/>
          </a:p>
        </p:txBody>
      </p:sp>
      <p:sp>
        <p:nvSpPr>
          <p:cNvPr id="40" name="Shape 38"/>
          <p:cNvSpPr/>
          <p:nvPr/>
        </p:nvSpPr>
        <p:spPr>
          <a:xfrm>
            <a:off x="8686800" y="5074920"/>
            <a:ext cx="3017520" cy="621792"/>
          </a:xfrm>
          <a:prstGeom prst="rect">
            <a:avLst/>
          </a:prstGeom>
          <a:solidFill>
            <a:srgbClr val="FFF8EC"/>
          </a:solidFill>
          <a:ln w="12700">
            <a:solidFill>
              <a:srgbClr val="DFE6E9"/>
            </a:solidFill>
            <a:prstDash val="solid"/>
          </a:ln>
        </p:spPr>
        <p:txBody>
          <a:bodyPr/>
          <a:lstStyle/>
          <a:p>
            <a:endParaRPr lang="en-US"/>
          </a:p>
        </p:txBody>
      </p:sp>
      <p:sp>
        <p:nvSpPr>
          <p:cNvPr id="41" name="Text 39"/>
          <p:cNvSpPr/>
          <p:nvPr/>
        </p:nvSpPr>
        <p:spPr>
          <a:xfrm>
            <a:off x="8796528" y="5074920"/>
            <a:ext cx="2834640" cy="621792"/>
          </a:xfrm>
          <a:prstGeom prst="rect">
            <a:avLst/>
          </a:prstGeom>
          <a:noFill/>
          <a:ln/>
        </p:spPr>
        <p:txBody>
          <a:bodyPr wrap="square" rtlCol="0" anchor="ctr"/>
          <a:lstStyle/>
          <a:p>
            <a:pPr marL="0" indent="0">
              <a:buNone/>
            </a:pPr>
            <a:r>
              <a:rPr lang="en-US" sz="1200" b="1" dirty="0">
                <a:solidFill>
                  <a:srgbClr val="C8A951"/>
                </a:solidFill>
                <a:latin typeface="Cascadia Code" pitchFamily="34" charset="0"/>
                <a:ea typeface="Cascadia Code" pitchFamily="34" charset="-122"/>
                <a:cs typeface="Cascadia Code" pitchFamily="34" charset="-120"/>
              </a:rPr>
              <a:t>V · Observability</a:t>
            </a:r>
            <a:endParaRPr lang="en-US" sz="1200" dirty="0"/>
          </a:p>
        </p:txBody>
      </p:sp>
      <p:sp>
        <p:nvSpPr>
          <p:cNvPr id="42" name="Text 40"/>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6 / 45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We built a plugin — not a prompt library</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Text 3"/>
          <p:cNvSpPr/>
          <p:nvPr/>
        </p:nvSpPr>
        <p:spPr>
          <a:xfrm>
            <a:off x="457200" y="868680"/>
            <a:ext cx="11247120" cy="822960"/>
          </a:xfrm>
          <a:prstGeom prst="rect">
            <a:avLst/>
          </a:prstGeom>
          <a:noFill/>
          <a:ln/>
        </p:spPr>
        <p:txBody>
          <a:bodyPr wrap="square" rtlCol="0" anchor="ctr"/>
          <a:lstStyle/>
          <a:p>
            <a:pPr marL="0" indent="0">
              <a:buNone/>
            </a:pPr>
            <a:r>
              <a:rPr lang="en-US" sz="1400" i="1" dirty="0">
                <a:solidFill>
                  <a:srgbClr val="636E72"/>
                </a:solidFill>
                <a:latin typeface="Segoe UI" pitchFamily="34" charset="0"/>
                <a:ea typeface="Segoe UI" pitchFamily="34" charset="-122"/>
                <a:cs typeface="Segoe UI" pitchFamily="34" charset="-120"/>
              </a:rPr>
              <a:t>A prompt library assists how you already work. A plugin enforces how you’ve agreed to work. If your job is to manage an AI instead of out-typing it, suggestions aren’t enough — you need something that holds.</a:t>
            </a:r>
            <a:endParaRPr lang="en-US" sz="1400" dirty="0"/>
          </a:p>
        </p:txBody>
      </p:sp>
      <p:sp>
        <p:nvSpPr>
          <p:cNvPr id="6" name="Shape 4"/>
          <p:cNvSpPr/>
          <p:nvPr/>
        </p:nvSpPr>
        <p:spPr>
          <a:xfrm>
            <a:off x="457200" y="1874520"/>
            <a:ext cx="2697480" cy="2286000"/>
          </a:xfrm>
          <a:prstGeom prst="roundRect">
            <a:avLst>
              <a:gd name="adj" fmla="val 4800"/>
            </a:avLst>
          </a:prstGeom>
          <a:solidFill>
            <a:srgbClr val="FFFFFF"/>
          </a:solidFill>
          <a:ln w="12700">
            <a:solidFill>
              <a:srgbClr val="DFE6E9"/>
            </a:solidFill>
            <a:prstDash val="solid"/>
          </a:ln>
        </p:spPr>
        <p:txBody>
          <a:bodyPr/>
          <a:lstStyle/>
          <a:p>
            <a:endParaRPr lang="en-US"/>
          </a:p>
        </p:txBody>
      </p:sp>
      <p:sp>
        <p:nvSpPr>
          <p:cNvPr id="7" name="Shape 5"/>
          <p:cNvSpPr/>
          <p:nvPr/>
        </p:nvSpPr>
        <p:spPr>
          <a:xfrm>
            <a:off x="457200" y="1874520"/>
            <a:ext cx="2697480" cy="64008"/>
          </a:xfrm>
          <a:prstGeom prst="rect">
            <a:avLst/>
          </a:prstGeom>
          <a:solidFill>
            <a:srgbClr val="C8A951"/>
          </a:solidFill>
          <a:ln w="12700">
            <a:solidFill>
              <a:srgbClr val="C8A951"/>
            </a:solidFill>
            <a:prstDash val="solid"/>
          </a:ln>
        </p:spPr>
        <p:txBody>
          <a:bodyPr/>
          <a:lstStyle/>
          <a:p>
            <a:endParaRPr lang="en-US"/>
          </a:p>
        </p:txBody>
      </p:sp>
      <p:sp>
        <p:nvSpPr>
          <p:cNvPr id="8" name="Text 6"/>
          <p:cNvSpPr/>
          <p:nvPr/>
        </p:nvSpPr>
        <p:spPr>
          <a:xfrm>
            <a:off x="457200" y="2011680"/>
            <a:ext cx="2697480" cy="914400"/>
          </a:xfrm>
          <a:prstGeom prst="rect">
            <a:avLst/>
          </a:prstGeom>
          <a:noFill/>
          <a:ln/>
        </p:spPr>
        <p:txBody>
          <a:bodyPr wrap="square" rtlCol="0" anchor="ctr"/>
          <a:lstStyle/>
          <a:p>
            <a:pPr marL="0" indent="0" algn="ctr">
              <a:buNone/>
            </a:pPr>
            <a:r>
              <a:rPr lang="en-US" sz="4800" b="1" dirty="0">
                <a:solidFill>
                  <a:srgbClr val="1A3A5C"/>
                </a:solidFill>
                <a:latin typeface="Cascadia Code" pitchFamily="34" charset="0"/>
                <a:ea typeface="Cascadia Code" pitchFamily="34" charset="-122"/>
                <a:cs typeface="Cascadia Code" pitchFamily="34" charset="-120"/>
              </a:rPr>
              <a:t>38</a:t>
            </a:r>
            <a:endParaRPr lang="en-US" sz="4800" dirty="0"/>
          </a:p>
        </p:txBody>
      </p:sp>
      <p:sp>
        <p:nvSpPr>
          <p:cNvPr id="9" name="Text 7"/>
          <p:cNvSpPr/>
          <p:nvPr/>
        </p:nvSpPr>
        <p:spPr>
          <a:xfrm>
            <a:off x="457200" y="2926080"/>
            <a:ext cx="2697480" cy="320040"/>
          </a:xfrm>
          <a:prstGeom prst="rect">
            <a:avLst/>
          </a:prstGeom>
          <a:noFill/>
          <a:ln/>
        </p:spPr>
        <p:txBody>
          <a:bodyPr wrap="square" rtlCol="0" anchor="ctr"/>
          <a:lstStyle/>
          <a:p>
            <a:pPr marL="0" indent="0" algn="ctr">
              <a:buNone/>
            </a:pPr>
            <a:r>
              <a:rPr lang="en-US" sz="1400" b="1" dirty="0">
                <a:solidFill>
                  <a:srgbClr val="1A3A5C"/>
                </a:solidFill>
                <a:latin typeface="Segoe UI" pitchFamily="34" charset="0"/>
                <a:ea typeface="Segoe UI" pitchFamily="34" charset="-122"/>
                <a:cs typeface="Segoe UI" pitchFamily="34" charset="-120"/>
              </a:rPr>
              <a:t>Commands</a:t>
            </a:r>
            <a:endParaRPr lang="en-US" sz="1400" dirty="0"/>
          </a:p>
        </p:txBody>
      </p:sp>
      <p:sp>
        <p:nvSpPr>
          <p:cNvPr id="10" name="Text 8"/>
          <p:cNvSpPr/>
          <p:nvPr/>
        </p:nvSpPr>
        <p:spPr>
          <a:xfrm>
            <a:off x="457200" y="3246120"/>
            <a:ext cx="2697480" cy="731520"/>
          </a:xfrm>
          <a:prstGeom prst="rect">
            <a:avLst/>
          </a:prstGeom>
          <a:noFill/>
          <a:ln/>
        </p:spPr>
        <p:txBody>
          <a:bodyPr wrap="square" rtlCol="0" anchor="ctr"/>
          <a:lstStyle/>
          <a:p>
            <a:pPr marL="0" indent="0" algn="ctr">
              <a:buNone/>
            </a:pPr>
            <a:r>
              <a:rPr lang="en-US" sz="1000" dirty="0">
                <a:solidFill>
                  <a:srgbClr val="636E72"/>
                </a:solidFill>
                <a:latin typeface="Segoe UI" pitchFamily="34" charset="0"/>
                <a:ea typeface="Segoe UI" pitchFamily="34" charset="-122"/>
                <a:cs typeface="Segoe UI" pitchFamily="34" charset="-120"/>
              </a:rPr>
              <a:t>Thin entry points into governed workflows</a:t>
            </a:r>
            <a:endParaRPr lang="en-US" sz="1000" dirty="0"/>
          </a:p>
        </p:txBody>
      </p:sp>
      <p:sp>
        <p:nvSpPr>
          <p:cNvPr id="11" name="Shape 9"/>
          <p:cNvSpPr/>
          <p:nvPr/>
        </p:nvSpPr>
        <p:spPr>
          <a:xfrm>
            <a:off x="3291840" y="1874520"/>
            <a:ext cx="2697480" cy="2286000"/>
          </a:xfrm>
          <a:prstGeom prst="roundRect">
            <a:avLst>
              <a:gd name="adj" fmla="val 4800"/>
            </a:avLst>
          </a:prstGeom>
          <a:solidFill>
            <a:srgbClr val="FFFFFF"/>
          </a:solidFill>
          <a:ln w="12700">
            <a:solidFill>
              <a:srgbClr val="DFE6E9"/>
            </a:solidFill>
            <a:prstDash val="solid"/>
          </a:ln>
        </p:spPr>
        <p:txBody>
          <a:bodyPr/>
          <a:lstStyle/>
          <a:p>
            <a:endParaRPr lang="en-US"/>
          </a:p>
        </p:txBody>
      </p:sp>
      <p:sp>
        <p:nvSpPr>
          <p:cNvPr id="12" name="Shape 10"/>
          <p:cNvSpPr/>
          <p:nvPr/>
        </p:nvSpPr>
        <p:spPr>
          <a:xfrm>
            <a:off x="3291840" y="1874520"/>
            <a:ext cx="2697480" cy="64008"/>
          </a:xfrm>
          <a:prstGeom prst="rect">
            <a:avLst/>
          </a:prstGeom>
          <a:solidFill>
            <a:srgbClr val="C8A951"/>
          </a:solidFill>
          <a:ln w="12700">
            <a:solidFill>
              <a:srgbClr val="C8A951"/>
            </a:solidFill>
            <a:prstDash val="solid"/>
          </a:ln>
        </p:spPr>
        <p:txBody>
          <a:bodyPr/>
          <a:lstStyle/>
          <a:p>
            <a:endParaRPr lang="en-US"/>
          </a:p>
        </p:txBody>
      </p:sp>
      <p:sp>
        <p:nvSpPr>
          <p:cNvPr id="13" name="Text 11"/>
          <p:cNvSpPr/>
          <p:nvPr/>
        </p:nvSpPr>
        <p:spPr>
          <a:xfrm>
            <a:off x="3291840" y="2011680"/>
            <a:ext cx="2697480" cy="914400"/>
          </a:xfrm>
          <a:prstGeom prst="rect">
            <a:avLst/>
          </a:prstGeom>
          <a:noFill/>
          <a:ln/>
        </p:spPr>
        <p:txBody>
          <a:bodyPr wrap="square" rtlCol="0" anchor="ctr"/>
          <a:lstStyle/>
          <a:p>
            <a:pPr marL="0" indent="0" algn="ctr">
              <a:buNone/>
            </a:pPr>
            <a:r>
              <a:rPr lang="en-US" sz="4800" b="1" dirty="0">
                <a:solidFill>
                  <a:srgbClr val="1A3A5C"/>
                </a:solidFill>
                <a:latin typeface="Cascadia Code" pitchFamily="34" charset="0"/>
                <a:ea typeface="Cascadia Code" pitchFamily="34" charset="-122"/>
                <a:cs typeface="Cascadia Code" pitchFamily="34" charset="-120"/>
              </a:rPr>
              <a:t>26</a:t>
            </a:r>
            <a:endParaRPr lang="en-US" sz="4800" dirty="0"/>
          </a:p>
        </p:txBody>
      </p:sp>
      <p:sp>
        <p:nvSpPr>
          <p:cNvPr id="14" name="Text 12"/>
          <p:cNvSpPr/>
          <p:nvPr/>
        </p:nvSpPr>
        <p:spPr>
          <a:xfrm>
            <a:off x="3291840" y="2926080"/>
            <a:ext cx="2697480" cy="320040"/>
          </a:xfrm>
          <a:prstGeom prst="rect">
            <a:avLst/>
          </a:prstGeom>
          <a:noFill/>
          <a:ln/>
        </p:spPr>
        <p:txBody>
          <a:bodyPr wrap="square" rtlCol="0" anchor="ctr"/>
          <a:lstStyle/>
          <a:p>
            <a:pPr marL="0" indent="0" algn="ctr">
              <a:buNone/>
            </a:pPr>
            <a:r>
              <a:rPr lang="en-US" sz="1400" b="1" dirty="0">
                <a:solidFill>
                  <a:srgbClr val="1A3A5C"/>
                </a:solidFill>
                <a:latin typeface="Segoe UI" pitchFamily="34" charset="0"/>
                <a:ea typeface="Segoe UI" pitchFamily="34" charset="-122"/>
                <a:cs typeface="Segoe UI" pitchFamily="34" charset="-120"/>
              </a:rPr>
              <a:t>Skills</a:t>
            </a:r>
            <a:endParaRPr lang="en-US" sz="1400" dirty="0"/>
          </a:p>
        </p:txBody>
      </p:sp>
      <p:sp>
        <p:nvSpPr>
          <p:cNvPr id="15" name="Text 13"/>
          <p:cNvSpPr/>
          <p:nvPr/>
        </p:nvSpPr>
        <p:spPr>
          <a:xfrm>
            <a:off x="3291840" y="3246120"/>
            <a:ext cx="2697480" cy="731520"/>
          </a:xfrm>
          <a:prstGeom prst="rect">
            <a:avLst/>
          </a:prstGeom>
          <a:noFill/>
          <a:ln/>
        </p:spPr>
        <p:txBody>
          <a:bodyPr wrap="square" rtlCol="0" anchor="ctr"/>
          <a:lstStyle/>
          <a:p>
            <a:pPr marL="0" indent="0" algn="ctr">
              <a:buNone/>
            </a:pPr>
            <a:r>
              <a:rPr lang="en-US" sz="1000" dirty="0">
                <a:solidFill>
                  <a:srgbClr val="636E72"/>
                </a:solidFill>
                <a:latin typeface="Segoe UI" pitchFamily="34" charset="0"/>
                <a:ea typeface="Segoe UI" pitchFamily="34" charset="-122"/>
                <a:cs typeface="Segoe UI" pitchFamily="34" charset="-120"/>
              </a:rPr>
              <a:t>Behavioral modules with shared primitives</a:t>
            </a:r>
            <a:endParaRPr lang="en-US" sz="1000" dirty="0"/>
          </a:p>
        </p:txBody>
      </p:sp>
      <p:sp>
        <p:nvSpPr>
          <p:cNvPr id="16" name="Shape 14"/>
          <p:cNvSpPr/>
          <p:nvPr/>
        </p:nvSpPr>
        <p:spPr>
          <a:xfrm>
            <a:off x="6126480" y="1874520"/>
            <a:ext cx="2697480" cy="2286000"/>
          </a:xfrm>
          <a:prstGeom prst="roundRect">
            <a:avLst>
              <a:gd name="adj" fmla="val 4800"/>
            </a:avLst>
          </a:prstGeom>
          <a:solidFill>
            <a:srgbClr val="FFFFFF"/>
          </a:solidFill>
          <a:ln w="12700">
            <a:solidFill>
              <a:srgbClr val="DFE6E9"/>
            </a:solidFill>
            <a:prstDash val="solid"/>
          </a:ln>
        </p:spPr>
        <p:txBody>
          <a:bodyPr/>
          <a:lstStyle/>
          <a:p>
            <a:endParaRPr lang="en-US"/>
          </a:p>
        </p:txBody>
      </p:sp>
      <p:sp>
        <p:nvSpPr>
          <p:cNvPr id="17" name="Shape 15"/>
          <p:cNvSpPr/>
          <p:nvPr/>
        </p:nvSpPr>
        <p:spPr>
          <a:xfrm>
            <a:off x="6126480" y="1874520"/>
            <a:ext cx="2697480" cy="64008"/>
          </a:xfrm>
          <a:prstGeom prst="rect">
            <a:avLst/>
          </a:prstGeom>
          <a:solidFill>
            <a:srgbClr val="C8A951"/>
          </a:solidFill>
          <a:ln w="12700">
            <a:solidFill>
              <a:srgbClr val="C8A951"/>
            </a:solidFill>
            <a:prstDash val="solid"/>
          </a:ln>
        </p:spPr>
        <p:txBody>
          <a:bodyPr/>
          <a:lstStyle/>
          <a:p>
            <a:endParaRPr lang="en-US"/>
          </a:p>
        </p:txBody>
      </p:sp>
      <p:sp>
        <p:nvSpPr>
          <p:cNvPr id="18" name="Text 16"/>
          <p:cNvSpPr/>
          <p:nvPr/>
        </p:nvSpPr>
        <p:spPr>
          <a:xfrm>
            <a:off x="6126480" y="2011680"/>
            <a:ext cx="2697480" cy="914400"/>
          </a:xfrm>
          <a:prstGeom prst="rect">
            <a:avLst/>
          </a:prstGeom>
          <a:noFill/>
          <a:ln/>
        </p:spPr>
        <p:txBody>
          <a:bodyPr wrap="square" rtlCol="0" anchor="ctr"/>
          <a:lstStyle/>
          <a:p>
            <a:pPr marL="0" indent="0" algn="ctr">
              <a:buNone/>
            </a:pPr>
            <a:r>
              <a:rPr lang="en-US" sz="4800" b="1" dirty="0">
                <a:solidFill>
                  <a:srgbClr val="1A3A5C"/>
                </a:solidFill>
                <a:latin typeface="Cascadia Code" pitchFamily="34" charset="0"/>
                <a:ea typeface="Cascadia Code" pitchFamily="34" charset="-122"/>
                <a:cs typeface="Cascadia Code" pitchFamily="34" charset="-120"/>
              </a:rPr>
              <a:t>55</a:t>
            </a:r>
            <a:endParaRPr lang="en-US" sz="4800" dirty="0"/>
          </a:p>
        </p:txBody>
      </p:sp>
      <p:sp>
        <p:nvSpPr>
          <p:cNvPr id="19" name="Text 17"/>
          <p:cNvSpPr/>
          <p:nvPr/>
        </p:nvSpPr>
        <p:spPr>
          <a:xfrm>
            <a:off x="6126480" y="2926080"/>
            <a:ext cx="2697480" cy="320040"/>
          </a:xfrm>
          <a:prstGeom prst="rect">
            <a:avLst/>
          </a:prstGeom>
          <a:noFill/>
          <a:ln/>
        </p:spPr>
        <p:txBody>
          <a:bodyPr wrap="square" rtlCol="0" anchor="ctr"/>
          <a:lstStyle/>
          <a:p>
            <a:pPr marL="0" indent="0" algn="ctr">
              <a:buNone/>
            </a:pPr>
            <a:r>
              <a:rPr lang="en-US" sz="1400" b="1" dirty="0">
                <a:solidFill>
                  <a:srgbClr val="1A3A5C"/>
                </a:solidFill>
                <a:latin typeface="Segoe UI" pitchFamily="34" charset="0"/>
                <a:ea typeface="Segoe UI" pitchFamily="34" charset="-122"/>
                <a:cs typeface="Segoe UI" pitchFamily="34" charset="-120"/>
              </a:rPr>
              <a:t>ADRs</a:t>
            </a:r>
            <a:endParaRPr lang="en-US" sz="1400" dirty="0"/>
          </a:p>
        </p:txBody>
      </p:sp>
      <p:sp>
        <p:nvSpPr>
          <p:cNvPr id="20" name="Text 18"/>
          <p:cNvSpPr/>
          <p:nvPr/>
        </p:nvSpPr>
        <p:spPr>
          <a:xfrm>
            <a:off x="6126480" y="3246120"/>
            <a:ext cx="2697480" cy="731520"/>
          </a:xfrm>
          <a:prstGeom prst="rect">
            <a:avLst/>
          </a:prstGeom>
          <a:noFill/>
          <a:ln/>
        </p:spPr>
        <p:txBody>
          <a:bodyPr wrap="square" rtlCol="0" anchor="ctr"/>
          <a:lstStyle/>
          <a:p>
            <a:pPr marL="0" indent="0" algn="ctr">
              <a:buNone/>
            </a:pPr>
            <a:r>
              <a:rPr lang="en-US" sz="1000" dirty="0">
                <a:solidFill>
                  <a:srgbClr val="636E72"/>
                </a:solidFill>
                <a:latin typeface="Segoe UI" pitchFamily="34" charset="0"/>
                <a:ea typeface="Segoe UI" pitchFamily="34" charset="-122"/>
                <a:cs typeface="Segoe UI" pitchFamily="34" charset="-120"/>
              </a:rPr>
              <a:t>Decisions on disk — every choice traceable</a:t>
            </a:r>
            <a:endParaRPr lang="en-US" sz="1000" dirty="0"/>
          </a:p>
        </p:txBody>
      </p:sp>
      <p:sp>
        <p:nvSpPr>
          <p:cNvPr id="21" name="Shape 19"/>
          <p:cNvSpPr/>
          <p:nvPr/>
        </p:nvSpPr>
        <p:spPr>
          <a:xfrm>
            <a:off x="8961120" y="1874520"/>
            <a:ext cx="2697480" cy="2286000"/>
          </a:xfrm>
          <a:prstGeom prst="roundRect">
            <a:avLst>
              <a:gd name="adj" fmla="val 4800"/>
            </a:avLst>
          </a:prstGeom>
          <a:solidFill>
            <a:srgbClr val="FFFFFF"/>
          </a:solidFill>
          <a:ln w="12700">
            <a:solidFill>
              <a:srgbClr val="DFE6E9"/>
            </a:solidFill>
            <a:prstDash val="solid"/>
          </a:ln>
        </p:spPr>
        <p:txBody>
          <a:bodyPr/>
          <a:lstStyle/>
          <a:p>
            <a:endParaRPr lang="en-US"/>
          </a:p>
        </p:txBody>
      </p:sp>
      <p:sp>
        <p:nvSpPr>
          <p:cNvPr id="22" name="Shape 20"/>
          <p:cNvSpPr/>
          <p:nvPr/>
        </p:nvSpPr>
        <p:spPr>
          <a:xfrm>
            <a:off x="8961120" y="1874520"/>
            <a:ext cx="2697480" cy="64008"/>
          </a:xfrm>
          <a:prstGeom prst="rect">
            <a:avLst/>
          </a:prstGeom>
          <a:solidFill>
            <a:srgbClr val="C8A951"/>
          </a:solidFill>
          <a:ln w="12700">
            <a:solidFill>
              <a:srgbClr val="C8A951"/>
            </a:solidFill>
            <a:prstDash val="solid"/>
          </a:ln>
        </p:spPr>
        <p:txBody>
          <a:bodyPr/>
          <a:lstStyle/>
          <a:p>
            <a:endParaRPr lang="en-US"/>
          </a:p>
        </p:txBody>
      </p:sp>
      <p:sp>
        <p:nvSpPr>
          <p:cNvPr id="23" name="Text 21"/>
          <p:cNvSpPr/>
          <p:nvPr/>
        </p:nvSpPr>
        <p:spPr>
          <a:xfrm>
            <a:off x="8961120" y="2011680"/>
            <a:ext cx="2697480" cy="914400"/>
          </a:xfrm>
          <a:prstGeom prst="rect">
            <a:avLst/>
          </a:prstGeom>
          <a:noFill/>
          <a:ln/>
        </p:spPr>
        <p:txBody>
          <a:bodyPr wrap="square" rtlCol="0" anchor="ctr"/>
          <a:lstStyle/>
          <a:p>
            <a:pPr marL="0" indent="0" algn="ctr">
              <a:buNone/>
            </a:pPr>
            <a:r>
              <a:rPr lang="en-US" sz="4800" b="1" dirty="0">
                <a:solidFill>
                  <a:srgbClr val="1A3A5C"/>
                </a:solidFill>
                <a:latin typeface="Cascadia Code" pitchFamily="34" charset="0"/>
                <a:ea typeface="Cascadia Code" pitchFamily="34" charset="-122"/>
                <a:cs typeface="Cascadia Code" pitchFamily="34" charset="-120"/>
              </a:rPr>
              <a:t>5</a:t>
            </a:r>
            <a:endParaRPr lang="en-US" sz="4800" dirty="0"/>
          </a:p>
        </p:txBody>
      </p:sp>
      <p:sp>
        <p:nvSpPr>
          <p:cNvPr id="24" name="Text 22"/>
          <p:cNvSpPr/>
          <p:nvPr/>
        </p:nvSpPr>
        <p:spPr>
          <a:xfrm>
            <a:off x="8961120" y="2926080"/>
            <a:ext cx="2697480" cy="320040"/>
          </a:xfrm>
          <a:prstGeom prst="rect">
            <a:avLst/>
          </a:prstGeom>
          <a:noFill/>
          <a:ln/>
        </p:spPr>
        <p:txBody>
          <a:bodyPr wrap="square" rtlCol="0" anchor="ctr"/>
          <a:lstStyle/>
          <a:p>
            <a:pPr marL="0" indent="0" algn="ctr">
              <a:buNone/>
            </a:pPr>
            <a:r>
              <a:rPr lang="en-US" sz="1400" b="1" dirty="0">
                <a:solidFill>
                  <a:srgbClr val="1A3A5C"/>
                </a:solidFill>
                <a:latin typeface="Segoe UI" pitchFamily="34" charset="0"/>
                <a:ea typeface="Segoe UI" pitchFamily="34" charset="-122"/>
                <a:cs typeface="Segoe UI" pitchFamily="34" charset="-120"/>
              </a:rPr>
              <a:t>Acts</a:t>
            </a:r>
            <a:endParaRPr lang="en-US" sz="1400" dirty="0"/>
          </a:p>
        </p:txBody>
      </p:sp>
      <p:sp>
        <p:nvSpPr>
          <p:cNvPr id="25" name="Text 23"/>
          <p:cNvSpPr/>
          <p:nvPr/>
        </p:nvSpPr>
        <p:spPr>
          <a:xfrm>
            <a:off x="8961120" y="3246120"/>
            <a:ext cx="2697480" cy="731520"/>
          </a:xfrm>
          <a:prstGeom prst="rect">
            <a:avLst/>
          </a:prstGeom>
          <a:noFill/>
          <a:ln/>
        </p:spPr>
        <p:txBody>
          <a:bodyPr wrap="square" rtlCol="0" anchor="ctr"/>
          <a:lstStyle/>
          <a:p>
            <a:pPr marL="0" indent="0" algn="ctr">
              <a:buNone/>
            </a:pPr>
            <a:r>
              <a:rPr lang="en-US" sz="1000" dirty="0">
                <a:solidFill>
                  <a:srgbClr val="636E72"/>
                </a:solidFill>
                <a:latin typeface="Segoe UI" pitchFamily="34" charset="0"/>
                <a:ea typeface="Segoe UI" pitchFamily="34" charset="-122"/>
                <a:cs typeface="Segoe UI" pitchFamily="34" charset="-120"/>
              </a:rPr>
              <a:t>Five discoveries, each built on the last</a:t>
            </a:r>
            <a:endParaRPr lang="en-US" sz="1000" dirty="0"/>
          </a:p>
        </p:txBody>
      </p:sp>
      <p:sp>
        <p:nvSpPr>
          <p:cNvPr id="26" name="Text 24"/>
          <p:cNvSpPr/>
          <p:nvPr/>
        </p:nvSpPr>
        <p:spPr>
          <a:xfrm>
            <a:off x="457200" y="4389120"/>
            <a:ext cx="11247120" cy="457200"/>
          </a:xfrm>
          <a:prstGeom prst="rect">
            <a:avLst/>
          </a:prstGeom>
          <a:noFill/>
          <a:ln/>
        </p:spPr>
        <p:txBody>
          <a:bodyPr wrap="square" rtlCol="0" anchor="ctr"/>
          <a:lstStyle/>
          <a:p>
            <a:pPr marL="0" indent="0">
              <a:buNone/>
            </a:pPr>
            <a:r>
              <a:rPr lang="en-US" sz="1200" i="1" dirty="0">
                <a:solidFill>
                  <a:srgbClr val="636E72"/>
                </a:solidFill>
                <a:latin typeface="Segoe UI" pitchFamily="34" charset="0"/>
                <a:ea typeface="Segoe UI" pitchFamily="34" charset="-122"/>
                <a:cs typeface="Segoe UI" pitchFamily="34" charset="-120"/>
              </a:rPr>
              <a:t>"It didn't start complete. It started as a gate — and kept discovering what it was still missing."</a:t>
            </a:r>
            <a:endParaRPr lang="en-US" sz="1200" dirty="0"/>
          </a:p>
        </p:txBody>
      </p:sp>
      <p:sp>
        <p:nvSpPr>
          <p:cNvPr id="27" name="Text 25"/>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7 / 45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F35"/>
        </a:solidFill>
        <a:effectLst/>
      </p:bgPr>
    </p:bg>
    <p:spTree>
      <p:nvGrpSpPr>
        <p:cNvPr id="1" name=""/>
        <p:cNvGrpSpPr/>
        <p:nvPr/>
      </p:nvGrpSpPr>
      <p:grpSpPr>
        <a:xfrm>
          <a:off x="0" y="0"/>
          <a:ext cx="0" cy="0"/>
          <a:chOff x="0" y="0"/>
          <a:chExt cx="0" cy="0"/>
        </a:xfrm>
      </p:grpSpPr>
      <p:sp>
        <p:nvSpPr>
          <p:cNvPr id="2" name="Text 0"/>
          <p:cNvSpPr/>
          <p:nvPr/>
        </p:nvSpPr>
        <p:spPr>
          <a:xfrm>
            <a:off x="365760" y="182880"/>
            <a:ext cx="2743200" cy="2286000"/>
          </a:xfrm>
          <a:prstGeom prst="rect">
            <a:avLst/>
          </a:prstGeom>
          <a:noFill/>
          <a:ln/>
        </p:spPr>
        <p:txBody>
          <a:bodyPr wrap="square" rtlCol="0" anchor="ctr"/>
          <a:lstStyle/>
          <a:p>
            <a:pPr marL="0" indent="0">
              <a:buNone/>
            </a:pPr>
            <a:r>
              <a:rPr lang="en-US" sz="12000" b="1" dirty="0">
                <a:solidFill>
                  <a:srgbClr val="1A3A5C"/>
                </a:solidFill>
                <a:latin typeface="Cascadia Code" pitchFamily="34" charset="0"/>
                <a:ea typeface="Cascadia Code" pitchFamily="34" charset="-122"/>
                <a:cs typeface="Cascadia Code" pitchFamily="34" charset="-120"/>
              </a:rPr>
              <a:t>I</a:t>
            </a:r>
            <a:endParaRPr lang="en-US" sz="12000" dirty="0"/>
          </a:p>
        </p:txBody>
      </p:sp>
      <p:sp>
        <p:nvSpPr>
          <p:cNvPr id="3" name="Text 1"/>
          <p:cNvSpPr/>
          <p:nvPr/>
        </p:nvSpPr>
        <p:spPr>
          <a:xfrm>
            <a:off x="548640" y="1005840"/>
            <a:ext cx="10972800" cy="274320"/>
          </a:xfrm>
          <a:prstGeom prst="rect">
            <a:avLst/>
          </a:prstGeom>
          <a:noFill/>
          <a:ln/>
        </p:spPr>
        <p:txBody>
          <a:bodyPr wrap="square" rtlCol="0" anchor="ctr"/>
          <a:lstStyle/>
          <a:p>
            <a:pPr marL="0" indent="0">
              <a:buNone/>
            </a:pPr>
            <a:r>
              <a:rPr lang="en-US" sz="900" b="1" kern="0" spc="300" dirty="0">
                <a:solidFill>
                  <a:srgbClr val="C8A951"/>
                </a:solidFill>
                <a:latin typeface="Segoe UI" pitchFamily="34" charset="0"/>
                <a:ea typeface="Segoe UI" pitchFamily="34" charset="-122"/>
                <a:cs typeface="Segoe UI" pitchFamily="34" charset="-120"/>
              </a:rPr>
              <a:t>ACT I · THE FIRST ABSENCE</a:t>
            </a:r>
            <a:endParaRPr lang="en-US" sz="900" dirty="0"/>
          </a:p>
        </p:txBody>
      </p:sp>
      <p:sp>
        <p:nvSpPr>
          <p:cNvPr id="4" name="Text 2"/>
          <p:cNvSpPr/>
          <p:nvPr/>
        </p:nvSpPr>
        <p:spPr>
          <a:xfrm>
            <a:off x="548640" y="1371600"/>
            <a:ext cx="10515600" cy="1280160"/>
          </a:xfrm>
          <a:prstGeom prst="rect">
            <a:avLst/>
          </a:prstGeom>
          <a:noFill/>
          <a:ln/>
        </p:spPr>
        <p:txBody>
          <a:bodyPr wrap="square" rtlCol="0" anchor="ctr"/>
          <a:lstStyle/>
          <a:p>
            <a:pPr marL="0" indent="0">
              <a:buNone/>
            </a:pPr>
            <a:r>
              <a:rPr lang="en-US" sz="3200" b="1" dirty="0">
                <a:solidFill>
                  <a:srgbClr val="FFFFFF"/>
                </a:solidFill>
                <a:latin typeface="Segoe UI" pitchFamily="34" charset="0"/>
                <a:ea typeface="Segoe UI" pitchFamily="34" charset="-122"/>
                <a:cs typeface="Segoe UI" pitchFamily="34" charset="-120"/>
              </a:rPr>
              <a:t>Structure Around the Spec</a:t>
            </a:r>
            <a:endParaRPr lang="en-US" sz="3200" dirty="0"/>
          </a:p>
        </p:txBody>
      </p:sp>
      <p:sp>
        <p:nvSpPr>
          <p:cNvPr id="5" name="Shape 3"/>
          <p:cNvSpPr/>
          <p:nvPr/>
        </p:nvSpPr>
        <p:spPr>
          <a:xfrm>
            <a:off x="548640" y="2743200"/>
            <a:ext cx="54864" cy="502920"/>
          </a:xfrm>
          <a:prstGeom prst="rect">
            <a:avLst/>
          </a:prstGeom>
          <a:solidFill>
            <a:srgbClr val="C8A951"/>
          </a:solidFill>
          <a:ln w="12700">
            <a:solidFill>
              <a:srgbClr val="C8A951"/>
            </a:solidFill>
            <a:prstDash val="solid"/>
          </a:ln>
        </p:spPr>
        <p:txBody>
          <a:bodyPr/>
          <a:lstStyle/>
          <a:p>
            <a:endParaRPr lang="en-US"/>
          </a:p>
        </p:txBody>
      </p:sp>
      <p:sp>
        <p:nvSpPr>
          <p:cNvPr id="6" name="Text 4"/>
          <p:cNvSpPr/>
          <p:nvPr/>
        </p:nvSpPr>
        <p:spPr>
          <a:xfrm>
            <a:off x="731520" y="2743200"/>
            <a:ext cx="10058400" cy="502920"/>
          </a:xfrm>
          <a:prstGeom prst="rect">
            <a:avLst/>
          </a:prstGeom>
          <a:noFill/>
          <a:ln/>
        </p:spPr>
        <p:txBody>
          <a:bodyPr wrap="square" rtlCol="0" anchor="ctr"/>
          <a:lstStyle/>
          <a:p>
            <a:pPr marL="0" indent="0">
              <a:buNone/>
            </a:pPr>
            <a:r>
              <a:rPr lang="en-US" sz="1500" i="1" dirty="0">
                <a:solidFill>
                  <a:srgbClr val="B7C6D6"/>
                </a:solidFill>
                <a:latin typeface="Segoe UI" pitchFamily="34" charset="0"/>
                <a:ea typeface="Segoe UI" pitchFamily="34" charset="-122"/>
                <a:cs typeface="Segoe UI" pitchFamily="34" charset="-120"/>
              </a:rPr>
              <a:t>"The AI won’t ask what you meant. So you have to say it first."</a:t>
            </a:r>
            <a:endParaRPr lang="en-US" sz="1500" dirty="0"/>
          </a:p>
        </p:txBody>
      </p:sp>
      <p:sp>
        <p:nvSpPr>
          <p:cNvPr id="7" name="Text 5"/>
          <p:cNvSpPr/>
          <p:nvPr/>
        </p:nvSpPr>
        <p:spPr>
          <a:xfrm>
            <a:off x="548640" y="6309360"/>
            <a:ext cx="11064240" cy="228600"/>
          </a:xfrm>
          <a:prstGeom prst="rect">
            <a:avLst/>
          </a:prstGeom>
          <a:noFill/>
          <a:ln/>
        </p:spPr>
        <p:txBody>
          <a:bodyPr wrap="square" rtlCol="0" anchor="ctr"/>
          <a:lstStyle/>
          <a:p>
            <a:pPr marL="0" indent="0" algn="r">
              <a:buNone/>
            </a:pPr>
            <a:r>
              <a:rPr lang="en-US" sz="800" dirty="0">
                <a:solidFill>
                  <a:srgbClr val="3A5A7C"/>
                </a:solidFill>
                <a:latin typeface="Cascadia Code" pitchFamily="34" charset="0"/>
                <a:ea typeface="Cascadia Code" pitchFamily="34" charset="-122"/>
                <a:cs typeface="Cascadia Code" pitchFamily="34" charset="-120"/>
              </a:rPr>
              <a:t>ADRs 0001 · 0002 · 0005 · 0006 · 0010 · 0028</a:t>
            </a:r>
            <a:endParaRPr lang="en-US" sz="800" dirty="0"/>
          </a:p>
        </p:txBody>
      </p:sp>
      <p:sp>
        <p:nvSpPr>
          <p:cNvPr id="8" name="Text 6"/>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8 / 45</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The failure mode: nobody owned the intent</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Text 3"/>
          <p:cNvSpPr/>
          <p:nvPr/>
        </p:nvSpPr>
        <p:spPr>
          <a:xfrm>
            <a:off x="548640" y="914400"/>
            <a:ext cx="10789920" cy="2926080"/>
          </a:xfrm>
          <a:prstGeom prst="rect">
            <a:avLst/>
          </a:prstGeom>
          <a:noFill/>
          <a:ln/>
        </p:spPr>
        <p:txBody>
          <a:bodyPr wrap="square" rtlCol="0" anchor="t"/>
          <a:lstStyle/>
          <a:p>
            <a:pPr>
              <a:spcAft>
                <a:spcPts val="600"/>
              </a:spcAft>
            </a:pPr>
            <a:r>
              <a:rPr lang="en-US" sz="1400" dirty="0">
                <a:solidFill>
                  <a:srgbClr val="2D3436"/>
                </a:solidFill>
                <a:latin typeface="Segoe UI" pitchFamily="34" charset="0"/>
                <a:ea typeface="Segoe UI" pitchFamily="34" charset="-122"/>
                <a:cs typeface="Segoe UI" pitchFamily="34" charset="-120"/>
              </a:rPr>
              <a:t>Intent lived in a head, not a doc — the requirement was in a Slack thread, or nowhere.</a:t>
            </a:r>
            <a:endParaRPr lang="en-US" sz="1400" dirty="0"/>
          </a:p>
          <a:p>
            <a:pPr>
              <a:spcAft>
                <a:spcPts val="600"/>
              </a:spcAft>
            </a:pPr>
            <a:r>
              <a:rPr lang="en-US" sz="1400" dirty="0">
                <a:solidFill>
                  <a:srgbClr val="2D3436"/>
                </a:solidFill>
                <a:latin typeface="Segoe UI" pitchFamily="34" charset="0"/>
                <a:ea typeface="Segoe UI" pitchFamily="34" charset="-122"/>
                <a:cs typeface="Segoe UI" pitchFamily="34" charset="-120"/>
              </a:rPr>
              <a:t>The AI filled the gap with its own assumptions, and wrote confidently in that direction.</a:t>
            </a:r>
            <a:endParaRPr lang="en-US" sz="1400" dirty="0"/>
          </a:p>
          <a:p>
            <a:pPr>
              <a:spcAft>
                <a:spcPts val="600"/>
              </a:spcAft>
            </a:pPr>
            <a:r>
              <a:rPr lang="en-US" sz="1400" dirty="0">
                <a:solidFill>
                  <a:srgbClr val="2D3436"/>
                </a:solidFill>
                <a:latin typeface="Segoe UI" pitchFamily="34" charset="0"/>
                <a:ea typeface="Segoe UI" pitchFamily="34" charset="-122"/>
                <a:cs typeface="Segoe UI" pitchFamily="34" charset="-120"/>
              </a:rPr>
              <a:t>The reviewer was the first human to check meaning — days later, at the most expensive moment.</a:t>
            </a:r>
            <a:endParaRPr lang="en-US" sz="1400" dirty="0"/>
          </a:p>
          <a:p>
            <a:pPr>
              <a:spcAft>
                <a:spcPts val="600"/>
              </a:spcAft>
            </a:pPr>
            <a:r>
              <a:rPr lang="en-US" sz="1400" dirty="0">
                <a:solidFill>
                  <a:srgbClr val="2D3436"/>
                </a:solidFill>
                <a:latin typeface="Segoe UI" pitchFamily="34" charset="0"/>
                <a:ea typeface="Segoe UI" pitchFamily="34" charset="-122"/>
                <a:cs typeface="Segoe UI" pitchFamily="34" charset="-120"/>
              </a:rPr>
              <a:t>The cost landed as rework — not bugs, not tech debt. Rework from thin or absent specs.</a:t>
            </a:r>
            <a:endParaRPr lang="en-US" sz="1400" dirty="0"/>
          </a:p>
        </p:txBody>
      </p:sp>
      <p:sp>
        <p:nvSpPr>
          <p:cNvPr id="6" name="Shape 4"/>
          <p:cNvSpPr/>
          <p:nvPr/>
        </p:nvSpPr>
        <p:spPr>
          <a:xfrm>
            <a:off x="457200" y="4023360"/>
            <a:ext cx="11247120" cy="1371600"/>
          </a:xfrm>
          <a:prstGeom prst="roundRect">
            <a:avLst>
              <a:gd name="adj" fmla="val 6667"/>
            </a:avLst>
          </a:prstGeom>
          <a:solidFill>
            <a:srgbClr val="FFF8EC"/>
          </a:solidFill>
          <a:ln w="12700">
            <a:solidFill>
              <a:srgbClr val="E8C87A"/>
            </a:solidFill>
            <a:prstDash val="solid"/>
          </a:ln>
        </p:spPr>
        <p:txBody>
          <a:bodyPr/>
          <a:lstStyle/>
          <a:p>
            <a:endParaRPr lang="en-US"/>
          </a:p>
        </p:txBody>
      </p:sp>
      <p:sp>
        <p:nvSpPr>
          <p:cNvPr id="7" name="Text 5"/>
          <p:cNvSpPr/>
          <p:nvPr/>
        </p:nvSpPr>
        <p:spPr>
          <a:xfrm>
            <a:off x="731520" y="4160520"/>
            <a:ext cx="10058400" cy="256032"/>
          </a:xfrm>
          <a:prstGeom prst="rect">
            <a:avLst/>
          </a:prstGeom>
          <a:noFill/>
          <a:ln/>
        </p:spPr>
        <p:txBody>
          <a:bodyPr wrap="square" rtlCol="0" anchor="ctr"/>
          <a:lstStyle/>
          <a:p>
            <a:pPr marL="0" indent="0">
              <a:buNone/>
            </a:pPr>
            <a:r>
              <a:rPr lang="en-US" sz="800" b="1" kern="0" spc="150" dirty="0">
                <a:solidFill>
                  <a:srgbClr val="C8A951"/>
                </a:solidFill>
                <a:latin typeface="Cascadia Code" pitchFamily="34" charset="0"/>
                <a:ea typeface="Cascadia Code" pitchFamily="34" charset="-122"/>
                <a:cs typeface="Cascadia Code" pitchFamily="34" charset="-120"/>
              </a:rPr>
              <a:t>THE ROI THESIS  ·  ADR 0001</a:t>
            </a:r>
            <a:endParaRPr lang="en-US" sz="800" dirty="0"/>
          </a:p>
        </p:txBody>
      </p:sp>
      <p:sp>
        <p:nvSpPr>
          <p:cNvPr id="8" name="Text 6"/>
          <p:cNvSpPr/>
          <p:nvPr/>
        </p:nvSpPr>
        <p:spPr>
          <a:xfrm>
            <a:off x="731520" y="4434840"/>
            <a:ext cx="10515600" cy="685800"/>
          </a:xfrm>
          <a:prstGeom prst="rect">
            <a:avLst/>
          </a:prstGeom>
          <a:noFill/>
          <a:ln/>
        </p:spPr>
        <p:txBody>
          <a:bodyPr wrap="square" rtlCol="0" anchor="ctr"/>
          <a:lstStyle/>
          <a:p>
            <a:pPr marL="0" indent="0">
              <a:buNone/>
            </a:pPr>
            <a:r>
              <a:rPr lang="en-US" sz="1600" b="1" dirty="0">
                <a:solidFill>
                  <a:srgbClr val="1A3A5C"/>
                </a:solidFill>
                <a:latin typeface="Segoe UI" pitchFamily="34" charset="0"/>
                <a:ea typeface="Segoe UI" pitchFamily="34" charset="-122"/>
                <a:cs typeface="Segoe UI" pitchFamily="34" charset="-120"/>
              </a:rPr>
              <a:t>"One good spec you own up front prevents roughly three PRs that would have bounced."</a:t>
            </a:r>
            <a:endParaRPr lang="en-US" sz="1600" dirty="0"/>
          </a:p>
        </p:txBody>
      </p:sp>
      <p:sp>
        <p:nvSpPr>
          <p:cNvPr id="9" name="Text 7"/>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9 / 45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What ICEA is: the four things you pin down</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Text 3"/>
          <p:cNvSpPr/>
          <p:nvPr/>
        </p:nvSpPr>
        <p:spPr>
          <a:xfrm>
            <a:off x="548640" y="868680"/>
            <a:ext cx="11064240" cy="365760"/>
          </a:xfrm>
          <a:prstGeom prst="rect">
            <a:avLst/>
          </a:prstGeom>
          <a:noFill/>
          <a:ln/>
        </p:spPr>
        <p:txBody>
          <a:bodyPr wrap="square" rtlCol="0" anchor="ctr"/>
          <a:lstStyle/>
          <a:p>
            <a:pPr marL="0" indent="0">
              <a:buNone/>
            </a:pPr>
            <a:r>
              <a:rPr lang="en-US" sz="1300" i="1" dirty="0">
                <a:solidFill>
                  <a:srgbClr val="636E72"/>
                </a:solidFill>
                <a:latin typeface="Segoe UI" pitchFamily="34" charset="0"/>
                <a:ea typeface="Segoe UI" pitchFamily="34" charset="-122"/>
                <a:cs typeface="Segoe UI" pitchFamily="34" charset="-120"/>
              </a:rPr>
              <a:t>Not a template to fill — four things you decide, so the AI has nothing left to assume.</a:t>
            </a:r>
            <a:endParaRPr lang="en-US" sz="1300" dirty="0"/>
          </a:p>
        </p:txBody>
      </p:sp>
      <p:sp>
        <p:nvSpPr>
          <p:cNvPr id="6" name="Shape 4"/>
          <p:cNvSpPr/>
          <p:nvPr/>
        </p:nvSpPr>
        <p:spPr>
          <a:xfrm>
            <a:off x="548640" y="1371600"/>
            <a:ext cx="5440680" cy="2103120"/>
          </a:xfrm>
          <a:prstGeom prst="roundRect">
            <a:avLst>
              <a:gd name="adj" fmla="val 4348"/>
            </a:avLst>
          </a:prstGeom>
          <a:solidFill>
            <a:srgbClr val="FFFFFF"/>
          </a:solidFill>
          <a:ln w="12700">
            <a:solidFill>
              <a:srgbClr val="DFE6E9"/>
            </a:solidFill>
            <a:prstDash val="solid"/>
          </a:ln>
        </p:spPr>
        <p:txBody>
          <a:bodyPr/>
          <a:lstStyle/>
          <a:p>
            <a:endParaRPr lang="en-US"/>
          </a:p>
        </p:txBody>
      </p:sp>
      <p:sp>
        <p:nvSpPr>
          <p:cNvPr id="7" name="Shape 5"/>
          <p:cNvSpPr/>
          <p:nvPr/>
        </p:nvSpPr>
        <p:spPr>
          <a:xfrm>
            <a:off x="731520" y="1600200"/>
            <a:ext cx="640080" cy="640080"/>
          </a:xfrm>
          <a:prstGeom prst="ellipse">
            <a:avLst/>
          </a:prstGeom>
          <a:solidFill>
            <a:srgbClr val="E84C1E"/>
          </a:solidFill>
          <a:ln w="12700">
            <a:solidFill>
              <a:srgbClr val="E84C1E"/>
            </a:solidFill>
            <a:prstDash val="solid"/>
          </a:ln>
        </p:spPr>
        <p:txBody>
          <a:bodyPr/>
          <a:lstStyle/>
          <a:p>
            <a:endParaRPr lang="en-US"/>
          </a:p>
        </p:txBody>
      </p:sp>
      <p:sp>
        <p:nvSpPr>
          <p:cNvPr id="8" name="Text 6"/>
          <p:cNvSpPr/>
          <p:nvPr/>
        </p:nvSpPr>
        <p:spPr>
          <a:xfrm>
            <a:off x="731520" y="1600200"/>
            <a:ext cx="640080" cy="640080"/>
          </a:xfrm>
          <a:prstGeom prst="rect">
            <a:avLst/>
          </a:prstGeom>
          <a:noFill/>
          <a:ln/>
        </p:spPr>
        <p:txBody>
          <a:bodyPr wrap="square"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I</a:t>
            </a:r>
            <a:endParaRPr lang="en-US" sz="2200" dirty="0"/>
          </a:p>
        </p:txBody>
      </p:sp>
      <p:sp>
        <p:nvSpPr>
          <p:cNvPr id="9" name="Text 7"/>
          <p:cNvSpPr/>
          <p:nvPr/>
        </p:nvSpPr>
        <p:spPr>
          <a:xfrm>
            <a:off x="1508760" y="1600200"/>
            <a:ext cx="4297680" cy="365760"/>
          </a:xfrm>
          <a:prstGeom prst="rect">
            <a:avLst/>
          </a:prstGeom>
          <a:noFill/>
          <a:ln/>
        </p:spPr>
        <p:txBody>
          <a:bodyPr wrap="square" rtlCol="0" anchor="ctr"/>
          <a:lstStyle/>
          <a:p>
            <a:pPr marL="0" indent="0">
              <a:buNone/>
            </a:pPr>
            <a:r>
              <a:rPr lang="en-US" sz="1700" b="1" dirty="0">
                <a:solidFill>
                  <a:srgbClr val="1A3A5C"/>
                </a:solidFill>
                <a:latin typeface="Segoe UI" pitchFamily="34" charset="0"/>
                <a:ea typeface="Segoe UI" pitchFamily="34" charset="-122"/>
                <a:cs typeface="Segoe UI" pitchFamily="34" charset="-120"/>
              </a:rPr>
              <a:t>Intent</a:t>
            </a:r>
            <a:endParaRPr lang="en-US" sz="1700" dirty="0"/>
          </a:p>
        </p:txBody>
      </p:sp>
      <p:sp>
        <p:nvSpPr>
          <p:cNvPr id="10" name="Text 8"/>
          <p:cNvSpPr/>
          <p:nvPr/>
        </p:nvSpPr>
        <p:spPr>
          <a:xfrm>
            <a:off x="1508760" y="1965960"/>
            <a:ext cx="4297680" cy="320040"/>
          </a:xfrm>
          <a:prstGeom prst="rect">
            <a:avLst/>
          </a:prstGeom>
          <a:noFill/>
          <a:ln/>
        </p:spPr>
        <p:txBody>
          <a:bodyPr wrap="square" rtlCol="0" anchor="ctr"/>
          <a:lstStyle/>
          <a:p>
            <a:pPr marL="0" indent="0">
              <a:buNone/>
            </a:pPr>
            <a:r>
              <a:rPr lang="en-US" sz="1200" i="1" dirty="0">
                <a:solidFill>
                  <a:srgbClr val="636E72"/>
                </a:solidFill>
                <a:latin typeface="Segoe UI" pitchFamily="34" charset="0"/>
                <a:ea typeface="Segoe UI" pitchFamily="34" charset="-122"/>
                <a:cs typeface="Segoe UI" pitchFamily="34" charset="-120"/>
              </a:rPr>
              <a:t>what &amp; why</a:t>
            </a:r>
            <a:endParaRPr lang="en-US" sz="1200" dirty="0"/>
          </a:p>
        </p:txBody>
      </p:sp>
      <p:sp>
        <p:nvSpPr>
          <p:cNvPr id="11" name="Text 9"/>
          <p:cNvSpPr/>
          <p:nvPr/>
        </p:nvSpPr>
        <p:spPr>
          <a:xfrm>
            <a:off x="777240" y="2423160"/>
            <a:ext cx="5029200" cy="914400"/>
          </a:xfrm>
          <a:prstGeom prst="rect">
            <a:avLst/>
          </a:prstGeom>
          <a:noFill/>
          <a:ln/>
        </p:spPr>
        <p:txBody>
          <a:bodyPr wrap="square" rtlCol="0" anchor="t"/>
          <a:lstStyle/>
          <a:p>
            <a:pPr marL="0" indent="0">
              <a:buNone/>
            </a:pPr>
            <a:r>
              <a:rPr lang="en-US" sz="1100" dirty="0">
                <a:solidFill>
                  <a:srgbClr val="2D3436"/>
                </a:solidFill>
                <a:latin typeface="Segoe UI" pitchFamily="34" charset="0"/>
                <a:ea typeface="Segoe UI" pitchFamily="34" charset="-122"/>
                <a:cs typeface="Segoe UI" pitchFamily="34" charset="-120"/>
              </a:rPr>
              <a:t>the one-liner → a real goal · feeds the ADO work item</a:t>
            </a:r>
            <a:endParaRPr lang="en-US" sz="1100" dirty="0"/>
          </a:p>
        </p:txBody>
      </p:sp>
      <p:sp>
        <p:nvSpPr>
          <p:cNvPr id="12" name="Shape 10"/>
          <p:cNvSpPr/>
          <p:nvPr/>
        </p:nvSpPr>
        <p:spPr>
          <a:xfrm>
            <a:off x="6172200" y="1371600"/>
            <a:ext cx="5440680" cy="2103120"/>
          </a:xfrm>
          <a:prstGeom prst="roundRect">
            <a:avLst>
              <a:gd name="adj" fmla="val 4348"/>
            </a:avLst>
          </a:prstGeom>
          <a:solidFill>
            <a:srgbClr val="FFFFFF"/>
          </a:solidFill>
          <a:ln w="12700">
            <a:solidFill>
              <a:srgbClr val="DFE6E9"/>
            </a:solidFill>
            <a:prstDash val="solid"/>
          </a:ln>
        </p:spPr>
        <p:txBody>
          <a:bodyPr/>
          <a:lstStyle/>
          <a:p>
            <a:endParaRPr lang="en-US"/>
          </a:p>
        </p:txBody>
      </p:sp>
      <p:sp>
        <p:nvSpPr>
          <p:cNvPr id="13" name="Shape 11"/>
          <p:cNvSpPr/>
          <p:nvPr/>
        </p:nvSpPr>
        <p:spPr>
          <a:xfrm>
            <a:off x="6355080" y="1600200"/>
            <a:ext cx="640080" cy="640080"/>
          </a:xfrm>
          <a:prstGeom prst="ellipse">
            <a:avLst/>
          </a:prstGeom>
          <a:solidFill>
            <a:srgbClr val="C8A951"/>
          </a:solidFill>
          <a:ln w="12700">
            <a:solidFill>
              <a:srgbClr val="C8A951"/>
            </a:solidFill>
            <a:prstDash val="solid"/>
          </a:ln>
        </p:spPr>
        <p:txBody>
          <a:bodyPr/>
          <a:lstStyle/>
          <a:p>
            <a:endParaRPr lang="en-US"/>
          </a:p>
        </p:txBody>
      </p:sp>
      <p:sp>
        <p:nvSpPr>
          <p:cNvPr id="14" name="Text 12"/>
          <p:cNvSpPr/>
          <p:nvPr/>
        </p:nvSpPr>
        <p:spPr>
          <a:xfrm>
            <a:off x="6355080" y="1600200"/>
            <a:ext cx="640080" cy="640080"/>
          </a:xfrm>
          <a:prstGeom prst="rect">
            <a:avLst/>
          </a:prstGeom>
          <a:noFill/>
          <a:ln/>
        </p:spPr>
        <p:txBody>
          <a:bodyPr wrap="square"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C</a:t>
            </a:r>
            <a:endParaRPr lang="en-US" sz="2200" dirty="0"/>
          </a:p>
        </p:txBody>
      </p:sp>
      <p:sp>
        <p:nvSpPr>
          <p:cNvPr id="15" name="Text 13"/>
          <p:cNvSpPr/>
          <p:nvPr/>
        </p:nvSpPr>
        <p:spPr>
          <a:xfrm>
            <a:off x="7132320" y="1600200"/>
            <a:ext cx="4297680" cy="365760"/>
          </a:xfrm>
          <a:prstGeom prst="rect">
            <a:avLst/>
          </a:prstGeom>
          <a:noFill/>
          <a:ln/>
        </p:spPr>
        <p:txBody>
          <a:bodyPr wrap="square" rtlCol="0" anchor="ctr"/>
          <a:lstStyle/>
          <a:p>
            <a:pPr marL="0" indent="0">
              <a:buNone/>
            </a:pPr>
            <a:r>
              <a:rPr lang="en-US" sz="1700" b="1" dirty="0">
                <a:solidFill>
                  <a:srgbClr val="1A3A5C"/>
                </a:solidFill>
                <a:latin typeface="Segoe UI" pitchFamily="34" charset="0"/>
                <a:ea typeface="Segoe UI" pitchFamily="34" charset="-122"/>
                <a:cs typeface="Segoe UI" pitchFamily="34" charset="-120"/>
              </a:rPr>
              <a:t>Context</a:t>
            </a:r>
            <a:endParaRPr lang="en-US" sz="1700" dirty="0"/>
          </a:p>
        </p:txBody>
      </p:sp>
      <p:sp>
        <p:nvSpPr>
          <p:cNvPr id="16" name="Text 14"/>
          <p:cNvSpPr/>
          <p:nvPr/>
        </p:nvSpPr>
        <p:spPr>
          <a:xfrm>
            <a:off x="7132320" y="1965960"/>
            <a:ext cx="4297680" cy="320040"/>
          </a:xfrm>
          <a:prstGeom prst="rect">
            <a:avLst/>
          </a:prstGeom>
          <a:noFill/>
          <a:ln/>
        </p:spPr>
        <p:txBody>
          <a:bodyPr wrap="square" rtlCol="0" anchor="ctr"/>
          <a:lstStyle/>
          <a:p>
            <a:pPr marL="0" indent="0">
              <a:buNone/>
            </a:pPr>
            <a:r>
              <a:rPr lang="en-US" sz="1200" i="1" dirty="0">
                <a:solidFill>
                  <a:srgbClr val="636E72"/>
                </a:solidFill>
                <a:latin typeface="Segoe UI" pitchFamily="34" charset="0"/>
                <a:ea typeface="Segoe UI" pitchFamily="34" charset="-122"/>
                <a:cs typeface="Segoe UI" pitchFamily="34" charset="-120"/>
              </a:rPr>
              <a:t>where &amp; constraints</a:t>
            </a:r>
            <a:endParaRPr lang="en-US" sz="1200" dirty="0"/>
          </a:p>
        </p:txBody>
      </p:sp>
      <p:sp>
        <p:nvSpPr>
          <p:cNvPr id="17" name="Text 15"/>
          <p:cNvSpPr/>
          <p:nvPr/>
        </p:nvSpPr>
        <p:spPr>
          <a:xfrm>
            <a:off x="6400800" y="2423160"/>
            <a:ext cx="5029200" cy="914400"/>
          </a:xfrm>
          <a:prstGeom prst="rect">
            <a:avLst/>
          </a:prstGeom>
          <a:noFill/>
          <a:ln/>
        </p:spPr>
        <p:txBody>
          <a:bodyPr wrap="square" rtlCol="0" anchor="t"/>
          <a:lstStyle/>
          <a:p>
            <a:pPr marL="0" indent="0">
              <a:buNone/>
            </a:pPr>
            <a:r>
              <a:rPr lang="en-US" sz="1100" dirty="0">
                <a:solidFill>
                  <a:srgbClr val="2D3436"/>
                </a:solidFill>
                <a:latin typeface="Segoe UI" pitchFamily="34" charset="0"/>
                <a:ea typeface="Segoe UI" pitchFamily="34" charset="-122"/>
                <a:cs typeface="Segoe UI" pitchFamily="34" charset="-120"/>
              </a:rPr>
              <a:t>stack · auth · data · edges · feeds design &amp; scope</a:t>
            </a:r>
            <a:endParaRPr lang="en-US" sz="1100" dirty="0"/>
          </a:p>
        </p:txBody>
      </p:sp>
      <p:sp>
        <p:nvSpPr>
          <p:cNvPr id="18" name="Shape 16"/>
          <p:cNvSpPr/>
          <p:nvPr/>
        </p:nvSpPr>
        <p:spPr>
          <a:xfrm>
            <a:off x="548640" y="3657600"/>
            <a:ext cx="5440680" cy="2103120"/>
          </a:xfrm>
          <a:prstGeom prst="roundRect">
            <a:avLst>
              <a:gd name="adj" fmla="val 4348"/>
            </a:avLst>
          </a:prstGeom>
          <a:solidFill>
            <a:srgbClr val="FFFFFF"/>
          </a:solidFill>
          <a:ln w="12700">
            <a:solidFill>
              <a:srgbClr val="DFE6E9"/>
            </a:solidFill>
            <a:prstDash val="solid"/>
          </a:ln>
        </p:spPr>
        <p:txBody>
          <a:bodyPr/>
          <a:lstStyle/>
          <a:p>
            <a:endParaRPr lang="en-US"/>
          </a:p>
        </p:txBody>
      </p:sp>
      <p:sp>
        <p:nvSpPr>
          <p:cNvPr id="19" name="Shape 17"/>
          <p:cNvSpPr/>
          <p:nvPr/>
        </p:nvSpPr>
        <p:spPr>
          <a:xfrm>
            <a:off x="731520" y="3886200"/>
            <a:ext cx="640080" cy="640080"/>
          </a:xfrm>
          <a:prstGeom prst="ellipse">
            <a:avLst/>
          </a:prstGeom>
          <a:solidFill>
            <a:srgbClr val="1A56DB"/>
          </a:solidFill>
          <a:ln w="12700">
            <a:solidFill>
              <a:srgbClr val="1A56DB"/>
            </a:solidFill>
            <a:prstDash val="solid"/>
          </a:ln>
        </p:spPr>
        <p:txBody>
          <a:bodyPr/>
          <a:lstStyle/>
          <a:p>
            <a:endParaRPr lang="en-US"/>
          </a:p>
        </p:txBody>
      </p:sp>
      <p:sp>
        <p:nvSpPr>
          <p:cNvPr id="20" name="Text 18"/>
          <p:cNvSpPr/>
          <p:nvPr/>
        </p:nvSpPr>
        <p:spPr>
          <a:xfrm>
            <a:off x="731520" y="3886200"/>
            <a:ext cx="640080" cy="640080"/>
          </a:xfrm>
          <a:prstGeom prst="rect">
            <a:avLst/>
          </a:prstGeom>
          <a:noFill/>
          <a:ln/>
        </p:spPr>
        <p:txBody>
          <a:bodyPr wrap="square"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E</a:t>
            </a:r>
            <a:endParaRPr lang="en-US" sz="2200" dirty="0"/>
          </a:p>
        </p:txBody>
      </p:sp>
      <p:sp>
        <p:nvSpPr>
          <p:cNvPr id="21" name="Text 19"/>
          <p:cNvSpPr/>
          <p:nvPr/>
        </p:nvSpPr>
        <p:spPr>
          <a:xfrm>
            <a:off x="1508760" y="3886200"/>
            <a:ext cx="4297680" cy="365760"/>
          </a:xfrm>
          <a:prstGeom prst="rect">
            <a:avLst/>
          </a:prstGeom>
          <a:noFill/>
          <a:ln/>
        </p:spPr>
        <p:txBody>
          <a:bodyPr wrap="square" rtlCol="0" anchor="ctr"/>
          <a:lstStyle/>
          <a:p>
            <a:pPr marL="0" indent="0">
              <a:buNone/>
            </a:pPr>
            <a:r>
              <a:rPr lang="en-US" sz="1700" b="1" dirty="0">
                <a:solidFill>
                  <a:srgbClr val="1A3A5C"/>
                </a:solidFill>
                <a:latin typeface="Segoe UI" pitchFamily="34" charset="0"/>
                <a:ea typeface="Segoe UI" pitchFamily="34" charset="-122"/>
                <a:cs typeface="Segoe UI" pitchFamily="34" charset="-120"/>
              </a:rPr>
              <a:t>Examples</a:t>
            </a:r>
            <a:endParaRPr lang="en-US" sz="1700" dirty="0"/>
          </a:p>
        </p:txBody>
      </p:sp>
      <p:sp>
        <p:nvSpPr>
          <p:cNvPr id="22" name="Text 20"/>
          <p:cNvSpPr/>
          <p:nvPr/>
        </p:nvSpPr>
        <p:spPr>
          <a:xfrm>
            <a:off x="1508760" y="4251960"/>
            <a:ext cx="4297680" cy="320040"/>
          </a:xfrm>
          <a:prstGeom prst="rect">
            <a:avLst/>
          </a:prstGeom>
          <a:noFill/>
          <a:ln/>
        </p:spPr>
        <p:txBody>
          <a:bodyPr wrap="square" rtlCol="0" anchor="ctr"/>
          <a:lstStyle/>
          <a:p>
            <a:pPr marL="0" indent="0">
              <a:buNone/>
            </a:pPr>
            <a:r>
              <a:rPr lang="en-US" sz="1200" i="1" dirty="0">
                <a:solidFill>
                  <a:srgbClr val="636E72"/>
                </a:solidFill>
                <a:latin typeface="Segoe UI" pitchFamily="34" charset="0"/>
                <a:ea typeface="Segoe UI" pitchFamily="34" charset="-122"/>
                <a:cs typeface="Segoe UI" pitchFamily="34" charset="-120"/>
              </a:rPr>
              <a:t>show, don’t tell</a:t>
            </a:r>
            <a:endParaRPr lang="en-US" sz="1200" dirty="0"/>
          </a:p>
        </p:txBody>
      </p:sp>
      <p:sp>
        <p:nvSpPr>
          <p:cNvPr id="23" name="Text 21"/>
          <p:cNvSpPr/>
          <p:nvPr/>
        </p:nvSpPr>
        <p:spPr>
          <a:xfrm>
            <a:off x="777240" y="4709160"/>
            <a:ext cx="5029200" cy="914400"/>
          </a:xfrm>
          <a:prstGeom prst="rect">
            <a:avLst/>
          </a:prstGeom>
          <a:noFill/>
          <a:ln/>
        </p:spPr>
        <p:txBody>
          <a:bodyPr wrap="square" rtlCol="0" anchor="t"/>
          <a:lstStyle/>
          <a:p>
            <a:pPr marL="0" indent="0">
              <a:buNone/>
            </a:pPr>
            <a:r>
              <a:rPr lang="en-US" sz="1100" dirty="0">
                <a:solidFill>
                  <a:srgbClr val="2D3436"/>
                </a:solidFill>
                <a:latin typeface="Segoe UI" pitchFamily="34" charset="0"/>
                <a:ea typeface="Segoe UI" pitchFamily="34" charset="-122"/>
                <a:cs typeface="Segoe UI" pitchFamily="34" charset="-120"/>
              </a:rPr>
              <a:t>given/when/then · edges · errors · feeds the tests</a:t>
            </a:r>
            <a:endParaRPr lang="en-US" sz="1100" dirty="0"/>
          </a:p>
        </p:txBody>
      </p:sp>
      <p:sp>
        <p:nvSpPr>
          <p:cNvPr id="24" name="Shape 22"/>
          <p:cNvSpPr/>
          <p:nvPr/>
        </p:nvSpPr>
        <p:spPr>
          <a:xfrm>
            <a:off x="6172200" y="3657600"/>
            <a:ext cx="5440680" cy="2103120"/>
          </a:xfrm>
          <a:prstGeom prst="roundRect">
            <a:avLst>
              <a:gd name="adj" fmla="val 4348"/>
            </a:avLst>
          </a:prstGeom>
          <a:solidFill>
            <a:srgbClr val="FFFFFF"/>
          </a:solidFill>
          <a:ln w="12700">
            <a:solidFill>
              <a:srgbClr val="DFE6E9"/>
            </a:solidFill>
            <a:prstDash val="solid"/>
          </a:ln>
        </p:spPr>
        <p:txBody>
          <a:bodyPr/>
          <a:lstStyle/>
          <a:p>
            <a:endParaRPr lang="en-US"/>
          </a:p>
        </p:txBody>
      </p:sp>
      <p:sp>
        <p:nvSpPr>
          <p:cNvPr id="25" name="Shape 23"/>
          <p:cNvSpPr/>
          <p:nvPr/>
        </p:nvSpPr>
        <p:spPr>
          <a:xfrm>
            <a:off x="6355080" y="3886200"/>
            <a:ext cx="640080" cy="640080"/>
          </a:xfrm>
          <a:prstGeom prst="ellipse">
            <a:avLst/>
          </a:prstGeom>
          <a:solidFill>
            <a:srgbClr val="00B894"/>
          </a:solidFill>
          <a:ln w="12700">
            <a:solidFill>
              <a:srgbClr val="00B894"/>
            </a:solidFill>
            <a:prstDash val="solid"/>
          </a:ln>
        </p:spPr>
        <p:txBody>
          <a:bodyPr/>
          <a:lstStyle/>
          <a:p>
            <a:endParaRPr lang="en-US"/>
          </a:p>
        </p:txBody>
      </p:sp>
      <p:sp>
        <p:nvSpPr>
          <p:cNvPr id="26" name="Text 24"/>
          <p:cNvSpPr/>
          <p:nvPr/>
        </p:nvSpPr>
        <p:spPr>
          <a:xfrm>
            <a:off x="6355080" y="3886200"/>
            <a:ext cx="640080" cy="640080"/>
          </a:xfrm>
          <a:prstGeom prst="rect">
            <a:avLst/>
          </a:prstGeom>
          <a:noFill/>
          <a:ln/>
        </p:spPr>
        <p:txBody>
          <a:bodyPr wrap="square"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A</a:t>
            </a:r>
            <a:endParaRPr lang="en-US" sz="2200" dirty="0"/>
          </a:p>
        </p:txBody>
      </p:sp>
      <p:sp>
        <p:nvSpPr>
          <p:cNvPr id="27" name="Text 25"/>
          <p:cNvSpPr/>
          <p:nvPr/>
        </p:nvSpPr>
        <p:spPr>
          <a:xfrm>
            <a:off x="7132320" y="3886200"/>
            <a:ext cx="4297680" cy="365760"/>
          </a:xfrm>
          <a:prstGeom prst="rect">
            <a:avLst/>
          </a:prstGeom>
          <a:noFill/>
          <a:ln/>
        </p:spPr>
        <p:txBody>
          <a:bodyPr wrap="square" rtlCol="0" anchor="ctr"/>
          <a:lstStyle/>
          <a:p>
            <a:pPr marL="0" indent="0">
              <a:buNone/>
            </a:pPr>
            <a:r>
              <a:rPr lang="en-US" sz="1700" b="1" dirty="0">
                <a:solidFill>
                  <a:srgbClr val="1A3A5C"/>
                </a:solidFill>
                <a:latin typeface="Segoe UI" pitchFamily="34" charset="0"/>
                <a:ea typeface="Segoe UI" pitchFamily="34" charset="-122"/>
                <a:cs typeface="Segoe UI" pitchFamily="34" charset="-120"/>
              </a:rPr>
              <a:t>Acceptance</a:t>
            </a:r>
            <a:endParaRPr lang="en-US" sz="1700" dirty="0"/>
          </a:p>
        </p:txBody>
      </p:sp>
      <p:sp>
        <p:nvSpPr>
          <p:cNvPr id="28" name="Text 26"/>
          <p:cNvSpPr/>
          <p:nvPr/>
        </p:nvSpPr>
        <p:spPr>
          <a:xfrm>
            <a:off x="7132320" y="4251960"/>
            <a:ext cx="4297680" cy="320040"/>
          </a:xfrm>
          <a:prstGeom prst="rect">
            <a:avLst/>
          </a:prstGeom>
          <a:noFill/>
          <a:ln/>
        </p:spPr>
        <p:txBody>
          <a:bodyPr wrap="square" rtlCol="0" anchor="ctr"/>
          <a:lstStyle/>
          <a:p>
            <a:pPr marL="0" indent="0">
              <a:buNone/>
            </a:pPr>
            <a:r>
              <a:rPr lang="en-US" sz="1200" i="1" dirty="0">
                <a:solidFill>
                  <a:srgbClr val="636E72"/>
                </a:solidFill>
                <a:latin typeface="Segoe UI" pitchFamily="34" charset="0"/>
                <a:ea typeface="Segoe UI" pitchFamily="34" charset="-122"/>
                <a:cs typeface="Segoe UI" pitchFamily="34" charset="-120"/>
              </a:rPr>
              <a:t>definition of done</a:t>
            </a:r>
            <a:endParaRPr lang="en-US" sz="1200" dirty="0"/>
          </a:p>
        </p:txBody>
      </p:sp>
      <p:sp>
        <p:nvSpPr>
          <p:cNvPr id="29" name="Text 27"/>
          <p:cNvSpPr/>
          <p:nvPr/>
        </p:nvSpPr>
        <p:spPr>
          <a:xfrm>
            <a:off x="6400800" y="4709160"/>
            <a:ext cx="5029200" cy="914400"/>
          </a:xfrm>
          <a:prstGeom prst="rect">
            <a:avLst/>
          </a:prstGeom>
          <a:noFill/>
          <a:ln/>
        </p:spPr>
        <p:txBody>
          <a:bodyPr wrap="square" rtlCol="0" anchor="t"/>
          <a:lstStyle/>
          <a:p>
            <a:pPr marL="0" indent="0">
              <a:buNone/>
            </a:pPr>
            <a:r>
              <a:rPr lang="en-US" sz="1100" dirty="0">
                <a:solidFill>
                  <a:srgbClr val="2D3436"/>
                </a:solidFill>
                <a:latin typeface="Segoe UI" pitchFamily="34" charset="0"/>
                <a:ea typeface="Segoe UI" pitchFamily="34" charset="-122"/>
                <a:cs typeface="Segoe UI" pitchFamily="34" charset="-120"/>
              </a:rPr>
              <a:t>pass/fail, no argument · feeds what closes the ticket</a:t>
            </a:r>
            <a:endParaRPr lang="en-US" sz="1100" dirty="0"/>
          </a:p>
        </p:txBody>
      </p:sp>
      <p:sp>
        <p:nvSpPr>
          <p:cNvPr id="30" name="Text 28"/>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10 / 45</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A real ICEA — what you’re actually approving</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Shape 3"/>
          <p:cNvSpPr/>
          <p:nvPr/>
        </p:nvSpPr>
        <p:spPr>
          <a:xfrm>
            <a:off x="877824" y="987552"/>
            <a:ext cx="10515600" cy="5257800"/>
          </a:xfrm>
          <a:prstGeom prst="rect">
            <a:avLst/>
          </a:prstGeom>
          <a:solidFill>
            <a:srgbClr val="D9DFE6"/>
          </a:solidFill>
          <a:ln/>
        </p:spPr>
        <p:txBody>
          <a:bodyPr/>
          <a:lstStyle/>
          <a:p>
            <a:endParaRPr lang="en-US"/>
          </a:p>
        </p:txBody>
      </p:sp>
      <p:sp>
        <p:nvSpPr>
          <p:cNvPr id="6" name="Shape 4"/>
          <p:cNvSpPr/>
          <p:nvPr/>
        </p:nvSpPr>
        <p:spPr>
          <a:xfrm>
            <a:off x="822960" y="914400"/>
            <a:ext cx="10515600" cy="5257800"/>
          </a:xfrm>
          <a:prstGeom prst="rect">
            <a:avLst/>
          </a:prstGeom>
          <a:solidFill>
            <a:srgbClr val="FFFFFF"/>
          </a:solidFill>
          <a:ln w="12700">
            <a:solidFill>
              <a:srgbClr val="DFE6E9"/>
            </a:solidFill>
            <a:prstDash val="solid"/>
          </a:ln>
        </p:spPr>
        <p:txBody>
          <a:bodyPr/>
          <a:lstStyle/>
          <a:p>
            <a:endParaRPr lang="en-US"/>
          </a:p>
        </p:txBody>
      </p:sp>
      <p:sp>
        <p:nvSpPr>
          <p:cNvPr id="7" name="Shape 5"/>
          <p:cNvSpPr/>
          <p:nvPr/>
        </p:nvSpPr>
        <p:spPr>
          <a:xfrm>
            <a:off x="822960" y="914400"/>
            <a:ext cx="10515600" cy="566928"/>
          </a:xfrm>
          <a:prstGeom prst="rect">
            <a:avLst/>
          </a:prstGeom>
          <a:solidFill>
            <a:srgbClr val="1A3A5C"/>
          </a:solidFill>
          <a:ln w="12700">
            <a:solidFill>
              <a:srgbClr val="1A3A5C"/>
            </a:solidFill>
            <a:prstDash val="solid"/>
          </a:ln>
        </p:spPr>
        <p:txBody>
          <a:bodyPr/>
          <a:lstStyle/>
          <a:p>
            <a:endParaRPr lang="en-US"/>
          </a:p>
        </p:txBody>
      </p:sp>
      <p:sp>
        <p:nvSpPr>
          <p:cNvPr id="8" name="Text 6"/>
          <p:cNvSpPr/>
          <p:nvPr/>
        </p:nvSpPr>
        <p:spPr>
          <a:xfrm>
            <a:off x="1051560" y="914400"/>
            <a:ext cx="6766560" cy="566928"/>
          </a:xfrm>
          <a:prstGeom prst="rect">
            <a:avLst/>
          </a:prstGeom>
          <a:noFill/>
          <a:ln/>
        </p:spPr>
        <p:txBody>
          <a:bodyPr wrap="square" rtlCol="0" anchor="ctr"/>
          <a:lstStyle/>
          <a:p>
            <a:pPr marL="0" indent="0">
              <a:buNone/>
            </a:pPr>
            <a:r>
              <a:rPr lang="en-US" sz="1400" b="1" dirty="0">
                <a:solidFill>
                  <a:srgbClr val="FFFFFF"/>
                </a:solidFill>
                <a:latin typeface="Cascadia Code" pitchFamily="34" charset="0"/>
                <a:ea typeface="Cascadia Code" pitchFamily="34" charset="-122"/>
                <a:cs typeface="Cascadia Code" pitchFamily="34" charset="-120"/>
              </a:rPr>
              <a:t># ICEA — Deal Search Filter</a:t>
            </a:r>
            <a:endParaRPr lang="en-US" sz="1400" dirty="0"/>
          </a:p>
        </p:txBody>
      </p:sp>
      <p:sp>
        <p:nvSpPr>
          <p:cNvPr id="9" name="Text 7"/>
          <p:cNvSpPr/>
          <p:nvPr/>
        </p:nvSpPr>
        <p:spPr>
          <a:xfrm>
            <a:off x="7772400" y="914400"/>
            <a:ext cx="2011680" cy="566928"/>
          </a:xfrm>
          <a:prstGeom prst="rect">
            <a:avLst/>
          </a:prstGeom>
          <a:noFill/>
          <a:ln/>
        </p:spPr>
        <p:txBody>
          <a:bodyPr wrap="square" rtlCol="0" anchor="ctr"/>
          <a:lstStyle/>
          <a:p>
            <a:pPr marL="0" indent="0">
              <a:buNone/>
            </a:pPr>
            <a:r>
              <a:rPr lang="en-US" sz="900" dirty="0">
                <a:solidFill>
                  <a:srgbClr val="AAC3DD"/>
                </a:solidFill>
                <a:latin typeface="Cascadia Code" pitchFamily="34" charset="0"/>
                <a:ea typeface="Cascadia Code" pitchFamily="34" charset="-122"/>
                <a:cs typeface="Cascadia Code" pitchFamily="34" charset="-120"/>
              </a:rPr>
              <a:t>ADO #1847 · Release 4 · Sprint 3</a:t>
            </a:r>
            <a:endParaRPr lang="en-US" sz="900" dirty="0"/>
          </a:p>
        </p:txBody>
      </p:sp>
      <p:sp>
        <p:nvSpPr>
          <p:cNvPr id="10" name="Shape 8"/>
          <p:cNvSpPr/>
          <p:nvPr/>
        </p:nvSpPr>
        <p:spPr>
          <a:xfrm>
            <a:off x="9646920" y="1060704"/>
            <a:ext cx="1508760" cy="274320"/>
          </a:xfrm>
          <a:prstGeom prst="roundRect">
            <a:avLst>
              <a:gd name="adj" fmla="val 50000"/>
            </a:avLst>
          </a:prstGeom>
          <a:solidFill>
            <a:srgbClr val="0F5132"/>
          </a:solidFill>
          <a:ln w="12700">
            <a:solidFill>
              <a:srgbClr val="00B894"/>
            </a:solidFill>
            <a:prstDash val="solid"/>
          </a:ln>
        </p:spPr>
        <p:txBody>
          <a:bodyPr/>
          <a:lstStyle/>
          <a:p>
            <a:endParaRPr lang="en-US"/>
          </a:p>
        </p:txBody>
      </p:sp>
      <p:sp>
        <p:nvSpPr>
          <p:cNvPr id="11" name="Text 9"/>
          <p:cNvSpPr/>
          <p:nvPr/>
        </p:nvSpPr>
        <p:spPr>
          <a:xfrm>
            <a:off x="9646920" y="1060704"/>
            <a:ext cx="1508760" cy="274320"/>
          </a:xfrm>
          <a:prstGeom prst="rect">
            <a:avLst/>
          </a:prstGeom>
          <a:noFill/>
          <a:ln/>
        </p:spPr>
        <p:txBody>
          <a:bodyPr wrap="square" rtlCol="0" anchor="ctr"/>
          <a:lstStyle/>
          <a:p>
            <a:pPr marL="0" indent="0" algn="ctr">
              <a:buNone/>
            </a:pPr>
            <a:r>
              <a:rPr lang="en-US" sz="900" b="1" dirty="0">
                <a:solidFill>
                  <a:srgbClr val="A8F0D0"/>
                </a:solidFill>
                <a:latin typeface="Cascadia Code" pitchFamily="34" charset="0"/>
                <a:ea typeface="Cascadia Code" pitchFamily="34" charset="-122"/>
                <a:cs typeface="Cascadia Code" pitchFamily="34" charset="-120"/>
              </a:rPr>
              <a:t>✅ APPROVED</a:t>
            </a:r>
            <a:endParaRPr lang="en-US" sz="900" dirty="0"/>
          </a:p>
        </p:txBody>
      </p:sp>
      <p:sp>
        <p:nvSpPr>
          <p:cNvPr id="12" name="Shape 10"/>
          <p:cNvSpPr/>
          <p:nvPr/>
        </p:nvSpPr>
        <p:spPr>
          <a:xfrm>
            <a:off x="1097280" y="1664208"/>
            <a:ext cx="109728" cy="896112"/>
          </a:xfrm>
          <a:prstGeom prst="rect">
            <a:avLst/>
          </a:prstGeom>
          <a:solidFill>
            <a:srgbClr val="E84C1E"/>
          </a:solidFill>
          <a:ln w="12700">
            <a:solidFill>
              <a:srgbClr val="E84C1E"/>
            </a:solidFill>
            <a:prstDash val="solid"/>
          </a:ln>
        </p:spPr>
        <p:txBody>
          <a:bodyPr/>
          <a:lstStyle/>
          <a:p>
            <a:endParaRPr lang="en-US"/>
          </a:p>
        </p:txBody>
      </p:sp>
      <p:sp>
        <p:nvSpPr>
          <p:cNvPr id="13" name="Text 11"/>
          <p:cNvSpPr/>
          <p:nvPr/>
        </p:nvSpPr>
        <p:spPr>
          <a:xfrm>
            <a:off x="1298448" y="1645920"/>
            <a:ext cx="9765792" cy="237744"/>
          </a:xfrm>
          <a:prstGeom prst="rect">
            <a:avLst/>
          </a:prstGeom>
          <a:noFill/>
          <a:ln/>
        </p:spPr>
        <p:txBody>
          <a:bodyPr wrap="square" rtlCol="0" anchor="ctr"/>
          <a:lstStyle/>
          <a:p>
            <a:pPr marL="0" indent="0">
              <a:buNone/>
            </a:pPr>
            <a:r>
              <a:rPr lang="en-US" sz="950" b="1" kern="0" spc="100" dirty="0">
                <a:solidFill>
                  <a:srgbClr val="E84C1E"/>
                </a:solidFill>
                <a:latin typeface="Cascadia Code" pitchFamily="34" charset="0"/>
                <a:ea typeface="Cascadia Code" pitchFamily="34" charset="-122"/>
                <a:cs typeface="Cascadia Code" pitchFamily="34" charset="-120"/>
              </a:rPr>
              <a:t>## INTENT</a:t>
            </a:r>
            <a:endParaRPr lang="en-US" sz="950" dirty="0"/>
          </a:p>
        </p:txBody>
      </p:sp>
      <p:sp>
        <p:nvSpPr>
          <p:cNvPr id="14" name="Text 12"/>
          <p:cNvSpPr/>
          <p:nvPr/>
        </p:nvSpPr>
        <p:spPr>
          <a:xfrm>
            <a:off x="1298448" y="1901952"/>
            <a:ext cx="9765792" cy="713232"/>
          </a:xfrm>
          <a:prstGeom prst="rect">
            <a:avLst/>
          </a:prstGeom>
          <a:noFill/>
          <a:ln/>
        </p:spPr>
        <p:txBody>
          <a:bodyPr wrap="square" rtlCol="0" anchor="t"/>
          <a:lstStyle/>
          <a:p>
            <a:pPr marL="0" indent="0">
              <a:buNone/>
            </a:pPr>
            <a:r>
              <a:rPr lang="en-US" sz="1150" dirty="0">
                <a:solidFill>
                  <a:srgbClr val="2D3436"/>
                </a:solidFill>
                <a:latin typeface="Segoe UI" pitchFamily="34" charset="0"/>
                <a:ea typeface="Segoe UI" pitchFamily="34" charset="-122"/>
                <a:cs typeface="Segoe UI" pitchFamily="34" charset="-120"/>
              </a:rPr>
              <a:t>As a deal analyst, I want to search the deals grid by name, status and date range, so that I can find a matter in seconds instead of scrolling.  Success metric: median time-to-find &lt; 5s on 10k deals.</a:t>
            </a:r>
            <a:endParaRPr lang="en-US" sz="1150" dirty="0"/>
          </a:p>
        </p:txBody>
      </p:sp>
      <p:sp>
        <p:nvSpPr>
          <p:cNvPr id="15" name="Shape 13"/>
          <p:cNvSpPr/>
          <p:nvPr/>
        </p:nvSpPr>
        <p:spPr>
          <a:xfrm>
            <a:off x="1097280" y="2670048"/>
            <a:ext cx="109728" cy="896112"/>
          </a:xfrm>
          <a:prstGeom prst="rect">
            <a:avLst/>
          </a:prstGeom>
          <a:solidFill>
            <a:srgbClr val="C8A951"/>
          </a:solidFill>
          <a:ln w="12700">
            <a:solidFill>
              <a:srgbClr val="C8A951"/>
            </a:solidFill>
            <a:prstDash val="solid"/>
          </a:ln>
        </p:spPr>
        <p:txBody>
          <a:bodyPr/>
          <a:lstStyle/>
          <a:p>
            <a:endParaRPr lang="en-US"/>
          </a:p>
        </p:txBody>
      </p:sp>
      <p:sp>
        <p:nvSpPr>
          <p:cNvPr id="16" name="Text 14"/>
          <p:cNvSpPr/>
          <p:nvPr/>
        </p:nvSpPr>
        <p:spPr>
          <a:xfrm>
            <a:off x="1298448" y="2651760"/>
            <a:ext cx="9765792" cy="237744"/>
          </a:xfrm>
          <a:prstGeom prst="rect">
            <a:avLst/>
          </a:prstGeom>
          <a:noFill/>
          <a:ln/>
        </p:spPr>
        <p:txBody>
          <a:bodyPr wrap="square" rtlCol="0" anchor="ctr"/>
          <a:lstStyle/>
          <a:p>
            <a:pPr marL="0" indent="0">
              <a:buNone/>
            </a:pPr>
            <a:r>
              <a:rPr lang="en-US" sz="950" b="1" kern="0" spc="100" dirty="0">
                <a:solidFill>
                  <a:srgbClr val="C8A951"/>
                </a:solidFill>
                <a:latin typeface="Cascadia Code" pitchFamily="34" charset="0"/>
                <a:ea typeface="Cascadia Code" pitchFamily="34" charset="-122"/>
                <a:cs typeface="Cascadia Code" pitchFamily="34" charset="-120"/>
              </a:rPr>
              <a:t>## CONTEXT</a:t>
            </a:r>
            <a:endParaRPr lang="en-US" sz="950" dirty="0"/>
          </a:p>
        </p:txBody>
      </p:sp>
      <p:sp>
        <p:nvSpPr>
          <p:cNvPr id="17" name="Text 15"/>
          <p:cNvSpPr/>
          <p:nvPr/>
        </p:nvSpPr>
        <p:spPr>
          <a:xfrm>
            <a:off x="1298448" y="2907792"/>
            <a:ext cx="9765792" cy="713232"/>
          </a:xfrm>
          <a:prstGeom prst="rect">
            <a:avLst/>
          </a:prstGeom>
          <a:noFill/>
          <a:ln/>
        </p:spPr>
        <p:txBody>
          <a:bodyPr wrap="square" rtlCol="0" anchor="t"/>
          <a:lstStyle/>
          <a:p>
            <a:pPr marL="0" indent="0">
              <a:buNone/>
            </a:pPr>
            <a:r>
              <a:rPr lang="en-US" sz="1150" dirty="0">
                <a:solidFill>
                  <a:srgbClr val="2D3436"/>
                </a:solidFill>
                <a:latin typeface="Segoe UI" pitchFamily="34" charset="0"/>
                <a:ea typeface="Segoe UI" pitchFamily="34" charset="-122"/>
                <a:cs typeface="Segoe UI" pitchFamily="34" charset="-120"/>
              </a:rPr>
              <a:t>System context:  API — DealController (modify) · Web — deals-grid.component (extend) · Data — Dapper + parameterised SQL.  Change tier: T2 — new query path, no schema change. Auth: roleId from Azure AD token.</a:t>
            </a:r>
            <a:endParaRPr lang="en-US" sz="1150" dirty="0"/>
          </a:p>
        </p:txBody>
      </p:sp>
      <p:sp>
        <p:nvSpPr>
          <p:cNvPr id="18" name="Shape 16"/>
          <p:cNvSpPr/>
          <p:nvPr/>
        </p:nvSpPr>
        <p:spPr>
          <a:xfrm>
            <a:off x="1097280" y="3675888"/>
            <a:ext cx="109728" cy="640080"/>
          </a:xfrm>
          <a:prstGeom prst="rect">
            <a:avLst/>
          </a:prstGeom>
          <a:solidFill>
            <a:srgbClr val="1A56DB"/>
          </a:solidFill>
          <a:ln w="12700">
            <a:solidFill>
              <a:srgbClr val="1A56DB"/>
            </a:solidFill>
            <a:prstDash val="solid"/>
          </a:ln>
        </p:spPr>
        <p:txBody>
          <a:bodyPr/>
          <a:lstStyle/>
          <a:p>
            <a:endParaRPr lang="en-US"/>
          </a:p>
        </p:txBody>
      </p:sp>
      <p:sp>
        <p:nvSpPr>
          <p:cNvPr id="19" name="Text 17"/>
          <p:cNvSpPr/>
          <p:nvPr/>
        </p:nvSpPr>
        <p:spPr>
          <a:xfrm>
            <a:off x="1298448" y="3657600"/>
            <a:ext cx="9765792" cy="237744"/>
          </a:xfrm>
          <a:prstGeom prst="rect">
            <a:avLst/>
          </a:prstGeom>
          <a:noFill/>
          <a:ln/>
        </p:spPr>
        <p:txBody>
          <a:bodyPr wrap="square" rtlCol="0" anchor="ctr"/>
          <a:lstStyle/>
          <a:p>
            <a:pPr marL="0" indent="0">
              <a:buNone/>
            </a:pPr>
            <a:r>
              <a:rPr lang="en-US" sz="950" b="1" kern="0" spc="100" dirty="0">
                <a:solidFill>
                  <a:srgbClr val="1A56DB"/>
                </a:solidFill>
                <a:latin typeface="Cascadia Code" pitchFamily="34" charset="0"/>
                <a:ea typeface="Cascadia Code" pitchFamily="34" charset="-122"/>
                <a:cs typeface="Cascadia Code" pitchFamily="34" charset="-120"/>
              </a:rPr>
              <a:t>## EXAMPLES</a:t>
            </a:r>
            <a:endParaRPr lang="en-US" sz="950" dirty="0"/>
          </a:p>
        </p:txBody>
      </p:sp>
      <p:sp>
        <p:nvSpPr>
          <p:cNvPr id="20" name="Text 18"/>
          <p:cNvSpPr/>
          <p:nvPr/>
        </p:nvSpPr>
        <p:spPr>
          <a:xfrm>
            <a:off x="1298448" y="3913632"/>
            <a:ext cx="9765792" cy="457200"/>
          </a:xfrm>
          <a:prstGeom prst="rect">
            <a:avLst/>
          </a:prstGeom>
          <a:noFill/>
          <a:ln/>
        </p:spPr>
        <p:txBody>
          <a:bodyPr wrap="square" rtlCol="0" anchor="t"/>
          <a:lstStyle/>
          <a:p>
            <a:pPr marL="0" indent="0">
              <a:buNone/>
            </a:pPr>
            <a:r>
              <a:rPr lang="en-US" sz="1150" dirty="0">
                <a:solidFill>
                  <a:srgbClr val="2D3436"/>
                </a:solidFill>
                <a:latin typeface="Segoe UI" pitchFamily="34" charset="0"/>
                <a:ea typeface="Segoe UI" pitchFamily="34" charset="-122"/>
                <a:cs typeface="Segoe UI" pitchFamily="34" charset="-120"/>
              </a:rPr>
              <a:t>Happy path —  Given an active analyst, When they type “acme” and pick status = Open, Then matching deals return, newest first.</a:t>
            </a:r>
            <a:endParaRPr lang="en-US" sz="1150" dirty="0"/>
          </a:p>
        </p:txBody>
      </p:sp>
      <p:sp>
        <p:nvSpPr>
          <p:cNvPr id="21" name="Shape 19"/>
          <p:cNvSpPr/>
          <p:nvPr/>
        </p:nvSpPr>
        <p:spPr>
          <a:xfrm>
            <a:off x="1097280" y="4425696"/>
            <a:ext cx="109728" cy="758952"/>
          </a:xfrm>
          <a:prstGeom prst="rect">
            <a:avLst/>
          </a:prstGeom>
          <a:solidFill>
            <a:srgbClr val="00B894"/>
          </a:solidFill>
          <a:ln w="12700">
            <a:solidFill>
              <a:srgbClr val="00B894"/>
            </a:solidFill>
            <a:prstDash val="solid"/>
          </a:ln>
        </p:spPr>
        <p:txBody>
          <a:bodyPr/>
          <a:lstStyle/>
          <a:p>
            <a:endParaRPr lang="en-US"/>
          </a:p>
        </p:txBody>
      </p:sp>
      <p:sp>
        <p:nvSpPr>
          <p:cNvPr id="22" name="Text 20"/>
          <p:cNvSpPr/>
          <p:nvPr/>
        </p:nvSpPr>
        <p:spPr>
          <a:xfrm>
            <a:off x="1298448" y="4407408"/>
            <a:ext cx="9765792" cy="237744"/>
          </a:xfrm>
          <a:prstGeom prst="rect">
            <a:avLst/>
          </a:prstGeom>
          <a:noFill/>
          <a:ln/>
        </p:spPr>
        <p:txBody>
          <a:bodyPr wrap="square" rtlCol="0" anchor="ctr"/>
          <a:lstStyle/>
          <a:p>
            <a:pPr marL="0" indent="0">
              <a:buNone/>
            </a:pPr>
            <a:r>
              <a:rPr lang="en-US" sz="950" b="1" kern="0" spc="100" dirty="0">
                <a:solidFill>
                  <a:srgbClr val="00B894"/>
                </a:solidFill>
                <a:latin typeface="Cascadia Code" pitchFamily="34" charset="0"/>
                <a:ea typeface="Cascadia Code" pitchFamily="34" charset="-122"/>
                <a:cs typeface="Cascadia Code" pitchFamily="34" charset="-120"/>
              </a:rPr>
              <a:t>## ACCEPTANCE</a:t>
            </a:r>
            <a:endParaRPr lang="en-US" sz="950" dirty="0"/>
          </a:p>
        </p:txBody>
      </p:sp>
      <p:sp>
        <p:nvSpPr>
          <p:cNvPr id="23" name="Text 21"/>
          <p:cNvSpPr/>
          <p:nvPr/>
        </p:nvSpPr>
        <p:spPr>
          <a:xfrm>
            <a:off x="1298448" y="4663440"/>
            <a:ext cx="9765792" cy="576072"/>
          </a:xfrm>
          <a:prstGeom prst="rect">
            <a:avLst/>
          </a:prstGeom>
          <a:noFill/>
          <a:ln/>
        </p:spPr>
        <p:txBody>
          <a:bodyPr wrap="square" rtlCol="0" anchor="t"/>
          <a:lstStyle/>
          <a:p>
            <a:pPr marL="0" indent="0">
              <a:buNone/>
            </a:pPr>
            <a:r>
              <a:rPr lang="en-US" sz="1150" dirty="0">
                <a:solidFill>
                  <a:srgbClr val="2D3436"/>
                </a:solidFill>
                <a:latin typeface="Segoe UI" pitchFamily="34" charset="0"/>
                <a:ea typeface="Segoe UI" pitchFamily="34" charset="-122"/>
                <a:cs typeface="Segoe UI" pitchFamily="34" charset="-120"/>
              </a:rPr>
              <a:t>AC-F1: results filter by name / status / date, combinable.   AC-NF1: p95 latency &lt; 300ms on 10k rows.   Out of scope: saved searches · export.</a:t>
            </a:r>
            <a:endParaRPr lang="en-US" sz="1150" dirty="0"/>
          </a:p>
        </p:txBody>
      </p:sp>
      <p:sp>
        <p:nvSpPr>
          <p:cNvPr id="24" name="Shape 22"/>
          <p:cNvSpPr/>
          <p:nvPr/>
        </p:nvSpPr>
        <p:spPr>
          <a:xfrm>
            <a:off x="1097280" y="5312664"/>
            <a:ext cx="9966960" cy="0"/>
          </a:xfrm>
          <a:prstGeom prst="line">
            <a:avLst/>
          </a:prstGeom>
          <a:noFill/>
          <a:ln w="12700">
            <a:solidFill>
              <a:srgbClr val="DFE6E9"/>
            </a:solidFill>
            <a:prstDash val="solid"/>
          </a:ln>
        </p:spPr>
        <p:txBody>
          <a:bodyPr/>
          <a:lstStyle/>
          <a:p>
            <a:endParaRPr lang="en-US"/>
          </a:p>
        </p:txBody>
      </p:sp>
      <p:sp>
        <p:nvSpPr>
          <p:cNvPr id="25" name="Text 23"/>
          <p:cNvSpPr/>
          <p:nvPr/>
        </p:nvSpPr>
        <p:spPr>
          <a:xfrm>
            <a:off x="1097280" y="5385816"/>
            <a:ext cx="9966960" cy="274320"/>
          </a:xfrm>
          <a:prstGeom prst="rect">
            <a:avLst/>
          </a:prstGeom>
          <a:noFill/>
          <a:ln/>
        </p:spPr>
        <p:txBody>
          <a:bodyPr wrap="square" rtlCol="0" anchor="ctr"/>
          <a:lstStyle/>
          <a:p>
            <a:pPr marL="0" indent="0">
              <a:buNone/>
            </a:pPr>
            <a:r>
              <a:rPr lang="en-US" sz="1000" b="1" dirty="0">
                <a:solidFill>
                  <a:srgbClr val="636E72"/>
                </a:solidFill>
                <a:latin typeface="Cascadia Code" pitchFamily="34" charset="0"/>
                <a:ea typeface="Cascadia Code" pitchFamily="34" charset="-122"/>
                <a:cs typeface="Cascadia Code" pitchFamily="34" charset="-120"/>
              </a:rPr>
              <a:t>Sign-off:   Product ✅   ·   Tech Lead ✅</a:t>
            </a:r>
            <a:endParaRPr lang="en-US" sz="1000" dirty="0"/>
          </a:p>
        </p:txBody>
      </p:sp>
      <p:sp>
        <p:nvSpPr>
          <p:cNvPr id="26" name="Text 24"/>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11 / 45</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The spec is you thinking — not the tool policing you</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Shape 3"/>
          <p:cNvSpPr/>
          <p:nvPr/>
        </p:nvSpPr>
        <p:spPr>
          <a:xfrm>
            <a:off x="548640" y="914400"/>
            <a:ext cx="64008" cy="1920240"/>
          </a:xfrm>
          <a:prstGeom prst="rect">
            <a:avLst/>
          </a:prstGeom>
          <a:solidFill>
            <a:srgbClr val="C8A951"/>
          </a:solidFill>
          <a:ln w="12700">
            <a:solidFill>
              <a:srgbClr val="C8A951"/>
            </a:solidFill>
            <a:prstDash val="solid"/>
          </a:ln>
        </p:spPr>
        <p:txBody>
          <a:bodyPr/>
          <a:lstStyle/>
          <a:p>
            <a:endParaRPr lang="en-US"/>
          </a:p>
        </p:txBody>
      </p:sp>
      <p:sp>
        <p:nvSpPr>
          <p:cNvPr id="6" name="Shape 4"/>
          <p:cNvSpPr/>
          <p:nvPr/>
        </p:nvSpPr>
        <p:spPr>
          <a:xfrm>
            <a:off x="612648" y="914400"/>
            <a:ext cx="11000232" cy="1920240"/>
          </a:xfrm>
          <a:prstGeom prst="rect">
            <a:avLst/>
          </a:prstGeom>
          <a:solidFill>
            <a:srgbClr val="FDFCF5"/>
          </a:solidFill>
          <a:ln w="12700">
            <a:solidFill>
              <a:srgbClr val="DFE6E9"/>
            </a:solidFill>
            <a:prstDash val="solid"/>
          </a:ln>
        </p:spPr>
        <p:txBody>
          <a:bodyPr/>
          <a:lstStyle/>
          <a:p>
            <a:endParaRPr lang="en-US"/>
          </a:p>
        </p:txBody>
      </p:sp>
      <p:sp>
        <p:nvSpPr>
          <p:cNvPr id="7" name="Text 5"/>
          <p:cNvSpPr/>
          <p:nvPr/>
        </p:nvSpPr>
        <p:spPr>
          <a:xfrm>
            <a:off x="731520" y="1024128"/>
            <a:ext cx="10607040" cy="201168"/>
          </a:xfrm>
          <a:prstGeom prst="rect">
            <a:avLst/>
          </a:prstGeom>
          <a:noFill/>
          <a:ln/>
        </p:spPr>
        <p:txBody>
          <a:bodyPr wrap="square" rtlCol="0" anchor="ctr"/>
          <a:lstStyle/>
          <a:p>
            <a:pPr marL="0" indent="0">
              <a:buNone/>
            </a:pPr>
            <a:r>
              <a:rPr lang="en-US" sz="800" b="1" kern="0" spc="150" dirty="0">
                <a:solidFill>
                  <a:srgbClr val="C8A951"/>
                </a:solidFill>
                <a:latin typeface="Cascadia Code" pitchFamily="34" charset="0"/>
                <a:ea typeface="Cascadia Code" pitchFamily="34" charset="-122"/>
                <a:cs typeface="Cascadia Code" pitchFamily="34" charset="-120"/>
              </a:rPr>
              <a:t>THE INSIGHT  ·  ADR 0001</a:t>
            </a:r>
            <a:endParaRPr lang="en-US" sz="800" dirty="0"/>
          </a:p>
        </p:txBody>
      </p:sp>
      <p:sp>
        <p:nvSpPr>
          <p:cNvPr id="8" name="Text 6"/>
          <p:cNvSpPr/>
          <p:nvPr/>
        </p:nvSpPr>
        <p:spPr>
          <a:xfrm>
            <a:off x="731520" y="1207008"/>
            <a:ext cx="10607040" cy="1280160"/>
          </a:xfrm>
          <a:prstGeom prst="rect">
            <a:avLst/>
          </a:prstGeom>
          <a:noFill/>
          <a:ln/>
        </p:spPr>
        <p:txBody>
          <a:bodyPr wrap="square" rtlCol="0" anchor="t"/>
          <a:lstStyle/>
          <a:p>
            <a:pPr marL="0" indent="0">
              <a:buNone/>
            </a:pPr>
            <a:r>
              <a:rPr lang="en-US" sz="1300" b="1" dirty="0">
                <a:solidFill>
                  <a:srgbClr val="1A3A5C"/>
                </a:solidFill>
                <a:latin typeface="Segoe UI" pitchFamily="34" charset="0"/>
                <a:ea typeface="Segoe UI" pitchFamily="34" charset="-122"/>
                <a:cs typeface="Segoe UI" pitchFamily="34" charset="-120"/>
              </a:rPr>
              <a:t>"The ICEA step isn’t a form the tool makes you fill in. It’s the moment you do the part of the job that’s now yours — turning a one-line ask into an intent the AI can’t misread."</a:t>
            </a:r>
            <a:endParaRPr lang="en-US" sz="1300" dirty="0"/>
          </a:p>
        </p:txBody>
      </p:sp>
      <p:sp>
        <p:nvSpPr>
          <p:cNvPr id="9" name="Text 7"/>
          <p:cNvSpPr/>
          <p:nvPr/>
        </p:nvSpPr>
        <p:spPr>
          <a:xfrm>
            <a:off x="731520" y="2487168"/>
            <a:ext cx="9692640" cy="274320"/>
          </a:xfrm>
          <a:prstGeom prst="rect">
            <a:avLst/>
          </a:prstGeom>
          <a:noFill/>
          <a:ln/>
        </p:spPr>
        <p:txBody>
          <a:bodyPr wrap="square" rtlCol="0" anchor="ctr"/>
          <a:lstStyle/>
          <a:p>
            <a:pPr marL="0" indent="0">
              <a:buNone/>
            </a:pPr>
            <a:r>
              <a:rPr lang="en-US" sz="1000" dirty="0">
                <a:solidFill>
                  <a:srgbClr val="636E72"/>
                </a:solidFill>
                <a:latin typeface="Segoe UI" pitchFamily="34" charset="0"/>
                <a:ea typeface="Segoe UI" pitchFamily="34" charset="-122"/>
                <a:cs typeface="Segoe UI" pitchFamily="34" charset="-120"/>
              </a:rPr>
              <a:t>Developers who knew a thin spec would bite them started thinking harder up front — on their own. Nobody enforced better specs. The incentive did.</a:t>
            </a:r>
            <a:endParaRPr lang="en-US" sz="1000" dirty="0"/>
          </a:p>
        </p:txBody>
      </p:sp>
      <p:sp>
        <p:nvSpPr>
          <p:cNvPr id="10" name="Text 8"/>
          <p:cNvSpPr/>
          <p:nvPr/>
        </p:nvSpPr>
        <p:spPr>
          <a:xfrm>
            <a:off x="10607040" y="2560320"/>
            <a:ext cx="868680" cy="201168"/>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ADR 0001</a:t>
            </a:r>
            <a:endParaRPr lang="en-US" sz="800" dirty="0"/>
          </a:p>
        </p:txBody>
      </p:sp>
      <p:sp>
        <p:nvSpPr>
          <p:cNvPr id="11" name="Shape 9"/>
          <p:cNvSpPr/>
          <p:nvPr/>
        </p:nvSpPr>
        <p:spPr>
          <a:xfrm>
            <a:off x="548640" y="3017520"/>
            <a:ext cx="64008" cy="1783080"/>
          </a:xfrm>
          <a:prstGeom prst="rect">
            <a:avLst/>
          </a:prstGeom>
          <a:solidFill>
            <a:srgbClr val="C8A951"/>
          </a:solidFill>
          <a:ln w="12700">
            <a:solidFill>
              <a:srgbClr val="C8A951"/>
            </a:solidFill>
            <a:prstDash val="solid"/>
          </a:ln>
        </p:spPr>
        <p:txBody>
          <a:bodyPr/>
          <a:lstStyle/>
          <a:p>
            <a:endParaRPr lang="en-US"/>
          </a:p>
        </p:txBody>
      </p:sp>
      <p:sp>
        <p:nvSpPr>
          <p:cNvPr id="12" name="Shape 10"/>
          <p:cNvSpPr/>
          <p:nvPr/>
        </p:nvSpPr>
        <p:spPr>
          <a:xfrm>
            <a:off x="612648" y="3017520"/>
            <a:ext cx="11000232" cy="1783080"/>
          </a:xfrm>
          <a:prstGeom prst="rect">
            <a:avLst/>
          </a:prstGeom>
          <a:solidFill>
            <a:srgbClr val="FDFCF5"/>
          </a:solidFill>
          <a:ln w="12700">
            <a:solidFill>
              <a:srgbClr val="DFE6E9"/>
            </a:solidFill>
            <a:prstDash val="solid"/>
          </a:ln>
        </p:spPr>
        <p:txBody>
          <a:bodyPr/>
          <a:lstStyle/>
          <a:p>
            <a:endParaRPr lang="en-US"/>
          </a:p>
        </p:txBody>
      </p:sp>
      <p:sp>
        <p:nvSpPr>
          <p:cNvPr id="13" name="Text 11"/>
          <p:cNvSpPr/>
          <p:nvPr/>
        </p:nvSpPr>
        <p:spPr>
          <a:xfrm>
            <a:off x="731520" y="3127248"/>
            <a:ext cx="10607040" cy="201168"/>
          </a:xfrm>
          <a:prstGeom prst="rect">
            <a:avLst/>
          </a:prstGeom>
          <a:noFill/>
          <a:ln/>
        </p:spPr>
        <p:txBody>
          <a:bodyPr wrap="square" rtlCol="0" anchor="ctr"/>
          <a:lstStyle/>
          <a:p>
            <a:pPr marL="0" indent="0">
              <a:buNone/>
            </a:pPr>
            <a:r>
              <a:rPr lang="en-US" sz="800" b="1" kern="0" spc="150" dirty="0">
                <a:solidFill>
                  <a:srgbClr val="C8A951"/>
                </a:solidFill>
                <a:latin typeface="Cascadia Code" pitchFamily="34" charset="0"/>
                <a:ea typeface="Cascadia Code" pitchFamily="34" charset="-122"/>
                <a:cs typeface="Cascadia Code" pitchFamily="34" charset="-120"/>
              </a:rPr>
              <a:t>THE HONESTY PIVOT  ·  ADR 0009 → ADR 0010</a:t>
            </a:r>
            <a:endParaRPr lang="en-US" sz="800" dirty="0"/>
          </a:p>
        </p:txBody>
      </p:sp>
      <p:sp>
        <p:nvSpPr>
          <p:cNvPr id="14" name="Text 12"/>
          <p:cNvSpPr/>
          <p:nvPr/>
        </p:nvSpPr>
        <p:spPr>
          <a:xfrm>
            <a:off x="731520" y="3310128"/>
            <a:ext cx="10607040" cy="1143000"/>
          </a:xfrm>
          <a:prstGeom prst="rect">
            <a:avLst/>
          </a:prstGeom>
          <a:noFill/>
          <a:ln/>
        </p:spPr>
        <p:txBody>
          <a:bodyPr wrap="square" rtlCol="0" anchor="t"/>
          <a:lstStyle/>
          <a:p>
            <a:pPr marL="0" indent="0">
              <a:buNone/>
            </a:pPr>
            <a:r>
              <a:rPr lang="en-US" sz="1300" b="1" dirty="0">
                <a:solidFill>
                  <a:srgbClr val="1A3A5C"/>
                </a:solidFill>
                <a:latin typeface="Segoe UI" pitchFamily="34" charset="0"/>
                <a:ea typeface="Segoe UI" pitchFamily="34" charset="-122"/>
                <a:cs typeface="Segoe UI" pitchFamily="34" charset="-120"/>
              </a:rPr>
              <a:t>"The floor governs the willing and makes bypass visible — not impossible."</a:t>
            </a:r>
            <a:endParaRPr lang="en-US" sz="1300" dirty="0"/>
          </a:p>
        </p:txBody>
      </p:sp>
      <p:sp>
        <p:nvSpPr>
          <p:cNvPr id="15" name="Text 13"/>
          <p:cNvSpPr/>
          <p:nvPr/>
        </p:nvSpPr>
        <p:spPr>
          <a:xfrm>
            <a:off x="731520" y="4453128"/>
            <a:ext cx="9692640" cy="274320"/>
          </a:xfrm>
          <a:prstGeom prst="rect">
            <a:avLst/>
          </a:prstGeom>
          <a:noFill/>
          <a:ln/>
        </p:spPr>
        <p:txBody>
          <a:bodyPr wrap="square" rtlCol="0" anchor="ctr"/>
          <a:lstStyle/>
          <a:p>
            <a:pPr marL="0" indent="0">
              <a:buNone/>
            </a:pPr>
            <a:r>
              <a:rPr lang="en-US" sz="1000" dirty="0">
                <a:solidFill>
                  <a:srgbClr val="636E72"/>
                </a:solidFill>
                <a:latin typeface="Segoe UI" pitchFamily="34" charset="0"/>
                <a:ea typeface="Segoe UI" pitchFamily="34" charset="-122"/>
                <a:cs typeface="Segoe UI" pitchFamily="34" charset="-120"/>
              </a:rPr>
              <a:t>Server-side enforcement was the goal (ADR 0009). Deployment reality: the plugin never runs in CI. Answer: make skipping the thinking visible, not pretend it’s impossible.</a:t>
            </a:r>
            <a:endParaRPr lang="en-US" sz="1000" dirty="0"/>
          </a:p>
        </p:txBody>
      </p:sp>
      <p:sp>
        <p:nvSpPr>
          <p:cNvPr id="16" name="Text 14"/>
          <p:cNvSpPr/>
          <p:nvPr/>
        </p:nvSpPr>
        <p:spPr>
          <a:xfrm>
            <a:off x="10607040" y="4526280"/>
            <a:ext cx="868680" cy="201168"/>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ADR 0010</a:t>
            </a:r>
            <a:endParaRPr lang="en-US" sz="800" dirty="0"/>
          </a:p>
        </p:txBody>
      </p:sp>
      <p:sp>
        <p:nvSpPr>
          <p:cNvPr id="17" name="Text 15"/>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12 / 45</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You write the contract; the AI is the contractor</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Shape 3"/>
          <p:cNvSpPr/>
          <p:nvPr/>
        </p:nvSpPr>
        <p:spPr>
          <a:xfrm>
            <a:off x="274320" y="1051560"/>
            <a:ext cx="1645920" cy="548640"/>
          </a:xfrm>
          <a:prstGeom prst="roundRect">
            <a:avLst>
              <a:gd name="adj" fmla="val 11667"/>
            </a:avLst>
          </a:prstGeom>
          <a:solidFill>
            <a:srgbClr val="FFFFFF"/>
          </a:solidFill>
          <a:ln w="12700">
            <a:solidFill>
              <a:srgbClr val="DFE6E9"/>
            </a:solidFill>
            <a:prstDash val="solid"/>
          </a:ln>
        </p:spPr>
        <p:txBody>
          <a:bodyPr/>
          <a:lstStyle/>
          <a:p>
            <a:endParaRPr lang="en-US"/>
          </a:p>
        </p:txBody>
      </p:sp>
      <p:sp>
        <p:nvSpPr>
          <p:cNvPr id="6" name="Text 4"/>
          <p:cNvSpPr/>
          <p:nvPr/>
        </p:nvSpPr>
        <p:spPr>
          <a:xfrm>
            <a:off x="274320" y="1051560"/>
            <a:ext cx="1645920" cy="548640"/>
          </a:xfrm>
          <a:prstGeom prst="rect">
            <a:avLst/>
          </a:prstGeom>
          <a:noFill/>
          <a:ln/>
        </p:spPr>
        <p:txBody>
          <a:bodyPr wrap="square" rtlCol="0" anchor="ctr"/>
          <a:lstStyle/>
          <a:p>
            <a:pPr marL="0" indent="0" algn="ctr">
              <a:buNone/>
            </a:pPr>
            <a:r>
              <a:rPr lang="en-US" sz="950" b="1" dirty="0">
                <a:solidFill>
                  <a:srgbClr val="1A3A5C"/>
                </a:solidFill>
                <a:latin typeface="Segoe UI" pitchFamily="34" charset="0"/>
                <a:ea typeface="Segoe UI" pitchFamily="34" charset="-122"/>
                <a:cs typeface="Segoe UI" pitchFamily="34" charset="-120"/>
              </a:rPr>
              <a:t>You: define</a:t>
            </a:r>
            <a:endParaRPr lang="en-US" sz="950" dirty="0"/>
          </a:p>
          <a:p>
            <a:pPr marL="0" indent="0" algn="ctr">
              <a:buNone/>
            </a:pPr>
            <a:r>
              <a:rPr lang="en-US" sz="950" b="1" dirty="0">
                <a:solidFill>
                  <a:srgbClr val="1A3A5C"/>
                </a:solidFill>
                <a:latin typeface="Segoe UI" pitchFamily="34" charset="0"/>
                <a:ea typeface="Segoe UI" pitchFamily="34" charset="-122"/>
                <a:cs typeface="Segoe UI" pitchFamily="34" charset="-120"/>
              </a:rPr>
              <a:t>intent (ICEA)</a:t>
            </a:r>
            <a:endParaRPr lang="en-US" sz="950" dirty="0"/>
          </a:p>
        </p:txBody>
      </p:sp>
      <p:sp>
        <p:nvSpPr>
          <p:cNvPr id="7" name="Text 5"/>
          <p:cNvSpPr/>
          <p:nvPr/>
        </p:nvSpPr>
        <p:spPr>
          <a:xfrm>
            <a:off x="1920240" y="1051560"/>
            <a:ext cx="365760" cy="548640"/>
          </a:xfrm>
          <a:prstGeom prst="rect">
            <a:avLst/>
          </a:prstGeom>
          <a:noFill/>
          <a:ln/>
        </p:spPr>
        <p:txBody>
          <a:bodyPr wrap="square" rtlCol="0" anchor="ctr"/>
          <a:lstStyle/>
          <a:p>
            <a:pPr marL="0" indent="0" algn="ctr">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8" name="Shape 6"/>
          <p:cNvSpPr/>
          <p:nvPr/>
        </p:nvSpPr>
        <p:spPr>
          <a:xfrm>
            <a:off x="2286000" y="1051560"/>
            <a:ext cx="1645920" cy="548640"/>
          </a:xfrm>
          <a:prstGeom prst="roundRect">
            <a:avLst>
              <a:gd name="adj" fmla="val 11667"/>
            </a:avLst>
          </a:prstGeom>
          <a:solidFill>
            <a:srgbClr val="C8A951"/>
          </a:solidFill>
          <a:ln w="12700">
            <a:solidFill>
              <a:srgbClr val="C8A951"/>
            </a:solidFill>
            <a:prstDash val="solid"/>
          </a:ln>
        </p:spPr>
        <p:txBody>
          <a:bodyPr/>
          <a:lstStyle/>
          <a:p>
            <a:endParaRPr lang="en-US"/>
          </a:p>
        </p:txBody>
      </p:sp>
      <p:sp>
        <p:nvSpPr>
          <p:cNvPr id="9" name="Text 7"/>
          <p:cNvSpPr/>
          <p:nvPr/>
        </p:nvSpPr>
        <p:spPr>
          <a:xfrm>
            <a:off x="2286000" y="1051560"/>
            <a:ext cx="1645920" cy="548640"/>
          </a:xfrm>
          <a:prstGeom prst="rect">
            <a:avLst/>
          </a:prstGeom>
          <a:noFill/>
          <a:ln/>
        </p:spPr>
        <p:txBody>
          <a:bodyPr wrap="square" rtlCol="0" anchor="ctr"/>
          <a:lstStyle/>
          <a:p>
            <a:pPr marL="0" indent="0" algn="ctr">
              <a:buNone/>
            </a:pPr>
            <a:r>
              <a:rPr lang="en-US" sz="950" b="1" dirty="0">
                <a:solidFill>
                  <a:srgbClr val="1A2B17"/>
                </a:solidFill>
                <a:latin typeface="Segoe UI" pitchFamily="34" charset="0"/>
                <a:ea typeface="Segoe UI" pitchFamily="34" charset="-122"/>
                <a:cs typeface="Segoe UI" pitchFamily="34" charset="-120"/>
              </a:rPr>
              <a:t>You: APPROVE</a:t>
            </a:r>
            <a:endParaRPr lang="en-US" sz="950" dirty="0"/>
          </a:p>
          <a:p>
            <a:pPr marL="0" indent="0" algn="ctr">
              <a:buNone/>
            </a:pPr>
            <a:r>
              <a:rPr lang="en-US" sz="950" b="1" dirty="0">
                <a:solidFill>
                  <a:srgbClr val="1A2B17"/>
                </a:solidFill>
                <a:latin typeface="Segoe UI" pitchFamily="34" charset="0"/>
                <a:ea typeface="Segoe UI" pitchFamily="34" charset="-122"/>
                <a:cs typeface="Segoe UI" pitchFamily="34" charset="-120"/>
              </a:rPr>
              <a:t>ADO-{ID}</a:t>
            </a:r>
            <a:endParaRPr lang="en-US" sz="950" dirty="0"/>
          </a:p>
        </p:txBody>
      </p:sp>
      <p:sp>
        <p:nvSpPr>
          <p:cNvPr id="10" name="Text 8"/>
          <p:cNvSpPr/>
          <p:nvPr/>
        </p:nvSpPr>
        <p:spPr>
          <a:xfrm>
            <a:off x="3931920" y="1051560"/>
            <a:ext cx="365760" cy="548640"/>
          </a:xfrm>
          <a:prstGeom prst="rect">
            <a:avLst/>
          </a:prstGeom>
          <a:noFill/>
          <a:ln/>
        </p:spPr>
        <p:txBody>
          <a:bodyPr wrap="square" rtlCol="0" anchor="ctr"/>
          <a:lstStyle/>
          <a:p>
            <a:pPr marL="0" indent="0" algn="ctr">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11" name="Shape 9"/>
          <p:cNvSpPr/>
          <p:nvPr/>
        </p:nvSpPr>
        <p:spPr>
          <a:xfrm>
            <a:off x="4297680" y="1051560"/>
            <a:ext cx="1645920" cy="548640"/>
          </a:xfrm>
          <a:prstGeom prst="roundRect">
            <a:avLst>
              <a:gd name="adj" fmla="val 11667"/>
            </a:avLst>
          </a:prstGeom>
          <a:solidFill>
            <a:srgbClr val="FFFFFF"/>
          </a:solidFill>
          <a:ln w="12700">
            <a:solidFill>
              <a:srgbClr val="DFE6E9"/>
            </a:solidFill>
            <a:prstDash val="solid"/>
          </a:ln>
        </p:spPr>
        <p:txBody>
          <a:bodyPr/>
          <a:lstStyle/>
          <a:p>
            <a:endParaRPr lang="en-US"/>
          </a:p>
        </p:txBody>
      </p:sp>
      <p:sp>
        <p:nvSpPr>
          <p:cNvPr id="12" name="Text 10"/>
          <p:cNvSpPr/>
          <p:nvPr/>
        </p:nvSpPr>
        <p:spPr>
          <a:xfrm>
            <a:off x="4297680" y="1051560"/>
            <a:ext cx="1645920" cy="548640"/>
          </a:xfrm>
          <a:prstGeom prst="rect">
            <a:avLst/>
          </a:prstGeom>
          <a:noFill/>
          <a:ln/>
        </p:spPr>
        <p:txBody>
          <a:bodyPr wrap="square" rtlCol="0" anchor="ctr"/>
          <a:lstStyle/>
          <a:p>
            <a:pPr marL="0" indent="0" algn="ctr">
              <a:buNone/>
            </a:pPr>
            <a:r>
              <a:rPr lang="en-US" sz="950" b="1" dirty="0">
                <a:solidFill>
                  <a:srgbClr val="1A3A5C"/>
                </a:solidFill>
                <a:latin typeface="Segoe UI" pitchFamily="34" charset="0"/>
                <a:ea typeface="Segoe UI" pitchFamily="34" charset="-122"/>
                <a:cs typeface="Segoe UI" pitchFamily="34" charset="-120"/>
              </a:rPr>
              <a:t>AI: build</a:t>
            </a:r>
            <a:endParaRPr lang="en-US" sz="950" dirty="0"/>
          </a:p>
        </p:txBody>
      </p:sp>
      <p:sp>
        <p:nvSpPr>
          <p:cNvPr id="13" name="Text 11"/>
          <p:cNvSpPr/>
          <p:nvPr/>
        </p:nvSpPr>
        <p:spPr>
          <a:xfrm>
            <a:off x="5943600" y="1051560"/>
            <a:ext cx="365760" cy="548640"/>
          </a:xfrm>
          <a:prstGeom prst="rect">
            <a:avLst/>
          </a:prstGeom>
          <a:noFill/>
          <a:ln/>
        </p:spPr>
        <p:txBody>
          <a:bodyPr wrap="square" rtlCol="0" anchor="ctr"/>
          <a:lstStyle/>
          <a:p>
            <a:pPr marL="0" indent="0" algn="ctr">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14" name="Shape 12"/>
          <p:cNvSpPr/>
          <p:nvPr/>
        </p:nvSpPr>
        <p:spPr>
          <a:xfrm>
            <a:off x="6309360" y="1051560"/>
            <a:ext cx="1645920" cy="548640"/>
          </a:xfrm>
          <a:prstGeom prst="roundRect">
            <a:avLst>
              <a:gd name="adj" fmla="val 11667"/>
            </a:avLst>
          </a:prstGeom>
          <a:solidFill>
            <a:srgbClr val="C8A951"/>
          </a:solidFill>
          <a:ln w="12700">
            <a:solidFill>
              <a:srgbClr val="C8A951"/>
            </a:solidFill>
            <a:prstDash val="solid"/>
          </a:ln>
        </p:spPr>
        <p:txBody>
          <a:bodyPr/>
          <a:lstStyle/>
          <a:p>
            <a:endParaRPr lang="en-US"/>
          </a:p>
        </p:txBody>
      </p:sp>
      <p:sp>
        <p:nvSpPr>
          <p:cNvPr id="15" name="Text 13"/>
          <p:cNvSpPr/>
          <p:nvPr/>
        </p:nvSpPr>
        <p:spPr>
          <a:xfrm>
            <a:off x="6309360" y="1051560"/>
            <a:ext cx="1645920" cy="548640"/>
          </a:xfrm>
          <a:prstGeom prst="rect">
            <a:avLst/>
          </a:prstGeom>
          <a:noFill/>
          <a:ln/>
        </p:spPr>
        <p:txBody>
          <a:bodyPr wrap="square" rtlCol="0" anchor="ctr"/>
          <a:lstStyle/>
          <a:p>
            <a:pPr marL="0" indent="0" algn="ctr">
              <a:buNone/>
            </a:pPr>
            <a:r>
              <a:rPr lang="en-US" sz="950" b="1" dirty="0">
                <a:solidFill>
                  <a:srgbClr val="1A2B17"/>
                </a:solidFill>
                <a:latin typeface="Segoe UI" pitchFamily="34" charset="0"/>
                <a:ea typeface="Segoe UI" pitchFamily="34" charset="-122"/>
                <a:cs typeface="Segoe UI" pitchFamily="34" charset="-120"/>
              </a:rPr>
              <a:t>You: sign</a:t>
            </a:r>
            <a:endParaRPr lang="en-US" sz="950" dirty="0"/>
          </a:p>
          <a:p>
            <a:pPr marL="0" indent="0" algn="ctr">
              <a:buNone/>
            </a:pPr>
            <a:r>
              <a:rPr lang="en-US" sz="950" b="1" dirty="0">
                <a:solidFill>
                  <a:srgbClr val="1A2B17"/>
                </a:solidFill>
                <a:latin typeface="Segoe UI" pitchFamily="34" charset="0"/>
                <a:ea typeface="Segoe UI" pitchFamily="34" charset="-122"/>
                <a:cs typeface="Segoe UI" pitchFamily="34" charset="-120"/>
              </a:rPr>
              <a:t>the diff</a:t>
            </a:r>
            <a:endParaRPr lang="en-US" sz="950" dirty="0"/>
          </a:p>
        </p:txBody>
      </p:sp>
      <p:sp>
        <p:nvSpPr>
          <p:cNvPr id="16" name="Text 14"/>
          <p:cNvSpPr/>
          <p:nvPr/>
        </p:nvSpPr>
        <p:spPr>
          <a:xfrm>
            <a:off x="7955280" y="1051560"/>
            <a:ext cx="365760" cy="548640"/>
          </a:xfrm>
          <a:prstGeom prst="rect">
            <a:avLst/>
          </a:prstGeom>
          <a:noFill/>
          <a:ln/>
        </p:spPr>
        <p:txBody>
          <a:bodyPr wrap="square" rtlCol="0" anchor="ctr"/>
          <a:lstStyle/>
          <a:p>
            <a:pPr marL="0" indent="0" algn="ctr">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17" name="Shape 15"/>
          <p:cNvSpPr/>
          <p:nvPr/>
        </p:nvSpPr>
        <p:spPr>
          <a:xfrm>
            <a:off x="8321040" y="1051560"/>
            <a:ext cx="1645920" cy="548640"/>
          </a:xfrm>
          <a:prstGeom prst="roundRect">
            <a:avLst>
              <a:gd name="adj" fmla="val 11667"/>
            </a:avLst>
          </a:prstGeom>
          <a:solidFill>
            <a:srgbClr val="00B894"/>
          </a:solidFill>
          <a:ln w="12700">
            <a:solidFill>
              <a:srgbClr val="00B894"/>
            </a:solidFill>
            <a:prstDash val="solid"/>
          </a:ln>
        </p:spPr>
        <p:txBody>
          <a:bodyPr/>
          <a:lstStyle/>
          <a:p>
            <a:endParaRPr lang="en-US"/>
          </a:p>
        </p:txBody>
      </p:sp>
      <p:sp>
        <p:nvSpPr>
          <p:cNvPr id="18" name="Text 16"/>
          <p:cNvSpPr/>
          <p:nvPr/>
        </p:nvSpPr>
        <p:spPr>
          <a:xfrm>
            <a:off x="8321040" y="1051560"/>
            <a:ext cx="1645920" cy="548640"/>
          </a:xfrm>
          <a:prstGeom prst="rect">
            <a:avLst/>
          </a:prstGeom>
          <a:noFill/>
          <a:ln/>
        </p:spPr>
        <p:txBody>
          <a:bodyPr wrap="square"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Source on</a:t>
            </a:r>
            <a:endParaRPr lang="en-US" sz="950" dirty="0"/>
          </a:p>
          <a:p>
            <a:pPr marL="0" indent="0" algn="ctr">
              <a:buNone/>
            </a:pPr>
            <a:r>
              <a:rPr lang="en-US" sz="950" b="1" dirty="0">
                <a:solidFill>
                  <a:srgbClr val="FFFFFF"/>
                </a:solidFill>
                <a:latin typeface="Segoe UI" pitchFamily="34" charset="0"/>
                <a:ea typeface="Segoe UI" pitchFamily="34" charset="-122"/>
                <a:cs typeface="Segoe UI" pitchFamily="34" charset="-120"/>
              </a:rPr>
              <a:t>disk</a:t>
            </a:r>
            <a:endParaRPr lang="en-US" sz="950" dirty="0"/>
          </a:p>
        </p:txBody>
      </p:sp>
      <p:sp>
        <p:nvSpPr>
          <p:cNvPr id="19" name="Text 17"/>
          <p:cNvSpPr/>
          <p:nvPr/>
        </p:nvSpPr>
        <p:spPr>
          <a:xfrm>
            <a:off x="9966960" y="1051560"/>
            <a:ext cx="365760" cy="548640"/>
          </a:xfrm>
          <a:prstGeom prst="rect">
            <a:avLst/>
          </a:prstGeom>
          <a:noFill/>
          <a:ln/>
        </p:spPr>
        <p:txBody>
          <a:bodyPr wrap="square" rtlCol="0" anchor="ctr"/>
          <a:lstStyle/>
          <a:p>
            <a:pPr marL="0" indent="0" algn="ctr">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20" name="Shape 18"/>
          <p:cNvSpPr/>
          <p:nvPr/>
        </p:nvSpPr>
        <p:spPr>
          <a:xfrm>
            <a:off x="10332720" y="1051560"/>
            <a:ext cx="1645920" cy="548640"/>
          </a:xfrm>
          <a:prstGeom prst="roundRect">
            <a:avLst>
              <a:gd name="adj" fmla="val 11667"/>
            </a:avLst>
          </a:prstGeom>
          <a:solidFill>
            <a:srgbClr val="FFFFFF"/>
          </a:solidFill>
          <a:ln w="12700">
            <a:solidFill>
              <a:srgbClr val="DFE6E9"/>
            </a:solidFill>
            <a:prstDash val="solid"/>
          </a:ln>
        </p:spPr>
        <p:txBody>
          <a:bodyPr/>
          <a:lstStyle/>
          <a:p>
            <a:endParaRPr lang="en-US"/>
          </a:p>
        </p:txBody>
      </p:sp>
      <p:sp>
        <p:nvSpPr>
          <p:cNvPr id="21" name="Text 19"/>
          <p:cNvSpPr/>
          <p:nvPr/>
        </p:nvSpPr>
        <p:spPr>
          <a:xfrm>
            <a:off x="10332720" y="1051560"/>
            <a:ext cx="1645920" cy="548640"/>
          </a:xfrm>
          <a:prstGeom prst="rect">
            <a:avLst/>
          </a:prstGeom>
          <a:noFill/>
          <a:ln/>
        </p:spPr>
        <p:txBody>
          <a:bodyPr wrap="square" rtlCol="0" anchor="ctr"/>
          <a:lstStyle/>
          <a:p>
            <a:pPr marL="0" indent="0" algn="ctr">
              <a:buNone/>
            </a:pPr>
            <a:r>
              <a:rPr lang="en-US" sz="950" b="1" dirty="0">
                <a:solidFill>
                  <a:srgbClr val="1A3A5C"/>
                </a:solidFill>
                <a:latin typeface="Segoe UI" pitchFamily="34" charset="0"/>
                <a:ea typeface="Segoe UI" pitchFamily="34" charset="-122"/>
                <a:cs typeface="Segoe UI" pitchFamily="34" charset="-120"/>
              </a:rPr>
              <a:t>PR</a:t>
            </a:r>
            <a:endParaRPr lang="en-US" sz="950" dirty="0"/>
          </a:p>
        </p:txBody>
      </p:sp>
      <p:sp>
        <p:nvSpPr>
          <p:cNvPr id="22" name="Shape 20"/>
          <p:cNvSpPr/>
          <p:nvPr/>
        </p:nvSpPr>
        <p:spPr>
          <a:xfrm>
            <a:off x="457200" y="1965960"/>
            <a:ext cx="3611880" cy="2331720"/>
          </a:xfrm>
          <a:prstGeom prst="roundRect">
            <a:avLst>
              <a:gd name="adj" fmla="val 3922"/>
            </a:avLst>
          </a:prstGeom>
          <a:solidFill>
            <a:srgbClr val="FFFFFF"/>
          </a:solidFill>
          <a:ln w="12700">
            <a:solidFill>
              <a:srgbClr val="DFE6E9"/>
            </a:solidFill>
            <a:prstDash val="solid"/>
          </a:ln>
        </p:spPr>
        <p:txBody>
          <a:bodyPr/>
          <a:lstStyle/>
          <a:p>
            <a:endParaRPr lang="en-US"/>
          </a:p>
        </p:txBody>
      </p:sp>
      <p:sp>
        <p:nvSpPr>
          <p:cNvPr id="23" name="Text 21"/>
          <p:cNvSpPr/>
          <p:nvPr/>
        </p:nvSpPr>
        <p:spPr>
          <a:xfrm>
            <a:off x="594360" y="2075688"/>
            <a:ext cx="3337560" cy="201168"/>
          </a:xfrm>
          <a:prstGeom prst="rect">
            <a:avLst/>
          </a:prstGeom>
          <a:noFill/>
          <a:ln/>
        </p:spPr>
        <p:txBody>
          <a:bodyPr wrap="square" rtlCol="0" anchor="ctr"/>
          <a:lstStyle/>
          <a:p>
            <a:pPr marL="0" indent="0">
              <a:buNone/>
            </a:pPr>
            <a:r>
              <a:rPr lang="en-US" sz="800" kern="0" spc="100" dirty="0">
                <a:solidFill>
                  <a:srgbClr val="636E72"/>
                </a:solidFill>
                <a:latin typeface="Cascadia Code" pitchFamily="34" charset="0"/>
                <a:ea typeface="Cascadia Code" pitchFamily="34" charset="-122"/>
                <a:cs typeface="Cascadia Code" pitchFamily="34" charset="-120"/>
              </a:rPr>
              <a:t>LAYER A — MODEL</a:t>
            </a:r>
            <a:endParaRPr lang="en-US" sz="800" dirty="0"/>
          </a:p>
        </p:txBody>
      </p:sp>
      <p:sp>
        <p:nvSpPr>
          <p:cNvPr id="24" name="Text 22"/>
          <p:cNvSpPr/>
          <p:nvPr/>
        </p:nvSpPr>
        <p:spPr>
          <a:xfrm>
            <a:off x="594360" y="2295144"/>
            <a:ext cx="3337560" cy="320040"/>
          </a:xfrm>
          <a:prstGeom prst="rect">
            <a:avLst/>
          </a:prstGeom>
          <a:noFill/>
          <a:ln/>
        </p:spPr>
        <p:txBody>
          <a:bodyPr wrap="square" rtlCol="0" anchor="ctr"/>
          <a:lstStyle/>
          <a:p>
            <a:pPr marL="0" indent="0">
              <a:buNone/>
            </a:pPr>
            <a:r>
              <a:rPr lang="en-US" sz="1300" b="1" dirty="0">
                <a:solidFill>
                  <a:srgbClr val="1A3A5C"/>
                </a:solidFill>
                <a:latin typeface="Segoe UI" pitchFamily="34" charset="0"/>
                <a:ea typeface="Segoe UI" pitchFamily="34" charset="-122"/>
                <a:cs typeface="Segoe UI" pitchFamily="34" charset="-120"/>
              </a:rPr>
              <a:t>You: define intent</a:t>
            </a:r>
            <a:endParaRPr lang="en-US" sz="1300" dirty="0"/>
          </a:p>
        </p:txBody>
      </p:sp>
      <p:sp>
        <p:nvSpPr>
          <p:cNvPr id="25" name="Text 23"/>
          <p:cNvSpPr/>
          <p:nvPr/>
        </p:nvSpPr>
        <p:spPr>
          <a:xfrm>
            <a:off x="594360" y="2651760"/>
            <a:ext cx="3337560" cy="1554480"/>
          </a:xfrm>
          <a:prstGeom prst="rect">
            <a:avLst/>
          </a:prstGeom>
          <a:noFill/>
          <a:ln/>
        </p:spPr>
        <p:txBody>
          <a:bodyPr wrap="square" rtlCol="0" anchor="ctr"/>
          <a:lstStyle/>
          <a:p>
            <a:pPr marL="0" indent="0">
              <a:buNone/>
            </a:pPr>
            <a:r>
              <a:rPr lang="en-US" sz="1150" dirty="0">
                <a:solidFill>
                  <a:srgbClr val="636E72"/>
                </a:solidFill>
                <a:latin typeface="Segoe UI" pitchFamily="34" charset="0"/>
                <a:ea typeface="Segoe UI" pitchFamily="34" charset="-122"/>
                <a:cs typeface="Segoe UI" pitchFamily="34" charset="-120"/>
              </a:rPr>
              <a:t>CLAUDE.md rules instruct the model. Probabilistic but flexible — applies everywhere.</a:t>
            </a:r>
            <a:endParaRPr lang="en-US" sz="1150" dirty="0"/>
          </a:p>
        </p:txBody>
      </p:sp>
      <p:sp>
        <p:nvSpPr>
          <p:cNvPr id="26" name="Shape 24"/>
          <p:cNvSpPr/>
          <p:nvPr/>
        </p:nvSpPr>
        <p:spPr>
          <a:xfrm>
            <a:off x="4206240" y="1965960"/>
            <a:ext cx="3611880" cy="2331720"/>
          </a:xfrm>
          <a:prstGeom prst="roundRect">
            <a:avLst>
              <a:gd name="adj" fmla="val 3922"/>
            </a:avLst>
          </a:prstGeom>
          <a:solidFill>
            <a:srgbClr val="FFFFFF"/>
          </a:solidFill>
          <a:ln w="12700">
            <a:solidFill>
              <a:srgbClr val="DFE6E9"/>
            </a:solidFill>
            <a:prstDash val="solid"/>
          </a:ln>
        </p:spPr>
        <p:txBody>
          <a:bodyPr/>
          <a:lstStyle/>
          <a:p>
            <a:endParaRPr lang="en-US"/>
          </a:p>
        </p:txBody>
      </p:sp>
      <p:sp>
        <p:nvSpPr>
          <p:cNvPr id="27" name="Text 25"/>
          <p:cNvSpPr/>
          <p:nvPr/>
        </p:nvSpPr>
        <p:spPr>
          <a:xfrm>
            <a:off x="4343400" y="2075688"/>
            <a:ext cx="3337560" cy="201168"/>
          </a:xfrm>
          <a:prstGeom prst="rect">
            <a:avLst/>
          </a:prstGeom>
          <a:noFill/>
          <a:ln/>
        </p:spPr>
        <p:txBody>
          <a:bodyPr wrap="square" rtlCol="0" anchor="ctr"/>
          <a:lstStyle/>
          <a:p>
            <a:pPr marL="0" indent="0">
              <a:buNone/>
            </a:pPr>
            <a:r>
              <a:rPr lang="en-US" sz="800" kern="0" spc="100" dirty="0">
                <a:solidFill>
                  <a:srgbClr val="636E72"/>
                </a:solidFill>
                <a:latin typeface="Cascadia Code" pitchFamily="34" charset="0"/>
                <a:ea typeface="Cascadia Code" pitchFamily="34" charset="-122"/>
                <a:cs typeface="Cascadia Code" pitchFamily="34" charset="-120"/>
              </a:rPr>
              <a:t>LAYER B — HOOKS</a:t>
            </a:r>
            <a:endParaRPr lang="en-US" sz="800" dirty="0"/>
          </a:p>
        </p:txBody>
      </p:sp>
      <p:sp>
        <p:nvSpPr>
          <p:cNvPr id="28" name="Text 26"/>
          <p:cNvSpPr/>
          <p:nvPr/>
        </p:nvSpPr>
        <p:spPr>
          <a:xfrm>
            <a:off x="4343400" y="2295144"/>
            <a:ext cx="3337560" cy="320040"/>
          </a:xfrm>
          <a:prstGeom prst="rect">
            <a:avLst/>
          </a:prstGeom>
          <a:noFill/>
          <a:ln/>
        </p:spPr>
        <p:txBody>
          <a:bodyPr wrap="square" rtlCol="0" anchor="ctr"/>
          <a:lstStyle/>
          <a:p>
            <a:pPr marL="0" indent="0">
              <a:buNone/>
            </a:pPr>
            <a:r>
              <a:rPr lang="en-US" sz="1300" b="1" dirty="0">
                <a:solidFill>
                  <a:srgbClr val="1A3A5C"/>
                </a:solidFill>
                <a:latin typeface="Segoe UI" pitchFamily="34" charset="0"/>
                <a:ea typeface="Segoe UI" pitchFamily="34" charset="-122"/>
                <a:cs typeface="Segoe UI" pitchFamily="34" charset="-120"/>
              </a:rPr>
              <a:t>You: approve</a:t>
            </a:r>
            <a:endParaRPr lang="en-US" sz="1300" dirty="0"/>
          </a:p>
        </p:txBody>
      </p:sp>
      <p:sp>
        <p:nvSpPr>
          <p:cNvPr id="29" name="Text 27"/>
          <p:cNvSpPr/>
          <p:nvPr/>
        </p:nvSpPr>
        <p:spPr>
          <a:xfrm>
            <a:off x="4343400" y="2651760"/>
            <a:ext cx="3337560" cy="1554480"/>
          </a:xfrm>
          <a:prstGeom prst="rect">
            <a:avLst/>
          </a:prstGeom>
          <a:noFill/>
          <a:ln/>
        </p:spPr>
        <p:txBody>
          <a:bodyPr wrap="square" rtlCol="0" anchor="ctr"/>
          <a:lstStyle/>
          <a:p>
            <a:pPr marL="0" indent="0">
              <a:buNone/>
            </a:pPr>
            <a:r>
              <a:rPr lang="en-US" sz="1150" dirty="0">
                <a:solidFill>
                  <a:srgbClr val="636E72"/>
                </a:solidFill>
                <a:latin typeface="Segoe UI" pitchFamily="34" charset="0"/>
                <a:ea typeface="Segoe UI" pitchFamily="34" charset="-122"/>
                <a:cs typeface="Segoe UI" pitchFamily="34" charset="-120"/>
              </a:rPr>
              <a:t>PreToolUse hooks intercept tool calls mechanically. Deterministic — cannot be argued with.</a:t>
            </a:r>
            <a:endParaRPr lang="en-US" sz="1150" dirty="0"/>
          </a:p>
        </p:txBody>
      </p:sp>
      <p:sp>
        <p:nvSpPr>
          <p:cNvPr id="30" name="Shape 28"/>
          <p:cNvSpPr/>
          <p:nvPr/>
        </p:nvSpPr>
        <p:spPr>
          <a:xfrm>
            <a:off x="7955280" y="1965960"/>
            <a:ext cx="3611880" cy="2331720"/>
          </a:xfrm>
          <a:prstGeom prst="roundRect">
            <a:avLst>
              <a:gd name="adj" fmla="val 3922"/>
            </a:avLst>
          </a:prstGeom>
          <a:solidFill>
            <a:srgbClr val="FFFFFF"/>
          </a:solidFill>
          <a:ln w="12700">
            <a:solidFill>
              <a:srgbClr val="DFE6E9"/>
            </a:solidFill>
            <a:prstDash val="solid"/>
          </a:ln>
        </p:spPr>
        <p:txBody>
          <a:bodyPr/>
          <a:lstStyle/>
          <a:p>
            <a:endParaRPr lang="en-US"/>
          </a:p>
        </p:txBody>
      </p:sp>
      <p:sp>
        <p:nvSpPr>
          <p:cNvPr id="31" name="Text 29"/>
          <p:cNvSpPr/>
          <p:nvPr/>
        </p:nvSpPr>
        <p:spPr>
          <a:xfrm>
            <a:off x="8092440" y="2075688"/>
            <a:ext cx="3337560" cy="201168"/>
          </a:xfrm>
          <a:prstGeom prst="rect">
            <a:avLst/>
          </a:prstGeom>
          <a:noFill/>
          <a:ln/>
        </p:spPr>
        <p:txBody>
          <a:bodyPr wrap="square" rtlCol="0" anchor="ctr"/>
          <a:lstStyle/>
          <a:p>
            <a:pPr marL="0" indent="0">
              <a:buNone/>
            </a:pPr>
            <a:r>
              <a:rPr lang="en-US" sz="800" kern="0" spc="100" dirty="0">
                <a:solidFill>
                  <a:srgbClr val="636E72"/>
                </a:solidFill>
                <a:latin typeface="Cascadia Code" pitchFamily="34" charset="0"/>
                <a:ea typeface="Cascadia Code" pitchFamily="34" charset="-122"/>
                <a:cs typeface="Cascadia Code" pitchFamily="34" charset="-120"/>
              </a:rPr>
              <a:t>LAYER C — GIT / CI</a:t>
            </a:r>
            <a:endParaRPr lang="en-US" sz="800" dirty="0"/>
          </a:p>
        </p:txBody>
      </p:sp>
      <p:sp>
        <p:nvSpPr>
          <p:cNvPr id="32" name="Text 30"/>
          <p:cNvSpPr/>
          <p:nvPr/>
        </p:nvSpPr>
        <p:spPr>
          <a:xfrm>
            <a:off x="8092440" y="2295144"/>
            <a:ext cx="3337560" cy="320040"/>
          </a:xfrm>
          <a:prstGeom prst="rect">
            <a:avLst/>
          </a:prstGeom>
          <a:noFill/>
          <a:ln/>
        </p:spPr>
        <p:txBody>
          <a:bodyPr wrap="square" rtlCol="0" anchor="ctr"/>
          <a:lstStyle/>
          <a:p>
            <a:pPr marL="0" indent="0">
              <a:buNone/>
            </a:pPr>
            <a:r>
              <a:rPr lang="en-US" sz="1300" b="1" dirty="0">
                <a:solidFill>
                  <a:srgbClr val="1A3A5C"/>
                </a:solidFill>
                <a:latin typeface="Segoe UI" pitchFamily="34" charset="0"/>
                <a:ea typeface="Segoe UI" pitchFamily="34" charset="-122"/>
                <a:cs typeface="Segoe UI" pitchFamily="34" charset="-120"/>
              </a:rPr>
              <a:t>The floor is visible</a:t>
            </a:r>
            <a:endParaRPr lang="en-US" sz="1300" dirty="0"/>
          </a:p>
        </p:txBody>
      </p:sp>
      <p:sp>
        <p:nvSpPr>
          <p:cNvPr id="33" name="Text 31"/>
          <p:cNvSpPr/>
          <p:nvPr/>
        </p:nvSpPr>
        <p:spPr>
          <a:xfrm>
            <a:off x="8092440" y="2651760"/>
            <a:ext cx="3337560" cy="1554480"/>
          </a:xfrm>
          <a:prstGeom prst="rect">
            <a:avLst/>
          </a:prstGeom>
          <a:noFill/>
          <a:ln/>
        </p:spPr>
        <p:txBody>
          <a:bodyPr wrap="square" rtlCol="0" anchor="ctr"/>
          <a:lstStyle/>
          <a:p>
            <a:pPr marL="0" indent="0">
              <a:buNone/>
            </a:pPr>
            <a:r>
              <a:rPr lang="en-US" sz="1150" dirty="0">
                <a:solidFill>
                  <a:srgbClr val="636E72"/>
                </a:solidFill>
                <a:latin typeface="Segoe UI" pitchFamily="34" charset="0"/>
                <a:ea typeface="Segoe UI" pitchFamily="34" charset="-122"/>
                <a:cs typeface="Segoe UI" pitchFamily="34" charset="-120"/>
              </a:rPr>
              <a:t>Git pre-commit + CI enforce the minimum. Bypass is visible — not claimed impossible.</a:t>
            </a:r>
            <a:endParaRPr lang="en-US" sz="1150" dirty="0"/>
          </a:p>
        </p:txBody>
      </p:sp>
      <p:sp>
        <p:nvSpPr>
          <p:cNvPr id="34" name="Text 32"/>
          <p:cNvSpPr/>
          <p:nvPr/>
        </p:nvSpPr>
        <p:spPr>
          <a:xfrm>
            <a:off x="457200" y="4480560"/>
            <a:ext cx="11247120" cy="365760"/>
          </a:xfrm>
          <a:prstGeom prst="rect">
            <a:avLst/>
          </a:prstGeom>
          <a:noFill/>
          <a:ln/>
        </p:spPr>
        <p:txBody>
          <a:bodyPr wrap="square" rtlCol="0" anchor="ctr"/>
          <a:lstStyle/>
          <a:p>
            <a:pPr marL="0" indent="0" algn="ctr">
              <a:buNone/>
            </a:pPr>
            <a:r>
              <a:rPr lang="en-US" sz="1200" i="1" dirty="0">
                <a:solidFill>
                  <a:srgbClr val="636E72"/>
                </a:solidFill>
                <a:latin typeface="Segoe UI" pitchFamily="34" charset="0"/>
                <a:ea typeface="Segoe UI" pitchFamily="34" charset="-122"/>
                <a:cs typeface="Segoe UI" pitchFamily="34" charset="-120"/>
              </a:rPr>
              <a:t>Governance is just knowing whose decision it was — a named human answerable at each step.</a:t>
            </a:r>
            <a:endParaRPr lang="en-US" sz="1200" dirty="0"/>
          </a:p>
        </p:txBody>
      </p:sp>
      <p:sp>
        <p:nvSpPr>
          <p:cNvPr id="35" name="Text 33"/>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13 / 45</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F35"/>
        </a:solidFill>
        <a:effectLst/>
      </p:bgPr>
    </p:bg>
    <p:spTree>
      <p:nvGrpSpPr>
        <p:cNvPr id="1" name=""/>
        <p:cNvGrpSpPr/>
        <p:nvPr/>
      </p:nvGrpSpPr>
      <p:grpSpPr>
        <a:xfrm>
          <a:off x="0" y="0"/>
          <a:ext cx="0" cy="0"/>
          <a:chOff x="0" y="0"/>
          <a:chExt cx="0" cy="0"/>
        </a:xfrm>
      </p:grpSpPr>
      <p:sp>
        <p:nvSpPr>
          <p:cNvPr id="2" name="Text 0"/>
          <p:cNvSpPr/>
          <p:nvPr/>
        </p:nvSpPr>
        <p:spPr>
          <a:xfrm>
            <a:off x="365760" y="182880"/>
            <a:ext cx="2743200" cy="2286000"/>
          </a:xfrm>
          <a:prstGeom prst="rect">
            <a:avLst/>
          </a:prstGeom>
          <a:noFill/>
          <a:ln/>
        </p:spPr>
        <p:txBody>
          <a:bodyPr wrap="square" rtlCol="0" anchor="ctr"/>
          <a:lstStyle/>
          <a:p>
            <a:pPr marL="0" indent="0">
              <a:buNone/>
            </a:pPr>
            <a:r>
              <a:rPr lang="en-US" sz="12000" b="1" dirty="0">
                <a:solidFill>
                  <a:srgbClr val="1A3A5C"/>
                </a:solidFill>
                <a:latin typeface="Cascadia Code" pitchFamily="34" charset="0"/>
                <a:ea typeface="Cascadia Code" pitchFamily="34" charset="-122"/>
                <a:cs typeface="Cascadia Code" pitchFamily="34" charset="-120"/>
              </a:rPr>
              <a:t>II</a:t>
            </a:r>
            <a:endParaRPr lang="en-US" sz="12000" dirty="0"/>
          </a:p>
        </p:txBody>
      </p:sp>
      <p:sp>
        <p:nvSpPr>
          <p:cNvPr id="3" name="Text 1"/>
          <p:cNvSpPr/>
          <p:nvPr/>
        </p:nvSpPr>
        <p:spPr>
          <a:xfrm>
            <a:off x="548640" y="1005840"/>
            <a:ext cx="10972800" cy="274320"/>
          </a:xfrm>
          <a:prstGeom prst="rect">
            <a:avLst/>
          </a:prstGeom>
          <a:noFill/>
          <a:ln/>
        </p:spPr>
        <p:txBody>
          <a:bodyPr wrap="square" rtlCol="0" anchor="ctr"/>
          <a:lstStyle/>
          <a:p>
            <a:pPr marL="0" indent="0">
              <a:buNone/>
            </a:pPr>
            <a:r>
              <a:rPr lang="en-US" sz="900" b="1" kern="0" spc="300" dirty="0">
                <a:solidFill>
                  <a:srgbClr val="C8A951"/>
                </a:solidFill>
                <a:latin typeface="Segoe UI" pitchFamily="34" charset="0"/>
                <a:ea typeface="Segoe UI" pitchFamily="34" charset="-122"/>
                <a:cs typeface="Segoe UI" pitchFamily="34" charset="-120"/>
              </a:rPr>
              <a:t>ACT II · THE SECOND ABSENCE</a:t>
            </a:r>
            <a:endParaRPr lang="en-US" sz="900" dirty="0"/>
          </a:p>
        </p:txBody>
      </p:sp>
      <p:sp>
        <p:nvSpPr>
          <p:cNvPr id="4" name="Text 2"/>
          <p:cNvSpPr/>
          <p:nvPr/>
        </p:nvSpPr>
        <p:spPr>
          <a:xfrm>
            <a:off x="548640" y="1371600"/>
            <a:ext cx="10515600" cy="1280160"/>
          </a:xfrm>
          <a:prstGeom prst="rect">
            <a:avLst/>
          </a:prstGeom>
          <a:noFill/>
          <a:ln/>
        </p:spPr>
        <p:txBody>
          <a:bodyPr wrap="square" rtlCol="0" anchor="ctr"/>
          <a:lstStyle/>
          <a:p>
            <a:pPr marL="0" indent="0">
              <a:buNone/>
            </a:pPr>
            <a:r>
              <a:rPr lang="en-US" sz="3200" b="1" dirty="0">
                <a:solidFill>
                  <a:srgbClr val="FFFFFF"/>
                </a:solidFill>
                <a:latin typeface="Segoe UI" pitchFamily="34" charset="0"/>
                <a:ea typeface="Segoe UI" pitchFamily="34" charset="-122"/>
                <a:cs typeface="Segoe UI" pitchFamily="34" charset="-120"/>
              </a:rPr>
              <a:t>Trust Without Measurement</a:t>
            </a:r>
            <a:endParaRPr lang="en-US" sz="3200" dirty="0"/>
          </a:p>
        </p:txBody>
      </p:sp>
      <p:sp>
        <p:nvSpPr>
          <p:cNvPr id="5" name="Shape 3"/>
          <p:cNvSpPr/>
          <p:nvPr/>
        </p:nvSpPr>
        <p:spPr>
          <a:xfrm>
            <a:off x="548640" y="2743200"/>
            <a:ext cx="54864" cy="502920"/>
          </a:xfrm>
          <a:prstGeom prst="rect">
            <a:avLst/>
          </a:prstGeom>
          <a:solidFill>
            <a:srgbClr val="C8A951"/>
          </a:solidFill>
          <a:ln w="12700">
            <a:solidFill>
              <a:srgbClr val="C8A951"/>
            </a:solidFill>
            <a:prstDash val="solid"/>
          </a:ln>
        </p:spPr>
        <p:txBody>
          <a:bodyPr/>
          <a:lstStyle/>
          <a:p>
            <a:endParaRPr lang="en-US"/>
          </a:p>
        </p:txBody>
      </p:sp>
      <p:sp>
        <p:nvSpPr>
          <p:cNvPr id="6" name="Text 4"/>
          <p:cNvSpPr/>
          <p:nvPr/>
        </p:nvSpPr>
        <p:spPr>
          <a:xfrm>
            <a:off x="731520" y="2743200"/>
            <a:ext cx="10058400" cy="502920"/>
          </a:xfrm>
          <a:prstGeom prst="rect">
            <a:avLst/>
          </a:prstGeom>
          <a:noFill/>
          <a:ln/>
        </p:spPr>
        <p:txBody>
          <a:bodyPr wrap="square" rtlCol="0" anchor="ctr"/>
          <a:lstStyle/>
          <a:p>
            <a:pPr marL="0" indent="0">
              <a:buNone/>
            </a:pPr>
            <a:r>
              <a:rPr lang="en-US" sz="1500" i="1" dirty="0">
                <a:solidFill>
                  <a:srgbClr val="B7C6D6"/>
                </a:solidFill>
                <a:latin typeface="Segoe UI" pitchFamily="34" charset="0"/>
                <a:ea typeface="Segoe UI" pitchFamily="34" charset="-122"/>
                <a:cs typeface="Segoe UI" pitchFamily="34" charset="-120"/>
              </a:rPr>
              <a:t>"You were asked to trust the AI’s judgment — with no way to see it or measure it."</a:t>
            </a:r>
            <a:endParaRPr lang="en-US" sz="1500" dirty="0"/>
          </a:p>
        </p:txBody>
      </p:sp>
      <p:sp>
        <p:nvSpPr>
          <p:cNvPr id="7" name="Text 5"/>
          <p:cNvSpPr/>
          <p:nvPr/>
        </p:nvSpPr>
        <p:spPr>
          <a:xfrm>
            <a:off x="548640" y="6309360"/>
            <a:ext cx="11064240" cy="228600"/>
          </a:xfrm>
          <a:prstGeom prst="rect">
            <a:avLst/>
          </a:prstGeom>
          <a:noFill/>
          <a:ln/>
        </p:spPr>
        <p:txBody>
          <a:bodyPr wrap="square" rtlCol="0" anchor="ctr"/>
          <a:lstStyle/>
          <a:p>
            <a:pPr marL="0" indent="0" algn="r">
              <a:buNone/>
            </a:pPr>
            <a:r>
              <a:rPr lang="en-US" sz="800" dirty="0">
                <a:solidFill>
                  <a:srgbClr val="3A5A7C"/>
                </a:solidFill>
                <a:latin typeface="Cascadia Code" pitchFamily="34" charset="0"/>
                <a:ea typeface="Cascadia Code" pitchFamily="34" charset="-122"/>
                <a:cs typeface="Cascadia Code" pitchFamily="34" charset="-120"/>
              </a:rPr>
              <a:t>ADRs 0011 · 0012 · 0013 · 0015 · 0023 · 0047 · 0052</a:t>
            </a:r>
            <a:endParaRPr lang="en-US" sz="800" dirty="0"/>
          </a:p>
        </p:txBody>
      </p:sp>
      <p:sp>
        <p:nvSpPr>
          <p:cNvPr id="8" name="Text 6"/>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14 / 45</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The failure mode: you were reviewing blind</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Text 3"/>
          <p:cNvSpPr/>
          <p:nvPr/>
        </p:nvSpPr>
        <p:spPr>
          <a:xfrm>
            <a:off x="548640" y="914400"/>
            <a:ext cx="10789920" cy="3657600"/>
          </a:xfrm>
          <a:prstGeom prst="rect">
            <a:avLst/>
          </a:prstGeom>
          <a:noFill/>
          <a:ln/>
        </p:spPr>
        <p:txBody>
          <a:bodyPr wrap="square" rtlCol="0" anchor="t"/>
          <a:lstStyle/>
          <a:p>
            <a:pPr>
              <a:spcAft>
                <a:spcPts val="600"/>
              </a:spcAft>
            </a:pPr>
            <a:r>
              <a:rPr lang="en-US" sz="1400" dirty="0">
                <a:solidFill>
                  <a:srgbClr val="2D3436"/>
                </a:solidFill>
                <a:latin typeface="Segoe UI" pitchFamily="34" charset="0"/>
                <a:ea typeface="Segoe UI" pitchFamily="34" charset="-122"/>
                <a:cs typeface="Segoe UI" pitchFamily="34" charset="-120"/>
              </a:rPr>
              <a:t>No layer saw spec and code together. ICEA review happened before code; code review happened after. The one comparison that matters had no reviewer in it.</a:t>
            </a:r>
            <a:endParaRPr lang="en-US" sz="1400" dirty="0"/>
          </a:p>
          <a:p>
            <a:pPr>
              <a:spcAft>
                <a:spcPts val="600"/>
              </a:spcAft>
            </a:pPr>
            <a:r>
              <a:rPr lang="en-US" sz="1400" dirty="0">
                <a:solidFill>
                  <a:srgbClr val="2D3436"/>
                </a:solidFill>
                <a:latin typeface="Segoe UI" pitchFamily="34" charset="0"/>
                <a:ea typeface="Segoe UI" pitchFamily="34" charset="-122"/>
                <a:cs typeface="Segoe UI" pitchFamily="34" charset="-120"/>
              </a:rPr>
              <a:t>Generalist output on specialist artifacts. A security review through a helpful-assistant lens misses what a security engineer would flag instantly.</a:t>
            </a:r>
            <a:endParaRPr lang="en-US" sz="1400" dirty="0"/>
          </a:p>
          <a:p>
            <a:pPr>
              <a:spcAft>
                <a:spcPts val="600"/>
              </a:spcAft>
            </a:pPr>
            <a:r>
              <a:rPr lang="en-US" sz="1400" dirty="0">
                <a:solidFill>
                  <a:srgbClr val="2D3436"/>
                </a:solidFill>
                <a:latin typeface="Segoe UI" pitchFamily="34" charset="0"/>
                <a:ea typeface="Segoe UI" pitchFamily="34" charset="-122"/>
                <a:cs typeface="Segoe UI" pitchFamily="34" charset="-120"/>
              </a:rPr>
              <a:t>Trust was asserted, not measured. "The AI did a good job" was the whole feedback loop — no way to build or calibrate trust over time.</a:t>
            </a:r>
            <a:endParaRPr lang="en-US" sz="1400" dirty="0"/>
          </a:p>
          <a:p>
            <a:pPr>
              <a:spcAft>
                <a:spcPts val="600"/>
              </a:spcAft>
            </a:pPr>
            <a:r>
              <a:rPr lang="en-US" sz="1400" dirty="0">
                <a:solidFill>
                  <a:srgbClr val="2D3436"/>
                </a:solidFill>
                <a:latin typeface="Segoe UI" pitchFamily="34" charset="0"/>
                <a:ea typeface="Segoe UI" pitchFamily="34" charset="-122"/>
                <a:cs typeface="Segoe UI" pitchFamily="34" charset="-120"/>
              </a:rPr>
              <a:t>Every task routed to the same model. Spec drafting, quick fixes, and code review — identical routing regardless of what each needed.</a:t>
            </a:r>
            <a:endParaRPr lang="en-US" sz="1400" dirty="0"/>
          </a:p>
        </p:txBody>
      </p:sp>
      <p:sp>
        <p:nvSpPr>
          <p:cNvPr id="6" name="Text 4"/>
          <p:cNvSpPr/>
          <p:nvPr/>
        </p:nvSpPr>
        <p:spPr>
          <a:xfrm>
            <a:off x="548640" y="4937760"/>
            <a:ext cx="11064240" cy="365760"/>
          </a:xfrm>
          <a:prstGeom prst="rect">
            <a:avLst/>
          </a:prstGeom>
          <a:noFill/>
          <a:ln/>
        </p:spPr>
        <p:txBody>
          <a:bodyPr wrap="square" rtlCol="0" anchor="ctr"/>
          <a:lstStyle/>
          <a:p>
            <a:pPr marL="0" indent="0">
              <a:buNone/>
            </a:pPr>
            <a:r>
              <a:rPr lang="en-US" sz="1300" i="1" dirty="0">
                <a:solidFill>
                  <a:srgbClr val="636E72"/>
                </a:solidFill>
                <a:latin typeface="Segoe UI" pitchFamily="34" charset="0"/>
                <a:ea typeface="Segoe UI" pitchFamily="34" charset="-122"/>
                <a:cs typeface="Segoe UI" pitchFamily="34" charset="-120"/>
              </a:rPr>
              <a:t>The critical window — spec and fresh code, side by side — was empty.</a:t>
            </a:r>
            <a:endParaRPr lang="en-US" sz="1300" dirty="0"/>
          </a:p>
        </p:txBody>
      </p:sp>
      <p:sp>
        <p:nvSpPr>
          <p:cNvPr id="7" name="Text 5"/>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15 / 45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A second reviewer who stands where you can’t</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Shape 3"/>
          <p:cNvSpPr/>
          <p:nvPr/>
        </p:nvSpPr>
        <p:spPr>
          <a:xfrm>
            <a:off x="548640" y="914400"/>
            <a:ext cx="64008" cy="1965960"/>
          </a:xfrm>
          <a:prstGeom prst="rect">
            <a:avLst/>
          </a:prstGeom>
          <a:solidFill>
            <a:srgbClr val="C8A951"/>
          </a:solidFill>
          <a:ln w="12700">
            <a:solidFill>
              <a:srgbClr val="C8A951"/>
            </a:solidFill>
            <a:prstDash val="solid"/>
          </a:ln>
        </p:spPr>
        <p:txBody>
          <a:bodyPr/>
          <a:lstStyle/>
          <a:p>
            <a:endParaRPr lang="en-US"/>
          </a:p>
        </p:txBody>
      </p:sp>
      <p:sp>
        <p:nvSpPr>
          <p:cNvPr id="6" name="Shape 4"/>
          <p:cNvSpPr/>
          <p:nvPr/>
        </p:nvSpPr>
        <p:spPr>
          <a:xfrm>
            <a:off x="612648" y="914400"/>
            <a:ext cx="11000232" cy="1965960"/>
          </a:xfrm>
          <a:prstGeom prst="rect">
            <a:avLst/>
          </a:prstGeom>
          <a:solidFill>
            <a:srgbClr val="FDFCF5"/>
          </a:solidFill>
          <a:ln w="12700">
            <a:solidFill>
              <a:srgbClr val="DFE6E9"/>
            </a:solidFill>
            <a:prstDash val="solid"/>
          </a:ln>
        </p:spPr>
        <p:txBody>
          <a:bodyPr/>
          <a:lstStyle/>
          <a:p>
            <a:endParaRPr lang="en-US"/>
          </a:p>
        </p:txBody>
      </p:sp>
      <p:sp>
        <p:nvSpPr>
          <p:cNvPr id="7" name="Text 5"/>
          <p:cNvSpPr/>
          <p:nvPr/>
        </p:nvSpPr>
        <p:spPr>
          <a:xfrm>
            <a:off x="731520" y="1024128"/>
            <a:ext cx="10607040" cy="201168"/>
          </a:xfrm>
          <a:prstGeom prst="rect">
            <a:avLst/>
          </a:prstGeom>
          <a:noFill/>
          <a:ln/>
        </p:spPr>
        <p:txBody>
          <a:bodyPr wrap="square" rtlCol="0" anchor="ctr"/>
          <a:lstStyle/>
          <a:p>
            <a:pPr marL="0" indent="0">
              <a:buNone/>
            </a:pPr>
            <a:r>
              <a:rPr lang="en-US" sz="800" b="1" kern="0" spc="150" dirty="0">
                <a:solidFill>
                  <a:srgbClr val="C8A951"/>
                </a:solidFill>
                <a:latin typeface="Cascadia Code" pitchFamily="34" charset="0"/>
                <a:ea typeface="Cascadia Code" pitchFamily="34" charset="-122"/>
                <a:cs typeface="Cascadia Code" pitchFamily="34" charset="-120"/>
              </a:rPr>
              <a:t>THE CRITIC  ·  ADR 0012 + ADR 0052</a:t>
            </a:r>
            <a:endParaRPr lang="en-US" sz="800" dirty="0"/>
          </a:p>
        </p:txBody>
      </p:sp>
      <p:sp>
        <p:nvSpPr>
          <p:cNvPr id="8" name="Text 6"/>
          <p:cNvSpPr/>
          <p:nvPr/>
        </p:nvSpPr>
        <p:spPr>
          <a:xfrm>
            <a:off x="731520" y="1207008"/>
            <a:ext cx="10607040" cy="1325880"/>
          </a:xfrm>
          <a:prstGeom prst="rect">
            <a:avLst/>
          </a:prstGeom>
          <a:noFill/>
          <a:ln/>
        </p:spPr>
        <p:txBody>
          <a:bodyPr wrap="square" rtlCol="0" anchor="t"/>
          <a:lstStyle/>
          <a:p>
            <a:pPr marL="0" indent="0">
              <a:buNone/>
            </a:pPr>
            <a:r>
              <a:rPr lang="en-US" sz="1300" b="1" dirty="0">
                <a:solidFill>
                  <a:srgbClr val="1A3A5C"/>
                </a:solidFill>
                <a:latin typeface="Segoe UI" pitchFamily="34" charset="0"/>
                <a:ea typeface="Segoe UI" pitchFamily="34" charset="-122"/>
                <a:cs typeface="Segoe UI" pitchFamily="34" charset="-120"/>
              </a:rPr>
              <a:t>"The critic steps in at the moments intent and output are both fresh — and hands you a real second opinion instead of a blank diff."</a:t>
            </a:r>
            <a:endParaRPr lang="en-US" sz="1300" dirty="0"/>
          </a:p>
        </p:txBody>
      </p:sp>
      <p:sp>
        <p:nvSpPr>
          <p:cNvPr id="9" name="Text 7"/>
          <p:cNvSpPr/>
          <p:nvPr/>
        </p:nvSpPr>
        <p:spPr>
          <a:xfrm>
            <a:off x="731520" y="2532888"/>
            <a:ext cx="9692640" cy="274320"/>
          </a:xfrm>
          <a:prstGeom prst="rect">
            <a:avLst/>
          </a:prstGeom>
          <a:noFill/>
          <a:ln/>
        </p:spPr>
        <p:txBody>
          <a:bodyPr wrap="square" rtlCol="0" anchor="ctr"/>
          <a:lstStyle/>
          <a:p>
            <a:pPr marL="0" indent="0">
              <a:buNone/>
            </a:pPr>
            <a:r>
              <a:rPr lang="en-US" sz="1000" dirty="0">
                <a:solidFill>
                  <a:srgbClr val="636E72"/>
                </a:solidFill>
                <a:latin typeface="Segoe UI" pitchFamily="34" charset="0"/>
                <a:ea typeface="Segoe UI" pitchFamily="34" charset="-122"/>
                <a:cs typeface="Segoe UI" pitchFamily="34" charset="-120"/>
              </a:rPr>
              <a:t>Fires at three gates: your intent (ICEA draft), your design (Tech Spec), and the AI’s output (before any file is written). On the code gate it can send work back — twice — before it reaches you. Ephemeral: no ledger, no fingerprint.</a:t>
            </a:r>
            <a:endParaRPr lang="en-US" sz="1000" dirty="0"/>
          </a:p>
        </p:txBody>
      </p:sp>
      <p:sp>
        <p:nvSpPr>
          <p:cNvPr id="10" name="Text 8"/>
          <p:cNvSpPr/>
          <p:nvPr/>
        </p:nvSpPr>
        <p:spPr>
          <a:xfrm>
            <a:off x="10607040" y="2606040"/>
            <a:ext cx="868680" cy="201168"/>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ADR 0052</a:t>
            </a:r>
            <a:endParaRPr lang="en-US" sz="800" dirty="0"/>
          </a:p>
        </p:txBody>
      </p:sp>
      <p:sp>
        <p:nvSpPr>
          <p:cNvPr id="11" name="Shape 9"/>
          <p:cNvSpPr/>
          <p:nvPr/>
        </p:nvSpPr>
        <p:spPr>
          <a:xfrm>
            <a:off x="274320" y="3154680"/>
            <a:ext cx="1358537" cy="548640"/>
          </a:xfrm>
          <a:prstGeom prst="roundRect">
            <a:avLst>
              <a:gd name="adj" fmla="val 11667"/>
            </a:avLst>
          </a:prstGeom>
          <a:solidFill>
            <a:srgbClr val="FFFFFF"/>
          </a:solidFill>
          <a:ln w="12700">
            <a:solidFill>
              <a:srgbClr val="DFE6E9"/>
            </a:solidFill>
            <a:prstDash val="solid"/>
          </a:ln>
        </p:spPr>
        <p:txBody>
          <a:bodyPr/>
          <a:lstStyle/>
          <a:p>
            <a:endParaRPr lang="en-US"/>
          </a:p>
        </p:txBody>
      </p:sp>
      <p:sp>
        <p:nvSpPr>
          <p:cNvPr id="12" name="Text 10"/>
          <p:cNvSpPr/>
          <p:nvPr/>
        </p:nvSpPr>
        <p:spPr>
          <a:xfrm>
            <a:off x="274320" y="3154680"/>
            <a:ext cx="1358537" cy="548640"/>
          </a:xfrm>
          <a:prstGeom prst="rect">
            <a:avLst/>
          </a:prstGeom>
          <a:noFill/>
          <a:ln/>
        </p:spPr>
        <p:txBody>
          <a:bodyPr wrap="square" rtlCol="0" anchor="ctr"/>
          <a:lstStyle/>
          <a:p>
            <a:pPr marL="0" indent="0" algn="ctr">
              <a:buNone/>
            </a:pPr>
            <a:r>
              <a:rPr lang="en-US" sz="950" b="1" dirty="0">
                <a:solidFill>
                  <a:srgbClr val="1A3A5C"/>
                </a:solidFill>
                <a:latin typeface="Segoe UI" pitchFamily="34" charset="0"/>
                <a:ea typeface="Segoe UI" pitchFamily="34" charset="-122"/>
                <a:cs typeface="Segoe UI" pitchFamily="34" charset="-120"/>
              </a:rPr>
              <a:t>ICEA draft</a:t>
            </a:r>
            <a:endParaRPr lang="en-US" sz="950" dirty="0"/>
          </a:p>
        </p:txBody>
      </p:sp>
      <p:sp>
        <p:nvSpPr>
          <p:cNvPr id="13" name="Text 11"/>
          <p:cNvSpPr/>
          <p:nvPr/>
        </p:nvSpPr>
        <p:spPr>
          <a:xfrm>
            <a:off x="1632857" y="3154680"/>
            <a:ext cx="365760" cy="548640"/>
          </a:xfrm>
          <a:prstGeom prst="rect">
            <a:avLst/>
          </a:prstGeom>
          <a:noFill/>
          <a:ln/>
        </p:spPr>
        <p:txBody>
          <a:bodyPr wrap="square" rtlCol="0" anchor="ctr"/>
          <a:lstStyle/>
          <a:p>
            <a:pPr marL="0" indent="0" algn="ctr">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14" name="Shape 12"/>
          <p:cNvSpPr/>
          <p:nvPr/>
        </p:nvSpPr>
        <p:spPr>
          <a:xfrm>
            <a:off x="1998617" y="3154680"/>
            <a:ext cx="1358537" cy="548640"/>
          </a:xfrm>
          <a:prstGeom prst="roundRect">
            <a:avLst>
              <a:gd name="adj" fmla="val 11667"/>
            </a:avLst>
          </a:prstGeom>
          <a:solidFill>
            <a:srgbClr val="C8A951"/>
          </a:solidFill>
          <a:ln w="12700">
            <a:solidFill>
              <a:srgbClr val="C8A951"/>
            </a:solidFill>
            <a:prstDash val="solid"/>
          </a:ln>
        </p:spPr>
        <p:txBody>
          <a:bodyPr/>
          <a:lstStyle/>
          <a:p>
            <a:endParaRPr lang="en-US"/>
          </a:p>
        </p:txBody>
      </p:sp>
      <p:sp>
        <p:nvSpPr>
          <p:cNvPr id="15" name="Text 13"/>
          <p:cNvSpPr/>
          <p:nvPr/>
        </p:nvSpPr>
        <p:spPr>
          <a:xfrm>
            <a:off x="1998617" y="3154680"/>
            <a:ext cx="1358537" cy="548640"/>
          </a:xfrm>
          <a:prstGeom prst="rect">
            <a:avLst/>
          </a:prstGeom>
          <a:noFill/>
          <a:ln/>
        </p:spPr>
        <p:txBody>
          <a:bodyPr wrap="square" rtlCol="0" anchor="ctr"/>
          <a:lstStyle/>
          <a:p>
            <a:pPr marL="0" indent="0" algn="ctr">
              <a:buNone/>
            </a:pPr>
            <a:r>
              <a:rPr lang="en-US" sz="950" b="1" dirty="0">
                <a:solidFill>
                  <a:srgbClr val="1A2B17"/>
                </a:solidFill>
                <a:latin typeface="Segoe UI" pitchFamily="34" charset="0"/>
                <a:ea typeface="Segoe UI" pitchFamily="34" charset="-122"/>
                <a:cs typeface="Segoe UI" pitchFamily="34" charset="-120"/>
              </a:rPr>
              <a:t>CRITIC</a:t>
            </a:r>
            <a:endParaRPr lang="en-US" sz="950" dirty="0"/>
          </a:p>
          <a:p>
            <a:pPr marL="0" indent="0" algn="ctr">
              <a:buNone/>
            </a:pPr>
            <a:r>
              <a:rPr lang="en-US" sz="950" b="1" dirty="0">
                <a:solidFill>
                  <a:srgbClr val="1A2B17"/>
                </a:solidFill>
                <a:latin typeface="Segoe UI" pitchFamily="34" charset="0"/>
                <a:ea typeface="Segoe UI" pitchFamily="34" charset="-122"/>
                <a:cs typeface="Segoe UI" pitchFamily="34" charset="-120"/>
              </a:rPr>
              <a:t>icea gate</a:t>
            </a:r>
            <a:endParaRPr lang="en-US" sz="950" dirty="0"/>
          </a:p>
        </p:txBody>
      </p:sp>
      <p:sp>
        <p:nvSpPr>
          <p:cNvPr id="16" name="Text 14"/>
          <p:cNvSpPr/>
          <p:nvPr/>
        </p:nvSpPr>
        <p:spPr>
          <a:xfrm>
            <a:off x="3357154" y="3154680"/>
            <a:ext cx="365760" cy="548640"/>
          </a:xfrm>
          <a:prstGeom prst="rect">
            <a:avLst/>
          </a:prstGeom>
          <a:noFill/>
          <a:ln/>
        </p:spPr>
        <p:txBody>
          <a:bodyPr wrap="square" rtlCol="0" anchor="ctr"/>
          <a:lstStyle/>
          <a:p>
            <a:pPr marL="0" indent="0" algn="ctr">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17" name="Shape 15"/>
          <p:cNvSpPr/>
          <p:nvPr/>
        </p:nvSpPr>
        <p:spPr>
          <a:xfrm>
            <a:off x="3722914" y="3154680"/>
            <a:ext cx="1358537" cy="548640"/>
          </a:xfrm>
          <a:prstGeom prst="roundRect">
            <a:avLst>
              <a:gd name="adj" fmla="val 11667"/>
            </a:avLst>
          </a:prstGeom>
          <a:solidFill>
            <a:srgbClr val="FFFFFF"/>
          </a:solidFill>
          <a:ln w="12700">
            <a:solidFill>
              <a:srgbClr val="DFE6E9"/>
            </a:solidFill>
            <a:prstDash val="solid"/>
          </a:ln>
        </p:spPr>
        <p:txBody>
          <a:bodyPr/>
          <a:lstStyle/>
          <a:p>
            <a:endParaRPr lang="en-US"/>
          </a:p>
        </p:txBody>
      </p:sp>
      <p:sp>
        <p:nvSpPr>
          <p:cNvPr id="18" name="Text 16"/>
          <p:cNvSpPr/>
          <p:nvPr/>
        </p:nvSpPr>
        <p:spPr>
          <a:xfrm>
            <a:off x="3722914" y="3154680"/>
            <a:ext cx="1358537" cy="548640"/>
          </a:xfrm>
          <a:prstGeom prst="rect">
            <a:avLst/>
          </a:prstGeom>
          <a:noFill/>
          <a:ln/>
        </p:spPr>
        <p:txBody>
          <a:bodyPr wrap="square" rtlCol="0" anchor="ctr"/>
          <a:lstStyle/>
          <a:p>
            <a:pPr marL="0" indent="0" algn="ctr">
              <a:buNone/>
            </a:pPr>
            <a:r>
              <a:rPr lang="en-US" sz="950" b="1" dirty="0">
                <a:solidFill>
                  <a:srgbClr val="1A3A5C"/>
                </a:solidFill>
                <a:latin typeface="Segoe UI" pitchFamily="34" charset="0"/>
                <a:ea typeface="Segoe UI" pitchFamily="34" charset="-122"/>
                <a:cs typeface="Segoe UI" pitchFamily="34" charset="-120"/>
              </a:rPr>
              <a:t>Tech Spec</a:t>
            </a:r>
            <a:endParaRPr lang="en-US" sz="950" dirty="0"/>
          </a:p>
        </p:txBody>
      </p:sp>
      <p:sp>
        <p:nvSpPr>
          <p:cNvPr id="19" name="Text 17"/>
          <p:cNvSpPr/>
          <p:nvPr/>
        </p:nvSpPr>
        <p:spPr>
          <a:xfrm>
            <a:off x="5081451" y="3154680"/>
            <a:ext cx="365760" cy="548640"/>
          </a:xfrm>
          <a:prstGeom prst="rect">
            <a:avLst/>
          </a:prstGeom>
          <a:noFill/>
          <a:ln/>
        </p:spPr>
        <p:txBody>
          <a:bodyPr wrap="square" rtlCol="0" anchor="ctr"/>
          <a:lstStyle/>
          <a:p>
            <a:pPr marL="0" indent="0" algn="ctr">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20" name="Shape 18"/>
          <p:cNvSpPr/>
          <p:nvPr/>
        </p:nvSpPr>
        <p:spPr>
          <a:xfrm>
            <a:off x="5447211" y="3154680"/>
            <a:ext cx="1358537" cy="548640"/>
          </a:xfrm>
          <a:prstGeom prst="roundRect">
            <a:avLst>
              <a:gd name="adj" fmla="val 11667"/>
            </a:avLst>
          </a:prstGeom>
          <a:solidFill>
            <a:srgbClr val="C8A951"/>
          </a:solidFill>
          <a:ln w="12700">
            <a:solidFill>
              <a:srgbClr val="C8A951"/>
            </a:solidFill>
            <a:prstDash val="solid"/>
          </a:ln>
        </p:spPr>
        <p:txBody>
          <a:bodyPr/>
          <a:lstStyle/>
          <a:p>
            <a:endParaRPr lang="en-US"/>
          </a:p>
        </p:txBody>
      </p:sp>
      <p:sp>
        <p:nvSpPr>
          <p:cNvPr id="21" name="Text 19"/>
          <p:cNvSpPr/>
          <p:nvPr/>
        </p:nvSpPr>
        <p:spPr>
          <a:xfrm>
            <a:off x="5447211" y="3154680"/>
            <a:ext cx="1358537" cy="548640"/>
          </a:xfrm>
          <a:prstGeom prst="rect">
            <a:avLst/>
          </a:prstGeom>
          <a:noFill/>
          <a:ln/>
        </p:spPr>
        <p:txBody>
          <a:bodyPr wrap="square" rtlCol="0" anchor="ctr"/>
          <a:lstStyle/>
          <a:p>
            <a:pPr marL="0" indent="0" algn="ctr">
              <a:buNone/>
            </a:pPr>
            <a:r>
              <a:rPr lang="en-US" sz="950" b="1" dirty="0">
                <a:solidFill>
                  <a:srgbClr val="1A2B17"/>
                </a:solidFill>
                <a:latin typeface="Segoe UI" pitchFamily="34" charset="0"/>
                <a:ea typeface="Segoe UI" pitchFamily="34" charset="-122"/>
                <a:cs typeface="Segoe UI" pitchFamily="34" charset="-120"/>
              </a:rPr>
              <a:t>CRITIC</a:t>
            </a:r>
            <a:endParaRPr lang="en-US" sz="950" dirty="0"/>
          </a:p>
          <a:p>
            <a:pPr marL="0" indent="0" algn="ctr">
              <a:buNone/>
            </a:pPr>
            <a:r>
              <a:rPr lang="en-US" sz="950" b="1" dirty="0">
                <a:solidFill>
                  <a:srgbClr val="1A2B17"/>
                </a:solidFill>
                <a:latin typeface="Segoe UI" pitchFamily="34" charset="0"/>
                <a:ea typeface="Segoe UI" pitchFamily="34" charset="-122"/>
                <a:cs typeface="Segoe UI" pitchFamily="34" charset="-120"/>
              </a:rPr>
              <a:t>tech gate</a:t>
            </a:r>
            <a:endParaRPr lang="en-US" sz="950" dirty="0"/>
          </a:p>
        </p:txBody>
      </p:sp>
      <p:sp>
        <p:nvSpPr>
          <p:cNvPr id="22" name="Text 20"/>
          <p:cNvSpPr/>
          <p:nvPr/>
        </p:nvSpPr>
        <p:spPr>
          <a:xfrm>
            <a:off x="6805749" y="3154680"/>
            <a:ext cx="365760" cy="548640"/>
          </a:xfrm>
          <a:prstGeom prst="rect">
            <a:avLst/>
          </a:prstGeom>
          <a:noFill/>
          <a:ln/>
        </p:spPr>
        <p:txBody>
          <a:bodyPr wrap="square" rtlCol="0" anchor="ctr"/>
          <a:lstStyle/>
          <a:p>
            <a:pPr marL="0" indent="0" algn="ctr">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23" name="Shape 21"/>
          <p:cNvSpPr/>
          <p:nvPr/>
        </p:nvSpPr>
        <p:spPr>
          <a:xfrm>
            <a:off x="7171509" y="3154680"/>
            <a:ext cx="1358537" cy="548640"/>
          </a:xfrm>
          <a:prstGeom prst="roundRect">
            <a:avLst>
              <a:gd name="adj" fmla="val 11667"/>
            </a:avLst>
          </a:prstGeom>
          <a:solidFill>
            <a:srgbClr val="FFFFFF"/>
          </a:solidFill>
          <a:ln w="12700">
            <a:solidFill>
              <a:srgbClr val="DFE6E9"/>
            </a:solidFill>
            <a:prstDash val="solid"/>
          </a:ln>
        </p:spPr>
        <p:txBody>
          <a:bodyPr/>
          <a:lstStyle/>
          <a:p>
            <a:endParaRPr lang="en-US"/>
          </a:p>
        </p:txBody>
      </p:sp>
      <p:sp>
        <p:nvSpPr>
          <p:cNvPr id="24" name="Text 22"/>
          <p:cNvSpPr/>
          <p:nvPr/>
        </p:nvSpPr>
        <p:spPr>
          <a:xfrm>
            <a:off x="7171509" y="3154680"/>
            <a:ext cx="1358537" cy="548640"/>
          </a:xfrm>
          <a:prstGeom prst="rect">
            <a:avLst/>
          </a:prstGeom>
          <a:noFill/>
          <a:ln/>
        </p:spPr>
        <p:txBody>
          <a:bodyPr wrap="square" rtlCol="0" anchor="ctr"/>
          <a:lstStyle/>
          <a:p>
            <a:pPr marL="0" indent="0" algn="ctr">
              <a:buNone/>
            </a:pPr>
            <a:r>
              <a:rPr lang="en-US" sz="950" b="1" dirty="0">
                <a:solidFill>
                  <a:srgbClr val="1A3A5C"/>
                </a:solidFill>
                <a:latin typeface="Segoe UI" pitchFamily="34" charset="0"/>
                <a:ea typeface="Segoe UI" pitchFamily="34" charset="-122"/>
                <a:cs typeface="Segoe UI" pitchFamily="34" charset="-120"/>
              </a:rPr>
              <a:t>Code gen</a:t>
            </a:r>
            <a:endParaRPr lang="en-US" sz="950" dirty="0"/>
          </a:p>
        </p:txBody>
      </p:sp>
      <p:sp>
        <p:nvSpPr>
          <p:cNvPr id="25" name="Text 23"/>
          <p:cNvSpPr/>
          <p:nvPr/>
        </p:nvSpPr>
        <p:spPr>
          <a:xfrm>
            <a:off x="8530046" y="3154680"/>
            <a:ext cx="365760" cy="548640"/>
          </a:xfrm>
          <a:prstGeom prst="rect">
            <a:avLst/>
          </a:prstGeom>
          <a:noFill/>
          <a:ln/>
        </p:spPr>
        <p:txBody>
          <a:bodyPr wrap="square" rtlCol="0" anchor="ctr"/>
          <a:lstStyle/>
          <a:p>
            <a:pPr marL="0" indent="0" algn="ctr">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26" name="Shape 24"/>
          <p:cNvSpPr/>
          <p:nvPr/>
        </p:nvSpPr>
        <p:spPr>
          <a:xfrm>
            <a:off x="8895806" y="3154680"/>
            <a:ext cx="1358537" cy="548640"/>
          </a:xfrm>
          <a:prstGeom prst="roundRect">
            <a:avLst>
              <a:gd name="adj" fmla="val 11667"/>
            </a:avLst>
          </a:prstGeom>
          <a:solidFill>
            <a:srgbClr val="C8A951"/>
          </a:solidFill>
          <a:ln w="12700">
            <a:solidFill>
              <a:srgbClr val="C8A951"/>
            </a:solidFill>
            <a:prstDash val="solid"/>
          </a:ln>
        </p:spPr>
        <p:txBody>
          <a:bodyPr/>
          <a:lstStyle/>
          <a:p>
            <a:endParaRPr lang="en-US"/>
          </a:p>
        </p:txBody>
      </p:sp>
      <p:sp>
        <p:nvSpPr>
          <p:cNvPr id="27" name="Text 25"/>
          <p:cNvSpPr/>
          <p:nvPr/>
        </p:nvSpPr>
        <p:spPr>
          <a:xfrm>
            <a:off x="8895806" y="3154680"/>
            <a:ext cx="1358537" cy="548640"/>
          </a:xfrm>
          <a:prstGeom prst="rect">
            <a:avLst/>
          </a:prstGeom>
          <a:noFill/>
          <a:ln/>
        </p:spPr>
        <p:txBody>
          <a:bodyPr wrap="square" rtlCol="0" anchor="ctr"/>
          <a:lstStyle/>
          <a:p>
            <a:pPr marL="0" indent="0" algn="ctr">
              <a:buNone/>
            </a:pPr>
            <a:r>
              <a:rPr lang="en-US" sz="950" b="1" dirty="0">
                <a:solidFill>
                  <a:srgbClr val="1A2B17"/>
                </a:solidFill>
                <a:latin typeface="Segoe UI" pitchFamily="34" charset="0"/>
                <a:ea typeface="Segoe UI" pitchFamily="34" charset="-122"/>
                <a:cs typeface="Segoe UI" pitchFamily="34" charset="-120"/>
              </a:rPr>
              <a:t>CRITIC</a:t>
            </a:r>
            <a:endParaRPr lang="en-US" sz="950" dirty="0"/>
          </a:p>
          <a:p>
            <a:pPr marL="0" indent="0" algn="ctr">
              <a:buNone/>
            </a:pPr>
            <a:r>
              <a:rPr lang="en-US" sz="950" b="1" dirty="0">
                <a:solidFill>
                  <a:srgbClr val="1A2B17"/>
                </a:solidFill>
                <a:latin typeface="Segoe UI" pitchFamily="34" charset="0"/>
                <a:ea typeface="Segoe UI" pitchFamily="34" charset="-122"/>
                <a:cs typeface="Segoe UI" pitchFamily="34" charset="-120"/>
              </a:rPr>
              <a:t>code gate</a:t>
            </a:r>
            <a:endParaRPr lang="en-US" sz="950" dirty="0"/>
          </a:p>
        </p:txBody>
      </p:sp>
      <p:sp>
        <p:nvSpPr>
          <p:cNvPr id="28" name="Text 26"/>
          <p:cNvSpPr/>
          <p:nvPr/>
        </p:nvSpPr>
        <p:spPr>
          <a:xfrm>
            <a:off x="10254343" y="3154680"/>
            <a:ext cx="365760" cy="548640"/>
          </a:xfrm>
          <a:prstGeom prst="rect">
            <a:avLst/>
          </a:prstGeom>
          <a:noFill/>
          <a:ln/>
        </p:spPr>
        <p:txBody>
          <a:bodyPr wrap="square" rtlCol="0" anchor="ctr"/>
          <a:lstStyle/>
          <a:p>
            <a:pPr marL="0" indent="0" algn="ctr">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29" name="Shape 27"/>
          <p:cNvSpPr/>
          <p:nvPr/>
        </p:nvSpPr>
        <p:spPr>
          <a:xfrm>
            <a:off x="10620103" y="3154680"/>
            <a:ext cx="1358537" cy="548640"/>
          </a:xfrm>
          <a:prstGeom prst="roundRect">
            <a:avLst>
              <a:gd name="adj" fmla="val 11667"/>
            </a:avLst>
          </a:prstGeom>
          <a:solidFill>
            <a:srgbClr val="00B894"/>
          </a:solidFill>
          <a:ln w="12700">
            <a:solidFill>
              <a:srgbClr val="00B894"/>
            </a:solidFill>
            <a:prstDash val="solid"/>
          </a:ln>
        </p:spPr>
        <p:txBody>
          <a:bodyPr/>
          <a:lstStyle/>
          <a:p>
            <a:endParaRPr lang="en-US"/>
          </a:p>
        </p:txBody>
      </p:sp>
      <p:sp>
        <p:nvSpPr>
          <p:cNvPr id="30" name="Text 28"/>
          <p:cNvSpPr/>
          <p:nvPr/>
        </p:nvSpPr>
        <p:spPr>
          <a:xfrm>
            <a:off x="10620103" y="3154680"/>
            <a:ext cx="1358537" cy="548640"/>
          </a:xfrm>
          <a:prstGeom prst="rect">
            <a:avLst/>
          </a:prstGeom>
          <a:noFill/>
          <a:ln/>
        </p:spPr>
        <p:txBody>
          <a:bodyPr wrap="square"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Write</a:t>
            </a:r>
            <a:endParaRPr lang="en-US" sz="950" dirty="0"/>
          </a:p>
        </p:txBody>
      </p:sp>
      <p:sp>
        <p:nvSpPr>
          <p:cNvPr id="31" name="Text 29"/>
          <p:cNvSpPr/>
          <p:nvPr/>
        </p:nvSpPr>
        <p:spPr>
          <a:xfrm>
            <a:off x="457200" y="3886200"/>
            <a:ext cx="11247120" cy="365760"/>
          </a:xfrm>
          <a:prstGeom prst="rect">
            <a:avLst/>
          </a:prstGeom>
          <a:noFill/>
          <a:ln/>
        </p:spPr>
        <p:txBody>
          <a:bodyPr wrap="square" rtlCol="0" anchor="ctr"/>
          <a:lstStyle/>
          <a:p>
            <a:pPr marL="0" indent="0" algn="ctr">
              <a:buNone/>
            </a:pPr>
            <a:r>
              <a:rPr lang="en-US" sz="900" dirty="0">
                <a:solidFill>
                  <a:srgbClr val="636E72"/>
                </a:solidFill>
                <a:latin typeface="Cascadia Code" pitchFamily="34" charset="0"/>
                <a:ea typeface="Cascadia Code" pitchFamily="34" charset="-122"/>
                <a:cs typeface="Cascadia Code" pitchFamily="34" charset="-120"/>
              </a:rPr>
              <a:t>icea gate → your intent   ·   tech gate → your design   ·   code gate → the AI’s output (controls the write, revise ×2)</a:t>
            </a:r>
            <a:endParaRPr lang="en-US" sz="900" dirty="0"/>
          </a:p>
        </p:txBody>
      </p:sp>
      <p:sp>
        <p:nvSpPr>
          <p:cNvPr id="32" name="Text 30"/>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16 / 45</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When you review, you switch hats. Make the AI do the same.</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Shape 3"/>
          <p:cNvSpPr/>
          <p:nvPr/>
        </p:nvSpPr>
        <p:spPr>
          <a:xfrm>
            <a:off x="548640" y="914400"/>
            <a:ext cx="64008" cy="1828800"/>
          </a:xfrm>
          <a:prstGeom prst="rect">
            <a:avLst/>
          </a:prstGeom>
          <a:solidFill>
            <a:srgbClr val="C8A951"/>
          </a:solidFill>
          <a:ln w="12700">
            <a:solidFill>
              <a:srgbClr val="C8A951"/>
            </a:solidFill>
            <a:prstDash val="solid"/>
          </a:ln>
        </p:spPr>
        <p:txBody>
          <a:bodyPr/>
          <a:lstStyle/>
          <a:p>
            <a:endParaRPr lang="en-US"/>
          </a:p>
        </p:txBody>
      </p:sp>
      <p:sp>
        <p:nvSpPr>
          <p:cNvPr id="6" name="Shape 4"/>
          <p:cNvSpPr/>
          <p:nvPr/>
        </p:nvSpPr>
        <p:spPr>
          <a:xfrm>
            <a:off x="612648" y="914400"/>
            <a:ext cx="11000232" cy="1828800"/>
          </a:xfrm>
          <a:prstGeom prst="rect">
            <a:avLst/>
          </a:prstGeom>
          <a:solidFill>
            <a:srgbClr val="FDFCF5"/>
          </a:solidFill>
          <a:ln w="12700">
            <a:solidFill>
              <a:srgbClr val="DFE6E9"/>
            </a:solidFill>
            <a:prstDash val="solid"/>
          </a:ln>
        </p:spPr>
        <p:txBody>
          <a:bodyPr/>
          <a:lstStyle/>
          <a:p>
            <a:endParaRPr lang="en-US"/>
          </a:p>
        </p:txBody>
      </p:sp>
      <p:sp>
        <p:nvSpPr>
          <p:cNvPr id="7" name="Text 5"/>
          <p:cNvSpPr/>
          <p:nvPr/>
        </p:nvSpPr>
        <p:spPr>
          <a:xfrm>
            <a:off x="731520" y="1024128"/>
            <a:ext cx="10607040" cy="201168"/>
          </a:xfrm>
          <a:prstGeom prst="rect">
            <a:avLst/>
          </a:prstGeom>
          <a:noFill/>
          <a:ln/>
        </p:spPr>
        <p:txBody>
          <a:bodyPr wrap="square" rtlCol="0" anchor="ctr"/>
          <a:lstStyle/>
          <a:p>
            <a:pPr marL="0" indent="0">
              <a:buNone/>
            </a:pPr>
            <a:r>
              <a:rPr lang="en-US" sz="800" b="1" kern="0" spc="150" dirty="0">
                <a:solidFill>
                  <a:srgbClr val="C8A951"/>
                </a:solidFill>
                <a:latin typeface="Cascadia Code" pitchFamily="34" charset="0"/>
                <a:ea typeface="Cascadia Code" pitchFamily="34" charset="-122"/>
                <a:cs typeface="Cascadia Code" pitchFamily="34" charset="-120"/>
              </a:rPr>
              <a:t>CAPABILITY × ROLE  ·  ADR 0047</a:t>
            </a:r>
            <a:endParaRPr lang="en-US" sz="800" dirty="0"/>
          </a:p>
        </p:txBody>
      </p:sp>
      <p:sp>
        <p:nvSpPr>
          <p:cNvPr id="8" name="Text 6"/>
          <p:cNvSpPr/>
          <p:nvPr/>
        </p:nvSpPr>
        <p:spPr>
          <a:xfrm>
            <a:off x="731520" y="1207008"/>
            <a:ext cx="10607040" cy="1188720"/>
          </a:xfrm>
          <a:prstGeom prst="rect">
            <a:avLst/>
          </a:prstGeom>
          <a:noFill/>
          <a:ln/>
        </p:spPr>
        <p:txBody>
          <a:bodyPr wrap="square" rtlCol="0" anchor="t"/>
          <a:lstStyle/>
          <a:p>
            <a:pPr marL="0" indent="0">
              <a:buNone/>
            </a:pPr>
            <a:r>
              <a:rPr lang="en-US" sz="1300" b="1" dirty="0">
                <a:solidFill>
                  <a:srgbClr val="1A3A5C"/>
                </a:solidFill>
                <a:latin typeface="Segoe UI" pitchFamily="34" charset="0"/>
                <a:ea typeface="Segoe UI" pitchFamily="34" charset="-122"/>
                <a:cs typeface="Segoe UI" pitchFamily="34" charset="-120"/>
              </a:rPr>
              <a:t>"Model tier is a capability axis. Expert personas add the role axis — orthogonal. Same model, completely different reasoning when the lens changes."</a:t>
            </a:r>
            <a:endParaRPr lang="en-US" sz="1300" dirty="0"/>
          </a:p>
        </p:txBody>
      </p:sp>
      <p:sp>
        <p:nvSpPr>
          <p:cNvPr id="9" name="Text 7"/>
          <p:cNvSpPr/>
          <p:nvPr/>
        </p:nvSpPr>
        <p:spPr>
          <a:xfrm>
            <a:off x="731520" y="2395728"/>
            <a:ext cx="9692640" cy="274320"/>
          </a:xfrm>
          <a:prstGeom prst="rect">
            <a:avLst/>
          </a:prstGeom>
          <a:noFill/>
          <a:ln/>
        </p:spPr>
        <p:txBody>
          <a:bodyPr wrap="square" rtlCol="0" anchor="ctr"/>
          <a:lstStyle/>
          <a:p>
            <a:pPr marL="0" indent="0">
              <a:buNone/>
            </a:pPr>
            <a:r>
              <a:rPr lang="en-US" sz="1000" dirty="0">
                <a:solidFill>
                  <a:srgbClr val="636E72"/>
                </a:solidFill>
                <a:latin typeface="Segoe UI" pitchFamily="34" charset="0"/>
                <a:ea typeface="Segoe UI" pitchFamily="34" charset="-122"/>
                <a:cs typeface="Segoe UI" pitchFamily="34" charset="-120"/>
              </a:rPr>
              <a:t>A security engineer notices what a helpful assistant sails right past. Constraints: stack-agnostic · governance-subordinate · reasoning-only (never appears in output).</a:t>
            </a:r>
            <a:endParaRPr lang="en-US" sz="1000" dirty="0"/>
          </a:p>
        </p:txBody>
      </p:sp>
      <p:sp>
        <p:nvSpPr>
          <p:cNvPr id="10" name="Text 8"/>
          <p:cNvSpPr/>
          <p:nvPr/>
        </p:nvSpPr>
        <p:spPr>
          <a:xfrm>
            <a:off x="10607040" y="2468880"/>
            <a:ext cx="868680" cy="201168"/>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ADR 0047</a:t>
            </a:r>
            <a:endParaRPr lang="en-US" sz="800" dirty="0"/>
          </a:p>
        </p:txBody>
      </p:sp>
      <p:sp>
        <p:nvSpPr>
          <p:cNvPr id="11" name="Shape 9"/>
          <p:cNvSpPr/>
          <p:nvPr/>
        </p:nvSpPr>
        <p:spPr>
          <a:xfrm>
            <a:off x="457200" y="2971800"/>
            <a:ext cx="2724912" cy="749808"/>
          </a:xfrm>
          <a:prstGeom prst="rect">
            <a:avLst/>
          </a:prstGeom>
          <a:solidFill>
            <a:srgbClr val="1A3A5C"/>
          </a:solidFill>
          <a:ln w="12700">
            <a:solidFill>
              <a:srgbClr val="1A3A5C"/>
            </a:solidFill>
            <a:prstDash val="solid"/>
          </a:ln>
        </p:spPr>
        <p:txBody>
          <a:bodyPr/>
          <a:lstStyle/>
          <a:p>
            <a:endParaRPr lang="en-US"/>
          </a:p>
        </p:txBody>
      </p:sp>
      <p:sp>
        <p:nvSpPr>
          <p:cNvPr id="12" name="Text 10"/>
          <p:cNvSpPr/>
          <p:nvPr/>
        </p:nvSpPr>
        <p:spPr>
          <a:xfrm>
            <a:off x="530352" y="3017520"/>
            <a:ext cx="2606040" cy="658368"/>
          </a:xfrm>
          <a:prstGeom prst="rect">
            <a:avLst/>
          </a:prstGeom>
          <a:noFill/>
          <a:ln/>
        </p:spPr>
        <p:txBody>
          <a:bodyPr wrap="square" rtlCol="0" anchor="ctr"/>
          <a:lstStyle/>
          <a:p>
            <a:pPr marL="0" indent="0">
              <a:buNone/>
            </a:pPr>
            <a:endParaRPr lang="en-US" sz="1000" dirty="0"/>
          </a:p>
        </p:txBody>
      </p:sp>
      <p:sp>
        <p:nvSpPr>
          <p:cNvPr id="13" name="Shape 11"/>
          <p:cNvSpPr/>
          <p:nvPr/>
        </p:nvSpPr>
        <p:spPr>
          <a:xfrm>
            <a:off x="3246120" y="2971800"/>
            <a:ext cx="2724912" cy="749808"/>
          </a:xfrm>
          <a:prstGeom prst="rect">
            <a:avLst/>
          </a:prstGeom>
          <a:solidFill>
            <a:srgbClr val="1A3A5C"/>
          </a:solidFill>
          <a:ln w="12700">
            <a:solidFill>
              <a:srgbClr val="1A3A5C"/>
            </a:solidFill>
            <a:prstDash val="solid"/>
          </a:ln>
        </p:spPr>
        <p:txBody>
          <a:bodyPr/>
          <a:lstStyle/>
          <a:p>
            <a:endParaRPr lang="en-US"/>
          </a:p>
        </p:txBody>
      </p:sp>
      <p:sp>
        <p:nvSpPr>
          <p:cNvPr id="14" name="Text 12"/>
          <p:cNvSpPr/>
          <p:nvPr/>
        </p:nvSpPr>
        <p:spPr>
          <a:xfrm>
            <a:off x="3319272" y="3017520"/>
            <a:ext cx="2606040" cy="658368"/>
          </a:xfrm>
          <a:prstGeom prst="rect">
            <a:avLst/>
          </a:prstGeom>
          <a:noFill/>
          <a:ln/>
        </p:spPr>
        <p:txBody>
          <a:bodyPr wrap="square" rtlCol="0" anchor="ctr"/>
          <a:lstStyle/>
          <a:p>
            <a:pPr marL="0" indent="0">
              <a:buNone/>
            </a:pPr>
            <a:r>
              <a:rPr lang="en-US" sz="1000" b="1" dirty="0">
                <a:solidFill>
                  <a:srgbClr val="FFFFFF"/>
                </a:solidFill>
                <a:latin typeface="Segoe UI" pitchFamily="34" charset="0"/>
                <a:ea typeface="Segoe UI" pitchFamily="34" charset="-122"/>
                <a:cs typeface="Segoe UI" pitchFamily="34" charset="-120"/>
              </a:rPr>
              <a:t>[PO] Product Owner</a:t>
            </a:r>
            <a:endParaRPr lang="en-US" sz="1000" dirty="0"/>
          </a:p>
        </p:txBody>
      </p:sp>
      <p:sp>
        <p:nvSpPr>
          <p:cNvPr id="15" name="Shape 13"/>
          <p:cNvSpPr/>
          <p:nvPr/>
        </p:nvSpPr>
        <p:spPr>
          <a:xfrm>
            <a:off x="6035040" y="2971800"/>
            <a:ext cx="2724912" cy="749808"/>
          </a:xfrm>
          <a:prstGeom prst="rect">
            <a:avLst/>
          </a:prstGeom>
          <a:solidFill>
            <a:srgbClr val="1A3A5C"/>
          </a:solidFill>
          <a:ln w="12700">
            <a:solidFill>
              <a:srgbClr val="1A3A5C"/>
            </a:solidFill>
            <a:prstDash val="solid"/>
          </a:ln>
        </p:spPr>
        <p:txBody>
          <a:bodyPr/>
          <a:lstStyle/>
          <a:p>
            <a:endParaRPr lang="en-US"/>
          </a:p>
        </p:txBody>
      </p:sp>
      <p:sp>
        <p:nvSpPr>
          <p:cNvPr id="16" name="Text 14"/>
          <p:cNvSpPr/>
          <p:nvPr/>
        </p:nvSpPr>
        <p:spPr>
          <a:xfrm>
            <a:off x="6108192" y="3017520"/>
            <a:ext cx="2606040" cy="658368"/>
          </a:xfrm>
          <a:prstGeom prst="rect">
            <a:avLst/>
          </a:prstGeom>
          <a:noFill/>
          <a:ln/>
        </p:spPr>
        <p:txBody>
          <a:bodyPr wrap="square" rtlCol="0" anchor="ctr"/>
          <a:lstStyle/>
          <a:p>
            <a:pPr marL="0" indent="0">
              <a:buNone/>
            </a:pPr>
            <a:r>
              <a:rPr lang="en-US" sz="1000" b="1" dirty="0">
                <a:solidFill>
                  <a:srgbClr val="FFFFFF"/>
                </a:solidFill>
                <a:latin typeface="Segoe UI" pitchFamily="34" charset="0"/>
                <a:ea typeface="Segoe UI" pitchFamily="34" charset="-122"/>
                <a:cs typeface="Segoe UI" pitchFamily="34" charset="-120"/>
              </a:rPr>
              <a:t>[TL] Tech Lead</a:t>
            </a:r>
            <a:endParaRPr lang="en-US" sz="1000" dirty="0"/>
          </a:p>
        </p:txBody>
      </p:sp>
      <p:sp>
        <p:nvSpPr>
          <p:cNvPr id="17" name="Shape 15"/>
          <p:cNvSpPr/>
          <p:nvPr/>
        </p:nvSpPr>
        <p:spPr>
          <a:xfrm>
            <a:off x="8823960" y="2971800"/>
            <a:ext cx="2724912" cy="749808"/>
          </a:xfrm>
          <a:prstGeom prst="rect">
            <a:avLst/>
          </a:prstGeom>
          <a:solidFill>
            <a:srgbClr val="1A3A5C"/>
          </a:solidFill>
          <a:ln w="12700">
            <a:solidFill>
              <a:srgbClr val="1A3A5C"/>
            </a:solidFill>
            <a:prstDash val="solid"/>
          </a:ln>
        </p:spPr>
        <p:txBody>
          <a:bodyPr/>
          <a:lstStyle/>
          <a:p>
            <a:endParaRPr lang="en-US"/>
          </a:p>
        </p:txBody>
      </p:sp>
      <p:sp>
        <p:nvSpPr>
          <p:cNvPr id="18" name="Text 16"/>
          <p:cNvSpPr/>
          <p:nvPr/>
        </p:nvSpPr>
        <p:spPr>
          <a:xfrm>
            <a:off x="8897112" y="3017520"/>
            <a:ext cx="2606040" cy="658368"/>
          </a:xfrm>
          <a:prstGeom prst="rect">
            <a:avLst/>
          </a:prstGeom>
          <a:noFill/>
          <a:ln/>
        </p:spPr>
        <p:txBody>
          <a:bodyPr wrap="square" rtlCol="0" anchor="ctr"/>
          <a:lstStyle/>
          <a:p>
            <a:pPr marL="0" indent="0">
              <a:buNone/>
            </a:pPr>
            <a:r>
              <a:rPr lang="en-US" sz="1000" b="1" dirty="0">
                <a:solidFill>
                  <a:srgbClr val="FFFFFF"/>
                </a:solidFill>
                <a:latin typeface="Segoe UI" pitchFamily="34" charset="0"/>
                <a:ea typeface="Segoe UI" pitchFamily="34" charset="-122"/>
                <a:cs typeface="Segoe UI" pitchFamily="34" charset="-120"/>
              </a:rPr>
              <a:t>[SEC] Security Engineer</a:t>
            </a:r>
            <a:endParaRPr lang="en-US" sz="1000" dirty="0"/>
          </a:p>
        </p:txBody>
      </p:sp>
      <p:sp>
        <p:nvSpPr>
          <p:cNvPr id="19" name="Shape 17"/>
          <p:cNvSpPr/>
          <p:nvPr/>
        </p:nvSpPr>
        <p:spPr>
          <a:xfrm>
            <a:off x="457200" y="3749040"/>
            <a:ext cx="2724912" cy="749808"/>
          </a:xfrm>
          <a:prstGeom prst="rect">
            <a:avLst/>
          </a:prstGeom>
          <a:solidFill>
            <a:srgbClr val="1A3A5C"/>
          </a:solidFill>
          <a:ln w="12700">
            <a:solidFill>
              <a:srgbClr val="1A3A5C"/>
            </a:solidFill>
            <a:prstDash val="solid"/>
          </a:ln>
        </p:spPr>
        <p:txBody>
          <a:bodyPr/>
          <a:lstStyle/>
          <a:p>
            <a:endParaRPr lang="en-US"/>
          </a:p>
        </p:txBody>
      </p:sp>
      <p:sp>
        <p:nvSpPr>
          <p:cNvPr id="20" name="Text 18"/>
          <p:cNvSpPr/>
          <p:nvPr/>
        </p:nvSpPr>
        <p:spPr>
          <a:xfrm>
            <a:off x="530352" y="3794760"/>
            <a:ext cx="2606040" cy="658368"/>
          </a:xfrm>
          <a:prstGeom prst="rect">
            <a:avLst/>
          </a:prstGeom>
          <a:noFill/>
          <a:ln/>
        </p:spPr>
        <p:txBody>
          <a:bodyPr wrap="square" rtlCol="0" anchor="ctr"/>
          <a:lstStyle/>
          <a:p>
            <a:pPr marL="0" indent="0">
              <a:buNone/>
            </a:pPr>
            <a:r>
              <a:rPr lang="en-US" sz="1000" b="1" dirty="0">
                <a:solidFill>
                  <a:srgbClr val="FFFFFF"/>
                </a:solidFill>
                <a:latin typeface="Segoe UI" pitchFamily="34" charset="0"/>
                <a:ea typeface="Segoe UI" pitchFamily="34" charset="-122"/>
                <a:cs typeface="Segoe UI" pitchFamily="34" charset="-120"/>
              </a:rPr>
              <a:t>ICEA_MODEL</a:t>
            </a:r>
            <a:endParaRPr lang="en-US" sz="1000" dirty="0"/>
          </a:p>
          <a:p>
            <a:pPr marL="0" indent="0">
              <a:buNone/>
            </a:pPr>
            <a:r>
              <a:rPr lang="en-US" sz="1000" b="1" dirty="0">
                <a:solidFill>
                  <a:srgbClr val="FFFFFF"/>
                </a:solidFill>
                <a:latin typeface="Segoe UI" pitchFamily="34" charset="0"/>
                <a:ea typeface="Segoe UI" pitchFamily="34" charset="-122"/>
                <a:cs typeface="Segoe UI" pitchFamily="34" charset="-120"/>
              </a:rPr>
              <a:t>(Opus)</a:t>
            </a:r>
            <a:endParaRPr lang="en-US" sz="1000" dirty="0"/>
          </a:p>
        </p:txBody>
      </p:sp>
      <p:sp>
        <p:nvSpPr>
          <p:cNvPr id="21" name="Shape 19"/>
          <p:cNvSpPr/>
          <p:nvPr/>
        </p:nvSpPr>
        <p:spPr>
          <a:xfrm>
            <a:off x="3246120" y="3749040"/>
            <a:ext cx="2724912" cy="749808"/>
          </a:xfrm>
          <a:prstGeom prst="rect">
            <a:avLst/>
          </a:prstGeom>
          <a:solidFill>
            <a:srgbClr val="FFFFFF"/>
          </a:solidFill>
          <a:ln w="12700">
            <a:solidFill>
              <a:srgbClr val="DFE6E9"/>
            </a:solidFill>
            <a:prstDash val="solid"/>
          </a:ln>
        </p:spPr>
        <p:txBody>
          <a:bodyPr/>
          <a:lstStyle/>
          <a:p>
            <a:endParaRPr lang="en-US"/>
          </a:p>
        </p:txBody>
      </p:sp>
      <p:sp>
        <p:nvSpPr>
          <p:cNvPr id="22" name="Text 20"/>
          <p:cNvSpPr/>
          <p:nvPr/>
        </p:nvSpPr>
        <p:spPr>
          <a:xfrm>
            <a:off x="3319272" y="3794760"/>
            <a:ext cx="2606040" cy="658368"/>
          </a:xfrm>
          <a:prstGeom prst="rect">
            <a:avLst/>
          </a:prstGeom>
          <a:noFill/>
          <a:ln/>
        </p:spPr>
        <p:txBody>
          <a:bodyPr wrap="square" rtlCol="0" anchor="ctr"/>
          <a:lstStyle/>
          <a:p>
            <a:pPr marL="0" indent="0">
              <a:buNone/>
            </a:pPr>
            <a:r>
              <a:rPr lang="en-US" sz="1100" dirty="0">
                <a:solidFill>
                  <a:srgbClr val="2D3436"/>
                </a:solidFill>
                <a:latin typeface="Segoe UI" pitchFamily="34" charset="0"/>
                <a:ea typeface="Segoe UI" pitchFamily="34" charset="-122"/>
                <a:cs typeface="Segoe UI" pitchFamily="34" charset="-120"/>
              </a:rPr>
              <a:t>Is intent clear? What are we NOT building?</a:t>
            </a:r>
            <a:endParaRPr lang="en-US" sz="1100" dirty="0"/>
          </a:p>
        </p:txBody>
      </p:sp>
      <p:sp>
        <p:nvSpPr>
          <p:cNvPr id="23" name="Shape 21"/>
          <p:cNvSpPr/>
          <p:nvPr/>
        </p:nvSpPr>
        <p:spPr>
          <a:xfrm>
            <a:off x="6035040" y="3749040"/>
            <a:ext cx="2724912" cy="749808"/>
          </a:xfrm>
          <a:prstGeom prst="rect">
            <a:avLst/>
          </a:prstGeom>
          <a:solidFill>
            <a:srgbClr val="FFFFFF"/>
          </a:solidFill>
          <a:ln w="12700">
            <a:solidFill>
              <a:srgbClr val="DFE6E9"/>
            </a:solidFill>
            <a:prstDash val="solid"/>
          </a:ln>
        </p:spPr>
        <p:txBody>
          <a:bodyPr/>
          <a:lstStyle/>
          <a:p>
            <a:endParaRPr lang="en-US"/>
          </a:p>
        </p:txBody>
      </p:sp>
      <p:sp>
        <p:nvSpPr>
          <p:cNvPr id="24" name="Text 22"/>
          <p:cNvSpPr/>
          <p:nvPr/>
        </p:nvSpPr>
        <p:spPr>
          <a:xfrm>
            <a:off x="6108192" y="3794760"/>
            <a:ext cx="2606040" cy="658368"/>
          </a:xfrm>
          <a:prstGeom prst="rect">
            <a:avLst/>
          </a:prstGeom>
          <a:noFill/>
          <a:ln/>
        </p:spPr>
        <p:txBody>
          <a:bodyPr wrap="square" rtlCol="0" anchor="ctr"/>
          <a:lstStyle/>
          <a:p>
            <a:pPr marL="0" indent="0">
              <a:buNone/>
            </a:pPr>
            <a:r>
              <a:rPr lang="en-US" sz="1100" dirty="0">
                <a:solidFill>
                  <a:srgbClr val="2D3436"/>
                </a:solidFill>
                <a:latin typeface="Segoe UI" pitchFamily="34" charset="0"/>
                <a:ea typeface="Segoe UI" pitchFamily="34" charset="-122"/>
                <a:cs typeface="Segoe UI" pitchFamily="34" charset="-120"/>
              </a:rPr>
              <a:t>Does this satisfy architectural constraints?</a:t>
            </a:r>
            <a:endParaRPr lang="en-US" sz="1100" dirty="0"/>
          </a:p>
        </p:txBody>
      </p:sp>
      <p:sp>
        <p:nvSpPr>
          <p:cNvPr id="25" name="Shape 23"/>
          <p:cNvSpPr/>
          <p:nvPr/>
        </p:nvSpPr>
        <p:spPr>
          <a:xfrm>
            <a:off x="8823960" y="3749040"/>
            <a:ext cx="2724912" cy="749808"/>
          </a:xfrm>
          <a:prstGeom prst="rect">
            <a:avLst/>
          </a:prstGeom>
          <a:solidFill>
            <a:srgbClr val="FFFFFF"/>
          </a:solidFill>
          <a:ln w="12700">
            <a:solidFill>
              <a:srgbClr val="DFE6E9"/>
            </a:solidFill>
            <a:prstDash val="solid"/>
          </a:ln>
        </p:spPr>
        <p:txBody>
          <a:bodyPr/>
          <a:lstStyle/>
          <a:p>
            <a:endParaRPr lang="en-US"/>
          </a:p>
        </p:txBody>
      </p:sp>
      <p:sp>
        <p:nvSpPr>
          <p:cNvPr id="26" name="Text 24"/>
          <p:cNvSpPr/>
          <p:nvPr/>
        </p:nvSpPr>
        <p:spPr>
          <a:xfrm>
            <a:off x="8897112" y="3794760"/>
            <a:ext cx="2606040" cy="658368"/>
          </a:xfrm>
          <a:prstGeom prst="rect">
            <a:avLst/>
          </a:prstGeom>
          <a:noFill/>
          <a:ln/>
        </p:spPr>
        <p:txBody>
          <a:bodyPr wrap="square" rtlCol="0" anchor="ctr"/>
          <a:lstStyle/>
          <a:p>
            <a:pPr marL="0" indent="0">
              <a:buNone/>
            </a:pPr>
            <a:r>
              <a:rPr lang="en-US" sz="1100" dirty="0">
                <a:solidFill>
                  <a:srgbClr val="2D3436"/>
                </a:solidFill>
                <a:latin typeface="Segoe UI" pitchFamily="34" charset="0"/>
                <a:ea typeface="Segoe UI" pitchFamily="34" charset="-122"/>
                <a:cs typeface="Segoe UI" pitchFamily="34" charset="-120"/>
              </a:rPr>
              <a:t>Where does tainted data reach?</a:t>
            </a:r>
            <a:endParaRPr lang="en-US" sz="1100" dirty="0"/>
          </a:p>
        </p:txBody>
      </p:sp>
      <p:sp>
        <p:nvSpPr>
          <p:cNvPr id="27" name="Shape 25"/>
          <p:cNvSpPr/>
          <p:nvPr/>
        </p:nvSpPr>
        <p:spPr>
          <a:xfrm>
            <a:off x="457200" y="4526280"/>
            <a:ext cx="2724912" cy="749808"/>
          </a:xfrm>
          <a:prstGeom prst="rect">
            <a:avLst/>
          </a:prstGeom>
          <a:solidFill>
            <a:srgbClr val="1A3A5C"/>
          </a:solidFill>
          <a:ln w="12700">
            <a:solidFill>
              <a:srgbClr val="1A3A5C"/>
            </a:solidFill>
            <a:prstDash val="solid"/>
          </a:ln>
        </p:spPr>
        <p:txBody>
          <a:bodyPr/>
          <a:lstStyle/>
          <a:p>
            <a:endParaRPr lang="en-US"/>
          </a:p>
        </p:txBody>
      </p:sp>
      <p:sp>
        <p:nvSpPr>
          <p:cNvPr id="28" name="Text 26"/>
          <p:cNvSpPr/>
          <p:nvPr/>
        </p:nvSpPr>
        <p:spPr>
          <a:xfrm>
            <a:off x="530352" y="4572000"/>
            <a:ext cx="2606040" cy="658368"/>
          </a:xfrm>
          <a:prstGeom prst="rect">
            <a:avLst/>
          </a:prstGeom>
          <a:noFill/>
          <a:ln/>
        </p:spPr>
        <p:txBody>
          <a:bodyPr wrap="square" rtlCol="0" anchor="ctr"/>
          <a:lstStyle/>
          <a:p>
            <a:pPr marL="0" indent="0">
              <a:buNone/>
            </a:pPr>
            <a:r>
              <a:rPr lang="en-US" sz="1000" b="1" dirty="0">
                <a:solidFill>
                  <a:srgbClr val="FFFFFF"/>
                </a:solidFill>
                <a:latin typeface="Segoe UI" pitchFamily="34" charset="0"/>
                <a:ea typeface="Segoe UI" pitchFamily="34" charset="-122"/>
                <a:cs typeface="Segoe UI" pitchFamily="34" charset="-120"/>
              </a:rPr>
              <a:t>REVIEW_MODEL</a:t>
            </a:r>
            <a:endParaRPr lang="en-US" sz="1000" dirty="0"/>
          </a:p>
          <a:p>
            <a:pPr marL="0" indent="0">
              <a:buNone/>
            </a:pPr>
            <a:r>
              <a:rPr lang="en-US" sz="1000" b="1" dirty="0">
                <a:solidFill>
                  <a:srgbClr val="FFFFFF"/>
                </a:solidFill>
                <a:latin typeface="Segoe UI" pitchFamily="34" charset="0"/>
                <a:ea typeface="Segoe UI" pitchFamily="34" charset="-122"/>
                <a:cs typeface="Segoe UI" pitchFamily="34" charset="-120"/>
              </a:rPr>
              <a:t>(Sonnet)</a:t>
            </a:r>
            <a:endParaRPr lang="en-US" sz="1000" dirty="0"/>
          </a:p>
        </p:txBody>
      </p:sp>
      <p:sp>
        <p:nvSpPr>
          <p:cNvPr id="29" name="Shape 27"/>
          <p:cNvSpPr/>
          <p:nvPr/>
        </p:nvSpPr>
        <p:spPr>
          <a:xfrm>
            <a:off x="3246120" y="4526280"/>
            <a:ext cx="2724912" cy="749808"/>
          </a:xfrm>
          <a:prstGeom prst="rect">
            <a:avLst/>
          </a:prstGeom>
          <a:solidFill>
            <a:srgbClr val="FFFFFF"/>
          </a:solidFill>
          <a:ln w="12700">
            <a:solidFill>
              <a:srgbClr val="DFE6E9"/>
            </a:solidFill>
            <a:prstDash val="solid"/>
          </a:ln>
        </p:spPr>
        <p:txBody>
          <a:bodyPr/>
          <a:lstStyle/>
          <a:p>
            <a:endParaRPr lang="en-US"/>
          </a:p>
        </p:txBody>
      </p:sp>
      <p:sp>
        <p:nvSpPr>
          <p:cNvPr id="30" name="Text 28"/>
          <p:cNvSpPr/>
          <p:nvPr/>
        </p:nvSpPr>
        <p:spPr>
          <a:xfrm>
            <a:off x="3319272" y="4572000"/>
            <a:ext cx="2606040" cy="658368"/>
          </a:xfrm>
          <a:prstGeom prst="rect">
            <a:avLst/>
          </a:prstGeom>
          <a:noFill/>
          <a:ln/>
        </p:spPr>
        <p:txBody>
          <a:bodyPr wrap="square" rtlCol="0" anchor="ctr"/>
          <a:lstStyle/>
          <a:p>
            <a:pPr marL="0" indent="0">
              <a:buNone/>
            </a:pPr>
            <a:r>
              <a:rPr lang="en-US" sz="1100" dirty="0">
                <a:solidFill>
                  <a:srgbClr val="2D3436"/>
                </a:solidFill>
                <a:latin typeface="Segoe UI" pitchFamily="34" charset="0"/>
                <a:ea typeface="Segoe UI" pitchFamily="34" charset="-122"/>
                <a:cs typeface="Segoe UI" pitchFamily="34" charset="-120"/>
              </a:rPr>
              <a:t>Does code match agreed intent?</a:t>
            </a:r>
            <a:endParaRPr lang="en-US" sz="1100" dirty="0"/>
          </a:p>
        </p:txBody>
      </p:sp>
      <p:sp>
        <p:nvSpPr>
          <p:cNvPr id="31" name="Shape 29"/>
          <p:cNvSpPr/>
          <p:nvPr/>
        </p:nvSpPr>
        <p:spPr>
          <a:xfrm>
            <a:off x="6035040" y="4526280"/>
            <a:ext cx="2724912" cy="749808"/>
          </a:xfrm>
          <a:prstGeom prst="rect">
            <a:avLst/>
          </a:prstGeom>
          <a:solidFill>
            <a:srgbClr val="FFFFFF"/>
          </a:solidFill>
          <a:ln w="12700">
            <a:solidFill>
              <a:srgbClr val="DFE6E9"/>
            </a:solidFill>
            <a:prstDash val="solid"/>
          </a:ln>
        </p:spPr>
        <p:txBody>
          <a:bodyPr/>
          <a:lstStyle/>
          <a:p>
            <a:endParaRPr lang="en-US"/>
          </a:p>
        </p:txBody>
      </p:sp>
      <p:sp>
        <p:nvSpPr>
          <p:cNvPr id="32" name="Text 30"/>
          <p:cNvSpPr/>
          <p:nvPr/>
        </p:nvSpPr>
        <p:spPr>
          <a:xfrm>
            <a:off x="6108192" y="4572000"/>
            <a:ext cx="2606040" cy="658368"/>
          </a:xfrm>
          <a:prstGeom prst="rect">
            <a:avLst/>
          </a:prstGeom>
          <a:noFill/>
          <a:ln/>
        </p:spPr>
        <p:txBody>
          <a:bodyPr wrap="square" rtlCol="0" anchor="ctr"/>
          <a:lstStyle/>
          <a:p>
            <a:pPr marL="0" indent="0">
              <a:buNone/>
            </a:pPr>
            <a:r>
              <a:rPr lang="en-US" sz="1100" dirty="0">
                <a:solidFill>
                  <a:srgbClr val="2D3436"/>
                </a:solidFill>
                <a:latin typeface="Segoe UI" pitchFamily="34" charset="0"/>
                <a:ea typeface="Segoe UI" pitchFamily="34" charset="-122"/>
                <a:cs typeface="Segoe UI" pitchFamily="34" charset="-120"/>
              </a:rPr>
              <a:t>Consistent patterns? Maintainable in 18mo?</a:t>
            </a:r>
            <a:endParaRPr lang="en-US" sz="1100" dirty="0"/>
          </a:p>
        </p:txBody>
      </p:sp>
      <p:sp>
        <p:nvSpPr>
          <p:cNvPr id="33" name="Shape 31"/>
          <p:cNvSpPr/>
          <p:nvPr/>
        </p:nvSpPr>
        <p:spPr>
          <a:xfrm>
            <a:off x="8823960" y="4526280"/>
            <a:ext cx="2724912" cy="749808"/>
          </a:xfrm>
          <a:prstGeom prst="rect">
            <a:avLst/>
          </a:prstGeom>
          <a:solidFill>
            <a:srgbClr val="FFFFFF"/>
          </a:solidFill>
          <a:ln w="12700">
            <a:solidFill>
              <a:srgbClr val="DFE6E9"/>
            </a:solidFill>
            <a:prstDash val="solid"/>
          </a:ln>
        </p:spPr>
        <p:txBody>
          <a:bodyPr/>
          <a:lstStyle/>
          <a:p>
            <a:endParaRPr lang="en-US"/>
          </a:p>
        </p:txBody>
      </p:sp>
      <p:sp>
        <p:nvSpPr>
          <p:cNvPr id="34" name="Text 32"/>
          <p:cNvSpPr/>
          <p:nvPr/>
        </p:nvSpPr>
        <p:spPr>
          <a:xfrm>
            <a:off x="8897112" y="4572000"/>
            <a:ext cx="2606040" cy="658368"/>
          </a:xfrm>
          <a:prstGeom prst="rect">
            <a:avLst/>
          </a:prstGeom>
          <a:noFill/>
          <a:ln/>
        </p:spPr>
        <p:txBody>
          <a:bodyPr wrap="square" rtlCol="0" anchor="ctr"/>
          <a:lstStyle/>
          <a:p>
            <a:pPr marL="0" indent="0">
              <a:buNone/>
            </a:pPr>
            <a:r>
              <a:rPr lang="en-US" sz="1100" dirty="0">
                <a:solidFill>
                  <a:srgbClr val="2D3436"/>
                </a:solidFill>
                <a:latin typeface="Segoe UI" pitchFamily="34" charset="0"/>
                <a:ea typeface="Segoe UI" pitchFamily="34" charset="-122"/>
                <a:cs typeface="Segoe UI" pitchFamily="34" charset="-120"/>
              </a:rPr>
              <a:t>SQL injection? IDOR? Business-context escalation?</a:t>
            </a:r>
            <a:endParaRPr lang="en-US" sz="1100" dirty="0"/>
          </a:p>
        </p:txBody>
      </p:sp>
      <p:sp>
        <p:nvSpPr>
          <p:cNvPr id="35" name="Text 33"/>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17 / 45</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The 13 questions a senior would ask — asked for you</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Shape 3"/>
          <p:cNvSpPr/>
          <p:nvPr/>
        </p:nvSpPr>
        <p:spPr>
          <a:xfrm>
            <a:off x="365760" y="914400"/>
            <a:ext cx="2724912" cy="1261872"/>
          </a:xfrm>
          <a:prstGeom prst="roundRect">
            <a:avLst>
              <a:gd name="adj" fmla="val 6522"/>
            </a:avLst>
          </a:prstGeom>
          <a:solidFill>
            <a:srgbClr val="FFFFFF"/>
          </a:solidFill>
          <a:ln w="12700">
            <a:solidFill>
              <a:srgbClr val="DFE6E9"/>
            </a:solidFill>
            <a:prstDash val="solid"/>
          </a:ln>
        </p:spPr>
        <p:txBody>
          <a:bodyPr/>
          <a:lstStyle/>
          <a:p>
            <a:endParaRPr lang="en-US"/>
          </a:p>
        </p:txBody>
      </p:sp>
      <p:sp>
        <p:nvSpPr>
          <p:cNvPr id="6" name="Text 4"/>
          <p:cNvSpPr/>
          <p:nvPr/>
        </p:nvSpPr>
        <p:spPr>
          <a:xfrm>
            <a:off x="475488" y="1005840"/>
            <a:ext cx="2468880" cy="228600"/>
          </a:xfrm>
          <a:prstGeom prst="rect">
            <a:avLst/>
          </a:prstGeom>
          <a:noFill/>
          <a:ln/>
        </p:spPr>
        <p:txBody>
          <a:bodyPr wrap="square" rtlCol="0" anchor="ctr"/>
          <a:lstStyle/>
          <a:p>
            <a:pPr marL="0" indent="0">
              <a:buNone/>
            </a:pPr>
            <a:r>
              <a:rPr lang="en-US" sz="900" b="1" dirty="0">
                <a:solidFill>
                  <a:srgbClr val="C8A951"/>
                </a:solidFill>
                <a:latin typeface="Cascadia Code" pitchFamily="34" charset="0"/>
                <a:ea typeface="Cascadia Code" pitchFamily="34" charset="-122"/>
                <a:cs typeface="Cascadia Code" pitchFamily="34" charset="-120"/>
              </a:rPr>
              <a:t>[PO]</a:t>
            </a:r>
            <a:endParaRPr lang="en-US" sz="900" dirty="0"/>
          </a:p>
        </p:txBody>
      </p:sp>
      <p:sp>
        <p:nvSpPr>
          <p:cNvPr id="7" name="Text 5"/>
          <p:cNvSpPr/>
          <p:nvPr/>
        </p:nvSpPr>
        <p:spPr>
          <a:xfrm>
            <a:off x="475488" y="1216152"/>
            <a:ext cx="2468880" cy="256032"/>
          </a:xfrm>
          <a:prstGeom prst="rect">
            <a:avLst/>
          </a:prstGeom>
          <a:noFill/>
          <a:ln/>
        </p:spPr>
        <p:txBody>
          <a:bodyPr wrap="square" rtlCol="0" anchor="ctr"/>
          <a:lstStyle/>
          <a:p>
            <a:pPr marL="0" indent="0">
              <a:buNone/>
            </a:pPr>
            <a:r>
              <a:rPr lang="en-US" sz="1200" b="1" dirty="0">
                <a:solidFill>
                  <a:srgbClr val="1A3A5C"/>
                </a:solidFill>
                <a:latin typeface="Segoe UI" pitchFamily="34" charset="0"/>
                <a:ea typeface="Segoe UI" pitchFamily="34" charset="-122"/>
                <a:cs typeface="Segoe UI" pitchFamily="34" charset="-120"/>
              </a:rPr>
              <a:t>Priya Nair</a:t>
            </a:r>
            <a:endParaRPr lang="en-US" sz="1200" dirty="0"/>
          </a:p>
        </p:txBody>
      </p:sp>
      <p:sp>
        <p:nvSpPr>
          <p:cNvPr id="8" name="Text 6"/>
          <p:cNvSpPr/>
          <p:nvPr/>
        </p:nvSpPr>
        <p:spPr>
          <a:xfrm>
            <a:off x="475488" y="1481328"/>
            <a:ext cx="2468880" cy="621792"/>
          </a:xfrm>
          <a:prstGeom prst="rect">
            <a:avLst/>
          </a:prstGeom>
          <a:noFill/>
          <a:ln/>
        </p:spPr>
        <p:txBody>
          <a:bodyPr wrap="square" rtlCol="0" anchor="ctr"/>
          <a:lstStyle/>
          <a:p>
            <a:pPr marL="0" indent="0">
              <a:buNone/>
            </a:pPr>
            <a:r>
              <a:rPr lang="en-US" sz="1000" i="1" dirty="0">
                <a:solidFill>
                  <a:srgbClr val="636E72"/>
                </a:solidFill>
                <a:latin typeface="Segoe UI" pitchFamily="34" charset="0"/>
                <a:ea typeface="Segoe UI" pitchFamily="34" charset="-122"/>
                <a:cs typeface="Segoe UI" pitchFamily="34" charset="-120"/>
              </a:rPr>
              <a:t>What are we NOT doing, and why?</a:t>
            </a:r>
            <a:endParaRPr lang="en-US" sz="1000" dirty="0"/>
          </a:p>
        </p:txBody>
      </p:sp>
      <p:sp>
        <p:nvSpPr>
          <p:cNvPr id="9" name="Shape 7"/>
          <p:cNvSpPr/>
          <p:nvPr/>
        </p:nvSpPr>
        <p:spPr>
          <a:xfrm>
            <a:off x="3218688" y="914400"/>
            <a:ext cx="2724912" cy="1261872"/>
          </a:xfrm>
          <a:prstGeom prst="roundRect">
            <a:avLst>
              <a:gd name="adj" fmla="val 6522"/>
            </a:avLst>
          </a:prstGeom>
          <a:solidFill>
            <a:srgbClr val="FFFFFF"/>
          </a:solidFill>
          <a:ln w="12700">
            <a:solidFill>
              <a:srgbClr val="DFE6E9"/>
            </a:solidFill>
            <a:prstDash val="solid"/>
          </a:ln>
        </p:spPr>
        <p:txBody>
          <a:bodyPr/>
          <a:lstStyle/>
          <a:p>
            <a:endParaRPr lang="en-US"/>
          </a:p>
        </p:txBody>
      </p:sp>
      <p:sp>
        <p:nvSpPr>
          <p:cNvPr id="10" name="Text 8"/>
          <p:cNvSpPr/>
          <p:nvPr/>
        </p:nvSpPr>
        <p:spPr>
          <a:xfrm>
            <a:off x="3328416" y="1005840"/>
            <a:ext cx="2468880" cy="228600"/>
          </a:xfrm>
          <a:prstGeom prst="rect">
            <a:avLst/>
          </a:prstGeom>
          <a:noFill/>
          <a:ln/>
        </p:spPr>
        <p:txBody>
          <a:bodyPr wrap="square" rtlCol="0" anchor="ctr"/>
          <a:lstStyle/>
          <a:p>
            <a:pPr marL="0" indent="0">
              <a:buNone/>
            </a:pPr>
            <a:r>
              <a:rPr lang="en-US" sz="900" b="1" dirty="0">
                <a:solidFill>
                  <a:srgbClr val="C8A951"/>
                </a:solidFill>
                <a:latin typeface="Cascadia Code" pitchFamily="34" charset="0"/>
                <a:ea typeface="Cascadia Code" pitchFamily="34" charset="-122"/>
                <a:cs typeface="Cascadia Code" pitchFamily="34" charset="-120"/>
              </a:rPr>
              <a:t>[TL]</a:t>
            </a:r>
            <a:endParaRPr lang="en-US" sz="900" dirty="0"/>
          </a:p>
        </p:txBody>
      </p:sp>
      <p:sp>
        <p:nvSpPr>
          <p:cNvPr id="11" name="Text 9"/>
          <p:cNvSpPr/>
          <p:nvPr/>
        </p:nvSpPr>
        <p:spPr>
          <a:xfrm>
            <a:off x="3328416" y="1216152"/>
            <a:ext cx="2468880" cy="256032"/>
          </a:xfrm>
          <a:prstGeom prst="rect">
            <a:avLst/>
          </a:prstGeom>
          <a:noFill/>
          <a:ln/>
        </p:spPr>
        <p:txBody>
          <a:bodyPr wrap="square" rtlCol="0" anchor="ctr"/>
          <a:lstStyle/>
          <a:p>
            <a:pPr marL="0" indent="0">
              <a:buNone/>
            </a:pPr>
            <a:r>
              <a:rPr lang="en-US" sz="1200" b="1" dirty="0">
                <a:solidFill>
                  <a:srgbClr val="1A3A5C"/>
                </a:solidFill>
                <a:latin typeface="Segoe UI" pitchFamily="34" charset="0"/>
                <a:ea typeface="Segoe UI" pitchFamily="34" charset="-122"/>
                <a:cs typeface="Segoe UI" pitchFamily="34" charset="-120"/>
              </a:rPr>
              <a:t>Marcus Reid</a:t>
            </a:r>
            <a:endParaRPr lang="en-US" sz="1200" dirty="0"/>
          </a:p>
        </p:txBody>
      </p:sp>
      <p:sp>
        <p:nvSpPr>
          <p:cNvPr id="12" name="Text 10"/>
          <p:cNvSpPr/>
          <p:nvPr/>
        </p:nvSpPr>
        <p:spPr>
          <a:xfrm>
            <a:off x="3328416" y="1481328"/>
            <a:ext cx="2468880" cy="621792"/>
          </a:xfrm>
          <a:prstGeom prst="rect">
            <a:avLst/>
          </a:prstGeom>
          <a:noFill/>
          <a:ln/>
        </p:spPr>
        <p:txBody>
          <a:bodyPr wrap="square" rtlCol="0" anchor="ctr"/>
          <a:lstStyle/>
          <a:p>
            <a:pPr marL="0" indent="0">
              <a:buNone/>
            </a:pPr>
            <a:r>
              <a:rPr lang="en-US" sz="1000" i="1" dirty="0">
                <a:solidFill>
                  <a:srgbClr val="636E72"/>
                </a:solidFill>
                <a:latin typeface="Segoe UI" pitchFamily="34" charset="0"/>
                <a:ea typeface="Segoe UI" pitchFamily="34" charset="-122"/>
                <a:cs typeface="Segoe UI" pitchFamily="34" charset="-120"/>
              </a:rPr>
              <a:t>Does this satisfy architectural constraints?</a:t>
            </a:r>
            <a:endParaRPr lang="en-US" sz="1000" dirty="0"/>
          </a:p>
        </p:txBody>
      </p:sp>
      <p:sp>
        <p:nvSpPr>
          <p:cNvPr id="13" name="Shape 11"/>
          <p:cNvSpPr/>
          <p:nvPr/>
        </p:nvSpPr>
        <p:spPr>
          <a:xfrm>
            <a:off x="6071616" y="914400"/>
            <a:ext cx="2724912" cy="1261872"/>
          </a:xfrm>
          <a:prstGeom prst="roundRect">
            <a:avLst>
              <a:gd name="adj" fmla="val 6522"/>
            </a:avLst>
          </a:prstGeom>
          <a:solidFill>
            <a:srgbClr val="FFFFFF"/>
          </a:solidFill>
          <a:ln w="12700">
            <a:solidFill>
              <a:srgbClr val="DFE6E9"/>
            </a:solidFill>
            <a:prstDash val="solid"/>
          </a:ln>
        </p:spPr>
        <p:txBody>
          <a:bodyPr/>
          <a:lstStyle/>
          <a:p>
            <a:endParaRPr lang="en-US"/>
          </a:p>
        </p:txBody>
      </p:sp>
      <p:sp>
        <p:nvSpPr>
          <p:cNvPr id="14" name="Text 12"/>
          <p:cNvSpPr/>
          <p:nvPr/>
        </p:nvSpPr>
        <p:spPr>
          <a:xfrm>
            <a:off x="6181344" y="1005840"/>
            <a:ext cx="2468880" cy="228600"/>
          </a:xfrm>
          <a:prstGeom prst="rect">
            <a:avLst/>
          </a:prstGeom>
          <a:noFill/>
          <a:ln/>
        </p:spPr>
        <p:txBody>
          <a:bodyPr wrap="square" rtlCol="0" anchor="ctr"/>
          <a:lstStyle/>
          <a:p>
            <a:pPr marL="0" indent="0">
              <a:buNone/>
            </a:pPr>
            <a:r>
              <a:rPr lang="en-US" sz="900" b="1" dirty="0">
                <a:solidFill>
                  <a:srgbClr val="C8A951"/>
                </a:solidFill>
                <a:latin typeface="Cascadia Code" pitchFamily="34" charset="0"/>
                <a:ea typeface="Cascadia Code" pitchFamily="34" charset="-122"/>
                <a:cs typeface="Cascadia Code" pitchFamily="34" charset="-120"/>
              </a:rPr>
              <a:t>[SE]</a:t>
            </a:r>
            <a:endParaRPr lang="en-US" sz="900" dirty="0"/>
          </a:p>
        </p:txBody>
      </p:sp>
      <p:sp>
        <p:nvSpPr>
          <p:cNvPr id="15" name="Text 13"/>
          <p:cNvSpPr/>
          <p:nvPr/>
        </p:nvSpPr>
        <p:spPr>
          <a:xfrm>
            <a:off x="6181344" y="1216152"/>
            <a:ext cx="2468880" cy="256032"/>
          </a:xfrm>
          <a:prstGeom prst="rect">
            <a:avLst/>
          </a:prstGeom>
          <a:noFill/>
          <a:ln/>
        </p:spPr>
        <p:txBody>
          <a:bodyPr wrap="square" rtlCol="0" anchor="ctr"/>
          <a:lstStyle/>
          <a:p>
            <a:pPr marL="0" indent="0">
              <a:buNone/>
            </a:pPr>
            <a:r>
              <a:rPr lang="en-US" sz="1200" b="1" dirty="0">
                <a:solidFill>
                  <a:srgbClr val="1A3A5C"/>
                </a:solidFill>
                <a:latin typeface="Segoe UI" pitchFamily="34" charset="0"/>
                <a:ea typeface="Segoe UI" pitchFamily="34" charset="-122"/>
                <a:cs typeface="Segoe UI" pitchFamily="34" charset="-120"/>
              </a:rPr>
              <a:t>Elena Fischer</a:t>
            </a:r>
            <a:endParaRPr lang="en-US" sz="1200" dirty="0"/>
          </a:p>
        </p:txBody>
      </p:sp>
      <p:sp>
        <p:nvSpPr>
          <p:cNvPr id="16" name="Text 14"/>
          <p:cNvSpPr/>
          <p:nvPr/>
        </p:nvSpPr>
        <p:spPr>
          <a:xfrm>
            <a:off x="6181344" y="1481328"/>
            <a:ext cx="2468880" cy="621792"/>
          </a:xfrm>
          <a:prstGeom prst="rect">
            <a:avLst/>
          </a:prstGeom>
          <a:noFill/>
          <a:ln/>
        </p:spPr>
        <p:txBody>
          <a:bodyPr wrap="square" rtlCol="0" anchor="ctr"/>
          <a:lstStyle/>
          <a:p>
            <a:pPr marL="0" indent="0">
              <a:buNone/>
            </a:pPr>
            <a:r>
              <a:rPr lang="en-US" sz="1000" i="1" dirty="0">
                <a:solidFill>
                  <a:srgbClr val="636E72"/>
                </a:solidFill>
                <a:latin typeface="Segoe UI" pitchFamily="34" charset="0"/>
                <a:ea typeface="Segoe UI" pitchFamily="34" charset="-122"/>
                <a:cs typeface="Segoe UI" pitchFamily="34" charset="-120"/>
              </a:rPr>
              <a:t>Is this the simplest correct solution?</a:t>
            </a:r>
            <a:endParaRPr lang="en-US" sz="1000" dirty="0"/>
          </a:p>
        </p:txBody>
      </p:sp>
      <p:sp>
        <p:nvSpPr>
          <p:cNvPr id="17" name="Shape 15"/>
          <p:cNvSpPr/>
          <p:nvPr/>
        </p:nvSpPr>
        <p:spPr>
          <a:xfrm>
            <a:off x="8924544" y="914400"/>
            <a:ext cx="2724912" cy="1261872"/>
          </a:xfrm>
          <a:prstGeom prst="roundRect">
            <a:avLst>
              <a:gd name="adj" fmla="val 6522"/>
            </a:avLst>
          </a:prstGeom>
          <a:solidFill>
            <a:srgbClr val="FFFFFF"/>
          </a:solidFill>
          <a:ln w="12700">
            <a:solidFill>
              <a:srgbClr val="DFE6E9"/>
            </a:solidFill>
            <a:prstDash val="solid"/>
          </a:ln>
        </p:spPr>
        <p:txBody>
          <a:bodyPr/>
          <a:lstStyle/>
          <a:p>
            <a:endParaRPr lang="en-US"/>
          </a:p>
        </p:txBody>
      </p:sp>
      <p:sp>
        <p:nvSpPr>
          <p:cNvPr id="18" name="Text 16"/>
          <p:cNvSpPr/>
          <p:nvPr/>
        </p:nvSpPr>
        <p:spPr>
          <a:xfrm>
            <a:off x="9034272" y="1005840"/>
            <a:ext cx="2468880" cy="228600"/>
          </a:xfrm>
          <a:prstGeom prst="rect">
            <a:avLst/>
          </a:prstGeom>
          <a:noFill/>
          <a:ln/>
        </p:spPr>
        <p:txBody>
          <a:bodyPr wrap="square" rtlCol="0" anchor="ctr"/>
          <a:lstStyle/>
          <a:p>
            <a:pPr marL="0" indent="0">
              <a:buNone/>
            </a:pPr>
            <a:r>
              <a:rPr lang="en-US" sz="900" b="1" dirty="0">
                <a:solidFill>
                  <a:srgbClr val="C8A951"/>
                </a:solidFill>
                <a:latin typeface="Cascadia Code" pitchFamily="34" charset="0"/>
                <a:ea typeface="Cascadia Code" pitchFamily="34" charset="-122"/>
                <a:cs typeface="Cascadia Code" pitchFamily="34" charset="-120"/>
              </a:rPr>
              <a:t>[QA]</a:t>
            </a:r>
            <a:endParaRPr lang="en-US" sz="900" dirty="0"/>
          </a:p>
        </p:txBody>
      </p:sp>
      <p:sp>
        <p:nvSpPr>
          <p:cNvPr id="19" name="Text 17"/>
          <p:cNvSpPr/>
          <p:nvPr/>
        </p:nvSpPr>
        <p:spPr>
          <a:xfrm>
            <a:off x="9034272" y="1216152"/>
            <a:ext cx="2468880" cy="256032"/>
          </a:xfrm>
          <a:prstGeom prst="rect">
            <a:avLst/>
          </a:prstGeom>
          <a:noFill/>
          <a:ln/>
        </p:spPr>
        <p:txBody>
          <a:bodyPr wrap="square" rtlCol="0" anchor="ctr"/>
          <a:lstStyle/>
          <a:p>
            <a:pPr marL="0" indent="0">
              <a:buNone/>
            </a:pPr>
            <a:r>
              <a:rPr lang="en-US" sz="1200" b="1" dirty="0">
                <a:solidFill>
                  <a:srgbClr val="1A3A5C"/>
                </a:solidFill>
                <a:latin typeface="Segoe UI" pitchFamily="34" charset="0"/>
                <a:ea typeface="Segoe UI" pitchFamily="34" charset="-122"/>
                <a:cs typeface="Segoe UI" pitchFamily="34" charset="-120"/>
              </a:rPr>
              <a:t>Sam Okonkwo</a:t>
            </a:r>
            <a:endParaRPr lang="en-US" sz="1200" dirty="0"/>
          </a:p>
        </p:txBody>
      </p:sp>
      <p:sp>
        <p:nvSpPr>
          <p:cNvPr id="20" name="Text 18"/>
          <p:cNvSpPr/>
          <p:nvPr/>
        </p:nvSpPr>
        <p:spPr>
          <a:xfrm>
            <a:off x="9034272" y="1481328"/>
            <a:ext cx="2468880" cy="621792"/>
          </a:xfrm>
          <a:prstGeom prst="rect">
            <a:avLst/>
          </a:prstGeom>
          <a:noFill/>
          <a:ln/>
        </p:spPr>
        <p:txBody>
          <a:bodyPr wrap="square" rtlCol="0" anchor="ctr"/>
          <a:lstStyle/>
          <a:p>
            <a:pPr marL="0" indent="0">
              <a:buNone/>
            </a:pPr>
            <a:r>
              <a:rPr lang="en-US" sz="1000" i="1" dirty="0">
                <a:solidFill>
                  <a:srgbClr val="636E72"/>
                </a:solidFill>
                <a:latin typeface="Segoe UI" pitchFamily="34" charset="0"/>
                <a:ea typeface="Segoe UI" pitchFamily="34" charset="-122"/>
                <a:cs typeface="Segoe UI" pitchFamily="34" charset="-120"/>
              </a:rPr>
              <a:t>What breaks this, and can we test it?</a:t>
            </a:r>
            <a:endParaRPr lang="en-US" sz="1000" dirty="0"/>
          </a:p>
        </p:txBody>
      </p:sp>
      <p:sp>
        <p:nvSpPr>
          <p:cNvPr id="21" name="Shape 19"/>
          <p:cNvSpPr/>
          <p:nvPr/>
        </p:nvSpPr>
        <p:spPr>
          <a:xfrm>
            <a:off x="365760" y="2286000"/>
            <a:ext cx="2724912" cy="1261872"/>
          </a:xfrm>
          <a:prstGeom prst="roundRect">
            <a:avLst>
              <a:gd name="adj" fmla="val 6522"/>
            </a:avLst>
          </a:prstGeom>
          <a:solidFill>
            <a:srgbClr val="FFFFFF"/>
          </a:solidFill>
          <a:ln w="12700">
            <a:solidFill>
              <a:srgbClr val="DFE6E9"/>
            </a:solidFill>
            <a:prstDash val="solid"/>
          </a:ln>
        </p:spPr>
        <p:txBody>
          <a:bodyPr/>
          <a:lstStyle/>
          <a:p>
            <a:endParaRPr lang="en-US"/>
          </a:p>
        </p:txBody>
      </p:sp>
      <p:sp>
        <p:nvSpPr>
          <p:cNvPr id="22" name="Text 20"/>
          <p:cNvSpPr/>
          <p:nvPr/>
        </p:nvSpPr>
        <p:spPr>
          <a:xfrm>
            <a:off x="475488" y="2377440"/>
            <a:ext cx="2468880" cy="228600"/>
          </a:xfrm>
          <a:prstGeom prst="rect">
            <a:avLst/>
          </a:prstGeom>
          <a:noFill/>
          <a:ln/>
        </p:spPr>
        <p:txBody>
          <a:bodyPr wrap="square" rtlCol="0" anchor="ctr"/>
          <a:lstStyle/>
          <a:p>
            <a:pPr marL="0" indent="0">
              <a:buNone/>
            </a:pPr>
            <a:r>
              <a:rPr lang="en-US" sz="900" b="1" dirty="0">
                <a:solidFill>
                  <a:srgbClr val="C8A951"/>
                </a:solidFill>
                <a:latin typeface="Cascadia Code" pitchFamily="34" charset="0"/>
                <a:ea typeface="Cascadia Code" pitchFamily="34" charset="-122"/>
                <a:cs typeface="Cascadia Code" pitchFamily="34" charset="-120"/>
              </a:rPr>
              <a:t>[SEC]</a:t>
            </a:r>
            <a:endParaRPr lang="en-US" sz="900" dirty="0"/>
          </a:p>
        </p:txBody>
      </p:sp>
      <p:sp>
        <p:nvSpPr>
          <p:cNvPr id="23" name="Text 21"/>
          <p:cNvSpPr/>
          <p:nvPr/>
        </p:nvSpPr>
        <p:spPr>
          <a:xfrm>
            <a:off x="475488" y="2587752"/>
            <a:ext cx="2468880" cy="256032"/>
          </a:xfrm>
          <a:prstGeom prst="rect">
            <a:avLst/>
          </a:prstGeom>
          <a:noFill/>
          <a:ln/>
        </p:spPr>
        <p:txBody>
          <a:bodyPr wrap="square" rtlCol="0" anchor="ctr"/>
          <a:lstStyle/>
          <a:p>
            <a:pPr marL="0" indent="0">
              <a:buNone/>
            </a:pPr>
            <a:r>
              <a:rPr lang="en-US" sz="1200" b="1" dirty="0">
                <a:solidFill>
                  <a:srgbClr val="1A3A5C"/>
                </a:solidFill>
                <a:latin typeface="Segoe UI" pitchFamily="34" charset="0"/>
                <a:ea typeface="Segoe UI" pitchFamily="34" charset="-122"/>
                <a:cs typeface="Segoe UI" pitchFamily="34" charset="-120"/>
              </a:rPr>
              <a:t>Dana Ito</a:t>
            </a:r>
            <a:endParaRPr lang="en-US" sz="1200" dirty="0"/>
          </a:p>
        </p:txBody>
      </p:sp>
      <p:sp>
        <p:nvSpPr>
          <p:cNvPr id="24" name="Text 22"/>
          <p:cNvSpPr/>
          <p:nvPr/>
        </p:nvSpPr>
        <p:spPr>
          <a:xfrm>
            <a:off x="475488" y="2852928"/>
            <a:ext cx="2468880" cy="621792"/>
          </a:xfrm>
          <a:prstGeom prst="rect">
            <a:avLst/>
          </a:prstGeom>
          <a:noFill/>
          <a:ln/>
        </p:spPr>
        <p:txBody>
          <a:bodyPr wrap="square" rtlCol="0" anchor="ctr"/>
          <a:lstStyle/>
          <a:p>
            <a:pPr marL="0" indent="0">
              <a:buNone/>
            </a:pPr>
            <a:r>
              <a:rPr lang="en-US" sz="1000" i="1" dirty="0">
                <a:solidFill>
                  <a:srgbClr val="636E72"/>
                </a:solidFill>
                <a:latin typeface="Segoe UI" pitchFamily="34" charset="0"/>
                <a:ea typeface="Segoe UI" pitchFamily="34" charset="-122"/>
                <a:cs typeface="Segoe UI" pitchFamily="34" charset="-120"/>
              </a:rPr>
              <a:t>Where does tainted data reach?</a:t>
            </a:r>
            <a:endParaRPr lang="en-US" sz="1000" dirty="0"/>
          </a:p>
        </p:txBody>
      </p:sp>
      <p:sp>
        <p:nvSpPr>
          <p:cNvPr id="25" name="Shape 23"/>
          <p:cNvSpPr/>
          <p:nvPr/>
        </p:nvSpPr>
        <p:spPr>
          <a:xfrm>
            <a:off x="3218688" y="2286000"/>
            <a:ext cx="2724912" cy="1261872"/>
          </a:xfrm>
          <a:prstGeom prst="roundRect">
            <a:avLst>
              <a:gd name="adj" fmla="val 6522"/>
            </a:avLst>
          </a:prstGeom>
          <a:solidFill>
            <a:srgbClr val="FFFFFF"/>
          </a:solidFill>
          <a:ln w="12700">
            <a:solidFill>
              <a:srgbClr val="DFE6E9"/>
            </a:solidFill>
            <a:prstDash val="solid"/>
          </a:ln>
        </p:spPr>
        <p:txBody>
          <a:bodyPr/>
          <a:lstStyle/>
          <a:p>
            <a:endParaRPr lang="en-US"/>
          </a:p>
        </p:txBody>
      </p:sp>
      <p:sp>
        <p:nvSpPr>
          <p:cNvPr id="26" name="Text 24"/>
          <p:cNvSpPr/>
          <p:nvPr/>
        </p:nvSpPr>
        <p:spPr>
          <a:xfrm>
            <a:off x="3328416" y="2377440"/>
            <a:ext cx="2468880" cy="228600"/>
          </a:xfrm>
          <a:prstGeom prst="rect">
            <a:avLst/>
          </a:prstGeom>
          <a:noFill/>
          <a:ln/>
        </p:spPr>
        <p:txBody>
          <a:bodyPr wrap="square" rtlCol="0" anchor="ctr"/>
          <a:lstStyle/>
          <a:p>
            <a:pPr marL="0" indent="0">
              <a:buNone/>
            </a:pPr>
            <a:r>
              <a:rPr lang="en-US" sz="900" b="1" dirty="0">
                <a:solidFill>
                  <a:srgbClr val="C8A951"/>
                </a:solidFill>
                <a:latin typeface="Cascadia Code" pitchFamily="34" charset="0"/>
                <a:ea typeface="Cascadia Code" pitchFamily="34" charset="-122"/>
                <a:cs typeface="Cascadia Code" pitchFamily="34" charset="-120"/>
              </a:rPr>
              <a:t>[SA]</a:t>
            </a:r>
            <a:endParaRPr lang="en-US" sz="900" dirty="0"/>
          </a:p>
        </p:txBody>
      </p:sp>
      <p:sp>
        <p:nvSpPr>
          <p:cNvPr id="27" name="Text 25"/>
          <p:cNvSpPr/>
          <p:nvPr/>
        </p:nvSpPr>
        <p:spPr>
          <a:xfrm>
            <a:off x="3328416" y="2587752"/>
            <a:ext cx="2468880" cy="256032"/>
          </a:xfrm>
          <a:prstGeom prst="rect">
            <a:avLst/>
          </a:prstGeom>
          <a:noFill/>
          <a:ln/>
        </p:spPr>
        <p:txBody>
          <a:bodyPr wrap="square" rtlCol="0" anchor="ctr"/>
          <a:lstStyle/>
          <a:p>
            <a:pPr marL="0" indent="0">
              <a:buNone/>
            </a:pPr>
            <a:r>
              <a:rPr lang="en-US" sz="1200" b="1" dirty="0">
                <a:solidFill>
                  <a:srgbClr val="1A3A5C"/>
                </a:solidFill>
                <a:latin typeface="Segoe UI" pitchFamily="34" charset="0"/>
                <a:ea typeface="Segoe UI" pitchFamily="34" charset="-122"/>
                <a:cs typeface="Segoe UI" pitchFamily="34" charset="-120"/>
              </a:rPr>
              <a:t>Rafael Mendes</a:t>
            </a:r>
            <a:endParaRPr lang="en-US" sz="1200" dirty="0"/>
          </a:p>
        </p:txBody>
      </p:sp>
      <p:sp>
        <p:nvSpPr>
          <p:cNvPr id="28" name="Text 26"/>
          <p:cNvSpPr/>
          <p:nvPr/>
        </p:nvSpPr>
        <p:spPr>
          <a:xfrm>
            <a:off x="3328416" y="2852928"/>
            <a:ext cx="2468880" cy="621792"/>
          </a:xfrm>
          <a:prstGeom prst="rect">
            <a:avLst/>
          </a:prstGeom>
          <a:noFill/>
          <a:ln/>
        </p:spPr>
        <p:txBody>
          <a:bodyPr wrap="square" rtlCol="0" anchor="ctr"/>
          <a:lstStyle/>
          <a:p>
            <a:pPr marL="0" indent="0">
              <a:buNone/>
            </a:pPr>
            <a:r>
              <a:rPr lang="en-US" sz="1000" i="1" dirty="0">
                <a:solidFill>
                  <a:srgbClr val="636E72"/>
                </a:solidFill>
                <a:latin typeface="Segoe UI" pitchFamily="34" charset="0"/>
                <a:ea typeface="Segoe UI" pitchFamily="34" charset="-122"/>
                <a:cs typeface="Segoe UI" pitchFamily="34" charset="-120"/>
              </a:rPr>
              <a:t>Does this compose at system level?</a:t>
            </a:r>
            <a:endParaRPr lang="en-US" sz="1000" dirty="0"/>
          </a:p>
        </p:txBody>
      </p:sp>
      <p:sp>
        <p:nvSpPr>
          <p:cNvPr id="29" name="Shape 27"/>
          <p:cNvSpPr/>
          <p:nvPr/>
        </p:nvSpPr>
        <p:spPr>
          <a:xfrm>
            <a:off x="6071616" y="2286000"/>
            <a:ext cx="2724912" cy="1261872"/>
          </a:xfrm>
          <a:prstGeom prst="roundRect">
            <a:avLst>
              <a:gd name="adj" fmla="val 6522"/>
            </a:avLst>
          </a:prstGeom>
          <a:solidFill>
            <a:srgbClr val="FFFFFF"/>
          </a:solidFill>
          <a:ln w="12700">
            <a:solidFill>
              <a:srgbClr val="DFE6E9"/>
            </a:solidFill>
            <a:prstDash val="solid"/>
          </a:ln>
        </p:spPr>
        <p:txBody>
          <a:bodyPr/>
          <a:lstStyle/>
          <a:p>
            <a:endParaRPr lang="en-US"/>
          </a:p>
        </p:txBody>
      </p:sp>
      <p:sp>
        <p:nvSpPr>
          <p:cNvPr id="30" name="Text 28"/>
          <p:cNvSpPr/>
          <p:nvPr/>
        </p:nvSpPr>
        <p:spPr>
          <a:xfrm>
            <a:off x="6181344" y="2377440"/>
            <a:ext cx="2468880" cy="228600"/>
          </a:xfrm>
          <a:prstGeom prst="rect">
            <a:avLst/>
          </a:prstGeom>
          <a:noFill/>
          <a:ln/>
        </p:spPr>
        <p:txBody>
          <a:bodyPr wrap="square" rtlCol="0" anchor="ctr"/>
          <a:lstStyle/>
          <a:p>
            <a:pPr marL="0" indent="0">
              <a:buNone/>
            </a:pPr>
            <a:r>
              <a:rPr lang="en-US" sz="900" b="1" dirty="0">
                <a:solidFill>
                  <a:srgbClr val="C8A951"/>
                </a:solidFill>
                <a:latin typeface="Cascadia Code" pitchFamily="34" charset="0"/>
                <a:ea typeface="Cascadia Code" pitchFamily="34" charset="-122"/>
                <a:cs typeface="Cascadia Code" pitchFamily="34" charset="-120"/>
              </a:rPr>
              <a:t>[EA]</a:t>
            </a:r>
            <a:endParaRPr lang="en-US" sz="900" dirty="0"/>
          </a:p>
        </p:txBody>
      </p:sp>
      <p:sp>
        <p:nvSpPr>
          <p:cNvPr id="31" name="Text 29"/>
          <p:cNvSpPr/>
          <p:nvPr/>
        </p:nvSpPr>
        <p:spPr>
          <a:xfrm>
            <a:off x="6181344" y="2587752"/>
            <a:ext cx="2468880" cy="256032"/>
          </a:xfrm>
          <a:prstGeom prst="rect">
            <a:avLst/>
          </a:prstGeom>
          <a:noFill/>
          <a:ln/>
        </p:spPr>
        <p:txBody>
          <a:bodyPr wrap="square" rtlCol="0" anchor="ctr"/>
          <a:lstStyle/>
          <a:p>
            <a:pPr marL="0" indent="0">
              <a:buNone/>
            </a:pPr>
            <a:r>
              <a:rPr lang="en-US" sz="1200" b="1" dirty="0">
                <a:solidFill>
                  <a:srgbClr val="1A3A5C"/>
                </a:solidFill>
                <a:latin typeface="Segoe UI" pitchFamily="34" charset="0"/>
                <a:ea typeface="Segoe UI" pitchFamily="34" charset="-122"/>
                <a:cs typeface="Segoe UI" pitchFamily="34" charset="-120"/>
              </a:rPr>
              <a:t>Grace Lin</a:t>
            </a:r>
            <a:endParaRPr lang="en-US" sz="1200" dirty="0"/>
          </a:p>
        </p:txBody>
      </p:sp>
      <p:sp>
        <p:nvSpPr>
          <p:cNvPr id="32" name="Text 30"/>
          <p:cNvSpPr/>
          <p:nvPr/>
        </p:nvSpPr>
        <p:spPr>
          <a:xfrm>
            <a:off x="6181344" y="2852928"/>
            <a:ext cx="2468880" cy="621792"/>
          </a:xfrm>
          <a:prstGeom prst="rect">
            <a:avLst/>
          </a:prstGeom>
          <a:noFill/>
          <a:ln/>
        </p:spPr>
        <p:txBody>
          <a:bodyPr wrap="square" rtlCol="0" anchor="ctr"/>
          <a:lstStyle/>
          <a:p>
            <a:pPr marL="0" indent="0">
              <a:buNone/>
            </a:pPr>
            <a:r>
              <a:rPr lang="en-US" sz="1000" i="1" dirty="0">
                <a:solidFill>
                  <a:srgbClr val="636E72"/>
                </a:solidFill>
                <a:latin typeface="Segoe UI" pitchFamily="34" charset="0"/>
                <a:ea typeface="Segoe UI" pitchFamily="34" charset="-122"/>
                <a:cs typeface="Segoe UI" pitchFamily="34" charset="-120"/>
              </a:rPr>
              <a:t>What’s the long-term architectural debt?</a:t>
            </a:r>
            <a:endParaRPr lang="en-US" sz="1000" dirty="0"/>
          </a:p>
        </p:txBody>
      </p:sp>
      <p:sp>
        <p:nvSpPr>
          <p:cNvPr id="33" name="Shape 31"/>
          <p:cNvSpPr/>
          <p:nvPr/>
        </p:nvSpPr>
        <p:spPr>
          <a:xfrm>
            <a:off x="8924544" y="2286000"/>
            <a:ext cx="2724912" cy="1261872"/>
          </a:xfrm>
          <a:prstGeom prst="roundRect">
            <a:avLst>
              <a:gd name="adj" fmla="val 6522"/>
            </a:avLst>
          </a:prstGeom>
          <a:solidFill>
            <a:srgbClr val="FFFFFF"/>
          </a:solidFill>
          <a:ln w="12700">
            <a:solidFill>
              <a:srgbClr val="DFE6E9"/>
            </a:solidFill>
            <a:prstDash val="solid"/>
          </a:ln>
        </p:spPr>
        <p:txBody>
          <a:bodyPr/>
          <a:lstStyle/>
          <a:p>
            <a:endParaRPr lang="en-US"/>
          </a:p>
        </p:txBody>
      </p:sp>
      <p:sp>
        <p:nvSpPr>
          <p:cNvPr id="34" name="Text 32"/>
          <p:cNvSpPr/>
          <p:nvPr/>
        </p:nvSpPr>
        <p:spPr>
          <a:xfrm>
            <a:off x="9034272" y="2377440"/>
            <a:ext cx="2468880" cy="228600"/>
          </a:xfrm>
          <a:prstGeom prst="rect">
            <a:avLst/>
          </a:prstGeom>
          <a:noFill/>
          <a:ln/>
        </p:spPr>
        <p:txBody>
          <a:bodyPr wrap="square" rtlCol="0" anchor="ctr"/>
          <a:lstStyle/>
          <a:p>
            <a:pPr marL="0" indent="0">
              <a:buNone/>
            </a:pPr>
            <a:r>
              <a:rPr lang="en-US" sz="900" b="1" dirty="0">
                <a:solidFill>
                  <a:srgbClr val="C8A951"/>
                </a:solidFill>
                <a:latin typeface="Cascadia Code" pitchFamily="34" charset="0"/>
                <a:ea typeface="Cascadia Code" pitchFamily="34" charset="-122"/>
                <a:cs typeface="Cascadia Code" pitchFamily="34" charset="-120"/>
              </a:rPr>
              <a:t>[AIA]</a:t>
            </a:r>
            <a:endParaRPr lang="en-US" sz="900" dirty="0"/>
          </a:p>
        </p:txBody>
      </p:sp>
      <p:sp>
        <p:nvSpPr>
          <p:cNvPr id="35" name="Text 33"/>
          <p:cNvSpPr/>
          <p:nvPr/>
        </p:nvSpPr>
        <p:spPr>
          <a:xfrm>
            <a:off x="9034272" y="2587752"/>
            <a:ext cx="2468880" cy="256032"/>
          </a:xfrm>
          <a:prstGeom prst="rect">
            <a:avLst/>
          </a:prstGeom>
          <a:noFill/>
          <a:ln/>
        </p:spPr>
        <p:txBody>
          <a:bodyPr wrap="square" rtlCol="0" anchor="ctr"/>
          <a:lstStyle/>
          <a:p>
            <a:pPr marL="0" indent="0">
              <a:buNone/>
            </a:pPr>
            <a:r>
              <a:rPr lang="en-US" sz="1200" b="1" dirty="0">
                <a:solidFill>
                  <a:srgbClr val="1A3A5C"/>
                </a:solidFill>
                <a:latin typeface="Segoe UI" pitchFamily="34" charset="0"/>
                <a:ea typeface="Segoe UI" pitchFamily="34" charset="-122"/>
                <a:cs typeface="Segoe UI" pitchFamily="34" charset="-120"/>
              </a:rPr>
              <a:t>Theo Brandt</a:t>
            </a:r>
            <a:endParaRPr lang="en-US" sz="1200" dirty="0"/>
          </a:p>
        </p:txBody>
      </p:sp>
      <p:sp>
        <p:nvSpPr>
          <p:cNvPr id="36" name="Text 34"/>
          <p:cNvSpPr/>
          <p:nvPr/>
        </p:nvSpPr>
        <p:spPr>
          <a:xfrm>
            <a:off x="9034272" y="2852928"/>
            <a:ext cx="2468880" cy="621792"/>
          </a:xfrm>
          <a:prstGeom prst="rect">
            <a:avLst/>
          </a:prstGeom>
          <a:noFill/>
          <a:ln/>
        </p:spPr>
        <p:txBody>
          <a:bodyPr wrap="square" rtlCol="0" anchor="ctr"/>
          <a:lstStyle/>
          <a:p>
            <a:pPr marL="0" indent="0">
              <a:buNone/>
            </a:pPr>
            <a:r>
              <a:rPr lang="en-US" sz="1000" i="1" dirty="0">
                <a:solidFill>
                  <a:srgbClr val="636E72"/>
                </a:solidFill>
                <a:latin typeface="Segoe UI" pitchFamily="34" charset="0"/>
                <a:ea typeface="Segoe UI" pitchFamily="34" charset="-122"/>
                <a:cs typeface="Segoe UI" pitchFamily="34" charset="-120"/>
              </a:rPr>
              <a:t>Is AI behavior predictable at the edges?</a:t>
            </a:r>
            <a:endParaRPr lang="en-US" sz="1000" dirty="0"/>
          </a:p>
        </p:txBody>
      </p:sp>
      <p:sp>
        <p:nvSpPr>
          <p:cNvPr id="37" name="Shape 35"/>
          <p:cNvSpPr/>
          <p:nvPr/>
        </p:nvSpPr>
        <p:spPr>
          <a:xfrm>
            <a:off x="365760" y="3657600"/>
            <a:ext cx="2724912" cy="1261872"/>
          </a:xfrm>
          <a:prstGeom prst="roundRect">
            <a:avLst>
              <a:gd name="adj" fmla="val 6522"/>
            </a:avLst>
          </a:prstGeom>
          <a:solidFill>
            <a:srgbClr val="FFFFFF"/>
          </a:solidFill>
          <a:ln w="12700">
            <a:solidFill>
              <a:srgbClr val="DFE6E9"/>
            </a:solidFill>
            <a:prstDash val="solid"/>
          </a:ln>
        </p:spPr>
        <p:txBody>
          <a:bodyPr/>
          <a:lstStyle/>
          <a:p>
            <a:endParaRPr lang="en-US"/>
          </a:p>
        </p:txBody>
      </p:sp>
      <p:sp>
        <p:nvSpPr>
          <p:cNvPr id="38" name="Text 36"/>
          <p:cNvSpPr/>
          <p:nvPr/>
        </p:nvSpPr>
        <p:spPr>
          <a:xfrm>
            <a:off x="475488" y="3749040"/>
            <a:ext cx="2468880" cy="228600"/>
          </a:xfrm>
          <a:prstGeom prst="rect">
            <a:avLst/>
          </a:prstGeom>
          <a:noFill/>
          <a:ln/>
        </p:spPr>
        <p:txBody>
          <a:bodyPr wrap="square" rtlCol="0" anchor="ctr"/>
          <a:lstStyle/>
          <a:p>
            <a:pPr marL="0" indent="0">
              <a:buNone/>
            </a:pPr>
            <a:r>
              <a:rPr lang="en-US" sz="900" b="1" dirty="0">
                <a:solidFill>
                  <a:srgbClr val="C8A951"/>
                </a:solidFill>
                <a:latin typeface="Cascadia Code" pitchFamily="34" charset="0"/>
                <a:ea typeface="Cascadia Code" pitchFamily="34" charset="-122"/>
                <a:cs typeface="Cascadia Code" pitchFamily="34" charset="-120"/>
              </a:rPr>
              <a:t>[TW]</a:t>
            </a:r>
            <a:endParaRPr lang="en-US" sz="900" dirty="0"/>
          </a:p>
        </p:txBody>
      </p:sp>
      <p:sp>
        <p:nvSpPr>
          <p:cNvPr id="39" name="Text 37"/>
          <p:cNvSpPr/>
          <p:nvPr/>
        </p:nvSpPr>
        <p:spPr>
          <a:xfrm>
            <a:off x="475488" y="3959352"/>
            <a:ext cx="2468880" cy="256032"/>
          </a:xfrm>
          <a:prstGeom prst="rect">
            <a:avLst/>
          </a:prstGeom>
          <a:noFill/>
          <a:ln/>
        </p:spPr>
        <p:txBody>
          <a:bodyPr wrap="square" rtlCol="0" anchor="ctr"/>
          <a:lstStyle/>
          <a:p>
            <a:pPr marL="0" indent="0">
              <a:buNone/>
            </a:pPr>
            <a:r>
              <a:rPr lang="en-US" sz="1200" b="1" dirty="0">
                <a:solidFill>
                  <a:srgbClr val="1A3A5C"/>
                </a:solidFill>
                <a:latin typeface="Segoe UI" pitchFamily="34" charset="0"/>
                <a:ea typeface="Segoe UI" pitchFamily="34" charset="-122"/>
                <a:cs typeface="Segoe UI" pitchFamily="34" charset="-120"/>
              </a:rPr>
              <a:t>Maya Torres</a:t>
            </a:r>
            <a:endParaRPr lang="en-US" sz="1200" dirty="0"/>
          </a:p>
        </p:txBody>
      </p:sp>
      <p:sp>
        <p:nvSpPr>
          <p:cNvPr id="40" name="Text 38"/>
          <p:cNvSpPr/>
          <p:nvPr/>
        </p:nvSpPr>
        <p:spPr>
          <a:xfrm>
            <a:off x="475488" y="4224528"/>
            <a:ext cx="2468880" cy="621792"/>
          </a:xfrm>
          <a:prstGeom prst="rect">
            <a:avLst/>
          </a:prstGeom>
          <a:noFill/>
          <a:ln/>
        </p:spPr>
        <p:txBody>
          <a:bodyPr wrap="square" rtlCol="0" anchor="ctr"/>
          <a:lstStyle/>
          <a:p>
            <a:pPr marL="0" indent="0">
              <a:buNone/>
            </a:pPr>
            <a:r>
              <a:rPr lang="en-US" sz="1000" i="1" dirty="0">
                <a:solidFill>
                  <a:srgbClr val="636E72"/>
                </a:solidFill>
                <a:latin typeface="Segoe UI" pitchFamily="34" charset="0"/>
                <a:ea typeface="Segoe UI" pitchFamily="34" charset="-122"/>
                <a:cs typeface="Segoe UI" pitchFamily="34" charset="-120"/>
              </a:rPr>
              <a:t>Will a new dev understand this in 6 months?</a:t>
            </a:r>
            <a:endParaRPr lang="en-US" sz="1000" dirty="0"/>
          </a:p>
        </p:txBody>
      </p:sp>
      <p:sp>
        <p:nvSpPr>
          <p:cNvPr id="41" name="Shape 39"/>
          <p:cNvSpPr/>
          <p:nvPr/>
        </p:nvSpPr>
        <p:spPr>
          <a:xfrm>
            <a:off x="3218688" y="3657600"/>
            <a:ext cx="2724912" cy="1261872"/>
          </a:xfrm>
          <a:prstGeom prst="roundRect">
            <a:avLst>
              <a:gd name="adj" fmla="val 6522"/>
            </a:avLst>
          </a:prstGeom>
          <a:solidFill>
            <a:srgbClr val="FFFFFF"/>
          </a:solidFill>
          <a:ln w="12700">
            <a:solidFill>
              <a:srgbClr val="DFE6E9"/>
            </a:solidFill>
            <a:prstDash val="solid"/>
          </a:ln>
        </p:spPr>
        <p:txBody>
          <a:bodyPr/>
          <a:lstStyle/>
          <a:p>
            <a:endParaRPr lang="en-US"/>
          </a:p>
        </p:txBody>
      </p:sp>
      <p:sp>
        <p:nvSpPr>
          <p:cNvPr id="42" name="Text 40"/>
          <p:cNvSpPr/>
          <p:nvPr/>
        </p:nvSpPr>
        <p:spPr>
          <a:xfrm>
            <a:off x="3328416" y="3749040"/>
            <a:ext cx="2468880" cy="228600"/>
          </a:xfrm>
          <a:prstGeom prst="rect">
            <a:avLst/>
          </a:prstGeom>
          <a:noFill/>
          <a:ln/>
        </p:spPr>
        <p:txBody>
          <a:bodyPr wrap="square" rtlCol="0" anchor="ctr"/>
          <a:lstStyle/>
          <a:p>
            <a:pPr marL="0" indent="0">
              <a:buNone/>
            </a:pPr>
            <a:r>
              <a:rPr lang="en-US" sz="900" b="1" dirty="0">
                <a:solidFill>
                  <a:srgbClr val="C8A951"/>
                </a:solidFill>
                <a:latin typeface="Cascadia Code" pitchFamily="34" charset="0"/>
                <a:ea typeface="Cascadia Code" pitchFamily="34" charset="-122"/>
                <a:cs typeface="Cascadia Code" pitchFamily="34" charset="-120"/>
              </a:rPr>
              <a:t>[DPE]</a:t>
            </a:r>
            <a:endParaRPr lang="en-US" sz="900" dirty="0"/>
          </a:p>
        </p:txBody>
      </p:sp>
      <p:sp>
        <p:nvSpPr>
          <p:cNvPr id="43" name="Text 41"/>
          <p:cNvSpPr/>
          <p:nvPr/>
        </p:nvSpPr>
        <p:spPr>
          <a:xfrm>
            <a:off x="3328416" y="3959352"/>
            <a:ext cx="2468880" cy="256032"/>
          </a:xfrm>
          <a:prstGeom prst="rect">
            <a:avLst/>
          </a:prstGeom>
          <a:noFill/>
          <a:ln/>
        </p:spPr>
        <p:txBody>
          <a:bodyPr wrap="square" rtlCol="0" anchor="ctr"/>
          <a:lstStyle/>
          <a:p>
            <a:pPr marL="0" indent="0">
              <a:buNone/>
            </a:pPr>
            <a:r>
              <a:rPr lang="en-US" sz="1200" b="1" dirty="0">
                <a:solidFill>
                  <a:srgbClr val="1A3A5C"/>
                </a:solidFill>
                <a:latin typeface="Segoe UI" pitchFamily="34" charset="0"/>
                <a:ea typeface="Segoe UI" pitchFamily="34" charset="-122"/>
                <a:cs typeface="Segoe UI" pitchFamily="34" charset="-120"/>
              </a:rPr>
              <a:t>Igor Volkov</a:t>
            </a:r>
            <a:endParaRPr lang="en-US" sz="1200" dirty="0"/>
          </a:p>
        </p:txBody>
      </p:sp>
      <p:sp>
        <p:nvSpPr>
          <p:cNvPr id="44" name="Text 42"/>
          <p:cNvSpPr/>
          <p:nvPr/>
        </p:nvSpPr>
        <p:spPr>
          <a:xfrm>
            <a:off x="3328416" y="4224528"/>
            <a:ext cx="2468880" cy="621792"/>
          </a:xfrm>
          <a:prstGeom prst="rect">
            <a:avLst/>
          </a:prstGeom>
          <a:noFill/>
          <a:ln/>
        </p:spPr>
        <p:txBody>
          <a:bodyPr wrap="square" rtlCol="0" anchor="ctr"/>
          <a:lstStyle/>
          <a:p>
            <a:pPr marL="0" indent="0">
              <a:buNone/>
            </a:pPr>
            <a:r>
              <a:rPr lang="en-US" sz="1000" i="1" dirty="0">
                <a:solidFill>
                  <a:srgbClr val="636E72"/>
                </a:solidFill>
                <a:latin typeface="Segoe UI" pitchFamily="34" charset="0"/>
                <a:ea typeface="Segoe UI" pitchFamily="34" charset="-122"/>
                <a:cs typeface="Segoe UI" pitchFamily="34" charset="-120"/>
              </a:rPr>
              <a:t>Does this survive a failing dependency?</a:t>
            </a:r>
            <a:endParaRPr lang="en-US" sz="1000" dirty="0"/>
          </a:p>
        </p:txBody>
      </p:sp>
      <p:sp>
        <p:nvSpPr>
          <p:cNvPr id="45" name="Shape 43"/>
          <p:cNvSpPr/>
          <p:nvPr/>
        </p:nvSpPr>
        <p:spPr>
          <a:xfrm>
            <a:off x="6071616" y="3657600"/>
            <a:ext cx="2724912" cy="1261872"/>
          </a:xfrm>
          <a:prstGeom prst="roundRect">
            <a:avLst>
              <a:gd name="adj" fmla="val 6522"/>
            </a:avLst>
          </a:prstGeom>
          <a:solidFill>
            <a:srgbClr val="FFFFFF"/>
          </a:solidFill>
          <a:ln w="12700">
            <a:solidFill>
              <a:srgbClr val="DFE6E9"/>
            </a:solidFill>
            <a:prstDash val="solid"/>
          </a:ln>
        </p:spPr>
        <p:txBody>
          <a:bodyPr/>
          <a:lstStyle/>
          <a:p>
            <a:endParaRPr lang="en-US"/>
          </a:p>
        </p:txBody>
      </p:sp>
      <p:sp>
        <p:nvSpPr>
          <p:cNvPr id="46" name="Text 44"/>
          <p:cNvSpPr/>
          <p:nvPr/>
        </p:nvSpPr>
        <p:spPr>
          <a:xfrm>
            <a:off x="6181344" y="3749040"/>
            <a:ext cx="2468880" cy="228600"/>
          </a:xfrm>
          <a:prstGeom prst="rect">
            <a:avLst/>
          </a:prstGeom>
          <a:noFill/>
          <a:ln/>
        </p:spPr>
        <p:txBody>
          <a:bodyPr wrap="square" rtlCol="0" anchor="ctr"/>
          <a:lstStyle/>
          <a:p>
            <a:pPr marL="0" indent="0">
              <a:buNone/>
            </a:pPr>
            <a:r>
              <a:rPr lang="en-US" sz="900" b="1" dirty="0">
                <a:solidFill>
                  <a:srgbClr val="C8A951"/>
                </a:solidFill>
                <a:latin typeface="Cascadia Code" pitchFamily="34" charset="0"/>
                <a:ea typeface="Cascadia Code" pitchFamily="34" charset="-122"/>
                <a:cs typeface="Cascadia Code" pitchFamily="34" charset="-120"/>
              </a:rPr>
              <a:t>[SAST]</a:t>
            </a:r>
            <a:endParaRPr lang="en-US" sz="900" dirty="0"/>
          </a:p>
        </p:txBody>
      </p:sp>
      <p:sp>
        <p:nvSpPr>
          <p:cNvPr id="47" name="Text 45"/>
          <p:cNvSpPr/>
          <p:nvPr/>
        </p:nvSpPr>
        <p:spPr>
          <a:xfrm>
            <a:off x="6181344" y="3959352"/>
            <a:ext cx="2468880" cy="256032"/>
          </a:xfrm>
          <a:prstGeom prst="rect">
            <a:avLst/>
          </a:prstGeom>
          <a:noFill/>
          <a:ln/>
        </p:spPr>
        <p:txBody>
          <a:bodyPr wrap="square" rtlCol="0" anchor="ctr"/>
          <a:lstStyle/>
          <a:p>
            <a:pPr marL="0" indent="0">
              <a:buNone/>
            </a:pPr>
            <a:r>
              <a:rPr lang="en-US" sz="1200" b="1" dirty="0">
                <a:solidFill>
                  <a:srgbClr val="1A3A5C"/>
                </a:solidFill>
                <a:latin typeface="Segoe UI" pitchFamily="34" charset="0"/>
                <a:ea typeface="Segoe UI" pitchFamily="34" charset="-122"/>
                <a:cs typeface="Segoe UI" pitchFamily="34" charset="-120"/>
              </a:rPr>
              <a:t>Wen Li</a:t>
            </a:r>
            <a:endParaRPr lang="en-US" sz="1200" dirty="0"/>
          </a:p>
        </p:txBody>
      </p:sp>
      <p:sp>
        <p:nvSpPr>
          <p:cNvPr id="48" name="Text 46"/>
          <p:cNvSpPr/>
          <p:nvPr/>
        </p:nvSpPr>
        <p:spPr>
          <a:xfrm>
            <a:off x="6181344" y="4224528"/>
            <a:ext cx="2468880" cy="621792"/>
          </a:xfrm>
          <a:prstGeom prst="rect">
            <a:avLst/>
          </a:prstGeom>
          <a:noFill/>
          <a:ln/>
        </p:spPr>
        <p:txBody>
          <a:bodyPr wrap="square" rtlCol="0" anchor="ctr"/>
          <a:lstStyle/>
          <a:p>
            <a:pPr marL="0" indent="0">
              <a:buNone/>
            </a:pPr>
            <a:r>
              <a:rPr lang="en-US" sz="1000" i="1" dirty="0">
                <a:solidFill>
                  <a:srgbClr val="636E72"/>
                </a:solidFill>
                <a:latin typeface="Segoe UI" pitchFamily="34" charset="0"/>
                <a:ea typeface="Segoe UI" pitchFamily="34" charset="-122"/>
                <a:cs typeface="Segoe UI" pitchFamily="34" charset="-120"/>
              </a:rPr>
              <a:t>What does the taint analysis show?</a:t>
            </a:r>
            <a:endParaRPr lang="en-US" sz="1000" dirty="0"/>
          </a:p>
        </p:txBody>
      </p:sp>
      <p:sp>
        <p:nvSpPr>
          <p:cNvPr id="49" name="Shape 47"/>
          <p:cNvSpPr/>
          <p:nvPr/>
        </p:nvSpPr>
        <p:spPr>
          <a:xfrm>
            <a:off x="8924544" y="3657600"/>
            <a:ext cx="2724912" cy="1261872"/>
          </a:xfrm>
          <a:prstGeom prst="roundRect">
            <a:avLst>
              <a:gd name="adj" fmla="val 6522"/>
            </a:avLst>
          </a:prstGeom>
          <a:solidFill>
            <a:srgbClr val="FFFFFF"/>
          </a:solidFill>
          <a:ln w="12700">
            <a:solidFill>
              <a:srgbClr val="DFE6E9"/>
            </a:solidFill>
            <a:prstDash val="solid"/>
          </a:ln>
        </p:spPr>
        <p:txBody>
          <a:bodyPr/>
          <a:lstStyle/>
          <a:p>
            <a:endParaRPr lang="en-US"/>
          </a:p>
        </p:txBody>
      </p:sp>
      <p:sp>
        <p:nvSpPr>
          <p:cNvPr id="50" name="Text 48"/>
          <p:cNvSpPr/>
          <p:nvPr/>
        </p:nvSpPr>
        <p:spPr>
          <a:xfrm>
            <a:off x="9034272" y="3749040"/>
            <a:ext cx="2468880" cy="228600"/>
          </a:xfrm>
          <a:prstGeom prst="rect">
            <a:avLst/>
          </a:prstGeom>
          <a:noFill/>
          <a:ln/>
        </p:spPr>
        <p:txBody>
          <a:bodyPr wrap="square" rtlCol="0" anchor="ctr"/>
          <a:lstStyle/>
          <a:p>
            <a:pPr marL="0" indent="0">
              <a:buNone/>
            </a:pPr>
            <a:r>
              <a:rPr lang="en-US" sz="900" b="1" dirty="0">
                <a:solidFill>
                  <a:srgbClr val="C8A951"/>
                </a:solidFill>
                <a:latin typeface="Cascadia Code" pitchFamily="34" charset="0"/>
                <a:ea typeface="Cascadia Code" pitchFamily="34" charset="-122"/>
                <a:cs typeface="Cascadia Code" pitchFamily="34" charset="-120"/>
              </a:rPr>
              <a:t>[RM]</a:t>
            </a:r>
            <a:endParaRPr lang="en-US" sz="900" dirty="0"/>
          </a:p>
        </p:txBody>
      </p:sp>
      <p:sp>
        <p:nvSpPr>
          <p:cNvPr id="51" name="Text 49"/>
          <p:cNvSpPr/>
          <p:nvPr/>
        </p:nvSpPr>
        <p:spPr>
          <a:xfrm>
            <a:off x="9034272" y="3959352"/>
            <a:ext cx="2468880" cy="256032"/>
          </a:xfrm>
          <a:prstGeom prst="rect">
            <a:avLst/>
          </a:prstGeom>
          <a:noFill/>
          <a:ln/>
        </p:spPr>
        <p:txBody>
          <a:bodyPr wrap="square" rtlCol="0" anchor="ctr"/>
          <a:lstStyle/>
          <a:p>
            <a:pPr marL="0" indent="0">
              <a:buNone/>
            </a:pPr>
            <a:r>
              <a:rPr lang="en-US" sz="1200" b="1" dirty="0">
                <a:solidFill>
                  <a:srgbClr val="1A3A5C"/>
                </a:solidFill>
                <a:latin typeface="Segoe UI" pitchFamily="34" charset="0"/>
                <a:ea typeface="Segoe UI" pitchFamily="34" charset="-122"/>
                <a:cs typeface="Segoe UI" pitchFamily="34" charset="-120"/>
              </a:rPr>
              <a:t>Nadia Haddad</a:t>
            </a:r>
            <a:endParaRPr lang="en-US" sz="1200" dirty="0"/>
          </a:p>
        </p:txBody>
      </p:sp>
      <p:sp>
        <p:nvSpPr>
          <p:cNvPr id="52" name="Text 50"/>
          <p:cNvSpPr/>
          <p:nvPr/>
        </p:nvSpPr>
        <p:spPr>
          <a:xfrm>
            <a:off x="9034272" y="4224528"/>
            <a:ext cx="2468880" cy="621792"/>
          </a:xfrm>
          <a:prstGeom prst="rect">
            <a:avLst/>
          </a:prstGeom>
          <a:noFill/>
          <a:ln/>
        </p:spPr>
        <p:txBody>
          <a:bodyPr wrap="square" rtlCol="0" anchor="ctr"/>
          <a:lstStyle/>
          <a:p>
            <a:pPr marL="0" indent="0">
              <a:buNone/>
            </a:pPr>
            <a:r>
              <a:rPr lang="en-US" sz="1000" i="1" dirty="0">
                <a:solidFill>
                  <a:srgbClr val="636E72"/>
                </a:solidFill>
                <a:latin typeface="Segoe UI" pitchFamily="34" charset="0"/>
                <a:ea typeface="Segoe UI" pitchFamily="34" charset="-122"/>
                <a:cs typeface="Segoe UI" pitchFamily="34" charset="-120"/>
              </a:rPr>
              <a:t>Are we ready to ship? What blocks go-live?</a:t>
            </a:r>
            <a:endParaRPr lang="en-US" sz="1000" dirty="0"/>
          </a:p>
        </p:txBody>
      </p:sp>
      <p:sp>
        <p:nvSpPr>
          <p:cNvPr id="53" name="Shape 51"/>
          <p:cNvSpPr/>
          <p:nvPr/>
        </p:nvSpPr>
        <p:spPr>
          <a:xfrm>
            <a:off x="365760" y="5029200"/>
            <a:ext cx="2724912" cy="1261872"/>
          </a:xfrm>
          <a:prstGeom prst="roundRect">
            <a:avLst>
              <a:gd name="adj" fmla="val 6522"/>
            </a:avLst>
          </a:prstGeom>
          <a:solidFill>
            <a:srgbClr val="FFFFFF"/>
          </a:solidFill>
          <a:ln w="12700">
            <a:solidFill>
              <a:srgbClr val="DFE6E9"/>
            </a:solidFill>
            <a:prstDash val="solid"/>
          </a:ln>
        </p:spPr>
        <p:txBody>
          <a:bodyPr/>
          <a:lstStyle/>
          <a:p>
            <a:endParaRPr lang="en-US"/>
          </a:p>
        </p:txBody>
      </p:sp>
      <p:sp>
        <p:nvSpPr>
          <p:cNvPr id="54" name="Text 52"/>
          <p:cNvSpPr/>
          <p:nvPr/>
        </p:nvSpPr>
        <p:spPr>
          <a:xfrm>
            <a:off x="475488" y="5120640"/>
            <a:ext cx="2468880" cy="228600"/>
          </a:xfrm>
          <a:prstGeom prst="rect">
            <a:avLst/>
          </a:prstGeom>
          <a:noFill/>
          <a:ln/>
        </p:spPr>
        <p:txBody>
          <a:bodyPr wrap="square" rtlCol="0" anchor="ctr"/>
          <a:lstStyle/>
          <a:p>
            <a:pPr marL="0" indent="0">
              <a:buNone/>
            </a:pPr>
            <a:r>
              <a:rPr lang="en-US" sz="900" b="1" dirty="0">
                <a:solidFill>
                  <a:srgbClr val="C8A951"/>
                </a:solidFill>
                <a:latin typeface="Cascadia Code" pitchFamily="34" charset="0"/>
                <a:ea typeface="Cascadia Code" pitchFamily="34" charset="-122"/>
                <a:cs typeface="Cascadia Code" pitchFamily="34" charset="-120"/>
              </a:rPr>
              <a:t>[DL]</a:t>
            </a:r>
            <a:endParaRPr lang="en-US" sz="900" dirty="0"/>
          </a:p>
        </p:txBody>
      </p:sp>
      <p:sp>
        <p:nvSpPr>
          <p:cNvPr id="55" name="Text 53"/>
          <p:cNvSpPr/>
          <p:nvPr/>
        </p:nvSpPr>
        <p:spPr>
          <a:xfrm>
            <a:off x="475488" y="5330952"/>
            <a:ext cx="2468880" cy="256032"/>
          </a:xfrm>
          <a:prstGeom prst="rect">
            <a:avLst/>
          </a:prstGeom>
          <a:noFill/>
          <a:ln/>
        </p:spPr>
        <p:txBody>
          <a:bodyPr wrap="square" rtlCol="0" anchor="ctr"/>
          <a:lstStyle/>
          <a:p>
            <a:pPr marL="0" indent="0">
              <a:buNone/>
            </a:pPr>
            <a:r>
              <a:rPr lang="en-US" sz="1200" b="1" dirty="0">
                <a:solidFill>
                  <a:srgbClr val="1A3A5C"/>
                </a:solidFill>
                <a:latin typeface="Segoe UI" pitchFamily="34" charset="0"/>
                <a:ea typeface="Segoe UI" pitchFamily="34" charset="-122"/>
                <a:cs typeface="Segoe UI" pitchFamily="34" charset="-120"/>
              </a:rPr>
              <a:t>Tom Grady</a:t>
            </a:r>
            <a:endParaRPr lang="en-US" sz="1200" dirty="0"/>
          </a:p>
        </p:txBody>
      </p:sp>
      <p:sp>
        <p:nvSpPr>
          <p:cNvPr id="56" name="Text 54"/>
          <p:cNvSpPr/>
          <p:nvPr/>
        </p:nvSpPr>
        <p:spPr>
          <a:xfrm>
            <a:off x="475488" y="5596128"/>
            <a:ext cx="2468880" cy="621792"/>
          </a:xfrm>
          <a:prstGeom prst="rect">
            <a:avLst/>
          </a:prstGeom>
          <a:noFill/>
          <a:ln/>
        </p:spPr>
        <p:txBody>
          <a:bodyPr wrap="square" rtlCol="0" anchor="ctr"/>
          <a:lstStyle/>
          <a:p>
            <a:pPr marL="0" indent="0">
              <a:buNone/>
            </a:pPr>
            <a:r>
              <a:rPr lang="en-US" sz="1000" i="1" dirty="0">
                <a:solidFill>
                  <a:srgbClr val="636E72"/>
                </a:solidFill>
                <a:latin typeface="Segoe UI" pitchFamily="34" charset="0"/>
                <a:ea typeface="Segoe UI" pitchFamily="34" charset="-122"/>
                <a:cs typeface="Segoe UI" pitchFamily="34" charset="-120"/>
              </a:rPr>
              <a:t>Is the team on track? Where’s delivery risk?</a:t>
            </a:r>
            <a:endParaRPr lang="en-US" sz="1000" dirty="0"/>
          </a:p>
        </p:txBody>
      </p:sp>
      <p:sp>
        <p:nvSpPr>
          <p:cNvPr id="57" name="Text 55"/>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18 / 45</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For you to trust the reviewer, three things must be true</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Shape 3"/>
          <p:cNvSpPr/>
          <p:nvPr/>
        </p:nvSpPr>
        <p:spPr>
          <a:xfrm>
            <a:off x="548640" y="914400"/>
            <a:ext cx="64008" cy="1627632"/>
          </a:xfrm>
          <a:prstGeom prst="rect">
            <a:avLst/>
          </a:prstGeom>
          <a:solidFill>
            <a:srgbClr val="C8A951"/>
          </a:solidFill>
          <a:ln w="12700">
            <a:solidFill>
              <a:srgbClr val="C8A951"/>
            </a:solidFill>
            <a:prstDash val="solid"/>
          </a:ln>
        </p:spPr>
        <p:txBody>
          <a:bodyPr/>
          <a:lstStyle/>
          <a:p>
            <a:endParaRPr lang="en-US"/>
          </a:p>
        </p:txBody>
      </p:sp>
      <p:sp>
        <p:nvSpPr>
          <p:cNvPr id="6" name="Shape 4"/>
          <p:cNvSpPr/>
          <p:nvPr/>
        </p:nvSpPr>
        <p:spPr>
          <a:xfrm>
            <a:off x="612648" y="914400"/>
            <a:ext cx="11000232" cy="1627632"/>
          </a:xfrm>
          <a:prstGeom prst="rect">
            <a:avLst/>
          </a:prstGeom>
          <a:solidFill>
            <a:srgbClr val="FDFCF5"/>
          </a:solidFill>
          <a:ln w="12700">
            <a:solidFill>
              <a:srgbClr val="DFE6E9"/>
            </a:solidFill>
            <a:prstDash val="solid"/>
          </a:ln>
        </p:spPr>
        <p:txBody>
          <a:bodyPr/>
          <a:lstStyle/>
          <a:p>
            <a:endParaRPr lang="en-US"/>
          </a:p>
        </p:txBody>
      </p:sp>
      <p:sp>
        <p:nvSpPr>
          <p:cNvPr id="7" name="Text 5"/>
          <p:cNvSpPr/>
          <p:nvPr/>
        </p:nvSpPr>
        <p:spPr>
          <a:xfrm>
            <a:off x="731520" y="1024128"/>
            <a:ext cx="10607040" cy="201168"/>
          </a:xfrm>
          <a:prstGeom prst="rect">
            <a:avLst/>
          </a:prstGeom>
          <a:noFill/>
          <a:ln/>
        </p:spPr>
        <p:txBody>
          <a:bodyPr wrap="square" rtlCol="0" anchor="ctr"/>
          <a:lstStyle/>
          <a:p>
            <a:pPr marL="0" indent="0">
              <a:buNone/>
            </a:pPr>
            <a:r>
              <a:rPr lang="en-US" sz="800" b="1" kern="0" spc="150" dirty="0">
                <a:solidFill>
                  <a:srgbClr val="C8A951"/>
                </a:solidFill>
                <a:latin typeface="Cascadia Code" pitchFamily="34" charset="0"/>
                <a:ea typeface="Cascadia Code" pitchFamily="34" charset="-122"/>
                <a:cs typeface="Cascadia Code" pitchFamily="34" charset="-120"/>
              </a:rPr>
              <a:t>SOURCE-FILE CONSENT  ·  ADR 0013</a:t>
            </a:r>
            <a:endParaRPr lang="en-US" sz="800" dirty="0"/>
          </a:p>
        </p:txBody>
      </p:sp>
      <p:sp>
        <p:nvSpPr>
          <p:cNvPr id="8" name="Text 6"/>
          <p:cNvSpPr/>
          <p:nvPr/>
        </p:nvSpPr>
        <p:spPr>
          <a:xfrm>
            <a:off x="731520" y="1207008"/>
            <a:ext cx="10607040" cy="987552"/>
          </a:xfrm>
          <a:prstGeom prst="rect">
            <a:avLst/>
          </a:prstGeom>
          <a:noFill/>
          <a:ln/>
        </p:spPr>
        <p:txBody>
          <a:bodyPr wrap="square" rtlCol="0" anchor="t"/>
          <a:lstStyle/>
          <a:p>
            <a:pPr marL="0" indent="0">
              <a:buNone/>
            </a:pPr>
            <a:r>
              <a:rPr lang="en-US" sz="1300" b="1" dirty="0">
                <a:solidFill>
                  <a:srgbClr val="1A3A5C"/>
                </a:solidFill>
                <a:latin typeface="Segoe UI" pitchFamily="34" charset="0"/>
                <a:ea typeface="Segoe UI" pitchFamily="34" charset="-122"/>
                <a:cs typeface="Segoe UI" pitchFamily="34" charset="-120"/>
              </a:rPr>
              <a:t>"For a tool the team is supposed to trust, opacity is poison."</a:t>
            </a:r>
            <a:endParaRPr lang="en-US" sz="1300" dirty="0"/>
          </a:p>
        </p:txBody>
      </p:sp>
      <p:sp>
        <p:nvSpPr>
          <p:cNvPr id="9" name="Text 7"/>
          <p:cNvSpPr/>
          <p:nvPr/>
        </p:nvSpPr>
        <p:spPr>
          <a:xfrm>
            <a:off x="731520" y="2194560"/>
            <a:ext cx="9692640" cy="274320"/>
          </a:xfrm>
          <a:prstGeom prst="rect">
            <a:avLst/>
          </a:prstGeom>
          <a:noFill/>
          <a:ln/>
        </p:spPr>
        <p:txBody>
          <a:bodyPr wrap="square" rtlCol="0" anchor="ctr"/>
          <a:lstStyle/>
          <a:p>
            <a:pPr marL="0" indent="0">
              <a:buNone/>
            </a:pPr>
            <a:r>
              <a:rPr lang="en-US" sz="1000" dirty="0">
                <a:solidFill>
                  <a:srgbClr val="636E72"/>
                </a:solidFill>
                <a:latin typeface="Segoe UI" pitchFamily="34" charset="0"/>
                <a:ea typeface="Segoe UI" pitchFamily="34" charset="-122"/>
                <a:cs typeface="Segoe UI" pitchFamily="34" charset="-120"/>
              </a:rPr>
              <a:t>A: announce the file list before reading. B: ask per file — reason + token cost. C: never reads source.</a:t>
            </a:r>
            <a:endParaRPr lang="en-US" sz="1000" dirty="0"/>
          </a:p>
        </p:txBody>
      </p:sp>
      <p:sp>
        <p:nvSpPr>
          <p:cNvPr id="10" name="Text 8"/>
          <p:cNvSpPr/>
          <p:nvPr/>
        </p:nvSpPr>
        <p:spPr>
          <a:xfrm>
            <a:off x="10607040" y="2267712"/>
            <a:ext cx="868680" cy="201168"/>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ADR 0013</a:t>
            </a:r>
            <a:endParaRPr lang="en-US" sz="800" dirty="0"/>
          </a:p>
        </p:txBody>
      </p:sp>
      <p:sp>
        <p:nvSpPr>
          <p:cNvPr id="11" name="Shape 9"/>
          <p:cNvSpPr/>
          <p:nvPr/>
        </p:nvSpPr>
        <p:spPr>
          <a:xfrm>
            <a:off x="548640" y="2697480"/>
            <a:ext cx="64008" cy="1627632"/>
          </a:xfrm>
          <a:prstGeom prst="rect">
            <a:avLst/>
          </a:prstGeom>
          <a:solidFill>
            <a:srgbClr val="C8A951"/>
          </a:solidFill>
          <a:ln w="12700">
            <a:solidFill>
              <a:srgbClr val="C8A951"/>
            </a:solidFill>
            <a:prstDash val="solid"/>
          </a:ln>
        </p:spPr>
        <p:txBody>
          <a:bodyPr/>
          <a:lstStyle/>
          <a:p>
            <a:endParaRPr lang="en-US"/>
          </a:p>
        </p:txBody>
      </p:sp>
      <p:sp>
        <p:nvSpPr>
          <p:cNvPr id="12" name="Shape 10"/>
          <p:cNvSpPr/>
          <p:nvPr/>
        </p:nvSpPr>
        <p:spPr>
          <a:xfrm>
            <a:off x="612648" y="2697480"/>
            <a:ext cx="11000232" cy="1627632"/>
          </a:xfrm>
          <a:prstGeom prst="rect">
            <a:avLst/>
          </a:prstGeom>
          <a:solidFill>
            <a:srgbClr val="FDFCF5"/>
          </a:solidFill>
          <a:ln w="12700">
            <a:solidFill>
              <a:srgbClr val="DFE6E9"/>
            </a:solidFill>
            <a:prstDash val="solid"/>
          </a:ln>
        </p:spPr>
        <p:txBody>
          <a:bodyPr/>
          <a:lstStyle/>
          <a:p>
            <a:endParaRPr lang="en-US"/>
          </a:p>
        </p:txBody>
      </p:sp>
      <p:sp>
        <p:nvSpPr>
          <p:cNvPr id="13" name="Text 11"/>
          <p:cNvSpPr/>
          <p:nvPr/>
        </p:nvSpPr>
        <p:spPr>
          <a:xfrm>
            <a:off x="731520" y="2807208"/>
            <a:ext cx="10607040" cy="201168"/>
          </a:xfrm>
          <a:prstGeom prst="rect">
            <a:avLst/>
          </a:prstGeom>
          <a:noFill/>
          <a:ln/>
        </p:spPr>
        <p:txBody>
          <a:bodyPr wrap="square" rtlCol="0" anchor="ctr"/>
          <a:lstStyle/>
          <a:p>
            <a:pPr marL="0" indent="0">
              <a:buNone/>
            </a:pPr>
            <a:r>
              <a:rPr lang="en-US" sz="800" b="1" kern="0" spc="150" dirty="0">
                <a:solidFill>
                  <a:srgbClr val="C8A951"/>
                </a:solidFill>
                <a:latin typeface="Cascadia Code" pitchFamily="34" charset="0"/>
                <a:ea typeface="Cascadia Code" pitchFamily="34" charset="-122"/>
                <a:cs typeface="Cascadia Code" pitchFamily="34" charset="-120"/>
              </a:rPr>
              <a:t>MULTI-MODEL ROUTING  ·  ADR 0023</a:t>
            </a:r>
            <a:endParaRPr lang="en-US" sz="800" dirty="0"/>
          </a:p>
        </p:txBody>
      </p:sp>
      <p:sp>
        <p:nvSpPr>
          <p:cNvPr id="14" name="Text 12"/>
          <p:cNvSpPr/>
          <p:nvPr/>
        </p:nvSpPr>
        <p:spPr>
          <a:xfrm>
            <a:off x="731520" y="2990088"/>
            <a:ext cx="10607040" cy="987552"/>
          </a:xfrm>
          <a:prstGeom prst="rect">
            <a:avLst/>
          </a:prstGeom>
          <a:noFill/>
          <a:ln/>
        </p:spPr>
        <p:txBody>
          <a:bodyPr wrap="square" rtlCol="0" anchor="t"/>
          <a:lstStyle/>
          <a:p>
            <a:pPr marL="0" indent="0">
              <a:buNone/>
            </a:pPr>
            <a:r>
              <a:rPr lang="en-US" sz="1300" b="1" dirty="0">
                <a:solidFill>
                  <a:srgbClr val="1A3A5C"/>
                </a:solidFill>
                <a:latin typeface="Segoe UI" pitchFamily="34" charset="0"/>
                <a:ea typeface="Segoe UI" pitchFamily="34" charset="-122"/>
                <a:cs typeface="Segoe UI" pitchFamily="34" charset="-120"/>
              </a:rPr>
              <a:t>"Route by task criticality, not by authority."</a:t>
            </a:r>
            <a:endParaRPr lang="en-US" sz="1300" dirty="0"/>
          </a:p>
        </p:txBody>
      </p:sp>
      <p:sp>
        <p:nvSpPr>
          <p:cNvPr id="15" name="Text 13"/>
          <p:cNvSpPr/>
          <p:nvPr/>
        </p:nvSpPr>
        <p:spPr>
          <a:xfrm>
            <a:off x="731520" y="3977640"/>
            <a:ext cx="9692640" cy="274320"/>
          </a:xfrm>
          <a:prstGeom prst="rect">
            <a:avLst/>
          </a:prstGeom>
          <a:noFill/>
          <a:ln/>
        </p:spPr>
        <p:txBody>
          <a:bodyPr wrap="square" rtlCol="0" anchor="ctr"/>
          <a:lstStyle/>
          <a:p>
            <a:pPr marL="0" indent="0">
              <a:buNone/>
            </a:pPr>
            <a:r>
              <a:rPr lang="en-US" sz="1000" dirty="0">
                <a:solidFill>
                  <a:srgbClr val="636E72"/>
                </a:solidFill>
                <a:latin typeface="Segoe UI" pitchFamily="34" charset="0"/>
                <a:ea typeface="Segoe UI" pitchFamily="34" charset="-122"/>
                <a:cs typeface="Segoe UI" pitchFamily="34" charset="-120"/>
              </a:rPr>
              <a:t>Critical judgment → the stronger model; routine work → the faster one. ICEA_MODEL · REVIEW_MODEL · INFRA_MODEL.</a:t>
            </a:r>
            <a:endParaRPr lang="en-US" sz="1000" dirty="0"/>
          </a:p>
        </p:txBody>
      </p:sp>
      <p:sp>
        <p:nvSpPr>
          <p:cNvPr id="16" name="Text 14"/>
          <p:cNvSpPr/>
          <p:nvPr/>
        </p:nvSpPr>
        <p:spPr>
          <a:xfrm>
            <a:off x="10607040" y="4050792"/>
            <a:ext cx="868680" cy="201168"/>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ADR 0023</a:t>
            </a:r>
            <a:endParaRPr lang="en-US" sz="800" dirty="0"/>
          </a:p>
        </p:txBody>
      </p:sp>
      <p:sp>
        <p:nvSpPr>
          <p:cNvPr id="17" name="Shape 15"/>
          <p:cNvSpPr/>
          <p:nvPr/>
        </p:nvSpPr>
        <p:spPr>
          <a:xfrm>
            <a:off x="548640" y="4480560"/>
            <a:ext cx="64008" cy="1627632"/>
          </a:xfrm>
          <a:prstGeom prst="rect">
            <a:avLst/>
          </a:prstGeom>
          <a:solidFill>
            <a:srgbClr val="C8A951"/>
          </a:solidFill>
          <a:ln w="12700">
            <a:solidFill>
              <a:srgbClr val="C8A951"/>
            </a:solidFill>
            <a:prstDash val="solid"/>
          </a:ln>
        </p:spPr>
        <p:txBody>
          <a:bodyPr/>
          <a:lstStyle/>
          <a:p>
            <a:endParaRPr lang="en-US"/>
          </a:p>
        </p:txBody>
      </p:sp>
      <p:sp>
        <p:nvSpPr>
          <p:cNvPr id="18" name="Shape 16"/>
          <p:cNvSpPr/>
          <p:nvPr/>
        </p:nvSpPr>
        <p:spPr>
          <a:xfrm>
            <a:off x="612648" y="4480560"/>
            <a:ext cx="11000232" cy="1627632"/>
          </a:xfrm>
          <a:prstGeom prst="rect">
            <a:avLst/>
          </a:prstGeom>
          <a:solidFill>
            <a:srgbClr val="FDFCF5"/>
          </a:solidFill>
          <a:ln w="12700">
            <a:solidFill>
              <a:srgbClr val="DFE6E9"/>
            </a:solidFill>
            <a:prstDash val="solid"/>
          </a:ln>
        </p:spPr>
        <p:txBody>
          <a:bodyPr/>
          <a:lstStyle/>
          <a:p>
            <a:endParaRPr lang="en-US"/>
          </a:p>
        </p:txBody>
      </p:sp>
      <p:sp>
        <p:nvSpPr>
          <p:cNvPr id="19" name="Text 17"/>
          <p:cNvSpPr/>
          <p:nvPr/>
        </p:nvSpPr>
        <p:spPr>
          <a:xfrm>
            <a:off x="731520" y="4590288"/>
            <a:ext cx="10607040" cy="201168"/>
          </a:xfrm>
          <a:prstGeom prst="rect">
            <a:avLst/>
          </a:prstGeom>
          <a:noFill/>
          <a:ln/>
        </p:spPr>
        <p:txBody>
          <a:bodyPr wrap="square" rtlCol="0" anchor="ctr"/>
          <a:lstStyle/>
          <a:p>
            <a:pPr marL="0" indent="0">
              <a:buNone/>
            </a:pPr>
            <a:r>
              <a:rPr lang="en-US" sz="800" b="1" kern="0" spc="150" dirty="0">
                <a:solidFill>
                  <a:srgbClr val="C8A951"/>
                </a:solidFill>
                <a:latin typeface="Cascadia Code" pitchFamily="34" charset="0"/>
                <a:ea typeface="Cascadia Code" pitchFamily="34" charset="-122"/>
                <a:cs typeface="Cascadia Code" pitchFamily="34" charset="-120"/>
              </a:rPr>
              <a:t>BUSINESS-CONTEXT SEVERITY  ·  ADR 0015</a:t>
            </a:r>
            <a:endParaRPr lang="en-US" sz="800" dirty="0"/>
          </a:p>
        </p:txBody>
      </p:sp>
      <p:sp>
        <p:nvSpPr>
          <p:cNvPr id="20" name="Text 18"/>
          <p:cNvSpPr/>
          <p:nvPr/>
        </p:nvSpPr>
        <p:spPr>
          <a:xfrm>
            <a:off x="731520" y="4773168"/>
            <a:ext cx="10607040" cy="987552"/>
          </a:xfrm>
          <a:prstGeom prst="rect">
            <a:avLst/>
          </a:prstGeom>
          <a:noFill/>
          <a:ln/>
        </p:spPr>
        <p:txBody>
          <a:bodyPr wrap="square" rtlCol="0" anchor="t"/>
          <a:lstStyle/>
          <a:p>
            <a:pPr marL="0" indent="0">
              <a:buNone/>
            </a:pPr>
            <a:r>
              <a:rPr lang="en-US" sz="1300" b="1" dirty="0">
                <a:solidFill>
                  <a:srgbClr val="1A3A5C"/>
                </a:solidFill>
                <a:latin typeface="Segoe UI" pitchFamily="34" charset="0"/>
                <a:ea typeface="Segoe UI" pitchFamily="34" charset="-122"/>
                <a:cs typeface="Segoe UI" pitchFamily="34" charset="-120"/>
              </a:rPr>
              <a:t>"CVSS doesn’t know your domain."</a:t>
            </a:r>
            <a:endParaRPr lang="en-US" sz="1300" dirty="0"/>
          </a:p>
        </p:txBody>
      </p:sp>
      <p:sp>
        <p:nvSpPr>
          <p:cNvPr id="21" name="Text 19"/>
          <p:cNvSpPr/>
          <p:nvPr/>
        </p:nvSpPr>
        <p:spPr>
          <a:xfrm>
            <a:off x="731520" y="5760720"/>
            <a:ext cx="9692640" cy="274320"/>
          </a:xfrm>
          <a:prstGeom prst="rect">
            <a:avLst/>
          </a:prstGeom>
          <a:noFill/>
          <a:ln/>
        </p:spPr>
        <p:txBody>
          <a:bodyPr wrap="square" rtlCol="0" anchor="ctr"/>
          <a:lstStyle/>
          <a:p>
            <a:pPr marL="0" indent="0">
              <a:buNone/>
            </a:pPr>
            <a:r>
              <a:rPr lang="en-US" sz="1000" dirty="0">
                <a:solidFill>
                  <a:srgbClr val="636E72"/>
                </a:solidFill>
                <a:latin typeface="Segoe UI" pitchFamily="34" charset="0"/>
                <a:ea typeface="Segoe UI" pitchFamily="34" charset="-122"/>
                <a:cs typeface="Segoe UI" pitchFamily="34" charset="-120"/>
              </a:rPr>
              <a:t>B1–B7 triggers escalate to Critical: immigration IDs, privileged client data. Context raises severity — never lowers it.</a:t>
            </a:r>
            <a:endParaRPr lang="en-US" sz="1000" dirty="0"/>
          </a:p>
        </p:txBody>
      </p:sp>
      <p:sp>
        <p:nvSpPr>
          <p:cNvPr id="22" name="Text 20"/>
          <p:cNvSpPr/>
          <p:nvPr/>
        </p:nvSpPr>
        <p:spPr>
          <a:xfrm>
            <a:off x="10607040" y="5833872"/>
            <a:ext cx="868680" cy="201168"/>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ADR 0015</a:t>
            </a:r>
            <a:endParaRPr lang="en-US" sz="800" dirty="0"/>
          </a:p>
        </p:txBody>
      </p:sp>
      <p:sp>
        <p:nvSpPr>
          <p:cNvPr id="23" name="Text 21"/>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19 / 45</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F35"/>
        </a:solidFill>
        <a:effectLst/>
      </p:bgPr>
    </p:bg>
    <p:spTree>
      <p:nvGrpSpPr>
        <p:cNvPr id="1" name=""/>
        <p:cNvGrpSpPr/>
        <p:nvPr/>
      </p:nvGrpSpPr>
      <p:grpSpPr>
        <a:xfrm>
          <a:off x="0" y="0"/>
          <a:ext cx="0" cy="0"/>
          <a:chOff x="0" y="0"/>
          <a:chExt cx="0" cy="0"/>
        </a:xfrm>
      </p:grpSpPr>
      <p:sp>
        <p:nvSpPr>
          <p:cNvPr id="2" name="Text 0"/>
          <p:cNvSpPr/>
          <p:nvPr/>
        </p:nvSpPr>
        <p:spPr>
          <a:xfrm>
            <a:off x="365759" y="182880"/>
            <a:ext cx="4577715" cy="2286000"/>
          </a:xfrm>
          <a:prstGeom prst="rect">
            <a:avLst/>
          </a:prstGeom>
          <a:noFill/>
          <a:ln/>
        </p:spPr>
        <p:txBody>
          <a:bodyPr wrap="square" rtlCol="0" anchor="ctr"/>
          <a:lstStyle/>
          <a:p>
            <a:pPr marL="0" indent="0">
              <a:buNone/>
            </a:pPr>
            <a:r>
              <a:rPr lang="en-US" sz="12000" b="1" dirty="0">
                <a:solidFill>
                  <a:srgbClr val="1A3A5C"/>
                </a:solidFill>
                <a:latin typeface="Cascadia Code" pitchFamily="34" charset="0"/>
                <a:ea typeface="Cascadia Code" pitchFamily="34" charset="-122"/>
                <a:cs typeface="Cascadia Code" pitchFamily="34" charset="-120"/>
              </a:rPr>
              <a:t>III</a:t>
            </a:r>
            <a:endParaRPr lang="en-US" sz="12000" dirty="0"/>
          </a:p>
        </p:txBody>
      </p:sp>
      <p:sp>
        <p:nvSpPr>
          <p:cNvPr id="3" name="Text 1"/>
          <p:cNvSpPr/>
          <p:nvPr/>
        </p:nvSpPr>
        <p:spPr>
          <a:xfrm>
            <a:off x="548640" y="1005840"/>
            <a:ext cx="10972800" cy="274320"/>
          </a:xfrm>
          <a:prstGeom prst="rect">
            <a:avLst/>
          </a:prstGeom>
          <a:noFill/>
          <a:ln/>
        </p:spPr>
        <p:txBody>
          <a:bodyPr wrap="square" rtlCol="0" anchor="ctr"/>
          <a:lstStyle/>
          <a:p>
            <a:pPr marL="0" indent="0">
              <a:buNone/>
            </a:pPr>
            <a:r>
              <a:rPr lang="en-US" sz="900" b="1" kern="0" spc="300" dirty="0">
                <a:solidFill>
                  <a:srgbClr val="C8A951"/>
                </a:solidFill>
                <a:latin typeface="Segoe UI" pitchFamily="34" charset="0"/>
                <a:ea typeface="Segoe UI" pitchFamily="34" charset="-122"/>
                <a:cs typeface="Segoe UI" pitchFamily="34" charset="-120"/>
              </a:rPr>
              <a:t>ACT III · THE THIRD ABSENCE</a:t>
            </a:r>
            <a:endParaRPr lang="en-US" sz="900" dirty="0"/>
          </a:p>
        </p:txBody>
      </p:sp>
      <p:sp>
        <p:nvSpPr>
          <p:cNvPr id="4" name="Text 2"/>
          <p:cNvSpPr/>
          <p:nvPr/>
        </p:nvSpPr>
        <p:spPr>
          <a:xfrm>
            <a:off x="548640" y="1371600"/>
            <a:ext cx="10515600" cy="1280160"/>
          </a:xfrm>
          <a:prstGeom prst="rect">
            <a:avLst/>
          </a:prstGeom>
          <a:noFill/>
          <a:ln/>
        </p:spPr>
        <p:txBody>
          <a:bodyPr wrap="square" rtlCol="0" anchor="ctr"/>
          <a:lstStyle/>
          <a:p>
            <a:pPr marL="0" indent="0">
              <a:buNone/>
            </a:pPr>
            <a:r>
              <a:rPr lang="en-US" sz="3200" b="1" dirty="0">
                <a:solidFill>
                  <a:srgbClr val="FFFFFF"/>
                </a:solidFill>
                <a:latin typeface="Segoe UI" pitchFamily="34" charset="0"/>
                <a:ea typeface="Segoe UI" pitchFamily="34" charset="-122"/>
                <a:cs typeface="Segoe UI" pitchFamily="34" charset="-120"/>
              </a:rPr>
              <a:t>Continuity Between Sessions</a:t>
            </a:r>
            <a:endParaRPr lang="en-US" sz="3200" dirty="0"/>
          </a:p>
        </p:txBody>
      </p:sp>
      <p:sp>
        <p:nvSpPr>
          <p:cNvPr id="5" name="Shape 3"/>
          <p:cNvSpPr/>
          <p:nvPr/>
        </p:nvSpPr>
        <p:spPr>
          <a:xfrm>
            <a:off x="548640" y="2743200"/>
            <a:ext cx="54864" cy="502920"/>
          </a:xfrm>
          <a:prstGeom prst="rect">
            <a:avLst/>
          </a:prstGeom>
          <a:solidFill>
            <a:srgbClr val="C8A951"/>
          </a:solidFill>
          <a:ln w="12700">
            <a:solidFill>
              <a:srgbClr val="C8A951"/>
            </a:solidFill>
            <a:prstDash val="solid"/>
          </a:ln>
        </p:spPr>
        <p:txBody>
          <a:bodyPr/>
          <a:lstStyle/>
          <a:p>
            <a:endParaRPr lang="en-US"/>
          </a:p>
        </p:txBody>
      </p:sp>
      <p:sp>
        <p:nvSpPr>
          <p:cNvPr id="6" name="Text 4"/>
          <p:cNvSpPr/>
          <p:nvPr/>
        </p:nvSpPr>
        <p:spPr>
          <a:xfrm>
            <a:off x="731520" y="2743200"/>
            <a:ext cx="10058400" cy="502920"/>
          </a:xfrm>
          <a:prstGeom prst="rect">
            <a:avLst/>
          </a:prstGeom>
          <a:noFill/>
          <a:ln/>
        </p:spPr>
        <p:txBody>
          <a:bodyPr wrap="square" rtlCol="0" anchor="ctr"/>
          <a:lstStyle/>
          <a:p>
            <a:pPr marL="0" indent="0">
              <a:buNone/>
            </a:pPr>
            <a:r>
              <a:rPr lang="en-US" sz="1500" i="1" dirty="0">
                <a:solidFill>
                  <a:srgbClr val="B7C6D6"/>
                </a:solidFill>
                <a:latin typeface="Segoe UI" pitchFamily="34" charset="0"/>
                <a:ea typeface="Segoe UI" pitchFamily="34" charset="-122"/>
                <a:cs typeface="Segoe UI" pitchFamily="34" charset="-120"/>
              </a:rPr>
              <a:t>"Your decisions can’t live in a chat window that closes."</a:t>
            </a:r>
            <a:endParaRPr lang="en-US" sz="1500" dirty="0"/>
          </a:p>
        </p:txBody>
      </p:sp>
      <p:sp>
        <p:nvSpPr>
          <p:cNvPr id="7" name="Text 5"/>
          <p:cNvSpPr/>
          <p:nvPr/>
        </p:nvSpPr>
        <p:spPr>
          <a:xfrm>
            <a:off x="548640" y="6309360"/>
            <a:ext cx="11064240" cy="228600"/>
          </a:xfrm>
          <a:prstGeom prst="rect">
            <a:avLst/>
          </a:prstGeom>
          <a:noFill/>
          <a:ln/>
        </p:spPr>
        <p:txBody>
          <a:bodyPr wrap="square" rtlCol="0" anchor="ctr"/>
          <a:lstStyle/>
          <a:p>
            <a:pPr marL="0" indent="0" algn="r">
              <a:buNone/>
            </a:pPr>
            <a:r>
              <a:rPr lang="en-US" sz="800" dirty="0">
                <a:solidFill>
                  <a:srgbClr val="3A5A7C"/>
                </a:solidFill>
                <a:latin typeface="Cascadia Code" pitchFamily="34" charset="0"/>
                <a:ea typeface="Cascadia Code" pitchFamily="34" charset="-122"/>
                <a:cs typeface="Cascadia Code" pitchFamily="34" charset="-120"/>
              </a:rPr>
              <a:t>ADRs 0031 · 0032 · 0034 · 0035</a:t>
            </a:r>
            <a:endParaRPr lang="en-US" sz="800" dirty="0"/>
          </a:p>
        </p:txBody>
      </p:sp>
      <p:sp>
        <p:nvSpPr>
          <p:cNvPr id="8" name="Text 6"/>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20 / 45</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The failure mode: your decisions didn’t survive the session</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Text 3"/>
          <p:cNvSpPr/>
          <p:nvPr/>
        </p:nvSpPr>
        <p:spPr>
          <a:xfrm>
            <a:off x="548640" y="914400"/>
            <a:ext cx="10789920" cy="3840480"/>
          </a:xfrm>
          <a:prstGeom prst="rect">
            <a:avLst/>
          </a:prstGeom>
          <a:noFill/>
          <a:ln/>
        </p:spPr>
        <p:txBody>
          <a:bodyPr wrap="square" rtlCol="0" anchor="t"/>
          <a:lstStyle/>
          <a:p>
            <a:pPr>
              <a:spcAft>
                <a:spcPts val="600"/>
              </a:spcAft>
            </a:pPr>
            <a:r>
              <a:rPr lang="en-US" sz="1400" dirty="0">
                <a:solidFill>
                  <a:srgbClr val="2D3436"/>
                </a:solidFill>
                <a:latin typeface="Segoe UI" pitchFamily="34" charset="0"/>
                <a:ea typeface="Segoe UI" pitchFamily="34" charset="-122"/>
                <a:cs typeface="Segoe UI" pitchFamily="34" charset="-120"/>
              </a:rPr>
              <a:t>You approved a direction on Monday. Friday’s session had no idea — it might cheerfully recommend the opposite.</a:t>
            </a:r>
            <a:endParaRPr lang="en-US" sz="1400" dirty="0"/>
          </a:p>
          <a:p>
            <a:pPr>
              <a:spcAft>
                <a:spcPts val="600"/>
              </a:spcAft>
            </a:pPr>
            <a:r>
              <a:rPr lang="en-US" sz="1400" dirty="0">
                <a:solidFill>
                  <a:srgbClr val="2D3436"/>
                </a:solidFill>
                <a:latin typeface="Segoe UI" pitchFamily="34" charset="0"/>
                <a:ea typeface="Segoe UI" pitchFamily="34" charset="-122"/>
                <a:cs typeface="Segoe UI" pitchFamily="34" charset="-120"/>
              </a:rPr>
              <a:t>Your Tech Lead approved a spec by email, but the plugin had already forgotten the context he was approving.</a:t>
            </a:r>
            <a:endParaRPr lang="en-US" sz="1400" dirty="0"/>
          </a:p>
          <a:p>
            <a:pPr>
              <a:spcAft>
                <a:spcPts val="600"/>
              </a:spcAft>
            </a:pPr>
            <a:r>
              <a:rPr lang="en-US" sz="1400" dirty="0">
                <a:solidFill>
                  <a:srgbClr val="2D3436"/>
                </a:solidFill>
                <a:latin typeface="Segoe UI" pitchFamily="34" charset="0"/>
                <a:ea typeface="Segoe UI" pitchFamily="34" charset="-122"/>
                <a:cs typeface="Segoe UI" pitchFamily="34" charset="-120"/>
              </a:rPr>
              <a:t>Everything you decided lived inside a conversation — and conversations close.</a:t>
            </a:r>
            <a:endParaRPr lang="en-US" sz="1400" dirty="0"/>
          </a:p>
          <a:p>
            <a:pPr>
              <a:spcAft>
                <a:spcPts val="600"/>
              </a:spcAft>
            </a:pPr>
            <a:r>
              <a:rPr lang="en-US" sz="1400" dirty="0">
                <a:solidFill>
                  <a:srgbClr val="2D3436"/>
                </a:solidFill>
                <a:latin typeface="Segoe UI" pitchFamily="34" charset="0"/>
                <a:ea typeface="Segoe UI" pitchFamily="34" charset="-122"/>
                <a:cs typeface="Segoe UI" pitchFamily="34" charset="-120"/>
              </a:rPr>
              <a:t>For the person now accountable for those decisions, that’s not a memory problem. It’s an ownership problem.</a:t>
            </a:r>
            <a:endParaRPr lang="en-US" sz="1400" dirty="0"/>
          </a:p>
        </p:txBody>
      </p:sp>
      <p:sp>
        <p:nvSpPr>
          <p:cNvPr id="6" name="Text 4"/>
          <p:cNvSpPr/>
          <p:nvPr/>
        </p:nvSpPr>
        <p:spPr>
          <a:xfrm>
            <a:off x="548640" y="5029200"/>
            <a:ext cx="11064240" cy="365760"/>
          </a:xfrm>
          <a:prstGeom prst="rect">
            <a:avLst/>
          </a:prstGeom>
          <a:noFill/>
          <a:ln/>
        </p:spPr>
        <p:txBody>
          <a:bodyPr wrap="square" rtlCol="0" anchor="ctr"/>
          <a:lstStyle/>
          <a:p>
            <a:pPr marL="0" indent="0">
              <a:buNone/>
            </a:pPr>
            <a:r>
              <a:rPr lang="en-US" sz="1300" i="1" dirty="0">
                <a:solidFill>
                  <a:srgbClr val="636E72"/>
                </a:solidFill>
                <a:latin typeface="Segoe UI" pitchFamily="34" charset="0"/>
                <a:ea typeface="Segoe UI" pitchFamily="34" charset="-122"/>
                <a:cs typeface="Segoe UI" pitchFamily="34" charset="-120"/>
              </a:rPr>
              <a:t>You can’t be answerable for a call the system can’t remember you made.</a:t>
            </a:r>
            <a:endParaRPr lang="en-US" sz="1300" dirty="0"/>
          </a:p>
        </p:txBody>
      </p:sp>
      <p:sp>
        <p:nvSpPr>
          <p:cNvPr id="7" name="Text 5"/>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21 / 45</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Move the truth onto disk — then talk to it like a person</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Shape 3"/>
          <p:cNvSpPr/>
          <p:nvPr/>
        </p:nvSpPr>
        <p:spPr>
          <a:xfrm>
            <a:off x="548640" y="914400"/>
            <a:ext cx="64008" cy="1828800"/>
          </a:xfrm>
          <a:prstGeom prst="rect">
            <a:avLst/>
          </a:prstGeom>
          <a:solidFill>
            <a:srgbClr val="C8A951"/>
          </a:solidFill>
          <a:ln w="12700">
            <a:solidFill>
              <a:srgbClr val="C8A951"/>
            </a:solidFill>
            <a:prstDash val="solid"/>
          </a:ln>
        </p:spPr>
        <p:txBody>
          <a:bodyPr/>
          <a:lstStyle/>
          <a:p>
            <a:endParaRPr lang="en-US"/>
          </a:p>
        </p:txBody>
      </p:sp>
      <p:sp>
        <p:nvSpPr>
          <p:cNvPr id="6" name="Shape 4"/>
          <p:cNvSpPr/>
          <p:nvPr/>
        </p:nvSpPr>
        <p:spPr>
          <a:xfrm>
            <a:off x="612648" y="914400"/>
            <a:ext cx="11000232" cy="1828800"/>
          </a:xfrm>
          <a:prstGeom prst="rect">
            <a:avLst/>
          </a:prstGeom>
          <a:solidFill>
            <a:srgbClr val="FDFCF5"/>
          </a:solidFill>
          <a:ln w="12700">
            <a:solidFill>
              <a:srgbClr val="DFE6E9"/>
            </a:solidFill>
            <a:prstDash val="solid"/>
          </a:ln>
        </p:spPr>
        <p:txBody>
          <a:bodyPr/>
          <a:lstStyle/>
          <a:p>
            <a:endParaRPr lang="en-US"/>
          </a:p>
        </p:txBody>
      </p:sp>
      <p:sp>
        <p:nvSpPr>
          <p:cNvPr id="7" name="Text 5"/>
          <p:cNvSpPr/>
          <p:nvPr/>
        </p:nvSpPr>
        <p:spPr>
          <a:xfrm>
            <a:off x="731520" y="1024128"/>
            <a:ext cx="10607040" cy="201168"/>
          </a:xfrm>
          <a:prstGeom prst="rect">
            <a:avLst/>
          </a:prstGeom>
          <a:noFill/>
          <a:ln/>
        </p:spPr>
        <p:txBody>
          <a:bodyPr wrap="square" rtlCol="0" anchor="ctr"/>
          <a:lstStyle/>
          <a:p>
            <a:pPr marL="0" indent="0">
              <a:buNone/>
            </a:pPr>
            <a:r>
              <a:rPr lang="en-US" sz="800" b="1" kern="0" spc="150" dirty="0">
                <a:solidFill>
                  <a:srgbClr val="C8A951"/>
                </a:solidFill>
                <a:latin typeface="Cascadia Code" pitchFamily="34" charset="0"/>
                <a:ea typeface="Cascadia Code" pitchFamily="34" charset="-122"/>
                <a:cs typeface="Cascadia Code" pitchFamily="34" charset="-120"/>
              </a:rPr>
              <a:t>STATE ON DISK  ·  ADR 0031</a:t>
            </a:r>
            <a:endParaRPr lang="en-US" sz="800" dirty="0"/>
          </a:p>
        </p:txBody>
      </p:sp>
      <p:sp>
        <p:nvSpPr>
          <p:cNvPr id="8" name="Text 6"/>
          <p:cNvSpPr/>
          <p:nvPr/>
        </p:nvSpPr>
        <p:spPr>
          <a:xfrm>
            <a:off x="731520" y="1207008"/>
            <a:ext cx="10607040" cy="1188720"/>
          </a:xfrm>
          <a:prstGeom prst="rect">
            <a:avLst/>
          </a:prstGeom>
          <a:noFill/>
          <a:ln/>
        </p:spPr>
        <p:txBody>
          <a:bodyPr wrap="square" rtlCol="0" anchor="t"/>
          <a:lstStyle/>
          <a:p>
            <a:pPr marL="0" indent="0">
              <a:buNone/>
            </a:pPr>
            <a:r>
              <a:rPr lang="en-US" sz="1300" b="1" dirty="0">
                <a:solidFill>
                  <a:srgbClr val="1A3A5C"/>
                </a:solidFill>
                <a:latin typeface="Segoe UI" pitchFamily="34" charset="0"/>
                <a:ea typeface="Segoe UI" pitchFamily="34" charset="-122"/>
                <a:cs typeface="Segoe UI" pitchFamily="34" charset="-120"/>
              </a:rPr>
              <a:t>"The status line on disk is the single source of truth — not the conversation. APPROVE ADO-1847, typed in Teams three days later, is actioned immediately."</a:t>
            </a:r>
            <a:endParaRPr lang="en-US" sz="1300" dirty="0"/>
          </a:p>
        </p:txBody>
      </p:sp>
      <p:sp>
        <p:nvSpPr>
          <p:cNvPr id="9" name="Text 7"/>
          <p:cNvSpPr/>
          <p:nvPr/>
        </p:nvSpPr>
        <p:spPr>
          <a:xfrm>
            <a:off x="731520" y="2395728"/>
            <a:ext cx="9692640" cy="274320"/>
          </a:xfrm>
          <a:prstGeom prst="rect">
            <a:avLst/>
          </a:prstGeom>
          <a:noFill/>
          <a:ln/>
        </p:spPr>
        <p:txBody>
          <a:bodyPr wrap="square" rtlCol="0" anchor="ctr"/>
          <a:lstStyle/>
          <a:p>
            <a:pPr marL="0" indent="0">
              <a:buNone/>
            </a:pPr>
            <a:r>
              <a:rPr lang="en-US" sz="1000" dirty="0">
                <a:solidFill>
                  <a:srgbClr val="636E72"/>
                </a:solidFill>
                <a:latin typeface="Segoe UI" pitchFamily="34" charset="0"/>
                <a:ea typeface="Segoe UI" pitchFamily="34" charset="-122"/>
                <a:cs typeface="Segoe UI" pitchFamily="34" charset="-120"/>
              </a:rPr>
              <a:t>State machine on disk: DRAFT → Approved → In Progress → Complete. REVISE resets to DRAFT and re-blocks the gate.</a:t>
            </a:r>
            <a:endParaRPr lang="en-US" sz="1000" dirty="0"/>
          </a:p>
        </p:txBody>
      </p:sp>
      <p:sp>
        <p:nvSpPr>
          <p:cNvPr id="10" name="Text 8"/>
          <p:cNvSpPr/>
          <p:nvPr/>
        </p:nvSpPr>
        <p:spPr>
          <a:xfrm>
            <a:off x="10607040" y="2468880"/>
            <a:ext cx="868680" cy="201168"/>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ADR 0031</a:t>
            </a:r>
            <a:endParaRPr lang="en-US" sz="800" dirty="0"/>
          </a:p>
        </p:txBody>
      </p:sp>
      <p:sp>
        <p:nvSpPr>
          <p:cNvPr id="11" name="Shape 9"/>
          <p:cNvSpPr/>
          <p:nvPr/>
        </p:nvSpPr>
        <p:spPr>
          <a:xfrm>
            <a:off x="548640" y="2926080"/>
            <a:ext cx="64008" cy="1737360"/>
          </a:xfrm>
          <a:prstGeom prst="rect">
            <a:avLst/>
          </a:prstGeom>
          <a:solidFill>
            <a:srgbClr val="C8A951"/>
          </a:solidFill>
          <a:ln w="12700">
            <a:solidFill>
              <a:srgbClr val="C8A951"/>
            </a:solidFill>
            <a:prstDash val="solid"/>
          </a:ln>
        </p:spPr>
        <p:txBody>
          <a:bodyPr/>
          <a:lstStyle/>
          <a:p>
            <a:endParaRPr lang="en-US"/>
          </a:p>
        </p:txBody>
      </p:sp>
      <p:sp>
        <p:nvSpPr>
          <p:cNvPr id="12" name="Shape 10"/>
          <p:cNvSpPr/>
          <p:nvPr/>
        </p:nvSpPr>
        <p:spPr>
          <a:xfrm>
            <a:off x="612648" y="2926080"/>
            <a:ext cx="11000232" cy="1737360"/>
          </a:xfrm>
          <a:prstGeom prst="rect">
            <a:avLst/>
          </a:prstGeom>
          <a:solidFill>
            <a:srgbClr val="FDFCF5"/>
          </a:solidFill>
          <a:ln w="12700">
            <a:solidFill>
              <a:srgbClr val="DFE6E9"/>
            </a:solidFill>
            <a:prstDash val="solid"/>
          </a:ln>
        </p:spPr>
        <p:txBody>
          <a:bodyPr/>
          <a:lstStyle/>
          <a:p>
            <a:endParaRPr lang="en-US"/>
          </a:p>
        </p:txBody>
      </p:sp>
      <p:sp>
        <p:nvSpPr>
          <p:cNvPr id="13" name="Text 11"/>
          <p:cNvSpPr/>
          <p:nvPr/>
        </p:nvSpPr>
        <p:spPr>
          <a:xfrm>
            <a:off x="731520" y="3035808"/>
            <a:ext cx="10607040" cy="201168"/>
          </a:xfrm>
          <a:prstGeom prst="rect">
            <a:avLst/>
          </a:prstGeom>
          <a:noFill/>
          <a:ln/>
        </p:spPr>
        <p:txBody>
          <a:bodyPr wrap="square" rtlCol="0" anchor="ctr"/>
          <a:lstStyle/>
          <a:p>
            <a:pPr marL="0" indent="0">
              <a:buNone/>
            </a:pPr>
            <a:r>
              <a:rPr lang="en-US" sz="800" b="1" kern="0" spc="150" dirty="0">
                <a:solidFill>
                  <a:srgbClr val="C8A951"/>
                </a:solidFill>
                <a:latin typeface="Cascadia Code" pitchFamily="34" charset="0"/>
                <a:ea typeface="Cascadia Code" pitchFamily="34" charset="-122"/>
                <a:cs typeface="Cascadia Code" pitchFamily="34" charset="-120"/>
              </a:rPr>
              <a:t>KEYWORD HANDLERS  ·  ADR 0032</a:t>
            </a:r>
            <a:endParaRPr lang="en-US" sz="800" dirty="0"/>
          </a:p>
        </p:txBody>
      </p:sp>
      <p:sp>
        <p:nvSpPr>
          <p:cNvPr id="14" name="Text 12"/>
          <p:cNvSpPr/>
          <p:nvPr/>
        </p:nvSpPr>
        <p:spPr>
          <a:xfrm>
            <a:off x="731520" y="3218688"/>
            <a:ext cx="10607040" cy="1097280"/>
          </a:xfrm>
          <a:prstGeom prst="rect">
            <a:avLst/>
          </a:prstGeom>
          <a:noFill/>
          <a:ln/>
        </p:spPr>
        <p:txBody>
          <a:bodyPr wrap="square" rtlCol="0" anchor="t"/>
          <a:lstStyle/>
          <a:p>
            <a:pPr marL="0" indent="0">
              <a:buNone/>
            </a:pPr>
            <a:r>
              <a:rPr lang="en-US" sz="1300" b="1" dirty="0">
                <a:solidFill>
                  <a:srgbClr val="1A3A5C"/>
                </a:solidFill>
                <a:latin typeface="Segoe UI" pitchFamily="34" charset="0"/>
                <a:ea typeface="Segoe UI" pitchFamily="34" charset="-122"/>
                <a:cs typeface="Segoe UI" pitchFamily="34" charset="-120"/>
              </a:rPr>
              <a:t>"Recognised in any message, any channel — no slash command needed."</a:t>
            </a:r>
            <a:endParaRPr lang="en-US" sz="1300" dirty="0"/>
          </a:p>
        </p:txBody>
      </p:sp>
      <p:sp>
        <p:nvSpPr>
          <p:cNvPr id="15" name="Text 13"/>
          <p:cNvSpPr/>
          <p:nvPr/>
        </p:nvSpPr>
        <p:spPr>
          <a:xfrm>
            <a:off x="731520" y="4315968"/>
            <a:ext cx="9692640" cy="274320"/>
          </a:xfrm>
          <a:prstGeom prst="rect">
            <a:avLst/>
          </a:prstGeom>
          <a:noFill/>
          <a:ln/>
        </p:spPr>
        <p:txBody>
          <a:bodyPr wrap="square" rtlCol="0" anchor="ctr"/>
          <a:lstStyle/>
          <a:p>
            <a:pPr marL="0" indent="0">
              <a:buNone/>
            </a:pPr>
            <a:r>
              <a:rPr lang="en-US" sz="1000" dirty="0">
                <a:solidFill>
                  <a:srgbClr val="636E72"/>
                </a:solidFill>
                <a:latin typeface="Segoe UI" pitchFamily="34" charset="0"/>
                <a:ea typeface="Segoe UI" pitchFamily="34" charset="-122"/>
                <a:cs typeface="Segoe UI" pitchFamily="34" charset="-120"/>
              </a:rPr>
              <a:t>APPROVE · IMPLEMENT · REVISE · STATUS ADO-{ID}. The ID normalises: "ADO-1847", "ADO #1847", and "1847" all work.</a:t>
            </a:r>
            <a:endParaRPr lang="en-US" sz="1000" dirty="0"/>
          </a:p>
        </p:txBody>
      </p:sp>
      <p:sp>
        <p:nvSpPr>
          <p:cNvPr id="16" name="Text 14"/>
          <p:cNvSpPr/>
          <p:nvPr/>
        </p:nvSpPr>
        <p:spPr>
          <a:xfrm>
            <a:off x="10607040" y="4389120"/>
            <a:ext cx="868680" cy="201168"/>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ADR 0032</a:t>
            </a:r>
            <a:endParaRPr lang="en-US" sz="800" dirty="0"/>
          </a:p>
        </p:txBody>
      </p:sp>
      <p:sp>
        <p:nvSpPr>
          <p:cNvPr id="17" name="Text 15"/>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22 / 45</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41A35"/>
        </a:solidFill>
        <a:effectLst/>
      </p:bgPr>
    </p:bg>
    <p:spTree>
      <p:nvGrpSpPr>
        <p:cNvPr id="1" name=""/>
        <p:cNvGrpSpPr/>
        <p:nvPr/>
      </p:nvGrpSpPr>
      <p:grpSpPr>
        <a:xfrm>
          <a:off x="0" y="0"/>
          <a:ext cx="0" cy="0"/>
          <a:chOff x="0" y="0"/>
          <a:chExt cx="0" cy="0"/>
        </a:xfrm>
      </p:grpSpPr>
      <p:sp>
        <p:nvSpPr>
          <p:cNvPr id="2" name="Text 0"/>
          <p:cNvSpPr/>
          <p:nvPr/>
        </p:nvSpPr>
        <p:spPr>
          <a:xfrm>
            <a:off x="548640" y="1005840"/>
            <a:ext cx="10972800" cy="274320"/>
          </a:xfrm>
          <a:prstGeom prst="rect">
            <a:avLst/>
          </a:prstGeom>
          <a:noFill/>
          <a:ln/>
        </p:spPr>
        <p:txBody>
          <a:bodyPr wrap="square" rtlCol="0" anchor="ctr"/>
          <a:lstStyle/>
          <a:p>
            <a:pPr marL="0" indent="0">
              <a:buNone/>
            </a:pPr>
            <a:r>
              <a:rPr lang="en-US" sz="900" b="1" kern="0" spc="300" dirty="0">
                <a:solidFill>
                  <a:srgbClr val="C8A951"/>
                </a:solidFill>
                <a:latin typeface="Segoe UI" pitchFamily="34" charset="0"/>
                <a:ea typeface="Segoe UI" pitchFamily="34" charset="-122"/>
                <a:cs typeface="Segoe UI" pitchFamily="34" charset="-120"/>
              </a:rPr>
              <a:t>INTERLUDE · DREAM</a:t>
            </a:r>
            <a:endParaRPr lang="en-US" sz="900" dirty="0"/>
          </a:p>
        </p:txBody>
      </p:sp>
      <p:sp>
        <p:nvSpPr>
          <p:cNvPr id="3" name="Text 1"/>
          <p:cNvSpPr/>
          <p:nvPr/>
        </p:nvSpPr>
        <p:spPr>
          <a:xfrm>
            <a:off x="548640" y="1371600"/>
            <a:ext cx="10515600" cy="1280160"/>
          </a:xfrm>
          <a:prstGeom prst="rect">
            <a:avLst/>
          </a:prstGeom>
          <a:noFill/>
          <a:ln/>
        </p:spPr>
        <p:txBody>
          <a:bodyPr wrap="square" rtlCol="0" anchor="ctr"/>
          <a:lstStyle/>
          <a:p>
            <a:pPr marL="0" indent="0">
              <a:buNone/>
            </a:pPr>
            <a:r>
              <a:rPr lang="en-US" sz="3200" b="1" dirty="0">
                <a:solidFill>
                  <a:srgbClr val="FFFFFF"/>
                </a:solidFill>
                <a:latin typeface="Segoe UI" pitchFamily="34" charset="0"/>
                <a:ea typeface="Segoe UI" pitchFamily="34" charset="-122"/>
                <a:cs typeface="Segoe UI" pitchFamily="34" charset="-120"/>
              </a:rPr>
              <a:t>Memory that consolidates like sleep</a:t>
            </a:r>
            <a:endParaRPr lang="en-US" sz="3200" dirty="0"/>
          </a:p>
        </p:txBody>
      </p:sp>
      <p:sp>
        <p:nvSpPr>
          <p:cNvPr id="4" name="Shape 2"/>
          <p:cNvSpPr/>
          <p:nvPr/>
        </p:nvSpPr>
        <p:spPr>
          <a:xfrm>
            <a:off x="548640" y="2743200"/>
            <a:ext cx="54864" cy="640080"/>
          </a:xfrm>
          <a:prstGeom prst="rect">
            <a:avLst/>
          </a:prstGeom>
          <a:solidFill>
            <a:srgbClr val="A78BFA"/>
          </a:solidFill>
          <a:ln w="12700">
            <a:solidFill>
              <a:srgbClr val="A78BFA"/>
            </a:solidFill>
            <a:prstDash val="solid"/>
          </a:ln>
        </p:spPr>
        <p:txBody>
          <a:bodyPr/>
          <a:lstStyle/>
          <a:p>
            <a:endParaRPr lang="en-US"/>
          </a:p>
        </p:txBody>
      </p:sp>
      <p:sp>
        <p:nvSpPr>
          <p:cNvPr id="5" name="Text 3"/>
          <p:cNvSpPr/>
          <p:nvPr/>
        </p:nvSpPr>
        <p:spPr>
          <a:xfrm>
            <a:off x="731520" y="2743200"/>
            <a:ext cx="10424160" cy="640080"/>
          </a:xfrm>
          <a:prstGeom prst="rect">
            <a:avLst/>
          </a:prstGeom>
          <a:noFill/>
          <a:ln/>
        </p:spPr>
        <p:txBody>
          <a:bodyPr wrap="square" rtlCol="0" anchor="ctr"/>
          <a:lstStyle/>
          <a:p>
            <a:pPr marL="0" indent="0">
              <a:buNone/>
            </a:pPr>
            <a:r>
              <a:rPr lang="en-US" sz="1500" i="1" dirty="0">
                <a:solidFill>
                  <a:srgbClr val="C9BDE6"/>
                </a:solidFill>
                <a:latin typeface="Segoe UI" pitchFamily="34" charset="0"/>
                <a:ea typeface="Segoe UI" pitchFamily="34" charset="-122"/>
                <a:cs typeface="Segoe UI" pitchFamily="34" charset="-120"/>
              </a:rPr>
              <a:t>"The AI remembers. But memory you can’t see or correct isn’t an asset — it’s a liability."</a:t>
            </a:r>
            <a:endParaRPr lang="en-US" sz="1500" dirty="0"/>
          </a:p>
        </p:txBody>
      </p:sp>
      <p:sp>
        <p:nvSpPr>
          <p:cNvPr id="6" name="Text 4"/>
          <p:cNvSpPr/>
          <p:nvPr/>
        </p:nvSpPr>
        <p:spPr>
          <a:xfrm>
            <a:off x="548640" y="6309360"/>
            <a:ext cx="11064240" cy="228600"/>
          </a:xfrm>
          <a:prstGeom prst="rect">
            <a:avLst/>
          </a:prstGeom>
          <a:noFill/>
          <a:ln/>
        </p:spPr>
        <p:txBody>
          <a:bodyPr wrap="square" rtlCol="0" anchor="ctr"/>
          <a:lstStyle/>
          <a:p>
            <a:pPr marL="0" indent="0" algn="r">
              <a:buNone/>
            </a:pPr>
            <a:r>
              <a:rPr lang="en-US" sz="800" dirty="0">
                <a:solidFill>
                  <a:srgbClr val="6B5FA8"/>
                </a:solidFill>
                <a:latin typeface="Cascadia Code" pitchFamily="34" charset="0"/>
                <a:ea typeface="Cascadia Code" pitchFamily="34" charset="-122"/>
                <a:cs typeface="Cascadia Code" pitchFamily="34" charset="-120"/>
              </a:rPr>
              <a:t>ADR 0007</a:t>
            </a:r>
            <a:endParaRPr lang="en-US" sz="800" dirty="0"/>
          </a:p>
        </p:txBody>
      </p:sp>
      <p:sp>
        <p:nvSpPr>
          <p:cNvPr id="7" name="Shape 5"/>
          <p:cNvSpPr/>
          <p:nvPr/>
        </p:nvSpPr>
        <p:spPr>
          <a:xfrm>
            <a:off x="10424160" y="640080"/>
            <a:ext cx="914400" cy="914400"/>
          </a:xfrm>
          <a:prstGeom prst="ellipse">
            <a:avLst/>
          </a:prstGeom>
          <a:solidFill>
            <a:srgbClr val="A78BFA">
              <a:alpha val="45000"/>
            </a:srgbClr>
          </a:solidFill>
          <a:ln/>
        </p:spPr>
        <p:txBody>
          <a:bodyPr/>
          <a:lstStyle/>
          <a:p>
            <a:endParaRPr lang="en-US"/>
          </a:p>
        </p:txBody>
      </p:sp>
      <p:sp>
        <p:nvSpPr>
          <p:cNvPr id="8" name="Text 6"/>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23 / 45</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The problem: memory without discipline</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Text 3"/>
          <p:cNvSpPr/>
          <p:nvPr/>
        </p:nvSpPr>
        <p:spPr>
          <a:xfrm>
            <a:off x="548640" y="868680"/>
            <a:ext cx="11064240" cy="640080"/>
          </a:xfrm>
          <a:prstGeom prst="rect">
            <a:avLst/>
          </a:prstGeom>
          <a:noFill/>
          <a:ln/>
        </p:spPr>
        <p:txBody>
          <a:bodyPr wrap="square" rtlCol="0" anchor="ctr"/>
          <a:lstStyle/>
          <a:p>
            <a:pPr marL="0" indent="0">
              <a:buNone/>
            </a:pPr>
            <a:r>
              <a:rPr lang="en-US" sz="1400" i="1" dirty="0">
                <a:solidFill>
                  <a:srgbClr val="636E72"/>
                </a:solidFill>
                <a:latin typeface="Segoe UI" pitchFamily="34" charset="0"/>
                <a:ea typeface="Segoe UI" pitchFamily="34" charset="-122"/>
                <a:cs typeface="Segoe UI" pitchFamily="34" charset="-120"/>
              </a:rPr>
              <a:t>You told the AI last week: we use pnpm, we migrated to Vitest. This week it suggests npm and Jest. Not because it got dumber — unmanaged memory rots.</a:t>
            </a:r>
            <a:endParaRPr lang="en-US" sz="1400" dirty="0"/>
          </a:p>
        </p:txBody>
      </p:sp>
      <p:sp>
        <p:nvSpPr>
          <p:cNvPr id="6" name="Shape 4"/>
          <p:cNvSpPr/>
          <p:nvPr/>
        </p:nvSpPr>
        <p:spPr>
          <a:xfrm>
            <a:off x="548640" y="1691640"/>
            <a:ext cx="6949440" cy="4023360"/>
          </a:xfrm>
          <a:prstGeom prst="roundRect">
            <a:avLst>
              <a:gd name="adj" fmla="val 1818"/>
            </a:avLst>
          </a:prstGeom>
          <a:solidFill>
            <a:srgbClr val="0D1F35"/>
          </a:solidFill>
          <a:ln w="12700">
            <a:solidFill>
              <a:srgbClr val="2C5F8A"/>
            </a:solidFill>
            <a:prstDash val="solid"/>
          </a:ln>
        </p:spPr>
        <p:txBody>
          <a:bodyPr/>
          <a:lstStyle/>
          <a:p>
            <a:endParaRPr lang="en-US"/>
          </a:p>
        </p:txBody>
      </p:sp>
      <p:sp>
        <p:nvSpPr>
          <p:cNvPr id="7" name="Text 5"/>
          <p:cNvSpPr/>
          <p:nvPr/>
        </p:nvSpPr>
        <p:spPr>
          <a:xfrm>
            <a:off x="731520" y="1810512"/>
            <a:ext cx="6583680" cy="274320"/>
          </a:xfrm>
          <a:prstGeom prst="rect">
            <a:avLst/>
          </a:prstGeom>
          <a:noFill/>
          <a:ln/>
        </p:spPr>
        <p:txBody>
          <a:bodyPr wrap="square" rtlCol="0" anchor="ctr"/>
          <a:lstStyle/>
          <a:p>
            <a:pPr marL="0" indent="0">
              <a:buNone/>
            </a:pPr>
            <a:r>
              <a:rPr lang="en-US" sz="900" b="1" dirty="0">
                <a:solidFill>
                  <a:srgbClr val="8FB0D0"/>
                </a:solidFill>
                <a:latin typeface="Cascadia Code" pitchFamily="34" charset="0"/>
                <a:ea typeface="Cascadia Code" pitchFamily="34" charset="-122"/>
                <a:cs typeface="Cascadia Code" pitchFamily="34" charset="-120"/>
              </a:rPr>
              <a:t>MEMORY.md  — unmanaged, grows every session</a:t>
            </a:r>
            <a:endParaRPr lang="en-US" sz="900" dirty="0"/>
          </a:p>
        </p:txBody>
      </p:sp>
      <p:sp>
        <p:nvSpPr>
          <p:cNvPr id="8" name="Text 6"/>
          <p:cNvSpPr/>
          <p:nvPr/>
        </p:nvSpPr>
        <p:spPr>
          <a:xfrm>
            <a:off x="777240" y="2148840"/>
            <a:ext cx="6492240" cy="2468880"/>
          </a:xfrm>
          <a:prstGeom prst="rect">
            <a:avLst/>
          </a:prstGeom>
          <a:noFill/>
          <a:ln/>
        </p:spPr>
        <p:txBody>
          <a:bodyPr wrap="square" rtlCol="0" anchor="t"/>
          <a:lstStyle/>
          <a:p>
            <a:pPr marL="0" indent="0">
              <a:spcAft>
                <a:spcPts val="500"/>
              </a:spcAft>
              <a:buNone/>
            </a:pPr>
            <a:r>
              <a:rPr lang="en-US" sz="1100" dirty="0">
                <a:solidFill>
                  <a:srgbClr val="CDD9E6"/>
                </a:solidFill>
                <a:latin typeface="Cascadia Code" pitchFamily="34" charset="0"/>
                <a:ea typeface="Cascadia Code" pitchFamily="34" charset="-122"/>
                <a:cs typeface="Cascadia Code" pitchFamily="34" charset="-120"/>
              </a:rPr>
              <a:t>use npm installuse pnpm            ← corrected s.12use Jest for testsuse Vitest for tests  ← conflictdeploy to staging today   ← staleavoid axios interceptors… 200+ more lines …</a:t>
            </a:r>
            <a:endParaRPr lang="en-US" sz="1100" dirty="0"/>
          </a:p>
        </p:txBody>
      </p:sp>
      <p:sp>
        <p:nvSpPr>
          <p:cNvPr id="9" name="Shape 7"/>
          <p:cNvSpPr/>
          <p:nvPr/>
        </p:nvSpPr>
        <p:spPr>
          <a:xfrm>
            <a:off x="731520" y="4709160"/>
            <a:ext cx="6583680" cy="0"/>
          </a:xfrm>
          <a:prstGeom prst="line">
            <a:avLst/>
          </a:prstGeom>
          <a:noFill/>
          <a:ln w="12700">
            <a:solidFill>
              <a:srgbClr val="E17055"/>
            </a:solidFill>
            <a:prstDash val="dash"/>
          </a:ln>
        </p:spPr>
        <p:txBody>
          <a:bodyPr/>
          <a:lstStyle/>
          <a:p>
            <a:endParaRPr lang="en-US"/>
          </a:p>
        </p:txBody>
      </p:sp>
      <p:sp>
        <p:nvSpPr>
          <p:cNvPr id="10" name="Text 8"/>
          <p:cNvSpPr/>
          <p:nvPr/>
        </p:nvSpPr>
        <p:spPr>
          <a:xfrm>
            <a:off x="777240" y="4754880"/>
            <a:ext cx="6492240" cy="274320"/>
          </a:xfrm>
          <a:prstGeom prst="rect">
            <a:avLst/>
          </a:prstGeom>
          <a:noFill/>
          <a:ln/>
        </p:spPr>
        <p:txBody>
          <a:bodyPr wrap="square" rtlCol="0" anchor="ctr"/>
          <a:lstStyle/>
          <a:p>
            <a:pPr marL="0" indent="0">
              <a:buNone/>
            </a:pPr>
            <a:r>
              <a:rPr lang="en-US" sz="850" dirty="0">
                <a:solidFill>
                  <a:srgbClr val="E17055"/>
                </a:solidFill>
                <a:latin typeface="Cascadia Code" pitchFamily="34" charset="0"/>
                <a:ea typeface="Cascadia Code" pitchFamily="34" charset="-122"/>
                <a:cs typeface="Cascadia Code" pitchFamily="34" charset="-120"/>
              </a:rPr>
              <a:t>200-line cutoff — Claude can’t see below here</a:t>
            </a:r>
            <a:endParaRPr lang="en-US" sz="850" dirty="0"/>
          </a:p>
        </p:txBody>
      </p:sp>
      <p:sp>
        <p:nvSpPr>
          <p:cNvPr id="11" name="Text 9"/>
          <p:cNvSpPr/>
          <p:nvPr/>
        </p:nvSpPr>
        <p:spPr>
          <a:xfrm>
            <a:off x="7772400" y="2103120"/>
            <a:ext cx="3931920" cy="3200400"/>
          </a:xfrm>
          <a:prstGeom prst="rect">
            <a:avLst/>
          </a:prstGeom>
          <a:noFill/>
          <a:ln/>
        </p:spPr>
        <p:txBody>
          <a:bodyPr wrap="square" rtlCol="0" anchor="t"/>
          <a:lstStyle/>
          <a:p>
            <a:pPr>
              <a:spcAft>
                <a:spcPts val="600"/>
              </a:spcAft>
            </a:pPr>
            <a:r>
              <a:rPr lang="en-US" sz="1300" dirty="0">
                <a:solidFill>
                  <a:srgbClr val="2D3436"/>
                </a:solidFill>
                <a:latin typeface="Segoe UI" pitchFamily="34" charset="0"/>
                <a:ea typeface="Segoe UI" pitchFamily="34" charset="-122"/>
                <a:cs typeface="Segoe UI" pitchFamily="34" charset="-120"/>
              </a:rPr>
              <a:t>It grows every session</a:t>
            </a:r>
            <a:endParaRPr lang="en-US" sz="1300" dirty="0"/>
          </a:p>
          <a:p>
            <a:pPr>
              <a:spcAft>
                <a:spcPts val="600"/>
              </a:spcAft>
            </a:pPr>
            <a:r>
              <a:rPr lang="en-US" sz="1300" dirty="0">
                <a:solidFill>
                  <a:srgbClr val="2D3436"/>
                </a:solidFill>
                <a:latin typeface="Segoe UI" pitchFamily="34" charset="0"/>
                <a:ea typeface="Segoe UI" pitchFamily="34" charset="-122"/>
                <a:cs typeface="Segoe UI" pitchFamily="34" charset="-120"/>
              </a:rPr>
              <a:t>It starts contradicting itself</a:t>
            </a:r>
            <a:endParaRPr lang="en-US" sz="1300" dirty="0"/>
          </a:p>
          <a:p>
            <a:pPr>
              <a:spcAft>
                <a:spcPts val="600"/>
              </a:spcAft>
            </a:pPr>
            <a:r>
              <a:rPr lang="en-US" sz="1300" dirty="0">
                <a:solidFill>
                  <a:srgbClr val="2D3436"/>
                </a:solidFill>
                <a:latin typeface="Segoe UI" pitchFamily="34" charset="0"/>
                <a:ea typeface="Segoe UI" pitchFamily="34" charset="-122"/>
                <a:cs typeface="Segoe UI" pitchFamily="34" charset="-120"/>
              </a:rPr>
              <a:t>Past ~200 lines, the bottom is invisible</a:t>
            </a:r>
            <a:endParaRPr lang="en-US" sz="1300" dirty="0"/>
          </a:p>
          <a:p>
            <a:pPr>
              <a:spcAft>
                <a:spcPts val="600"/>
              </a:spcAft>
            </a:pPr>
            <a:r>
              <a:rPr lang="en-US" sz="1300" dirty="0">
                <a:solidFill>
                  <a:srgbClr val="2D3436"/>
                </a:solidFill>
                <a:latin typeface="Segoe UI" pitchFamily="34" charset="0"/>
                <a:ea typeface="Segoe UI" pitchFamily="34" charset="-122"/>
                <a:cs typeface="Segoe UI" pitchFamily="34" charset="-120"/>
              </a:rPr>
              <a:t>Worse signal than having no memory at all</a:t>
            </a:r>
            <a:endParaRPr lang="en-US" sz="1300" dirty="0"/>
          </a:p>
        </p:txBody>
      </p:sp>
      <p:sp>
        <p:nvSpPr>
          <p:cNvPr id="12" name="Text 10"/>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24 / 45</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Dream: give memory a sleep cycle</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Shape 3"/>
          <p:cNvSpPr/>
          <p:nvPr/>
        </p:nvSpPr>
        <p:spPr>
          <a:xfrm>
            <a:off x="548640" y="914400"/>
            <a:ext cx="64008" cy="1600200"/>
          </a:xfrm>
          <a:prstGeom prst="rect">
            <a:avLst/>
          </a:prstGeom>
          <a:solidFill>
            <a:srgbClr val="C8A951"/>
          </a:solidFill>
          <a:ln w="12700">
            <a:solidFill>
              <a:srgbClr val="C8A951"/>
            </a:solidFill>
            <a:prstDash val="solid"/>
          </a:ln>
        </p:spPr>
        <p:txBody>
          <a:bodyPr/>
          <a:lstStyle/>
          <a:p>
            <a:endParaRPr lang="en-US"/>
          </a:p>
        </p:txBody>
      </p:sp>
      <p:sp>
        <p:nvSpPr>
          <p:cNvPr id="6" name="Shape 4"/>
          <p:cNvSpPr/>
          <p:nvPr/>
        </p:nvSpPr>
        <p:spPr>
          <a:xfrm>
            <a:off x="612648" y="914400"/>
            <a:ext cx="11000232" cy="1600200"/>
          </a:xfrm>
          <a:prstGeom prst="rect">
            <a:avLst/>
          </a:prstGeom>
          <a:solidFill>
            <a:srgbClr val="FDFCF5"/>
          </a:solidFill>
          <a:ln w="12700">
            <a:solidFill>
              <a:srgbClr val="DFE6E9"/>
            </a:solidFill>
            <a:prstDash val="solid"/>
          </a:ln>
        </p:spPr>
        <p:txBody>
          <a:bodyPr/>
          <a:lstStyle/>
          <a:p>
            <a:endParaRPr lang="en-US"/>
          </a:p>
        </p:txBody>
      </p:sp>
      <p:sp>
        <p:nvSpPr>
          <p:cNvPr id="7" name="Text 5"/>
          <p:cNvSpPr/>
          <p:nvPr/>
        </p:nvSpPr>
        <p:spPr>
          <a:xfrm>
            <a:off x="731520" y="1024128"/>
            <a:ext cx="10607040" cy="201168"/>
          </a:xfrm>
          <a:prstGeom prst="rect">
            <a:avLst/>
          </a:prstGeom>
          <a:noFill/>
          <a:ln/>
        </p:spPr>
        <p:txBody>
          <a:bodyPr wrap="square" rtlCol="0" anchor="ctr"/>
          <a:lstStyle/>
          <a:p>
            <a:pPr marL="0" indent="0">
              <a:buNone/>
            </a:pPr>
            <a:r>
              <a:rPr lang="en-US" sz="800" b="1" kern="0" spc="150" dirty="0">
                <a:solidFill>
                  <a:srgbClr val="C8A951"/>
                </a:solidFill>
                <a:latin typeface="Cascadia Code" pitchFamily="34" charset="0"/>
                <a:ea typeface="Cascadia Code" pitchFamily="34" charset="-122"/>
                <a:cs typeface="Cascadia Code" pitchFamily="34" charset="-120"/>
              </a:rPr>
              <a:t>CONSOLIDATION LIKE SLEEP  ·  ADR 0007</a:t>
            </a:r>
            <a:endParaRPr lang="en-US" sz="800" dirty="0"/>
          </a:p>
        </p:txBody>
      </p:sp>
      <p:sp>
        <p:nvSpPr>
          <p:cNvPr id="8" name="Text 6"/>
          <p:cNvSpPr/>
          <p:nvPr/>
        </p:nvSpPr>
        <p:spPr>
          <a:xfrm>
            <a:off x="731520" y="1207008"/>
            <a:ext cx="10607040" cy="960120"/>
          </a:xfrm>
          <a:prstGeom prst="rect">
            <a:avLst/>
          </a:prstGeom>
          <a:noFill/>
          <a:ln/>
        </p:spPr>
        <p:txBody>
          <a:bodyPr wrap="square" rtlCol="0" anchor="t"/>
          <a:lstStyle/>
          <a:p>
            <a:pPr marL="0" indent="0">
              <a:buNone/>
            </a:pPr>
            <a:r>
              <a:rPr lang="en-US" sz="1300" b="1" dirty="0">
                <a:solidFill>
                  <a:srgbClr val="1A3A5C"/>
                </a:solidFill>
                <a:latin typeface="Segoe UI" pitchFamily="34" charset="0"/>
                <a:ea typeface="Segoe UI" pitchFamily="34" charset="-122"/>
                <a:cs typeface="Segoe UI" pitchFamily="34" charset="-120"/>
              </a:rPr>
              <a:t>"We needed something like REM sleep — periodic consolidation that keeps what proved true, prunes what’s stale, and strengthens the patterns worth keeping."</a:t>
            </a:r>
            <a:endParaRPr lang="en-US" sz="1300" dirty="0"/>
          </a:p>
        </p:txBody>
      </p:sp>
      <p:sp>
        <p:nvSpPr>
          <p:cNvPr id="9" name="Text 7"/>
          <p:cNvSpPr/>
          <p:nvPr/>
        </p:nvSpPr>
        <p:spPr>
          <a:xfrm>
            <a:off x="731520" y="2167128"/>
            <a:ext cx="9692640" cy="274320"/>
          </a:xfrm>
          <a:prstGeom prst="rect">
            <a:avLst/>
          </a:prstGeom>
          <a:noFill/>
          <a:ln/>
        </p:spPr>
        <p:txBody>
          <a:bodyPr wrap="square" rtlCol="0" anchor="ctr"/>
          <a:lstStyle/>
          <a:p>
            <a:pPr marL="0" indent="0">
              <a:buNone/>
            </a:pPr>
            <a:r>
              <a:rPr lang="en-US" sz="1000" dirty="0">
                <a:solidFill>
                  <a:srgbClr val="636E72"/>
                </a:solidFill>
                <a:latin typeface="Segoe UI" pitchFamily="34" charset="0"/>
                <a:ea typeface="Segoe UI" pitchFamily="34" charset="-122"/>
                <a:cs typeface="Segoe UI" pitchFamily="34" charset="-120"/>
              </a:rPr>
              <a:t>Runs every 5–8 sessions. You review before anything is written.</a:t>
            </a:r>
            <a:endParaRPr lang="en-US" sz="1000" dirty="0"/>
          </a:p>
        </p:txBody>
      </p:sp>
      <p:sp>
        <p:nvSpPr>
          <p:cNvPr id="10" name="Text 8"/>
          <p:cNvSpPr/>
          <p:nvPr/>
        </p:nvSpPr>
        <p:spPr>
          <a:xfrm>
            <a:off x="10607040" y="2240280"/>
            <a:ext cx="868680" cy="201168"/>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ADR 0007</a:t>
            </a:r>
            <a:endParaRPr lang="en-US" sz="800" dirty="0"/>
          </a:p>
        </p:txBody>
      </p:sp>
      <p:sp>
        <p:nvSpPr>
          <p:cNvPr id="11" name="Shape 9"/>
          <p:cNvSpPr/>
          <p:nvPr/>
        </p:nvSpPr>
        <p:spPr>
          <a:xfrm>
            <a:off x="274320" y="2926080"/>
            <a:ext cx="1645920" cy="548640"/>
          </a:xfrm>
          <a:prstGeom prst="roundRect">
            <a:avLst>
              <a:gd name="adj" fmla="val 11667"/>
            </a:avLst>
          </a:prstGeom>
          <a:solidFill>
            <a:srgbClr val="FFFFFF"/>
          </a:solidFill>
          <a:ln w="12700">
            <a:solidFill>
              <a:srgbClr val="DFE6E9"/>
            </a:solidFill>
            <a:prstDash val="solid"/>
          </a:ln>
        </p:spPr>
        <p:txBody>
          <a:bodyPr/>
          <a:lstStyle/>
          <a:p>
            <a:endParaRPr lang="en-US"/>
          </a:p>
        </p:txBody>
      </p:sp>
      <p:sp>
        <p:nvSpPr>
          <p:cNvPr id="12" name="Text 10"/>
          <p:cNvSpPr/>
          <p:nvPr/>
        </p:nvSpPr>
        <p:spPr>
          <a:xfrm>
            <a:off x="274320" y="2926080"/>
            <a:ext cx="1645920" cy="548640"/>
          </a:xfrm>
          <a:prstGeom prst="rect">
            <a:avLst/>
          </a:prstGeom>
          <a:noFill/>
          <a:ln/>
        </p:spPr>
        <p:txBody>
          <a:bodyPr wrap="square" rtlCol="0" anchor="ctr"/>
          <a:lstStyle/>
          <a:p>
            <a:pPr marL="0" indent="0" algn="ctr">
              <a:buNone/>
            </a:pPr>
            <a:r>
              <a:rPr lang="en-US" sz="950" b="1" dirty="0">
                <a:solidFill>
                  <a:srgbClr val="1A3A5C"/>
                </a:solidFill>
                <a:latin typeface="Segoe UI" pitchFamily="34" charset="0"/>
                <a:ea typeface="Segoe UI" pitchFamily="34" charset="-122"/>
                <a:cs typeface="Segoe UI" pitchFamily="34" charset="-120"/>
              </a:rPr>
              <a:t>01</a:t>
            </a:r>
            <a:endParaRPr lang="en-US" sz="950" dirty="0"/>
          </a:p>
          <a:p>
            <a:pPr marL="0" indent="0" algn="ctr">
              <a:buNone/>
            </a:pPr>
            <a:r>
              <a:rPr lang="en-US" sz="950" b="1" dirty="0">
                <a:solidFill>
                  <a:srgbClr val="1A3A5C"/>
                </a:solidFill>
                <a:latin typeface="Segoe UI" pitchFamily="34" charset="0"/>
                <a:ea typeface="Segoe UI" pitchFamily="34" charset="-122"/>
                <a:cs typeface="Segoe UI" pitchFamily="34" charset="-120"/>
              </a:rPr>
              <a:t>Inventory</a:t>
            </a:r>
            <a:endParaRPr lang="en-US" sz="950" dirty="0"/>
          </a:p>
        </p:txBody>
      </p:sp>
      <p:sp>
        <p:nvSpPr>
          <p:cNvPr id="13" name="Text 11"/>
          <p:cNvSpPr/>
          <p:nvPr/>
        </p:nvSpPr>
        <p:spPr>
          <a:xfrm>
            <a:off x="1920240" y="2926080"/>
            <a:ext cx="365760" cy="548640"/>
          </a:xfrm>
          <a:prstGeom prst="rect">
            <a:avLst/>
          </a:prstGeom>
          <a:noFill/>
          <a:ln/>
        </p:spPr>
        <p:txBody>
          <a:bodyPr wrap="square" rtlCol="0" anchor="ctr"/>
          <a:lstStyle/>
          <a:p>
            <a:pPr marL="0" indent="0" algn="ctr">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14" name="Shape 12"/>
          <p:cNvSpPr/>
          <p:nvPr/>
        </p:nvSpPr>
        <p:spPr>
          <a:xfrm>
            <a:off x="2286000" y="2926080"/>
            <a:ext cx="1645920" cy="548640"/>
          </a:xfrm>
          <a:prstGeom prst="roundRect">
            <a:avLst>
              <a:gd name="adj" fmla="val 11667"/>
            </a:avLst>
          </a:prstGeom>
          <a:solidFill>
            <a:srgbClr val="FFFFFF"/>
          </a:solidFill>
          <a:ln w="12700">
            <a:solidFill>
              <a:srgbClr val="DFE6E9"/>
            </a:solidFill>
            <a:prstDash val="solid"/>
          </a:ln>
        </p:spPr>
        <p:txBody>
          <a:bodyPr/>
          <a:lstStyle/>
          <a:p>
            <a:endParaRPr lang="en-US"/>
          </a:p>
        </p:txBody>
      </p:sp>
      <p:sp>
        <p:nvSpPr>
          <p:cNvPr id="15" name="Text 13"/>
          <p:cNvSpPr/>
          <p:nvPr/>
        </p:nvSpPr>
        <p:spPr>
          <a:xfrm>
            <a:off x="2286000" y="2926080"/>
            <a:ext cx="1645920" cy="548640"/>
          </a:xfrm>
          <a:prstGeom prst="rect">
            <a:avLst/>
          </a:prstGeom>
          <a:noFill/>
          <a:ln/>
        </p:spPr>
        <p:txBody>
          <a:bodyPr wrap="square" rtlCol="0" anchor="ctr"/>
          <a:lstStyle/>
          <a:p>
            <a:pPr marL="0" indent="0" algn="ctr">
              <a:buNone/>
            </a:pPr>
            <a:r>
              <a:rPr lang="en-US" sz="950" b="1" dirty="0">
                <a:solidFill>
                  <a:srgbClr val="1A3A5C"/>
                </a:solidFill>
                <a:latin typeface="Segoe UI" pitchFamily="34" charset="0"/>
                <a:ea typeface="Segoe UI" pitchFamily="34" charset="-122"/>
                <a:cs typeface="Segoe UI" pitchFamily="34" charset="-120"/>
              </a:rPr>
              <a:t>02</a:t>
            </a:r>
            <a:endParaRPr lang="en-US" sz="950" dirty="0"/>
          </a:p>
          <a:p>
            <a:pPr marL="0" indent="0" algn="ctr">
              <a:buNone/>
            </a:pPr>
            <a:r>
              <a:rPr lang="en-US" sz="950" b="1" dirty="0">
                <a:solidFill>
                  <a:srgbClr val="1A3A5C"/>
                </a:solidFill>
                <a:latin typeface="Segoe UI" pitchFamily="34" charset="0"/>
                <a:ea typeface="Segoe UI" pitchFamily="34" charset="-122"/>
                <a:cs typeface="Segoe UI" pitchFamily="34" charset="-120"/>
              </a:rPr>
              <a:t>Score</a:t>
            </a:r>
            <a:endParaRPr lang="en-US" sz="950" dirty="0"/>
          </a:p>
        </p:txBody>
      </p:sp>
      <p:sp>
        <p:nvSpPr>
          <p:cNvPr id="16" name="Text 14"/>
          <p:cNvSpPr/>
          <p:nvPr/>
        </p:nvSpPr>
        <p:spPr>
          <a:xfrm>
            <a:off x="3931920" y="2926080"/>
            <a:ext cx="365760" cy="548640"/>
          </a:xfrm>
          <a:prstGeom prst="rect">
            <a:avLst/>
          </a:prstGeom>
          <a:noFill/>
          <a:ln/>
        </p:spPr>
        <p:txBody>
          <a:bodyPr wrap="square" rtlCol="0" anchor="ctr"/>
          <a:lstStyle/>
          <a:p>
            <a:pPr marL="0" indent="0" algn="ctr">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17" name="Shape 15"/>
          <p:cNvSpPr/>
          <p:nvPr/>
        </p:nvSpPr>
        <p:spPr>
          <a:xfrm>
            <a:off x="4297680" y="2926080"/>
            <a:ext cx="1645920" cy="548640"/>
          </a:xfrm>
          <a:prstGeom prst="roundRect">
            <a:avLst>
              <a:gd name="adj" fmla="val 11667"/>
            </a:avLst>
          </a:prstGeom>
          <a:solidFill>
            <a:srgbClr val="FFFFFF"/>
          </a:solidFill>
          <a:ln w="12700">
            <a:solidFill>
              <a:srgbClr val="DFE6E9"/>
            </a:solidFill>
            <a:prstDash val="solid"/>
          </a:ln>
        </p:spPr>
        <p:txBody>
          <a:bodyPr/>
          <a:lstStyle/>
          <a:p>
            <a:endParaRPr lang="en-US"/>
          </a:p>
        </p:txBody>
      </p:sp>
      <p:sp>
        <p:nvSpPr>
          <p:cNvPr id="18" name="Text 16"/>
          <p:cNvSpPr/>
          <p:nvPr/>
        </p:nvSpPr>
        <p:spPr>
          <a:xfrm>
            <a:off x="4297680" y="2926080"/>
            <a:ext cx="1645920" cy="548640"/>
          </a:xfrm>
          <a:prstGeom prst="rect">
            <a:avLst/>
          </a:prstGeom>
          <a:noFill/>
          <a:ln/>
        </p:spPr>
        <p:txBody>
          <a:bodyPr wrap="square" rtlCol="0" anchor="ctr"/>
          <a:lstStyle/>
          <a:p>
            <a:pPr marL="0" indent="0" algn="ctr">
              <a:buNone/>
            </a:pPr>
            <a:r>
              <a:rPr lang="en-US" sz="950" b="1" dirty="0">
                <a:solidFill>
                  <a:srgbClr val="1A3A5C"/>
                </a:solidFill>
                <a:latin typeface="Segoe UI" pitchFamily="34" charset="0"/>
                <a:ea typeface="Segoe UI" pitchFamily="34" charset="-122"/>
                <a:cs typeface="Segoe UI" pitchFamily="34" charset="-120"/>
              </a:rPr>
              <a:t>03</a:t>
            </a:r>
            <a:endParaRPr lang="en-US" sz="950" dirty="0"/>
          </a:p>
          <a:p>
            <a:pPr marL="0" indent="0" algn="ctr">
              <a:buNone/>
            </a:pPr>
            <a:r>
              <a:rPr lang="en-US" sz="950" b="1" dirty="0">
                <a:solidFill>
                  <a:srgbClr val="1A3A5C"/>
                </a:solidFill>
                <a:latin typeface="Segoe UI" pitchFamily="34" charset="0"/>
                <a:ea typeface="Segoe UI" pitchFamily="34" charset="-122"/>
                <a:cs typeface="Segoe UI" pitchFamily="34" charset="-120"/>
              </a:rPr>
              <a:t>Propose</a:t>
            </a:r>
            <a:endParaRPr lang="en-US" sz="950" dirty="0"/>
          </a:p>
        </p:txBody>
      </p:sp>
      <p:sp>
        <p:nvSpPr>
          <p:cNvPr id="19" name="Text 17"/>
          <p:cNvSpPr/>
          <p:nvPr/>
        </p:nvSpPr>
        <p:spPr>
          <a:xfrm>
            <a:off x="5943600" y="2926080"/>
            <a:ext cx="365760" cy="548640"/>
          </a:xfrm>
          <a:prstGeom prst="rect">
            <a:avLst/>
          </a:prstGeom>
          <a:noFill/>
          <a:ln/>
        </p:spPr>
        <p:txBody>
          <a:bodyPr wrap="square" rtlCol="0" anchor="ctr"/>
          <a:lstStyle/>
          <a:p>
            <a:pPr marL="0" indent="0" algn="ctr">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20" name="Shape 18"/>
          <p:cNvSpPr/>
          <p:nvPr/>
        </p:nvSpPr>
        <p:spPr>
          <a:xfrm>
            <a:off x="6309360" y="2926080"/>
            <a:ext cx="1645920" cy="548640"/>
          </a:xfrm>
          <a:prstGeom prst="roundRect">
            <a:avLst>
              <a:gd name="adj" fmla="val 11667"/>
            </a:avLst>
          </a:prstGeom>
          <a:solidFill>
            <a:srgbClr val="C8A951"/>
          </a:solidFill>
          <a:ln w="12700">
            <a:solidFill>
              <a:srgbClr val="C8A951"/>
            </a:solidFill>
            <a:prstDash val="solid"/>
          </a:ln>
        </p:spPr>
        <p:txBody>
          <a:bodyPr/>
          <a:lstStyle/>
          <a:p>
            <a:endParaRPr lang="en-US"/>
          </a:p>
        </p:txBody>
      </p:sp>
      <p:sp>
        <p:nvSpPr>
          <p:cNvPr id="21" name="Text 19"/>
          <p:cNvSpPr/>
          <p:nvPr/>
        </p:nvSpPr>
        <p:spPr>
          <a:xfrm>
            <a:off x="6309360" y="2926080"/>
            <a:ext cx="1645920" cy="548640"/>
          </a:xfrm>
          <a:prstGeom prst="rect">
            <a:avLst/>
          </a:prstGeom>
          <a:noFill/>
          <a:ln/>
        </p:spPr>
        <p:txBody>
          <a:bodyPr wrap="square" rtlCol="0" anchor="ctr"/>
          <a:lstStyle/>
          <a:p>
            <a:pPr marL="0" indent="0" algn="ctr">
              <a:buNone/>
            </a:pPr>
            <a:r>
              <a:rPr lang="en-US" sz="950" b="1" dirty="0">
                <a:solidFill>
                  <a:srgbClr val="1A2B17"/>
                </a:solidFill>
                <a:latin typeface="Segoe UI" pitchFamily="34" charset="0"/>
                <a:ea typeface="Segoe UI" pitchFamily="34" charset="-122"/>
                <a:cs typeface="Segoe UI" pitchFamily="34" charset="-120"/>
              </a:rPr>
              <a:t>04</a:t>
            </a:r>
            <a:endParaRPr lang="en-US" sz="950" dirty="0"/>
          </a:p>
          <a:p>
            <a:pPr marL="0" indent="0" algn="ctr">
              <a:buNone/>
            </a:pPr>
            <a:r>
              <a:rPr lang="en-US" sz="950" b="1" dirty="0">
                <a:solidFill>
                  <a:srgbClr val="1A2B17"/>
                </a:solidFill>
                <a:latin typeface="Segoe UI" pitchFamily="34" charset="0"/>
                <a:ea typeface="Segoe UI" pitchFamily="34" charset="-122"/>
                <a:cs typeface="Segoe UI" pitchFamily="34" charset="-120"/>
              </a:rPr>
              <a:t>Review</a:t>
            </a:r>
            <a:endParaRPr lang="en-US" sz="950" dirty="0"/>
          </a:p>
        </p:txBody>
      </p:sp>
      <p:sp>
        <p:nvSpPr>
          <p:cNvPr id="22" name="Text 20"/>
          <p:cNvSpPr/>
          <p:nvPr/>
        </p:nvSpPr>
        <p:spPr>
          <a:xfrm>
            <a:off x="7955280" y="2926080"/>
            <a:ext cx="365760" cy="548640"/>
          </a:xfrm>
          <a:prstGeom prst="rect">
            <a:avLst/>
          </a:prstGeom>
          <a:noFill/>
          <a:ln/>
        </p:spPr>
        <p:txBody>
          <a:bodyPr wrap="square" rtlCol="0" anchor="ctr"/>
          <a:lstStyle/>
          <a:p>
            <a:pPr marL="0" indent="0" algn="ctr">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23" name="Shape 21"/>
          <p:cNvSpPr/>
          <p:nvPr/>
        </p:nvSpPr>
        <p:spPr>
          <a:xfrm>
            <a:off x="8321040" y="2926080"/>
            <a:ext cx="1645920" cy="548640"/>
          </a:xfrm>
          <a:prstGeom prst="roundRect">
            <a:avLst>
              <a:gd name="adj" fmla="val 11667"/>
            </a:avLst>
          </a:prstGeom>
          <a:solidFill>
            <a:srgbClr val="FFFFFF"/>
          </a:solidFill>
          <a:ln w="12700">
            <a:solidFill>
              <a:srgbClr val="DFE6E9"/>
            </a:solidFill>
            <a:prstDash val="solid"/>
          </a:ln>
        </p:spPr>
        <p:txBody>
          <a:bodyPr/>
          <a:lstStyle/>
          <a:p>
            <a:endParaRPr lang="en-US"/>
          </a:p>
        </p:txBody>
      </p:sp>
      <p:sp>
        <p:nvSpPr>
          <p:cNvPr id="24" name="Text 22"/>
          <p:cNvSpPr/>
          <p:nvPr/>
        </p:nvSpPr>
        <p:spPr>
          <a:xfrm>
            <a:off x="8321040" y="2926080"/>
            <a:ext cx="1645920" cy="548640"/>
          </a:xfrm>
          <a:prstGeom prst="rect">
            <a:avLst/>
          </a:prstGeom>
          <a:noFill/>
          <a:ln/>
        </p:spPr>
        <p:txBody>
          <a:bodyPr wrap="square" rtlCol="0" anchor="ctr"/>
          <a:lstStyle/>
          <a:p>
            <a:pPr marL="0" indent="0" algn="ctr">
              <a:buNone/>
            </a:pPr>
            <a:r>
              <a:rPr lang="en-US" sz="950" b="1" dirty="0">
                <a:solidFill>
                  <a:srgbClr val="1A3A5C"/>
                </a:solidFill>
                <a:latin typeface="Segoe UI" pitchFamily="34" charset="0"/>
                <a:ea typeface="Segoe UI" pitchFamily="34" charset="-122"/>
                <a:cs typeface="Segoe UI" pitchFamily="34" charset="-120"/>
              </a:rPr>
              <a:t>05</a:t>
            </a:r>
            <a:endParaRPr lang="en-US" sz="950" dirty="0"/>
          </a:p>
          <a:p>
            <a:pPr marL="0" indent="0" algn="ctr">
              <a:buNone/>
            </a:pPr>
            <a:r>
              <a:rPr lang="en-US" sz="950" b="1" dirty="0">
                <a:solidFill>
                  <a:srgbClr val="1A3A5C"/>
                </a:solidFill>
                <a:latin typeface="Segoe UI" pitchFamily="34" charset="0"/>
                <a:ea typeface="Segoe UI" pitchFamily="34" charset="-122"/>
                <a:cs typeface="Segoe UI" pitchFamily="34" charset="-120"/>
              </a:rPr>
              <a:t>Apply</a:t>
            </a:r>
            <a:endParaRPr lang="en-US" sz="950" dirty="0"/>
          </a:p>
        </p:txBody>
      </p:sp>
      <p:sp>
        <p:nvSpPr>
          <p:cNvPr id="25" name="Text 23"/>
          <p:cNvSpPr/>
          <p:nvPr/>
        </p:nvSpPr>
        <p:spPr>
          <a:xfrm>
            <a:off x="9966960" y="2926080"/>
            <a:ext cx="365760" cy="548640"/>
          </a:xfrm>
          <a:prstGeom prst="rect">
            <a:avLst/>
          </a:prstGeom>
          <a:noFill/>
          <a:ln/>
        </p:spPr>
        <p:txBody>
          <a:bodyPr wrap="square" rtlCol="0" anchor="ctr"/>
          <a:lstStyle/>
          <a:p>
            <a:pPr marL="0" indent="0" algn="ctr">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26" name="Shape 24"/>
          <p:cNvSpPr/>
          <p:nvPr/>
        </p:nvSpPr>
        <p:spPr>
          <a:xfrm>
            <a:off x="10332720" y="2926080"/>
            <a:ext cx="1645920" cy="548640"/>
          </a:xfrm>
          <a:prstGeom prst="roundRect">
            <a:avLst>
              <a:gd name="adj" fmla="val 11667"/>
            </a:avLst>
          </a:prstGeom>
          <a:solidFill>
            <a:srgbClr val="00B894"/>
          </a:solidFill>
          <a:ln w="12700">
            <a:solidFill>
              <a:srgbClr val="00B894"/>
            </a:solidFill>
            <a:prstDash val="solid"/>
          </a:ln>
        </p:spPr>
        <p:txBody>
          <a:bodyPr/>
          <a:lstStyle/>
          <a:p>
            <a:endParaRPr lang="en-US"/>
          </a:p>
        </p:txBody>
      </p:sp>
      <p:sp>
        <p:nvSpPr>
          <p:cNvPr id="27" name="Text 25"/>
          <p:cNvSpPr/>
          <p:nvPr/>
        </p:nvSpPr>
        <p:spPr>
          <a:xfrm>
            <a:off x="10332720" y="2926080"/>
            <a:ext cx="1645920" cy="548640"/>
          </a:xfrm>
          <a:prstGeom prst="rect">
            <a:avLst/>
          </a:prstGeom>
          <a:noFill/>
          <a:ln/>
        </p:spPr>
        <p:txBody>
          <a:bodyPr wrap="square"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06</a:t>
            </a:r>
            <a:endParaRPr lang="en-US" sz="950" dirty="0"/>
          </a:p>
          <a:p>
            <a:pPr marL="0" indent="0" algn="ctr">
              <a:buNone/>
            </a:pPr>
            <a:r>
              <a:rPr lang="en-US" sz="950" b="1" dirty="0">
                <a:solidFill>
                  <a:srgbClr val="FFFFFF"/>
                </a:solidFill>
                <a:latin typeface="Segoe UI" pitchFamily="34" charset="0"/>
                <a:ea typeface="Segoe UI" pitchFamily="34" charset="-122"/>
                <a:cs typeface="Segoe UI" pitchFamily="34" charset="-120"/>
              </a:rPr>
              <a:t>Log</a:t>
            </a:r>
            <a:endParaRPr lang="en-US" sz="950" dirty="0"/>
          </a:p>
        </p:txBody>
      </p:sp>
      <p:sp>
        <p:nvSpPr>
          <p:cNvPr id="28" name="Text 26"/>
          <p:cNvSpPr/>
          <p:nvPr/>
        </p:nvSpPr>
        <p:spPr>
          <a:xfrm>
            <a:off x="457200" y="3703320"/>
            <a:ext cx="11247120" cy="457200"/>
          </a:xfrm>
          <a:prstGeom prst="rect">
            <a:avLst/>
          </a:prstGeom>
          <a:noFill/>
          <a:ln/>
        </p:spPr>
        <p:txBody>
          <a:bodyPr wrap="square" rtlCol="0" anchor="ctr"/>
          <a:lstStyle/>
          <a:p>
            <a:pPr marL="0" indent="0" algn="ctr">
              <a:buNone/>
            </a:pPr>
            <a:r>
              <a:rPr lang="en-US" sz="1000" dirty="0">
                <a:solidFill>
                  <a:srgbClr val="636E72"/>
                </a:solidFill>
                <a:latin typeface="Segoe UI" pitchFamily="34" charset="0"/>
                <a:ea typeface="Segoe UI" pitchFamily="34" charset="-122"/>
                <a:cs typeface="Segoe UI" pitchFamily="34" charset="-120"/>
              </a:rPr>
              <a:t>read all files &amp; map knowledge  ·  confidence 0.0–1.0  ·  ADD/UPDATE/DELETE/PROMOTE  ·  hard stop: you decide  ·  safe order  ·  append-only audit trail</a:t>
            </a:r>
            <a:endParaRPr lang="en-US" sz="1000" dirty="0"/>
          </a:p>
        </p:txBody>
      </p:sp>
      <p:sp>
        <p:nvSpPr>
          <p:cNvPr id="29" name="Text 27"/>
          <p:cNvSpPr/>
          <p:nvPr/>
        </p:nvSpPr>
        <p:spPr>
          <a:xfrm>
            <a:off x="457200" y="4297680"/>
            <a:ext cx="11247120" cy="274320"/>
          </a:xfrm>
          <a:prstGeom prst="rect">
            <a:avLst/>
          </a:prstGeom>
          <a:noFill/>
          <a:ln/>
        </p:spPr>
        <p:txBody>
          <a:bodyPr wrap="square" rtlCol="0" anchor="ctr"/>
          <a:lstStyle/>
          <a:p>
            <a:pPr marL="0" indent="0" algn="ctr">
              <a:buNone/>
            </a:pPr>
            <a:r>
              <a:rPr lang="en-US" sz="800" kern="0" spc="100" dirty="0">
                <a:solidFill>
                  <a:srgbClr val="636E72"/>
                </a:solidFill>
                <a:latin typeface="Cascadia Code" pitchFamily="34" charset="0"/>
                <a:ea typeface="Cascadia Code" pitchFamily="34" charset="-122"/>
                <a:cs typeface="Cascadia Code" pitchFamily="34" charset="-120"/>
              </a:rPr>
              <a:t>DREAM · MEMORY CONSOLIDATION · LIKE REM SLEEP FOR YOUR CODEBASE</a:t>
            </a:r>
            <a:endParaRPr lang="en-US" sz="800" dirty="0"/>
          </a:p>
        </p:txBody>
      </p:sp>
      <p:sp>
        <p:nvSpPr>
          <p:cNvPr id="30" name="Text 28"/>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25 / 45</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The life of a memory: captured automatically, fades on its own</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Text 3"/>
          <p:cNvSpPr/>
          <p:nvPr/>
        </p:nvSpPr>
        <p:spPr>
          <a:xfrm>
            <a:off x="457200" y="914400"/>
            <a:ext cx="11247120" cy="274320"/>
          </a:xfrm>
          <a:prstGeom prst="rect">
            <a:avLst/>
          </a:prstGeom>
          <a:noFill/>
          <a:ln/>
        </p:spPr>
        <p:txBody>
          <a:bodyPr wrap="square" rtlCol="0" anchor="ctr"/>
          <a:lstStyle/>
          <a:p>
            <a:pPr marL="0" indent="0">
              <a:buNone/>
            </a:pPr>
            <a:r>
              <a:rPr lang="en-US" sz="900" b="1" kern="0" spc="100" dirty="0">
                <a:solidFill>
                  <a:srgbClr val="C8A951"/>
                </a:solidFill>
                <a:latin typeface="Cascadia Code" pitchFamily="34" charset="0"/>
                <a:ea typeface="Cascadia Code" pitchFamily="34" charset="-122"/>
                <a:cs typeface="Cascadia Code" pitchFamily="34" charset="-120"/>
              </a:rPr>
              <a:t>BORN — auto-captured at 5 natural moments (no “remember that”)</a:t>
            </a:r>
            <a:endParaRPr lang="en-US" sz="900" dirty="0"/>
          </a:p>
        </p:txBody>
      </p:sp>
      <p:sp>
        <p:nvSpPr>
          <p:cNvPr id="6" name="Shape 4"/>
          <p:cNvSpPr/>
          <p:nvPr/>
        </p:nvSpPr>
        <p:spPr>
          <a:xfrm>
            <a:off x="457200" y="1280160"/>
            <a:ext cx="2148840" cy="640080"/>
          </a:xfrm>
          <a:prstGeom prst="roundRect">
            <a:avLst>
              <a:gd name="adj" fmla="val 50000"/>
            </a:avLst>
          </a:prstGeom>
          <a:solidFill>
            <a:srgbClr val="EAF4FF"/>
          </a:solidFill>
          <a:ln w="12700">
            <a:solidFill>
              <a:srgbClr val="74B9FF"/>
            </a:solidFill>
            <a:prstDash val="solid"/>
          </a:ln>
        </p:spPr>
        <p:txBody>
          <a:bodyPr/>
          <a:lstStyle/>
          <a:p>
            <a:endParaRPr lang="en-US"/>
          </a:p>
        </p:txBody>
      </p:sp>
      <p:sp>
        <p:nvSpPr>
          <p:cNvPr id="7" name="Text 5"/>
          <p:cNvSpPr/>
          <p:nvPr/>
        </p:nvSpPr>
        <p:spPr>
          <a:xfrm>
            <a:off x="457200" y="1280160"/>
            <a:ext cx="2148840" cy="640080"/>
          </a:xfrm>
          <a:prstGeom prst="rect">
            <a:avLst/>
          </a:prstGeom>
          <a:noFill/>
          <a:ln/>
        </p:spPr>
        <p:txBody>
          <a:bodyPr wrap="square" rtlCol="0" anchor="ctr"/>
          <a:lstStyle/>
          <a:p>
            <a:pPr marL="0" indent="0" algn="ctr">
              <a:buNone/>
            </a:pPr>
            <a:r>
              <a:rPr lang="en-US" sz="1100" b="1" dirty="0">
                <a:solidFill>
                  <a:srgbClr val="1A3A5C"/>
                </a:solidFill>
                <a:latin typeface="Segoe UI" pitchFamily="34" charset="0"/>
                <a:ea typeface="Segoe UI" pitchFamily="34" charset="-122"/>
                <a:cs typeface="Segoe UI" pitchFamily="34" charset="-120"/>
              </a:rPr>
              <a:t>plan approved</a:t>
            </a:r>
            <a:endParaRPr lang="en-US" sz="1100" dirty="0"/>
          </a:p>
        </p:txBody>
      </p:sp>
      <p:sp>
        <p:nvSpPr>
          <p:cNvPr id="8" name="Shape 6"/>
          <p:cNvSpPr/>
          <p:nvPr/>
        </p:nvSpPr>
        <p:spPr>
          <a:xfrm>
            <a:off x="2743200" y="1280160"/>
            <a:ext cx="2148840" cy="640080"/>
          </a:xfrm>
          <a:prstGeom prst="roundRect">
            <a:avLst>
              <a:gd name="adj" fmla="val 50000"/>
            </a:avLst>
          </a:prstGeom>
          <a:solidFill>
            <a:srgbClr val="EAF4FF"/>
          </a:solidFill>
          <a:ln w="12700">
            <a:solidFill>
              <a:srgbClr val="74B9FF"/>
            </a:solidFill>
            <a:prstDash val="solid"/>
          </a:ln>
        </p:spPr>
        <p:txBody>
          <a:bodyPr/>
          <a:lstStyle/>
          <a:p>
            <a:endParaRPr lang="en-US"/>
          </a:p>
        </p:txBody>
      </p:sp>
      <p:sp>
        <p:nvSpPr>
          <p:cNvPr id="9" name="Text 7"/>
          <p:cNvSpPr/>
          <p:nvPr/>
        </p:nvSpPr>
        <p:spPr>
          <a:xfrm>
            <a:off x="2743200" y="1280160"/>
            <a:ext cx="2148840" cy="640080"/>
          </a:xfrm>
          <a:prstGeom prst="rect">
            <a:avLst/>
          </a:prstGeom>
          <a:noFill/>
          <a:ln/>
        </p:spPr>
        <p:txBody>
          <a:bodyPr wrap="square" rtlCol="0" anchor="ctr"/>
          <a:lstStyle/>
          <a:p>
            <a:pPr marL="0" indent="0" algn="ctr">
              <a:buNone/>
            </a:pPr>
            <a:r>
              <a:rPr lang="en-US" sz="1100" b="1" dirty="0">
                <a:solidFill>
                  <a:srgbClr val="1A3A5C"/>
                </a:solidFill>
                <a:latin typeface="Segoe UI" pitchFamily="34" charset="0"/>
                <a:ea typeface="Segoe UI" pitchFamily="34" charset="-122"/>
                <a:cs typeface="Segoe UI" pitchFamily="34" charset="-120"/>
              </a:rPr>
              <a:t>task done</a:t>
            </a:r>
            <a:endParaRPr lang="en-US" sz="1100" dirty="0"/>
          </a:p>
        </p:txBody>
      </p:sp>
      <p:sp>
        <p:nvSpPr>
          <p:cNvPr id="10" name="Shape 8"/>
          <p:cNvSpPr/>
          <p:nvPr/>
        </p:nvSpPr>
        <p:spPr>
          <a:xfrm>
            <a:off x="5029200" y="1280160"/>
            <a:ext cx="2148840" cy="640080"/>
          </a:xfrm>
          <a:prstGeom prst="roundRect">
            <a:avLst>
              <a:gd name="adj" fmla="val 50000"/>
            </a:avLst>
          </a:prstGeom>
          <a:solidFill>
            <a:srgbClr val="EAF4FF"/>
          </a:solidFill>
          <a:ln w="12700">
            <a:solidFill>
              <a:srgbClr val="74B9FF"/>
            </a:solidFill>
            <a:prstDash val="solid"/>
          </a:ln>
        </p:spPr>
        <p:txBody>
          <a:bodyPr/>
          <a:lstStyle/>
          <a:p>
            <a:endParaRPr lang="en-US"/>
          </a:p>
        </p:txBody>
      </p:sp>
      <p:sp>
        <p:nvSpPr>
          <p:cNvPr id="11" name="Text 9"/>
          <p:cNvSpPr/>
          <p:nvPr/>
        </p:nvSpPr>
        <p:spPr>
          <a:xfrm>
            <a:off x="5029200" y="1280160"/>
            <a:ext cx="2148840" cy="640080"/>
          </a:xfrm>
          <a:prstGeom prst="rect">
            <a:avLst/>
          </a:prstGeom>
          <a:noFill/>
          <a:ln/>
        </p:spPr>
        <p:txBody>
          <a:bodyPr wrap="square" rtlCol="0" anchor="ctr"/>
          <a:lstStyle/>
          <a:p>
            <a:pPr marL="0" indent="0" algn="ctr">
              <a:buNone/>
            </a:pPr>
            <a:r>
              <a:rPr lang="en-US" sz="1100" b="1" dirty="0">
                <a:solidFill>
                  <a:srgbClr val="1A3A5C"/>
                </a:solidFill>
                <a:latin typeface="Segoe UI" pitchFamily="34" charset="0"/>
                <a:ea typeface="Segoe UI" pitchFamily="34" charset="-122"/>
                <a:cs typeface="Segoe UI" pitchFamily="34" charset="-120"/>
              </a:rPr>
              <a:t>error fixed</a:t>
            </a:r>
            <a:endParaRPr lang="en-US" sz="1100" dirty="0"/>
          </a:p>
        </p:txBody>
      </p:sp>
      <p:sp>
        <p:nvSpPr>
          <p:cNvPr id="12" name="Shape 10"/>
          <p:cNvSpPr/>
          <p:nvPr/>
        </p:nvSpPr>
        <p:spPr>
          <a:xfrm>
            <a:off x="7315200" y="1280160"/>
            <a:ext cx="2148840" cy="640080"/>
          </a:xfrm>
          <a:prstGeom prst="roundRect">
            <a:avLst>
              <a:gd name="adj" fmla="val 50000"/>
            </a:avLst>
          </a:prstGeom>
          <a:solidFill>
            <a:srgbClr val="EAF4FF"/>
          </a:solidFill>
          <a:ln w="12700">
            <a:solidFill>
              <a:srgbClr val="74B9FF"/>
            </a:solidFill>
            <a:prstDash val="solid"/>
          </a:ln>
        </p:spPr>
        <p:txBody>
          <a:bodyPr/>
          <a:lstStyle/>
          <a:p>
            <a:endParaRPr lang="en-US"/>
          </a:p>
        </p:txBody>
      </p:sp>
      <p:sp>
        <p:nvSpPr>
          <p:cNvPr id="13" name="Text 11"/>
          <p:cNvSpPr/>
          <p:nvPr/>
        </p:nvSpPr>
        <p:spPr>
          <a:xfrm>
            <a:off x="7315200" y="1280160"/>
            <a:ext cx="2148840" cy="640080"/>
          </a:xfrm>
          <a:prstGeom prst="rect">
            <a:avLst/>
          </a:prstGeom>
          <a:noFill/>
          <a:ln/>
        </p:spPr>
        <p:txBody>
          <a:bodyPr wrap="square" rtlCol="0" anchor="ctr"/>
          <a:lstStyle/>
          <a:p>
            <a:pPr marL="0" indent="0" algn="ctr">
              <a:buNone/>
            </a:pPr>
            <a:r>
              <a:rPr lang="en-US" sz="1100" b="1" dirty="0">
                <a:solidFill>
                  <a:srgbClr val="1A3A5C"/>
                </a:solidFill>
                <a:latin typeface="Segoe UI" pitchFamily="34" charset="0"/>
                <a:ea typeface="Segoe UI" pitchFamily="34" charset="-122"/>
                <a:cs typeface="Segoe UI" pitchFamily="34" charset="-120"/>
              </a:rPr>
              <a:t>approach abandoned</a:t>
            </a:r>
            <a:endParaRPr lang="en-US" sz="1100" dirty="0"/>
          </a:p>
        </p:txBody>
      </p:sp>
      <p:sp>
        <p:nvSpPr>
          <p:cNvPr id="14" name="Shape 12"/>
          <p:cNvSpPr/>
          <p:nvPr/>
        </p:nvSpPr>
        <p:spPr>
          <a:xfrm>
            <a:off x="9601200" y="1280160"/>
            <a:ext cx="2148840" cy="640080"/>
          </a:xfrm>
          <a:prstGeom prst="roundRect">
            <a:avLst>
              <a:gd name="adj" fmla="val 50000"/>
            </a:avLst>
          </a:prstGeom>
          <a:solidFill>
            <a:srgbClr val="EAF4FF"/>
          </a:solidFill>
          <a:ln w="12700">
            <a:solidFill>
              <a:srgbClr val="74B9FF"/>
            </a:solidFill>
            <a:prstDash val="solid"/>
          </a:ln>
        </p:spPr>
        <p:txBody>
          <a:bodyPr/>
          <a:lstStyle/>
          <a:p>
            <a:endParaRPr lang="en-US"/>
          </a:p>
        </p:txBody>
      </p:sp>
      <p:sp>
        <p:nvSpPr>
          <p:cNvPr id="15" name="Text 13"/>
          <p:cNvSpPr/>
          <p:nvPr/>
        </p:nvSpPr>
        <p:spPr>
          <a:xfrm>
            <a:off x="9601200" y="1280160"/>
            <a:ext cx="2148840" cy="640080"/>
          </a:xfrm>
          <a:prstGeom prst="rect">
            <a:avLst/>
          </a:prstGeom>
          <a:noFill/>
          <a:ln/>
        </p:spPr>
        <p:txBody>
          <a:bodyPr wrap="square" rtlCol="0" anchor="ctr"/>
          <a:lstStyle/>
          <a:p>
            <a:pPr marL="0" indent="0" algn="ctr">
              <a:buNone/>
            </a:pPr>
            <a:r>
              <a:rPr lang="en-US" sz="1100" b="1" dirty="0">
                <a:solidFill>
                  <a:srgbClr val="1A3A5C"/>
                </a:solidFill>
                <a:latin typeface="Segoe UI" pitchFamily="34" charset="0"/>
                <a:ea typeface="Segoe UI" pitchFamily="34" charset="-122"/>
                <a:cs typeface="Segoe UI" pitchFamily="34" charset="-120"/>
              </a:rPr>
              <a:t>arch decision</a:t>
            </a:r>
            <a:endParaRPr lang="en-US" sz="1100" dirty="0"/>
          </a:p>
        </p:txBody>
      </p:sp>
      <p:sp>
        <p:nvSpPr>
          <p:cNvPr id="16" name="Text 14"/>
          <p:cNvSpPr/>
          <p:nvPr/>
        </p:nvSpPr>
        <p:spPr>
          <a:xfrm>
            <a:off x="457200" y="2286000"/>
            <a:ext cx="11247120" cy="274320"/>
          </a:xfrm>
          <a:prstGeom prst="rect">
            <a:avLst/>
          </a:prstGeom>
          <a:noFill/>
          <a:ln/>
        </p:spPr>
        <p:txBody>
          <a:bodyPr wrap="square" rtlCol="0" anchor="ctr"/>
          <a:lstStyle/>
          <a:p>
            <a:pPr marL="0" indent="0">
              <a:buNone/>
            </a:pPr>
            <a:r>
              <a:rPr lang="en-US" sz="900" b="1" kern="0" spc="100" dirty="0">
                <a:solidFill>
                  <a:srgbClr val="E17055"/>
                </a:solidFill>
                <a:latin typeface="Cascadia Code" pitchFamily="34" charset="0"/>
                <a:ea typeface="Cascadia Code" pitchFamily="34" charset="-122"/>
                <a:cs typeface="Cascadia Code" pitchFamily="34" charset="-120"/>
              </a:rPr>
              <a:t>FADES — every cycle unused, confidence drops 0.1 → auto-delete</a:t>
            </a:r>
            <a:endParaRPr lang="en-US" sz="900" dirty="0"/>
          </a:p>
        </p:txBody>
      </p:sp>
      <p:sp>
        <p:nvSpPr>
          <p:cNvPr id="17" name="Shape 15"/>
          <p:cNvSpPr/>
          <p:nvPr/>
        </p:nvSpPr>
        <p:spPr>
          <a:xfrm>
            <a:off x="1097280" y="3474720"/>
            <a:ext cx="914400" cy="1920240"/>
          </a:xfrm>
          <a:prstGeom prst="rect">
            <a:avLst/>
          </a:prstGeom>
          <a:solidFill>
            <a:srgbClr val="00B894">
              <a:alpha val="85000"/>
            </a:srgbClr>
          </a:solidFill>
          <a:ln w="12700">
            <a:solidFill>
              <a:srgbClr val="00B894"/>
            </a:solidFill>
            <a:prstDash val="solid"/>
          </a:ln>
        </p:spPr>
        <p:txBody>
          <a:bodyPr/>
          <a:lstStyle/>
          <a:p>
            <a:endParaRPr lang="en-US"/>
          </a:p>
        </p:txBody>
      </p:sp>
      <p:sp>
        <p:nvSpPr>
          <p:cNvPr id="18" name="Text 16"/>
          <p:cNvSpPr/>
          <p:nvPr/>
        </p:nvSpPr>
        <p:spPr>
          <a:xfrm>
            <a:off x="1005840" y="3218688"/>
            <a:ext cx="1097280" cy="228600"/>
          </a:xfrm>
          <a:prstGeom prst="rect">
            <a:avLst/>
          </a:prstGeom>
          <a:noFill/>
          <a:ln/>
        </p:spPr>
        <p:txBody>
          <a:bodyPr wrap="square" rtlCol="0" anchor="ctr"/>
          <a:lstStyle/>
          <a:p>
            <a:pPr marL="0" indent="0" algn="ctr">
              <a:buNone/>
            </a:pPr>
            <a:r>
              <a:rPr lang="en-US" sz="900" dirty="0">
                <a:solidFill>
                  <a:srgbClr val="2D3436"/>
                </a:solidFill>
                <a:latin typeface="Cascadia Code" pitchFamily="34" charset="0"/>
                <a:ea typeface="Cascadia Code" pitchFamily="34" charset="-122"/>
                <a:cs typeface="Cascadia Code" pitchFamily="34" charset="-120"/>
              </a:rPr>
              <a:t>0.70</a:t>
            </a:r>
            <a:endParaRPr lang="en-US" sz="900" dirty="0"/>
          </a:p>
        </p:txBody>
      </p:sp>
      <p:sp>
        <p:nvSpPr>
          <p:cNvPr id="19" name="Text 17"/>
          <p:cNvSpPr/>
          <p:nvPr/>
        </p:nvSpPr>
        <p:spPr>
          <a:xfrm>
            <a:off x="1005840" y="5440680"/>
            <a:ext cx="1097280" cy="228600"/>
          </a:xfrm>
          <a:prstGeom prst="rect">
            <a:avLst/>
          </a:prstGeom>
          <a:noFill/>
          <a:ln/>
        </p:spPr>
        <p:txBody>
          <a:bodyPr wrap="square" rtlCol="0" anchor="ctr"/>
          <a:lstStyle/>
          <a:p>
            <a:pPr marL="0" indent="0" algn="ctr">
              <a:buNone/>
            </a:pPr>
            <a:r>
              <a:rPr lang="en-US" sz="900" dirty="0">
                <a:solidFill>
                  <a:srgbClr val="636E72"/>
                </a:solidFill>
                <a:latin typeface="Cascadia Code" pitchFamily="34" charset="0"/>
                <a:ea typeface="Cascadia Code" pitchFamily="34" charset="-122"/>
                <a:cs typeface="Cascadia Code" pitchFamily="34" charset="-120"/>
              </a:rPr>
              <a:t>S3</a:t>
            </a:r>
            <a:endParaRPr lang="en-US" sz="900" dirty="0"/>
          </a:p>
        </p:txBody>
      </p:sp>
      <p:sp>
        <p:nvSpPr>
          <p:cNvPr id="20" name="Shape 18"/>
          <p:cNvSpPr/>
          <p:nvPr/>
        </p:nvSpPr>
        <p:spPr>
          <a:xfrm>
            <a:off x="2468880" y="3749040"/>
            <a:ext cx="914400" cy="1645920"/>
          </a:xfrm>
          <a:prstGeom prst="rect">
            <a:avLst/>
          </a:prstGeom>
          <a:solidFill>
            <a:srgbClr val="00B894">
              <a:alpha val="85000"/>
            </a:srgbClr>
          </a:solidFill>
          <a:ln w="12700">
            <a:solidFill>
              <a:srgbClr val="00B894"/>
            </a:solidFill>
            <a:prstDash val="solid"/>
          </a:ln>
        </p:spPr>
        <p:txBody>
          <a:bodyPr/>
          <a:lstStyle/>
          <a:p>
            <a:endParaRPr lang="en-US"/>
          </a:p>
        </p:txBody>
      </p:sp>
      <p:sp>
        <p:nvSpPr>
          <p:cNvPr id="21" name="Text 19"/>
          <p:cNvSpPr/>
          <p:nvPr/>
        </p:nvSpPr>
        <p:spPr>
          <a:xfrm>
            <a:off x="2377440" y="3493008"/>
            <a:ext cx="1097280" cy="228600"/>
          </a:xfrm>
          <a:prstGeom prst="rect">
            <a:avLst/>
          </a:prstGeom>
          <a:noFill/>
          <a:ln/>
        </p:spPr>
        <p:txBody>
          <a:bodyPr wrap="square" rtlCol="0" anchor="ctr"/>
          <a:lstStyle/>
          <a:p>
            <a:pPr marL="0" indent="0" algn="ctr">
              <a:buNone/>
            </a:pPr>
            <a:r>
              <a:rPr lang="en-US" sz="900" dirty="0">
                <a:solidFill>
                  <a:srgbClr val="2D3436"/>
                </a:solidFill>
                <a:latin typeface="Cascadia Code" pitchFamily="34" charset="0"/>
                <a:ea typeface="Cascadia Code" pitchFamily="34" charset="-122"/>
                <a:cs typeface="Cascadia Code" pitchFamily="34" charset="-120"/>
              </a:rPr>
              <a:t>0.60</a:t>
            </a:r>
            <a:endParaRPr lang="en-US" sz="900" dirty="0"/>
          </a:p>
        </p:txBody>
      </p:sp>
      <p:sp>
        <p:nvSpPr>
          <p:cNvPr id="22" name="Text 20"/>
          <p:cNvSpPr/>
          <p:nvPr/>
        </p:nvSpPr>
        <p:spPr>
          <a:xfrm>
            <a:off x="2377440" y="5440680"/>
            <a:ext cx="1097280" cy="228600"/>
          </a:xfrm>
          <a:prstGeom prst="rect">
            <a:avLst/>
          </a:prstGeom>
          <a:noFill/>
          <a:ln/>
        </p:spPr>
        <p:txBody>
          <a:bodyPr wrap="square" rtlCol="0" anchor="ctr"/>
          <a:lstStyle/>
          <a:p>
            <a:pPr marL="0" indent="0" algn="ctr">
              <a:buNone/>
            </a:pPr>
            <a:r>
              <a:rPr lang="en-US" sz="900" dirty="0">
                <a:solidFill>
                  <a:srgbClr val="636E72"/>
                </a:solidFill>
                <a:latin typeface="Cascadia Code" pitchFamily="34" charset="0"/>
                <a:ea typeface="Cascadia Code" pitchFamily="34" charset="-122"/>
                <a:cs typeface="Cascadia Code" pitchFamily="34" charset="-120"/>
              </a:rPr>
              <a:t>S5</a:t>
            </a:r>
            <a:endParaRPr lang="en-US" sz="900" dirty="0"/>
          </a:p>
        </p:txBody>
      </p:sp>
      <p:sp>
        <p:nvSpPr>
          <p:cNvPr id="23" name="Shape 21"/>
          <p:cNvSpPr/>
          <p:nvPr/>
        </p:nvSpPr>
        <p:spPr>
          <a:xfrm>
            <a:off x="3840480" y="4023360"/>
            <a:ext cx="914400" cy="1371600"/>
          </a:xfrm>
          <a:prstGeom prst="rect">
            <a:avLst/>
          </a:prstGeom>
          <a:solidFill>
            <a:srgbClr val="00B894">
              <a:alpha val="85000"/>
            </a:srgbClr>
          </a:solidFill>
          <a:ln w="12700">
            <a:solidFill>
              <a:srgbClr val="00B894"/>
            </a:solidFill>
            <a:prstDash val="solid"/>
          </a:ln>
        </p:spPr>
        <p:txBody>
          <a:bodyPr/>
          <a:lstStyle/>
          <a:p>
            <a:endParaRPr lang="en-US"/>
          </a:p>
        </p:txBody>
      </p:sp>
      <p:sp>
        <p:nvSpPr>
          <p:cNvPr id="24" name="Text 22"/>
          <p:cNvSpPr/>
          <p:nvPr/>
        </p:nvSpPr>
        <p:spPr>
          <a:xfrm>
            <a:off x="3749040" y="3767328"/>
            <a:ext cx="1097280" cy="228600"/>
          </a:xfrm>
          <a:prstGeom prst="rect">
            <a:avLst/>
          </a:prstGeom>
          <a:noFill/>
          <a:ln/>
        </p:spPr>
        <p:txBody>
          <a:bodyPr wrap="square" rtlCol="0" anchor="ctr"/>
          <a:lstStyle/>
          <a:p>
            <a:pPr marL="0" indent="0" algn="ctr">
              <a:buNone/>
            </a:pPr>
            <a:r>
              <a:rPr lang="en-US" sz="900" dirty="0">
                <a:solidFill>
                  <a:srgbClr val="2D3436"/>
                </a:solidFill>
                <a:latin typeface="Cascadia Code" pitchFamily="34" charset="0"/>
                <a:ea typeface="Cascadia Code" pitchFamily="34" charset="-122"/>
                <a:cs typeface="Cascadia Code" pitchFamily="34" charset="-120"/>
              </a:rPr>
              <a:t>0.50</a:t>
            </a:r>
            <a:endParaRPr lang="en-US" sz="900" dirty="0"/>
          </a:p>
        </p:txBody>
      </p:sp>
      <p:sp>
        <p:nvSpPr>
          <p:cNvPr id="25" name="Text 23"/>
          <p:cNvSpPr/>
          <p:nvPr/>
        </p:nvSpPr>
        <p:spPr>
          <a:xfrm>
            <a:off x="3749040" y="5440680"/>
            <a:ext cx="1097280" cy="228600"/>
          </a:xfrm>
          <a:prstGeom prst="rect">
            <a:avLst/>
          </a:prstGeom>
          <a:noFill/>
          <a:ln/>
        </p:spPr>
        <p:txBody>
          <a:bodyPr wrap="square" rtlCol="0" anchor="ctr"/>
          <a:lstStyle/>
          <a:p>
            <a:pPr marL="0" indent="0" algn="ctr">
              <a:buNone/>
            </a:pPr>
            <a:r>
              <a:rPr lang="en-US" sz="900" dirty="0">
                <a:solidFill>
                  <a:srgbClr val="636E72"/>
                </a:solidFill>
                <a:latin typeface="Cascadia Code" pitchFamily="34" charset="0"/>
                <a:ea typeface="Cascadia Code" pitchFamily="34" charset="-122"/>
                <a:cs typeface="Cascadia Code" pitchFamily="34" charset="-120"/>
              </a:rPr>
              <a:t>S8</a:t>
            </a:r>
            <a:endParaRPr lang="en-US" sz="900" dirty="0"/>
          </a:p>
        </p:txBody>
      </p:sp>
      <p:sp>
        <p:nvSpPr>
          <p:cNvPr id="26" name="Shape 24"/>
          <p:cNvSpPr/>
          <p:nvPr/>
        </p:nvSpPr>
        <p:spPr>
          <a:xfrm>
            <a:off x="5212080" y="4572000"/>
            <a:ext cx="914400" cy="822960"/>
          </a:xfrm>
          <a:prstGeom prst="rect">
            <a:avLst/>
          </a:prstGeom>
          <a:solidFill>
            <a:srgbClr val="FDCB6E">
              <a:alpha val="85000"/>
            </a:srgbClr>
          </a:solidFill>
          <a:ln w="12700">
            <a:solidFill>
              <a:srgbClr val="FDCB6E"/>
            </a:solidFill>
            <a:prstDash val="solid"/>
          </a:ln>
        </p:spPr>
        <p:txBody>
          <a:bodyPr/>
          <a:lstStyle/>
          <a:p>
            <a:endParaRPr lang="en-US"/>
          </a:p>
        </p:txBody>
      </p:sp>
      <p:sp>
        <p:nvSpPr>
          <p:cNvPr id="27" name="Text 25"/>
          <p:cNvSpPr/>
          <p:nvPr/>
        </p:nvSpPr>
        <p:spPr>
          <a:xfrm>
            <a:off x="5120640" y="4315968"/>
            <a:ext cx="1097280" cy="228600"/>
          </a:xfrm>
          <a:prstGeom prst="rect">
            <a:avLst/>
          </a:prstGeom>
          <a:noFill/>
          <a:ln/>
        </p:spPr>
        <p:txBody>
          <a:bodyPr wrap="square" rtlCol="0" anchor="ctr"/>
          <a:lstStyle/>
          <a:p>
            <a:pPr marL="0" indent="0" algn="ctr">
              <a:buNone/>
            </a:pPr>
            <a:r>
              <a:rPr lang="en-US" sz="900" dirty="0">
                <a:solidFill>
                  <a:srgbClr val="2D3436"/>
                </a:solidFill>
                <a:latin typeface="Cascadia Code" pitchFamily="34" charset="0"/>
                <a:ea typeface="Cascadia Code" pitchFamily="34" charset="-122"/>
                <a:cs typeface="Cascadia Code" pitchFamily="34" charset="-120"/>
              </a:rPr>
              <a:t>0.30</a:t>
            </a:r>
            <a:endParaRPr lang="en-US" sz="900" dirty="0"/>
          </a:p>
        </p:txBody>
      </p:sp>
      <p:sp>
        <p:nvSpPr>
          <p:cNvPr id="28" name="Text 26"/>
          <p:cNvSpPr/>
          <p:nvPr/>
        </p:nvSpPr>
        <p:spPr>
          <a:xfrm>
            <a:off x="5120640" y="5440680"/>
            <a:ext cx="1097280" cy="228600"/>
          </a:xfrm>
          <a:prstGeom prst="rect">
            <a:avLst/>
          </a:prstGeom>
          <a:noFill/>
          <a:ln/>
        </p:spPr>
        <p:txBody>
          <a:bodyPr wrap="square" rtlCol="0" anchor="ctr"/>
          <a:lstStyle/>
          <a:p>
            <a:pPr marL="0" indent="0" algn="ctr">
              <a:buNone/>
            </a:pPr>
            <a:r>
              <a:rPr lang="en-US" sz="900" dirty="0">
                <a:solidFill>
                  <a:srgbClr val="636E72"/>
                </a:solidFill>
                <a:latin typeface="Cascadia Code" pitchFamily="34" charset="0"/>
                <a:ea typeface="Cascadia Code" pitchFamily="34" charset="-122"/>
                <a:cs typeface="Cascadia Code" pitchFamily="34" charset="-120"/>
              </a:rPr>
              <a:t>S12</a:t>
            </a:r>
            <a:endParaRPr lang="en-US" sz="900" dirty="0"/>
          </a:p>
        </p:txBody>
      </p:sp>
      <p:sp>
        <p:nvSpPr>
          <p:cNvPr id="29" name="Shape 27"/>
          <p:cNvSpPr/>
          <p:nvPr/>
        </p:nvSpPr>
        <p:spPr>
          <a:xfrm>
            <a:off x="6583680" y="5120640"/>
            <a:ext cx="914400" cy="274320"/>
          </a:xfrm>
          <a:prstGeom prst="rect">
            <a:avLst/>
          </a:prstGeom>
          <a:solidFill>
            <a:srgbClr val="E17055">
              <a:alpha val="85000"/>
            </a:srgbClr>
          </a:solidFill>
          <a:ln w="12700">
            <a:solidFill>
              <a:srgbClr val="E17055"/>
            </a:solidFill>
            <a:prstDash val="solid"/>
          </a:ln>
        </p:spPr>
        <p:txBody>
          <a:bodyPr/>
          <a:lstStyle/>
          <a:p>
            <a:endParaRPr lang="en-US"/>
          </a:p>
        </p:txBody>
      </p:sp>
      <p:sp>
        <p:nvSpPr>
          <p:cNvPr id="30" name="Text 28"/>
          <p:cNvSpPr/>
          <p:nvPr/>
        </p:nvSpPr>
        <p:spPr>
          <a:xfrm>
            <a:off x="6492240" y="4864608"/>
            <a:ext cx="1097280" cy="228600"/>
          </a:xfrm>
          <a:prstGeom prst="rect">
            <a:avLst/>
          </a:prstGeom>
          <a:noFill/>
          <a:ln/>
        </p:spPr>
        <p:txBody>
          <a:bodyPr wrap="square" rtlCol="0" anchor="ctr"/>
          <a:lstStyle/>
          <a:p>
            <a:pPr marL="0" indent="0" algn="ctr">
              <a:buNone/>
            </a:pPr>
            <a:r>
              <a:rPr lang="en-US" sz="900" dirty="0">
                <a:solidFill>
                  <a:srgbClr val="2D3436"/>
                </a:solidFill>
                <a:latin typeface="Cascadia Code" pitchFamily="34" charset="0"/>
                <a:ea typeface="Cascadia Code" pitchFamily="34" charset="-122"/>
                <a:cs typeface="Cascadia Code" pitchFamily="34" charset="-120"/>
              </a:rPr>
              <a:t>0.10</a:t>
            </a:r>
            <a:endParaRPr lang="en-US" sz="900" dirty="0"/>
          </a:p>
        </p:txBody>
      </p:sp>
      <p:sp>
        <p:nvSpPr>
          <p:cNvPr id="31" name="Text 29"/>
          <p:cNvSpPr/>
          <p:nvPr/>
        </p:nvSpPr>
        <p:spPr>
          <a:xfrm>
            <a:off x="6492240" y="5440680"/>
            <a:ext cx="1097280" cy="228600"/>
          </a:xfrm>
          <a:prstGeom prst="rect">
            <a:avLst/>
          </a:prstGeom>
          <a:noFill/>
          <a:ln/>
        </p:spPr>
        <p:txBody>
          <a:bodyPr wrap="square" rtlCol="0" anchor="ctr"/>
          <a:lstStyle/>
          <a:p>
            <a:pPr marL="0" indent="0" algn="ctr">
              <a:buNone/>
            </a:pPr>
            <a:r>
              <a:rPr lang="en-US" sz="900" dirty="0">
                <a:solidFill>
                  <a:srgbClr val="636E72"/>
                </a:solidFill>
                <a:latin typeface="Cascadia Code" pitchFamily="34" charset="0"/>
                <a:ea typeface="Cascadia Code" pitchFamily="34" charset="-122"/>
                <a:cs typeface="Cascadia Code" pitchFamily="34" charset="-120"/>
              </a:rPr>
              <a:t>S16</a:t>
            </a:r>
            <a:endParaRPr lang="en-US" sz="900" dirty="0"/>
          </a:p>
        </p:txBody>
      </p:sp>
      <p:sp>
        <p:nvSpPr>
          <p:cNvPr id="32" name="Text 30"/>
          <p:cNvSpPr/>
          <p:nvPr/>
        </p:nvSpPr>
        <p:spPr>
          <a:xfrm>
            <a:off x="8412480" y="3931920"/>
            <a:ext cx="3108960" cy="731520"/>
          </a:xfrm>
          <a:prstGeom prst="rect">
            <a:avLst/>
          </a:prstGeom>
          <a:noFill/>
          <a:ln/>
        </p:spPr>
        <p:txBody>
          <a:bodyPr wrap="square" rtlCol="0" anchor="ctr"/>
          <a:lstStyle/>
          <a:p>
            <a:pPr marL="0" indent="0" algn="ctr">
              <a:buNone/>
            </a:pPr>
            <a:r>
              <a:rPr lang="en-US" sz="1200" b="1" dirty="0">
                <a:solidFill>
                  <a:srgbClr val="E17055"/>
                </a:solidFill>
                <a:latin typeface="Segoe UI" pitchFamily="34" charset="0"/>
                <a:ea typeface="Segoe UI" pitchFamily="34" charset="-122"/>
                <a:cs typeface="Segoe UI" pitchFamily="34" charset="-120"/>
              </a:rPr>
              <a:t>AUTO-DELETE</a:t>
            </a:r>
            <a:endParaRPr lang="en-US" sz="1200" dirty="0"/>
          </a:p>
          <a:p>
            <a:pPr marL="0" indent="0" algn="ctr">
              <a:buNone/>
            </a:pPr>
            <a:r>
              <a:rPr lang="en-US" sz="1200" b="1" dirty="0">
                <a:solidFill>
                  <a:srgbClr val="E17055"/>
                </a:solidFill>
                <a:latin typeface="Segoe UI" pitchFamily="34" charset="0"/>
                <a:ea typeface="Segoe UI" pitchFamily="34" charset="-122"/>
                <a:cs typeface="Segoe UI" pitchFamily="34" charset="-120"/>
              </a:rPr>
              <a:t>score ≤ 0.2</a:t>
            </a:r>
            <a:endParaRPr lang="en-US" sz="1200" dirty="0"/>
          </a:p>
        </p:txBody>
      </p:sp>
      <p:sp>
        <p:nvSpPr>
          <p:cNvPr id="33" name="Text 31"/>
          <p:cNvSpPr/>
          <p:nvPr/>
        </p:nvSpPr>
        <p:spPr>
          <a:xfrm>
            <a:off x="457200" y="5852160"/>
            <a:ext cx="11247120" cy="365760"/>
          </a:xfrm>
          <a:prstGeom prst="rect">
            <a:avLst/>
          </a:prstGeom>
          <a:noFill/>
          <a:ln/>
        </p:spPr>
        <p:txBody>
          <a:bodyPr wrap="square" rtlCol="0" anchor="ctr"/>
          <a:lstStyle/>
          <a:p>
            <a:pPr marL="0" indent="0" algn="ctr">
              <a:buNone/>
            </a:pPr>
            <a:r>
              <a:rPr lang="en-US" sz="1200" i="1" dirty="0">
                <a:solidFill>
                  <a:srgbClr val="636E72"/>
                </a:solidFill>
                <a:latin typeface="Segoe UI" pitchFamily="34" charset="0"/>
                <a:ea typeface="Segoe UI" pitchFamily="34" charset="-122"/>
                <a:cs typeface="Segoe UI" pitchFamily="34" charset="-120"/>
              </a:rPr>
              <a:t>"deploy to staging today" — written in session 3, gone by session 16. Nobody had to hunt it down.</a:t>
            </a:r>
            <a:endParaRPr lang="en-US" sz="1200" dirty="0"/>
          </a:p>
        </p:txBody>
      </p:sp>
      <p:sp>
        <p:nvSpPr>
          <p:cNvPr id="34" name="Text 32"/>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26 / 45</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You approve your project’s memory: tiers + rollback</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Shape 3"/>
          <p:cNvSpPr/>
          <p:nvPr/>
        </p:nvSpPr>
        <p:spPr>
          <a:xfrm>
            <a:off x="457200" y="1005840"/>
            <a:ext cx="3611880" cy="2286000"/>
          </a:xfrm>
          <a:prstGeom prst="roundRect">
            <a:avLst>
              <a:gd name="adj" fmla="val 4000"/>
            </a:avLst>
          </a:prstGeom>
          <a:solidFill>
            <a:srgbClr val="FFFFFF"/>
          </a:solidFill>
          <a:ln w="12700">
            <a:solidFill>
              <a:srgbClr val="00B894"/>
            </a:solidFill>
            <a:prstDash val="solid"/>
          </a:ln>
        </p:spPr>
        <p:txBody>
          <a:bodyPr/>
          <a:lstStyle/>
          <a:p>
            <a:endParaRPr lang="en-US"/>
          </a:p>
        </p:txBody>
      </p:sp>
      <p:sp>
        <p:nvSpPr>
          <p:cNvPr id="6" name="Text 4"/>
          <p:cNvSpPr/>
          <p:nvPr/>
        </p:nvSpPr>
        <p:spPr>
          <a:xfrm>
            <a:off x="594360" y="1115568"/>
            <a:ext cx="3337560" cy="228600"/>
          </a:xfrm>
          <a:prstGeom prst="rect">
            <a:avLst/>
          </a:prstGeom>
          <a:noFill/>
          <a:ln/>
        </p:spPr>
        <p:txBody>
          <a:bodyPr wrap="square" rtlCol="0" anchor="ctr"/>
          <a:lstStyle/>
          <a:p>
            <a:pPr marL="0" indent="0">
              <a:buNone/>
            </a:pPr>
            <a:r>
              <a:rPr lang="en-US" sz="850" b="1" kern="0" spc="100" dirty="0">
                <a:solidFill>
                  <a:srgbClr val="00B894"/>
                </a:solidFill>
                <a:latin typeface="Cascadia Code" pitchFamily="34" charset="0"/>
                <a:ea typeface="Cascadia Code" pitchFamily="34" charset="-122"/>
                <a:cs typeface="Cascadia Code" pitchFamily="34" charset="-120"/>
              </a:rPr>
              <a:t>TIER 1 · AUTO-APPLY</a:t>
            </a:r>
            <a:endParaRPr lang="en-US" sz="850" dirty="0"/>
          </a:p>
        </p:txBody>
      </p:sp>
      <p:sp>
        <p:nvSpPr>
          <p:cNvPr id="7" name="Text 5"/>
          <p:cNvSpPr/>
          <p:nvPr/>
        </p:nvSpPr>
        <p:spPr>
          <a:xfrm>
            <a:off x="594360" y="1371600"/>
            <a:ext cx="3337560" cy="457200"/>
          </a:xfrm>
          <a:prstGeom prst="rect">
            <a:avLst/>
          </a:prstGeom>
          <a:noFill/>
          <a:ln/>
        </p:spPr>
        <p:txBody>
          <a:bodyPr wrap="square" rtlCol="0" anchor="ctr"/>
          <a:lstStyle/>
          <a:p>
            <a:pPr marL="0" indent="0">
              <a:buNone/>
            </a:pPr>
            <a:r>
              <a:rPr lang="en-US" sz="1300" b="1" dirty="0">
                <a:solidFill>
                  <a:srgbClr val="1A3A5C"/>
                </a:solidFill>
                <a:latin typeface="Segoe UI" pitchFamily="34" charset="0"/>
                <a:ea typeface="Segoe UI" pitchFamily="34" charset="-122"/>
                <a:cs typeface="Segoe UI" pitchFamily="34" charset="-120"/>
              </a:rPr>
              <a:t>Trivial, applied silently</a:t>
            </a:r>
            <a:endParaRPr lang="en-US" sz="1300" dirty="0"/>
          </a:p>
        </p:txBody>
      </p:sp>
      <p:sp>
        <p:nvSpPr>
          <p:cNvPr id="8" name="Text 6"/>
          <p:cNvSpPr/>
          <p:nvPr/>
        </p:nvSpPr>
        <p:spPr>
          <a:xfrm>
            <a:off x="594360" y="1874520"/>
            <a:ext cx="3337560" cy="1280160"/>
          </a:xfrm>
          <a:prstGeom prst="rect">
            <a:avLst/>
          </a:prstGeom>
          <a:noFill/>
          <a:ln/>
        </p:spPr>
        <p:txBody>
          <a:bodyPr wrap="square" rtlCol="0" anchor="ctr"/>
          <a:lstStyle/>
          <a:p>
            <a:pPr marL="0" indent="0">
              <a:buNone/>
            </a:pPr>
            <a:r>
              <a:rPr lang="en-US" sz="1100" dirty="0">
                <a:solidFill>
                  <a:srgbClr val="636E72"/>
                </a:solidFill>
                <a:latin typeface="Segoe UI" pitchFamily="34" charset="0"/>
                <a:ea typeface="Segoe UI" pitchFamily="34" charset="-122"/>
                <a:cs typeface="Segoe UI" pitchFamily="34" charset="-120"/>
              </a:rPr>
              <a:t>KEEP, timestamps, minor edits, new-topic adds at high confidence. Reported in aggregate.</a:t>
            </a:r>
            <a:endParaRPr lang="en-US" sz="1100" dirty="0"/>
          </a:p>
        </p:txBody>
      </p:sp>
      <p:sp>
        <p:nvSpPr>
          <p:cNvPr id="9" name="Shape 7"/>
          <p:cNvSpPr/>
          <p:nvPr/>
        </p:nvSpPr>
        <p:spPr>
          <a:xfrm>
            <a:off x="4206240" y="1005840"/>
            <a:ext cx="3611880" cy="2286000"/>
          </a:xfrm>
          <a:prstGeom prst="roundRect">
            <a:avLst>
              <a:gd name="adj" fmla="val 4000"/>
            </a:avLst>
          </a:prstGeom>
          <a:solidFill>
            <a:srgbClr val="FFFFFF"/>
          </a:solidFill>
          <a:ln w="12700">
            <a:solidFill>
              <a:srgbClr val="C8A951"/>
            </a:solidFill>
            <a:prstDash val="solid"/>
          </a:ln>
        </p:spPr>
        <p:txBody>
          <a:bodyPr/>
          <a:lstStyle/>
          <a:p>
            <a:endParaRPr lang="en-US"/>
          </a:p>
        </p:txBody>
      </p:sp>
      <p:sp>
        <p:nvSpPr>
          <p:cNvPr id="10" name="Text 8"/>
          <p:cNvSpPr/>
          <p:nvPr/>
        </p:nvSpPr>
        <p:spPr>
          <a:xfrm>
            <a:off x="4343400" y="1115568"/>
            <a:ext cx="3337560" cy="228600"/>
          </a:xfrm>
          <a:prstGeom prst="rect">
            <a:avLst/>
          </a:prstGeom>
          <a:noFill/>
          <a:ln/>
        </p:spPr>
        <p:txBody>
          <a:bodyPr wrap="square" rtlCol="0" anchor="ctr"/>
          <a:lstStyle/>
          <a:p>
            <a:pPr marL="0" indent="0">
              <a:buNone/>
            </a:pPr>
            <a:r>
              <a:rPr lang="en-US" sz="850" b="1" kern="0" spc="100" dirty="0">
                <a:solidFill>
                  <a:srgbClr val="C8A951"/>
                </a:solidFill>
                <a:latin typeface="Cascadia Code" pitchFamily="34" charset="0"/>
                <a:ea typeface="Cascadia Code" pitchFamily="34" charset="-122"/>
                <a:cs typeface="Cascadia Code" pitchFamily="34" charset="-120"/>
              </a:rPr>
              <a:t>TIER 2 · SHOW DIFF</a:t>
            </a:r>
            <a:endParaRPr lang="en-US" sz="850" dirty="0"/>
          </a:p>
        </p:txBody>
      </p:sp>
      <p:sp>
        <p:nvSpPr>
          <p:cNvPr id="11" name="Text 9"/>
          <p:cNvSpPr/>
          <p:nvPr/>
        </p:nvSpPr>
        <p:spPr>
          <a:xfrm>
            <a:off x="4343400" y="1371600"/>
            <a:ext cx="3337560" cy="457200"/>
          </a:xfrm>
          <a:prstGeom prst="rect">
            <a:avLst/>
          </a:prstGeom>
          <a:noFill/>
          <a:ln/>
        </p:spPr>
        <p:txBody>
          <a:bodyPr wrap="square" rtlCol="0" anchor="ctr"/>
          <a:lstStyle/>
          <a:p>
            <a:pPr marL="0" indent="0">
              <a:buNone/>
            </a:pPr>
            <a:r>
              <a:rPr lang="en-US" sz="1300" b="1" dirty="0">
                <a:solidFill>
                  <a:srgbClr val="1A3A5C"/>
                </a:solidFill>
                <a:latin typeface="Segoe UI" pitchFamily="34" charset="0"/>
                <a:ea typeface="Segoe UI" pitchFamily="34" charset="-122"/>
                <a:cs typeface="Segoe UI" pitchFamily="34" charset="-120"/>
              </a:rPr>
              <a:t>You see a before/after</a:t>
            </a:r>
            <a:endParaRPr lang="en-US" sz="1300" dirty="0"/>
          </a:p>
        </p:txBody>
      </p:sp>
      <p:sp>
        <p:nvSpPr>
          <p:cNvPr id="12" name="Text 10"/>
          <p:cNvSpPr/>
          <p:nvPr/>
        </p:nvSpPr>
        <p:spPr>
          <a:xfrm>
            <a:off x="4343400" y="1874520"/>
            <a:ext cx="3337560" cy="1280160"/>
          </a:xfrm>
          <a:prstGeom prst="rect">
            <a:avLst/>
          </a:prstGeom>
          <a:noFill/>
          <a:ln/>
        </p:spPr>
        <p:txBody>
          <a:bodyPr wrap="square" rtlCol="0" anchor="ctr"/>
          <a:lstStyle/>
          <a:p>
            <a:pPr marL="0" indent="0">
              <a:buNone/>
            </a:pPr>
            <a:r>
              <a:rPr lang="en-US" sz="1100" dirty="0">
                <a:solidFill>
                  <a:srgbClr val="636E72"/>
                </a:solidFill>
                <a:latin typeface="Segoe UI" pitchFamily="34" charset="0"/>
                <a:ea typeface="Segoe UI" pitchFamily="34" charset="-122"/>
                <a:cs typeface="Segoe UI" pitchFamily="34" charset="-120"/>
              </a:rPr>
              <a:t>Content changes, merges, borderline deletes. Approve / skip / apply-all.</a:t>
            </a:r>
            <a:endParaRPr lang="en-US" sz="1100" dirty="0"/>
          </a:p>
        </p:txBody>
      </p:sp>
      <p:sp>
        <p:nvSpPr>
          <p:cNvPr id="13" name="Shape 11"/>
          <p:cNvSpPr/>
          <p:nvPr/>
        </p:nvSpPr>
        <p:spPr>
          <a:xfrm>
            <a:off x="7955280" y="1005840"/>
            <a:ext cx="3611880" cy="2286000"/>
          </a:xfrm>
          <a:prstGeom prst="roundRect">
            <a:avLst>
              <a:gd name="adj" fmla="val 4000"/>
            </a:avLst>
          </a:prstGeom>
          <a:solidFill>
            <a:srgbClr val="FFFFFF"/>
          </a:solidFill>
          <a:ln w="12700">
            <a:solidFill>
              <a:srgbClr val="E17055"/>
            </a:solidFill>
            <a:prstDash val="solid"/>
          </a:ln>
        </p:spPr>
        <p:txBody>
          <a:bodyPr/>
          <a:lstStyle/>
          <a:p>
            <a:endParaRPr lang="en-US"/>
          </a:p>
        </p:txBody>
      </p:sp>
      <p:sp>
        <p:nvSpPr>
          <p:cNvPr id="14" name="Text 12"/>
          <p:cNvSpPr/>
          <p:nvPr/>
        </p:nvSpPr>
        <p:spPr>
          <a:xfrm>
            <a:off x="8092440" y="1115568"/>
            <a:ext cx="3337560" cy="228600"/>
          </a:xfrm>
          <a:prstGeom prst="rect">
            <a:avLst/>
          </a:prstGeom>
          <a:noFill/>
          <a:ln/>
        </p:spPr>
        <p:txBody>
          <a:bodyPr wrap="square" rtlCol="0" anchor="ctr"/>
          <a:lstStyle/>
          <a:p>
            <a:pPr marL="0" indent="0">
              <a:buNone/>
            </a:pPr>
            <a:r>
              <a:rPr lang="en-US" sz="850" b="1" kern="0" spc="100" dirty="0">
                <a:solidFill>
                  <a:srgbClr val="E17055"/>
                </a:solidFill>
                <a:latin typeface="Cascadia Code" pitchFamily="34" charset="0"/>
                <a:ea typeface="Cascadia Code" pitchFamily="34" charset="-122"/>
                <a:cs typeface="Cascadia Code" pitchFamily="34" charset="-120"/>
              </a:rPr>
              <a:t>TIER 3 · ALWAYS HUMAN</a:t>
            </a:r>
            <a:endParaRPr lang="en-US" sz="850" dirty="0"/>
          </a:p>
        </p:txBody>
      </p:sp>
      <p:sp>
        <p:nvSpPr>
          <p:cNvPr id="15" name="Text 13"/>
          <p:cNvSpPr/>
          <p:nvPr/>
        </p:nvSpPr>
        <p:spPr>
          <a:xfrm>
            <a:off x="8092440" y="1371600"/>
            <a:ext cx="3337560" cy="457200"/>
          </a:xfrm>
          <a:prstGeom prst="rect">
            <a:avLst/>
          </a:prstGeom>
          <a:noFill/>
          <a:ln/>
        </p:spPr>
        <p:txBody>
          <a:bodyPr wrap="square" rtlCol="0" anchor="ctr"/>
          <a:lstStyle/>
          <a:p>
            <a:pPr marL="0" indent="0">
              <a:buNone/>
            </a:pPr>
            <a:r>
              <a:rPr lang="en-US" sz="1300" b="1" dirty="0">
                <a:solidFill>
                  <a:srgbClr val="1A3A5C"/>
                </a:solidFill>
                <a:latin typeface="Segoe UI" pitchFamily="34" charset="0"/>
                <a:ea typeface="Segoe UI" pitchFamily="34" charset="-122"/>
                <a:cs typeface="Segoe UI" pitchFamily="34" charset="-120"/>
              </a:rPr>
              <a:t>Explicit yes / no</a:t>
            </a:r>
            <a:endParaRPr lang="en-US" sz="1300" dirty="0"/>
          </a:p>
        </p:txBody>
      </p:sp>
      <p:sp>
        <p:nvSpPr>
          <p:cNvPr id="16" name="Text 14"/>
          <p:cNvSpPr/>
          <p:nvPr/>
        </p:nvSpPr>
        <p:spPr>
          <a:xfrm>
            <a:off x="8092440" y="1874520"/>
            <a:ext cx="3337560" cy="1280160"/>
          </a:xfrm>
          <a:prstGeom prst="rect">
            <a:avLst/>
          </a:prstGeom>
          <a:noFill/>
          <a:ln/>
        </p:spPr>
        <p:txBody>
          <a:bodyPr wrap="square" rtlCol="0" anchor="ctr"/>
          <a:lstStyle/>
          <a:p>
            <a:pPr marL="0" indent="0">
              <a:buNone/>
            </a:pPr>
            <a:r>
              <a:rPr lang="en-US" sz="1100" dirty="0">
                <a:solidFill>
                  <a:srgbClr val="636E72"/>
                </a:solidFill>
                <a:latin typeface="Segoe UI" pitchFamily="34" charset="0"/>
                <a:ea typeface="Segoe UI" pitchFamily="34" charset="-122"/>
                <a:cs typeface="Segoe UI" pitchFamily="34" charset="-120"/>
              </a:rPr>
              <a:t>PROMOTE or DEMOTE to CLAUDE.md, low-confidence deletes, any conflict. No matter the score.</a:t>
            </a:r>
            <a:endParaRPr lang="en-US" sz="1100" dirty="0"/>
          </a:p>
        </p:txBody>
      </p:sp>
      <p:sp>
        <p:nvSpPr>
          <p:cNvPr id="17" name="Shape 15"/>
          <p:cNvSpPr/>
          <p:nvPr/>
        </p:nvSpPr>
        <p:spPr>
          <a:xfrm>
            <a:off x="457200" y="3566160"/>
            <a:ext cx="11338560" cy="1234440"/>
          </a:xfrm>
          <a:prstGeom prst="roundRect">
            <a:avLst>
              <a:gd name="adj" fmla="val 7407"/>
            </a:avLst>
          </a:prstGeom>
          <a:solidFill>
            <a:srgbClr val="FDFCF5"/>
          </a:solidFill>
          <a:ln w="12700">
            <a:solidFill>
              <a:srgbClr val="C8A951"/>
            </a:solidFill>
            <a:prstDash val="solid"/>
          </a:ln>
        </p:spPr>
        <p:txBody>
          <a:bodyPr/>
          <a:lstStyle/>
          <a:p>
            <a:endParaRPr lang="en-US"/>
          </a:p>
        </p:txBody>
      </p:sp>
      <p:sp>
        <p:nvSpPr>
          <p:cNvPr id="18" name="Text 16"/>
          <p:cNvSpPr/>
          <p:nvPr/>
        </p:nvSpPr>
        <p:spPr>
          <a:xfrm>
            <a:off x="685800" y="3703320"/>
            <a:ext cx="10972800" cy="960120"/>
          </a:xfrm>
          <a:prstGeom prst="rect">
            <a:avLst/>
          </a:prstGeom>
          <a:noFill/>
          <a:ln/>
        </p:spPr>
        <p:txBody>
          <a:bodyPr wrap="square" rtlCol="0" anchor="ctr"/>
          <a:lstStyle/>
          <a:p>
            <a:pPr marL="0" indent="0">
              <a:buNone/>
            </a:pPr>
            <a:r>
              <a:rPr lang="en-US" sz="1300" dirty="0">
                <a:solidFill>
                  <a:srgbClr val="1A3A5C"/>
                </a:solidFill>
                <a:latin typeface="Segoe UI" pitchFamily="34" charset="0"/>
                <a:ea typeface="Segoe UI" pitchFamily="34" charset="-122"/>
                <a:cs typeface="Segoe UI" pitchFamily="34" charset="-120"/>
              </a:rPr>
              <a:t>CLAUDE.md is the hard boundary — PROMOTE / DEMOTE always need your eyes. Every run is logged with its reasoning and sources; any run can be rolled back  ↩</a:t>
            </a:r>
            <a:endParaRPr lang="en-US" sz="1300" dirty="0"/>
          </a:p>
        </p:txBody>
      </p:sp>
      <p:sp>
        <p:nvSpPr>
          <p:cNvPr id="19" name="Text 17"/>
          <p:cNvSpPr/>
          <p:nvPr/>
        </p:nvSpPr>
        <p:spPr>
          <a:xfrm>
            <a:off x="457200" y="4983480"/>
            <a:ext cx="11338560" cy="365760"/>
          </a:xfrm>
          <a:prstGeom prst="rect">
            <a:avLst/>
          </a:prstGeom>
          <a:noFill/>
          <a:ln/>
        </p:spPr>
        <p:txBody>
          <a:bodyPr wrap="square" rtlCol="0" anchor="ctr"/>
          <a:lstStyle/>
          <a:p>
            <a:pPr marL="0" indent="0" algn="ctr">
              <a:buNone/>
            </a:pPr>
            <a:r>
              <a:rPr lang="en-US" sz="1200" i="1" dirty="0">
                <a:solidFill>
                  <a:srgbClr val="636E72"/>
                </a:solidFill>
                <a:latin typeface="Segoe UI" pitchFamily="34" charset="0"/>
                <a:ea typeface="Segoe UI" pitchFamily="34" charset="-122"/>
                <a:cs typeface="Segoe UI" pitchFamily="34" charset="-120"/>
              </a:rPr>
              <a:t>It’s your project’s memory. You sign off on what it remembers.</a:t>
            </a:r>
            <a:endParaRPr lang="en-US" sz="1200" dirty="0"/>
          </a:p>
        </p:txBody>
      </p:sp>
      <p:sp>
        <p:nvSpPr>
          <p:cNvPr id="20" name="Text 18"/>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27 / 45</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F35"/>
        </a:solidFill>
        <a:effectLst/>
      </p:bgPr>
    </p:bg>
    <p:spTree>
      <p:nvGrpSpPr>
        <p:cNvPr id="1" name=""/>
        <p:cNvGrpSpPr/>
        <p:nvPr/>
      </p:nvGrpSpPr>
      <p:grpSpPr>
        <a:xfrm>
          <a:off x="0" y="0"/>
          <a:ext cx="0" cy="0"/>
          <a:chOff x="0" y="0"/>
          <a:chExt cx="0" cy="0"/>
        </a:xfrm>
      </p:grpSpPr>
      <p:sp>
        <p:nvSpPr>
          <p:cNvPr id="2" name="Text 0"/>
          <p:cNvSpPr/>
          <p:nvPr/>
        </p:nvSpPr>
        <p:spPr>
          <a:xfrm>
            <a:off x="365760" y="182880"/>
            <a:ext cx="2743200" cy="2286000"/>
          </a:xfrm>
          <a:prstGeom prst="rect">
            <a:avLst/>
          </a:prstGeom>
          <a:noFill/>
          <a:ln/>
        </p:spPr>
        <p:txBody>
          <a:bodyPr wrap="square" rtlCol="0" anchor="ctr"/>
          <a:lstStyle/>
          <a:p>
            <a:pPr marL="0" indent="0">
              <a:buNone/>
            </a:pPr>
            <a:r>
              <a:rPr lang="en-US" sz="12000" b="1" dirty="0">
                <a:solidFill>
                  <a:srgbClr val="1A3A5C"/>
                </a:solidFill>
                <a:latin typeface="Cascadia Code" pitchFamily="34" charset="0"/>
                <a:ea typeface="Cascadia Code" pitchFamily="34" charset="-122"/>
                <a:cs typeface="Cascadia Code" pitchFamily="34" charset="-120"/>
              </a:rPr>
              <a:t>IV</a:t>
            </a:r>
            <a:endParaRPr lang="en-US" sz="12000" dirty="0"/>
          </a:p>
        </p:txBody>
      </p:sp>
      <p:sp>
        <p:nvSpPr>
          <p:cNvPr id="3" name="Text 1"/>
          <p:cNvSpPr/>
          <p:nvPr/>
        </p:nvSpPr>
        <p:spPr>
          <a:xfrm>
            <a:off x="548640" y="1005840"/>
            <a:ext cx="10972800" cy="274320"/>
          </a:xfrm>
          <a:prstGeom prst="rect">
            <a:avLst/>
          </a:prstGeom>
          <a:noFill/>
          <a:ln/>
        </p:spPr>
        <p:txBody>
          <a:bodyPr wrap="square" rtlCol="0" anchor="ctr"/>
          <a:lstStyle/>
          <a:p>
            <a:pPr marL="0" indent="0">
              <a:buNone/>
            </a:pPr>
            <a:r>
              <a:rPr lang="en-US" sz="900" b="1" kern="0" spc="300" dirty="0">
                <a:solidFill>
                  <a:srgbClr val="C8A951"/>
                </a:solidFill>
                <a:latin typeface="Segoe UI" pitchFamily="34" charset="0"/>
                <a:ea typeface="Segoe UI" pitchFamily="34" charset="-122"/>
                <a:cs typeface="Segoe UI" pitchFamily="34" charset="-120"/>
              </a:rPr>
              <a:t>ACT IV · THE FOURTH ABSENCE</a:t>
            </a:r>
            <a:endParaRPr lang="en-US" sz="900" dirty="0"/>
          </a:p>
        </p:txBody>
      </p:sp>
      <p:sp>
        <p:nvSpPr>
          <p:cNvPr id="4" name="Text 2"/>
          <p:cNvSpPr/>
          <p:nvPr/>
        </p:nvSpPr>
        <p:spPr>
          <a:xfrm>
            <a:off x="548640" y="1371600"/>
            <a:ext cx="10515600" cy="1280160"/>
          </a:xfrm>
          <a:prstGeom prst="rect">
            <a:avLst/>
          </a:prstGeom>
          <a:noFill/>
          <a:ln/>
        </p:spPr>
        <p:txBody>
          <a:bodyPr wrap="square" rtlCol="0" anchor="ctr"/>
          <a:lstStyle/>
          <a:p>
            <a:pPr marL="0" indent="0">
              <a:buNone/>
            </a:pPr>
            <a:r>
              <a:rPr lang="en-US" sz="3200" b="1" dirty="0">
                <a:solidFill>
                  <a:srgbClr val="FFFFFF"/>
                </a:solidFill>
                <a:latin typeface="Segoe UI" pitchFamily="34" charset="0"/>
                <a:ea typeface="Segoe UI" pitchFamily="34" charset="-122"/>
                <a:cs typeface="Segoe UI" pitchFamily="34" charset="-120"/>
              </a:rPr>
              <a:t>Structured Knowledge of the Codebase</a:t>
            </a:r>
            <a:endParaRPr lang="en-US" sz="3200" dirty="0"/>
          </a:p>
        </p:txBody>
      </p:sp>
      <p:sp>
        <p:nvSpPr>
          <p:cNvPr id="5" name="Shape 3"/>
          <p:cNvSpPr/>
          <p:nvPr/>
        </p:nvSpPr>
        <p:spPr>
          <a:xfrm>
            <a:off x="548640" y="2743200"/>
            <a:ext cx="54864" cy="502920"/>
          </a:xfrm>
          <a:prstGeom prst="rect">
            <a:avLst/>
          </a:prstGeom>
          <a:solidFill>
            <a:srgbClr val="C8A951"/>
          </a:solidFill>
          <a:ln w="12700">
            <a:solidFill>
              <a:srgbClr val="C8A951"/>
            </a:solidFill>
            <a:prstDash val="solid"/>
          </a:ln>
        </p:spPr>
        <p:txBody>
          <a:bodyPr/>
          <a:lstStyle/>
          <a:p>
            <a:endParaRPr lang="en-US"/>
          </a:p>
        </p:txBody>
      </p:sp>
      <p:sp>
        <p:nvSpPr>
          <p:cNvPr id="6" name="Text 4"/>
          <p:cNvSpPr/>
          <p:nvPr/>
        </p:nvSpPr>
        <p:spPr>
          <a:xfrm>
            <a:off x="731520" y="2743200"/>
            <a:ext cx="10058400" cy="502920"/>
          </a:xfrm>
          <a:prstGeom prst="rect">
            <a:avLst/>
          </a:prstGeom>
          <a:noFill/>
          <a:ln/>
        </p:spPr>
        <p:txBody>
          <a:bodyPr wrap="square" rtlCol="0" anchor="ctr"/>
          <a:lstStyle/>
          <a:p>
            <a:pPr marL="0" indent="0">
              <a:buNone/>
            </a:pPr>
            <a:r>
              <a:rPr lang="en-US" sz="1500" i="1" dirty="0">
                <a:solidFill>
                  <a:srgbClr val="B7C6D6"/>
                </a:solidFill>
                <a:latin typeface="Segoe UI" pitchFamily="34" charset="0"/>
                <a:ea typeface="Segoe UI" pitchFamily="34" charset="-122"/>
                <a:cs typeface="Segoe UI" pitchFamily="34" charset="-120"/>
              </a:rPr>
              <a:t>"You can’t review a change you can’t place in the whole system."</a:t>
            </a:r>
            <a:endParaRPr lang="en-US" sz="1500" dirty="0"/>
          </a:p>
        </p:txBody>
      </p:sp>
      <p:sp>
        <p:nvSpPr>
          <p:cNvPr id="7" name="Text 5"/>
          <p:cNvSpPr/>
          <p:nvPr/>
        </p:nvSpPr>
        <p:spPr>
          <a:xfrm>
            <a:off x="548640" y="6309360"/>
            <a:ext cx="11064240" cy="228600"/>
          </a:xfrm>
          <a:prstGeom prst="rect">
            <a:avLst/>
          </a:prstGeom>
          <a:noFill/>
          <a:ln/>
        </p:spPr>
        <p:txBody>
          <a:bodyPr wrap="square" rtlCol="0" anchor="ctr"/>
          <a:lstStyle/>
          <a:p>
            <a:pPr marL="0" indent="0" algn="r">
              <a:buNone/>
            </a:pPr>
            <a:r>
              <a:rPr lang="en-US" sz="800" dirty="0">
                <a:solidFill>
                  <a:srgbClr val="3A5A7C"/>
                </a:solidFill>
                <a:latin typeface="Cascadia Code" pitchFamily="34" charset="0"/>
                <a:ea typeface="Cascadia Code" pitchFamily="34" charset="-122"/>
                <a:cs typeface="Cascadia Code" pitchFamily="34" charset="-120"/>
              </a:rPr>
              <a:t>ADRs 0016 · 0017→0038 · 0039 · 0041 · 0042 · 0043 · 0050</a:t>
            </a:r>
            <a:endParaRPr lang="en-US" sz="800" dirty="0"/>
          </a:p>
        </p:txBody>
      </p:sp>
      <p:sp>
        <p:nvSpPr>
          <p:cNvPr id="8" name="Text 6"/>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28 / 45</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Two developers, one difference</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Shape 3"/>
          <p:cNvSpPr/>
          <p:nvPr/>
        </p:nvSpPr>
        <p:spPr>
          <a:xfrm>
            <a:off x="548640" y="1005840"/>
            <a:ext cx="5440680" cy="3108960"/>
          </a:xfrm>
          <a:prstGeom prst="roundRect">
            <a:avLst>
              <a:gd name="adj" fmla="val 2941"/>
            </a:avLst>
          </a:prstGeom>
          <a:solidFill>
            <a:srgbClr val="EEFAF6"/>
          </a:solidFill>
          <a:ln w="12700">
            <a:solidFill>
              <a:srgbClr val="00B894"/>
            </a:solidFill>
            <a:prstDash val="solid"/>
          </a:ln>
        </p:spPr>
        <p:txBody>
          <a:bodyPr/>
          <a:lstStyle/>
          <a:p>
            <a:endParaRPr lang="en-US"/>
          </a:p>
        </p:txBody>
      </p:sp>
      <p:sp>
        <p:nvSpPr>
          <p:cNvPr id="6" name="Text 4"/>
          <p:cNvSpPr/>
          <p:nvPr/>
        </p:nvSpPr>
        <p:spPr>
          <a:xfrm>
            <a:off x="777240" y="1143000"/>
            <a:ext cx="5029200" cy="274320"/>
          </a:xfrm>
          <a:prstGeom prst="rect">
            <a:avLst/>
          </a:prstGeom>
          <a:noFill/>
          <a:ln/>
        </p:spPr>
        <p:txBody>
          <a:bodyPr wrap="square" rtlCol="0" anchor="ctr"/>
          <a:lstStyle/>
          <a:p>
            <a:pPr marL="0" indent="0">
              <a:buNone/>
            </a:pPr>
            <a:r>
              <a:rPr lang="en-US" sz="1000" b="1" kern="0" spc="100" dirty="0">
                <a:solidFill>
                  <a:srgbClr val="00B894"/>
                </a:solidFill>
                <a:latin typeface="Cascadia Code" pitchFamily="34" charset="0"/>
                <a:ea typeface="Cascadia Code" pitchFamily="34" charset="-122"/>
                <a:cs typeface="Cascadia Code" pitchFamily="34" charset="-120"/>
              </a:rPr>
              <a:t>DEV A</a:t>
            </a:r>
            <a:endParaRPr lang="en-US" sz="1000" dirty="0"/>
          </a:p>
        </p:txBody>
      </p:sp>
      <p:sp>
        <p:nvSpPr>
          <p:cNvPr id="7" name="Text 5"/>
          <p:cNvSpPr/>
          <p:nvPr/>
        </p:nvSpPr>
        <p:spPr>
          <a:xfrm>
            <a:off x="777240" y="1417320"/>
            <a:ext cx="5029200" cy="457200"/>
          </a:xfrm>
          <a:prstGeom prst="rect">
            <a:avLst/>
          </a:prstGeom>
          <a:noFill/>
          <a:ln/>
        </p:spPr>
        <p:txBody>
          <a:bodyPr wrap="square" rtlCol="0" anchor="ctr"/>
          <a:lstStyle/>
          <a:p>
            <a:pPr marL="0" indent="0">
              <a:buNone/>
            </a:pPr>
            <a:r>
              <a:rPr lang="en-US" sz="1700" b="1" dirty="0">
                <a:solidFill>
                  <a:srgbClr val="1A3A5C"/>
                </a:solidFill>
                <a:latin typeface="Segoe UI" pitchFamily="34" charset="0"/>
                <a:ea typeface="Segoe UI" pitchFamily="34" charset="-122"/>
                <a:cs typeface="Segoe UI" pitchFamily="34" charset="-120"/>
              </a:rPr>
              <a:t>Understands the system</a:t>
            </a:r>
            <a:endParaRPr lang="en-US" sz="1700" dirty="0"/>
          </a:p>
        </p:txBody>
      </p:sp>
      <p:sp>
        <p:nvSpPr>
          <p:cNvPr id="8" name="Text 6"/>
          <p:cNvSpPr/>
          <p:nvPr/>
        </p:nvSpPr>
        <p:spPr>
          <a:xfrm>
            <a:off x="822960" y="1965960"/>
            <a:ext cx="4937760" cy="2011680"/>
          </a:xfrm>
          <a:prstGeom prst="rect">
            <a:avLst/>
          </a:prstGeom>
          <a:noFill/>
          <a:ln/>
        </p:spPr>
        <p:txBody>
          <a:bodyPr wrap="square" rtlCol="0" anchor="t"/>
          <a:lstStyle/>
          <a:p>
            <a:pPr>
              <a:spcAft>
                <a:spcPts val="800"/>
              </a:spcAft>
            </a:pPr>
            <a:r>
              <a:rPr lang="en-US" sz="1300" dirty="0">
                <a:solidFill>
                  <a:srgbClr val="2D3436"/>
                </a:solidFill>
                <a:latin typeface="Segoe UI" pitchFamily="34" charset="0"/>
                <a:ea typeface="Segoe UI" pitchFamily="34" charset="-122"/>
                <a:cs typeface="Segoe UI" pitchFamily="34" charset="-120"/>
              </a:rPr>
              <a:t>Same bug — found in 20 minutes</a:t>
            </a:r>
            <a:endParaRPr lang="en-US" sz="1300" dirty="0"/>
          </a:p>
          <a:p>
            <a:pPr>
              <a:spcAft>
                <a:spcPts val="800"/>
              </a:spcAft>
            </a:pPr>
            <a:r>
              <a:rPr lang="en-US" sz="1300" dirty="0">
                <a:solidFill>
                  <a:srgbClr val="2D3436"/>
                </a:solidFill>
                <a:latin typeface="Segoe UI" pitchFamily="34" charset="0"/>
                <a:ea typeface="Segoe UI" pitchFamily="34" charset="-122"/>
                <a:cs typeface="Segoe UI" pitchFamily="34" charset="-120"/>
              </a:rPr>
              <a:t>Clean fix, never comes back</a:t>
            </a:r>
            <a:endParaRPr lang="en-US" sz="1300" dirty="0"/>
          </a:p>
          <a:p>
            <a:pPr>
              <a:spcAft>
                <a:spcPts val="800"/>
              </a:spcAft>
            </a:pPr>
            <a:r>
              <a:rPr lang="en-US" sz="1300" dirty="0">
                <a:solidFill>
                  <a:srgbClr val="2D3436"/>
                </a:solidFill>
                <a:latin typeface="Segoe UI" pitchFamily="34" charset="0"/>
                <a:ea typeface="Segoe UI" pitchFamily="34" charset="-122"/>
                <a:cs typeface="Segoe UI" pitchFamily="34" charset="-120"/>
              </a:rPr>
              <a:t>Carries a model of how it all fits</a:t>
            </a:r>
            <a:endParaRPr lang="en-US" sz="1300" dirty="0"/>
          </a:p>
        </p:txBody>
      </p:sp>
      <p:sp>
        <p:nvSpPr>
          <p:cNvPr id="9" name="Shape 7"/>
          <p:cNvSpPr/>
          <p:nvPr/>
        </p:nvSpPr>
        <p:spPr>
          <a:xfrm>
            <a:off x="6172200" y="1005840"/>
            <a:ext cx="5440680" cy="3108960"/>
          </a:xfrm>
          <a:prstGeom prst="roundRect">
            <a:avLst>
              <a:gd name="adj" fmla="val 2941"/>
            </a:avLst>
          </a:prstGeom>
          <a:solidFill>
            <a:srgbClr val="FFF0ED"/>
          </a:solidFill>
          <a:ln w="12700">
            <a:solidFill>
              <a:srgbClr val="E17055"/>
            </a:solidFill>
            <a:prstDash val="solid"/>
          </a:ln>
        </p:spPr>
        <p:txBody>
          <a:bodyPr/>
          <a:lstStyle/>
          <a:p>
            <a:endParaRPr lang="en-US"/>
          </a:p>
        </p:txBody>
      </p:sp>
      <p:sp>
        <p:nvSpPr>
          <p:cNvPr id="10" name="Text 8"/>
          <p:cNvSpPr/>
          <p:nvPr/>
        </p:nvSpPr>
        <p:spPr>
          <a:xfrm>
            <a:off x="6400800" y="1143000"/>
            <a:ext cx="5029200" cy="274320"/>
          </a:xfrm>
          <a:prstGeom prst="rect">
            <a:avLst/>
          </a:prstGeom>
          <a:noFill/>
          <a:ln/>
        </p:spPr>
        <p:txBody>
          <a:bodyPr wrap="square" rtlCol="0" anchor="ctr"/>
          <a:lstStyle/>
          <a:p>
            <a:pPr marL="0" indent="0">
              <a:buNone/>
            </a:pPr>
            <a:r>
              <a:rPr lang="en-US" sz="1000" b="1" kern="0" spc="100" dirty="0">
                <a:solidFill>
                  <a:srgbClr val="E17055"/>
                </a:solidFill>
                <a:latin typeface="Cascadia Code" pitchFamily="34" charset="0"/>
                <a:ea typeface="Cascadia Code" pitchFamily="34" charset="-122"/>
                <a:cs typeface="Cascadia Code" pitchFamily="34" charset="-120"/>
              </a:rPr>
              <a:t>DEV B</a:t>
            </a:r>
            <a:endParaRPr lang="en-US" sz="1000" dirty="0"/>
          </a:p>
        </p:txBody>
      </p:sp>
      <p:sp>
        <p:nvSpPr>
          <p:cNvPr id="11" name="Text 9"/>
          <p:cNvSpPr/>
          <p:nvPr/>
        </p:nvSpPr>
        <p:spPr>
          <a:xfrm>
            <a:off x="6400800" y="1417320"/>
            <a:ext cx="5029200" cy="457200"/>
          </a:xfrm>
          <a:prstGeom prst="rect">
            <a:avLst/>
          </a:prstGeom>
          <a:noFill/>
          <a:ln/>
        </p:spPr>
        <p:txBody>
          <a:bodyPr wrap="square" rtlCol="0" anchor="ctr"/>
          <a:lstStyle/>
          <a:p>
            <a:pPr marL="0" indent="0">
              <a:buNone/>
            </a:pPr>
            <a:r>
              <a:rPr lang="en-US" sz="1700" b="1" dirty="0">
                <a:solidFill>
                  <a:srgbClr val="1A3A5C"/>
                </a:solidFill>
                <a:latin typeface="Segoe UI" pitchFamily="34" charset="0"/>
                <a:ea typeface="Segoe UI" pitchFamily="34" charset="-122"/>
                <a:cs typeface="Segoe UI" pitchFamily="34" charset="-120"/>
              </a:rPr>
              <a:t>Reading cold, file by file</a:t>
            </a:r>
            <a:endParaRPr lang="en-US" sz="1700" dirty="0"/>
          </a:p>
        </p:txBody>
      </p:sp>
      <p:sp>
        <p:nvSpPr>
          <p:cNvPr id="12" name="Text 10"/>
          <p:cNvSpPr/>
          <p:nvPr/>
        </p:nvSpPr>
        <p:spPr>
          <a:xfrm>
            <a:off x="6446520" y="1965960"/>
            <a:ext cx="4937760" cy="2011680"/>
          </a:xfrm>
          <a:prstGeom prst="rect">
            <a:avLst/>
          </a:prstGeom>
          <a:noFill/>
          <a:ln/>
        </p:spPr>
        <p:txBody>
          <a:bodyPr wrap="square" rtlCol="0" anchor="t"/>
          <a:lstStyle/>
          <a:p>
            <a:pPr>
              <a:spcAft>
                <a:spcPts val="800"/>
              </a:spcAft>
            </a:pPr>
            <a:r>
              <a:rPr lang="en-US" sz="1300" dirty="0">
                <a:solidFill>
                  <a:srgbClr val="2D3436"/>
                </a:solidFill>
                <a:latin typeface="Segoe UI" pitchFamily="34" charset="0"/>
                <a:ea typeface="Segoe UI" pitchFamily="34" charset="-122"/>
                <a:cs typeface="Segoe UI" pitchFamily="34" charset="-120"/>
              </a:rPr>
              <a:t>Same bug — two days</a:t>
            </a:r>
            <a:endParaRPr lang="en-US" sz="1300" dirty="0"/>
          </a:p>
          <a:p>
            <a:pPr>
              <a:spcAft>
                <a:spcPts val="800"/>
              </a:spcAft>
            </a:pPr>
            <a:r>
              <a:rPr lang="en-US" sz="1300" dirty="0">
                <a:solidFill>
                  <a:srgbClr val="2D3436"/>
                </a:solidFill>
                <a:latin typeface="Segoe UI" pitchFamily="34" charset="0"/>
                <a:ea typeface="Segoe UI" pitchFamily="34" charset="-122"/>
                <a:cs typeface="Segoe UI" pitchFamily="34" charset="-120"/>
              </a:rPr>
              <a:t>Patches the symptom, breaks something else</a:t>
            </a:r>
            <a:endParaRPr lang="en-US" sz="1300" dirty="0"/>
          </a:p>
          <a:p>
            <a:pPr>
              <a:spcAft>
                <a:spcPts val="800"/>
              </a:spcAft>
            </a:pPr>
            <a:r>
              <a:rPr lang="en-US" sz="1300" dirty="0">
                <a:solidFill>
                  <a:srgbClr val="2D3436"/>
                </a:solidFill>
                <a:latin typeface="Segoe UI" pitchFamily="34" charset="0"/>
                <a:ea typeface="Segoe UI" pitchFamily="34" charset="-122"/>
                <a:cs typeface="Segoe UI" pitchFamily="34" charset="-120"/>
              </a:rPr>
              <a:t>Hoping to find the thread</a:t>
            </a:r>
            <a:endParaRPr lang="en-US" sz="1300" dirty="0"/>
          </a:p>
        </p:txBody>
      </p:sp>
      <p:sp>
        <p:nvSpPr>
          <p:cNvPr id="13" name="Shape 11"/>
          <p:cNvSpPr/>
          <p:nvPr/>
        </p:nvSpPr>
        <p:spPr>
          <a:xfrm>
            <a:off x="548640" y="4343400"/>
            <a:ext cx="11064240" cy="1280160"/>
          </a:xfrm>
          <a:prstGeom prst="roundRect">
            <a:avLst>
              <a:gd name="adj" fmla="val 7143"/>
            </a:avLst>
          </a:prstGeom>
          <a:solidFill>
            <a:srgbClr val="0D1F35"/>
          </a:solidFill>
          <a:ln w="12700">
            <a:solidFill>
              <a:srgbClr val="2C5F8A"/>
            </a:solidFill>
            <a:prstDash val="solid"/>
          </a:ln>
        </p:spPr>
        <p:txBody>
          <a:bodyPr/>
          <a:lstStyle/>
          <a:p>
            <a:endParaRPr lang="en-US"/>
          </a:p>
        </p:txBody>
      </p:sp>
      <p:sp>
        <p:nvSpPr>
          <p:cNvPr id="14" name="Text 12"/>
          <p:cNvSpPr/>
          <p:nvPr/>
        </p:nvSpPr>
        <p:spPr>
          <a:xfrm>
            <a:off x="777240" y="4434840"/>
            <a:ext cx="10607040" cy="1097280"/>
          </a:xfrm>
          <a:prstGeom prst="rect">
            <a:avLst/>
          </a:prstGeom>
          <a:noFill/>
          <a:ln/>
        </p:spPr>
        <p:txBody>
          <a:bodyPr wrap="square" rtlCol="0" anchor="ctr"/>
          <a:lstStyle/>
          <a:p>
            <a:pPr marL="0" indent="0">
              <a:buNone/>
            </a:pPr>
            <a:r>
              <a:rPr lang="en-US" sz="1500" b="1" dirty="0">
                <a:solidFill>
                  <a:srgbClr val="EEF4FB"/>
                </a:solidFill>
                <a:latin typeface="Segoe UI" pitchFamily="34" charset="0"/>
                <a:ea typeface="Segoe UI" pitchFamily="34" charset="-122"/>
                <a:cs typeface="Segoe UI" pitchFamily="34" charset="-120"/>
              </a:rPr>
              <a:t>The differentiator was never talent. It was understanding.</a:t>
            </a:r>
            <a:endParaRPr lang="en-US" sz="1500" dirty="0"/>
          </a:p>
          <a:p>
            <a:pPr marL="0" indent="0">
              <a:buNone/>
            </a:pPr>
            <a:r>
              <a:rPr lang="en-US" sz="1500" b="1" dirty="0">
                <a:solidFill>
                  <a:srgbClr val="EEF4FB"/>
                </a:solidFill>
                <a:latin typeface="Segoe UI" pitchFamily="34" charset="0"/>
                <a:ea typeface="Segoe UI" pitchFamily="34" charset="-122"/>
                <a:cs typeface="Segoe UI" pitchFamily="34" charset="-120"/>
              </a:rPr>
              <a:t>Your AI — and any reviewer without the map — is Dev B, until you give it one.</a:t>
            </a:r>
            <a:endParaRPr lang="en-US" sz="1500" dirty="0"/>
          </a:p>
        </p:txBody>
      </p:sp>
      <p:sp>
        <p:nvSpPr>
          <p:cNvPr id="15" name="Text 13"/>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29 / 45</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…and the AI reads cold, every single time</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Text 3"/>
          <p:cNvSpPr/>
          <p:nvPr/>
        </p:nvSpPr>
        <p:spPr>
          <a:xfrm>
            <a:off x="457200" y="868680"/>
            <a:ext cx="11247120" cy="685800"/>
          </a:xfrm>
          <a:prstGeom prst="rect">
            <a:avLst/>
          </a:prstGeom>
          <a:noFill/>
          <a:ln/>
        </p:spPr>
        <p:txBody>
          <a:bodyPr wrap="square" rtlCol="0" anchor="ctr"/>
          <a:lstStyle/>
          <a:p>
            <a:pPr marL="0" indent="0">
              <a:buNone/>
            </a:pPr>
            <a:r>
              <a:rPr lang="en-US" sz="1300" dirty="0">
                <a:solidFill>
                  <a:srgbClr val="636E72"/>
                </a:solidFill>
                <a:latin typeface="Segoe UI" pitchFamily="34" charset="0"/>
                <a:ea typeface="Segoe UI" pitchFamily="34" charset="-122"/>
                <a:cs typeface="Segoe UI" pitchFamily="34" charset="-120"/>
              </a:rPr>
              <a:t>A token analysis three months in proved it: the AI treated every run as a cold start — code review re-scanning 50 files when 48 hadn’t changed in a week. Reading cold, file by file, exactly like Dev B.</a:t>
            </a:r>
            <a:endParaRPr lang="en-US" sz="1300" dirty="0"/>
          </a:p>
        </p:txBody>
      </p:sp>
      <p:sp>
        <p:nvSpPr>
          <p:cNvPr id="6" name="Text 4"/>
          <p:cNvSpPr/>
          <p:nvPr/>
        </p:nvSpPr>
        <p:spPr>
          <a:xfrm>
            <a:off x="457200" y="1691640"/>
            <a:ext cx="5394960" cy="228600"/>
          </a:xfrm>
          <a:prstGeom prst="rect">
            <a:avLst/>
          </a:prstGeom>
          <a:noFill/>
          <a:ln/>
        </p:spPr>
        <p:txBody>
          <a:bodyPr wrap="square" rtlCol="0" anchor="ctr"/>
          <a:lstStyle/>
          <a:p>
            <a:pPr marL="0" indent="0" algn="ctr">
              <a:buNone/>
            </a:pPr>
            <a:r>
              <a:rPr lang="en-US" sz="800" b="1" kern="0" spc="100" dirty="0">
                <a:solidFill>
                  <a:srgbClr val="E17055"/>
                </a:solidFill>
                <a:latin typeface="Cascadia Code" pitchFamily="34" charset="0"/>
                <a:ea typeface="Cascadia Code" pitchFamily="34" charset="-122"/>
                <a:cs typeface="Cascadia Code" pitchFamily="34" charset="-120"/>
              </a:rPr>
              <a:t>BEFORE — COLD START EVERY RUN</a:t>
            </a:r>
            <a:endParaRPr lang="en-US" sz="800" dirty="0"/>
          </a:p>
        </p:txBody>
      </p:sp>
      <p:sp>
        <p:nvSpPr>
          <p:cNvPr id="7" name="Shape 5"/>
          <p:cNvSpPr/>
          <p:nvPr/>
        </p:nvSpPr>
        <p:spPr>
          <a:xfrm>
            <a:off x="548640" y="1965960"/>
            <a:ext cx="777240" cy="2743200"/>
          </a:xfrm>
          <a:prstGeom prst="rect">
            <a:avLst/>
          </a:prstGeom>
          <a:solidFill>
            <a:srgbClr val="E84C1E">
              <a:alpha val="80000"/>
            </a:srgbClr>
          </a:solidFill>
          <a:ln w="12700">
            <a:solidFill>
              <a:srgbClr val="E84C1E"/>
            </a:solidFill>
            <a:prstDash val="solid"/>
          </a:ln>
        </p:spPr>
        <p:txBody>
          <a:bodyPr/>
          <a:lstStyle/>
          <a:p>
            <a:endParaRPr lang="en-US"/>
          </a:p>
        </p:txBody>
      </p:sp>
      <p:sp>
        <p:nvSpPr>
          <p:cNvPr id="8" name="Text 6"/>
          <p:cNvSpPr/>
          <p:nvPr/>
        </p:nvSpPr>
        <p:spPr>
          <a:xfrm>
            <a:off x="548640" y="2926080"/>
            <a:ext cx="777240" cy="274320"/>
          </a:xfrm>
          <a:prstGeom prst="rect">
            <a:avLst/>
          </a:prstGeom>
          <a:noFill/>
          <a:ln/>
        </p:spPr>
        <p:txBody>
          <a:bodyPr wrap="square" rtlCol="0" anchor="ctr"/>
          <a:lstStyle/>
          <a:p>
            <a:pPr marL="0" indent="0" algn="ctr">
              <a:buNone/>
            </a:pPr>
            <a:r>
              <a:rPr lang="en-US" sz="750" dirty="0">
                <a:solidFill>
                  <a:srgbClr val="FFFFFF"/>
                </a:solidFill>
                <a:latin typeface="Cascadia Code" pitchFamily="34" charset="0"/>
                <a:ea typeface="Cascadia Code" pitchFamily="34" charset="-122"/>
                <a:cs typeface="Cascadia Code" pitchFamily="34" charset="-120"/>
              </a:rPr>
              <a:t>50 files</a:t>
            </a:r>
            <a:endParaRPr lang="en-US" sz="750" dirty="0"/>
          </a:p>
        </p:txBody>
      </p:sp>
      <p:sp>
        <p:nvSpPr>
          <p:cNvPr id="9" name="Text 7"/>
          <p:cNvSpPr/>
          <p:nvPr/>
        </p:nvSpPr>
        <p:spPr>
          <a:xfrm>
            <a:off x="548640" y="4754880"/>
            <a:ext cx="777240" cy="228600"/>
          </a:xfrm>
          <a:prstGeom prst="rect">
            <a:avLst/>
          </a:prstGeom>
          <a:noFill/>
          <a:ln/>
        </p:spPr>
        <p:txBody>
          <a:bodyPr wrap="square" rtlCol="0" anchor="ctr"/>
          <a:lstStyle/>
          <a:p>
            <a:pPr marL="0" indent="0" algn="ctr">
              <a:buNone/>
            </a:pPr>
            <a:r>
              <a:rPr lang="en-US" sz="800" dirty="0">
                <a:solidFill>
                  <a:srgbClr val="636E72"/>
                </a:solidFill>
                <a:latin typeface="Cascadia Code" pitchFamily="34" charset="0"/>
                <a:ea typeface="Cascadia Code" pitchFamily="34" charset="-122"/>
                <a:cs typeface="Cascadia Code" pitchFamily="34" charset="-120"/>
              </a:rPr>
              <a:t>Mon</a:t>
            </a:r>
            <a:endParaRPr lang="en-US" sz="800" dirty="0"/>
          </a:p>
        </p:txBody>
      </p:sp>
      <p:sp>
        <p:nvSpPr>
          <p:cNvPr id="10" name="Shape 8"/>
          <p:cNvSpPr/>
          <p:nvPr/>
        </p:nvSpPr>
        <p:spPr>
          <a:xfrm>
            <a:off x="1508760" y="1965960"/>
            <a:ext cx="777240" cy="2743200"/>
          </a:xfrm>
          <a:prstGeom prst="rect">
            <a:avLst/>
          </a:prstGeom>
          <a:solidFill>
            <a:srgbClr val="E84C1E">
              <a:alpha val="80000"/>
            </a:srgbClr>
          </a:solidFill>
          <a:ln w="12700">
            <a:solidFill>
              <a:srgbClr val="E84C1E"/>
            </a:solidFill>
            <a:prstDash val="solid"/>
          </a:ln>
        </p:spPr>
        <p:txBody>
          <a:bodyPr/>
          <a:lstStyle/>
          <a:p>
            <a:endParaRPr lang="en-US"/>
          </a:p>
        </p:txBody>
      </p:sp>
      <p:sp>
        <p:nvSpPr>
          <p:cNvPr id="11" name="Text 9"/>
          <p:cNvSpPr/>
          <p:nvPr/>
        </p:nvSpPr>
        <p:spPr>
          <a:xfrm>
            <a:off x="1508760" y="2926080"/>
            <a:ext cx="777240" cy="274320"/>
          </a:xfrm>
          <a:prstGeom prst="rect">
            <a:avLst/>
          </a:prstGeom>
          <a:noFill/>
          <a:ln/>
        </p:spPr>
        <p:txBody>
          <a:bodyPr wrap="square" rtlCol="0" anchor="ctr"/>
          <a:lstStyle/>
          <a:p>
            <a:pPr marL="0" indent="0" algn="ctr">
              <a:buNone/>
            </a:pPr>
            <a:r>
              <a:rPr lang="en-US" sz="750" dirty="0">
                <a:solidFill>
                  <a:srgbClr val="FFFFFF"/>
                </a:solidFill>
                <a:latin typeface="Cascadia Code" pitchFamily="34" charset="0"/>
                <a:ea typeface="Cascadia Code" pitchFamily="34" charset="-122"/>
                <a:cs typeface="Cascadia Code" pitchFamily="34" charset="-120"/>
              </a:rPr>
              <a:t>50 files</a:t>
            </a:r>
            <a:endParaRPr lang="en-US" sz="750" dirty="0"/>
          </a:p>
        </p:txBody>
      </p:sp>
      <p:sp>
        <p:nvSpPr>
          <p:cNvPr id="12" name="Text 10"/>
          <p:cNvSpPr/>
          <p:nvPr/>
        </p:nvSpPr>
        <p:spPr>
          <a:xfrm>
            <a:off x="1508760" y="4754880"/>
            <a:ext cx="777240" cy="228600"/>
          </a:xfrm>
          <a:prstGeom prst="rect">
            <a:avLst/>
          </a:prstGeom>
          <a:noFill/>
          <a:ln/>
        </p:spPr>
        <p:txBody>
          <a:bodyPr wrap="square" rtlCol="0" anchor="ctr"/>
          <a:lstStyle/>
          <a:p>
            <a:pPr marL="0" indent="0" algn="ctr">
              <a:buNone/>
            </a:pPr>
            <a:r>
              <a:rPr lang="en-US" sz="800" dirty="0">
                <a:solidFill>
                  <a:srgbClr val="636E72"/>
                </a:solidFill>
                <a:latin typeface="Cascadia Code" pitchFamily="34" charset="0"/>
                <a:ea typeface="Cascadia Code" pitchFamily="34" charset="-122"/>
                <a:cs typeface="Cascadia Code" pitchFamily="34" charset="-120"/>
              </a:rPr>
              <a:t>Tue</a:t>
            </a:r>
            <a:endParaRPr lang="en-US" sz="800" dirty="0"/>
          </a:p>
        </p:txBody>
      </p:sp>
      <p:sp>
        <p:nvSpPr>
          <p:cNvPr id="13" name="Shape 11"/>
          <p:cNvSpPr/>
          <p:nvPr/>
        </p:nvSpPr>
        <p:spPr>
          <a:xfrm>
            <a:off x="2468880" y="1965960"/>
            <a:ext cx="777240" cy="2743200"/>
          </a:xfrm>
          <a:prstGeom prst="rect">
            <a:avLst/>
          </a:prstGeom>
          <a:solidFill>
            <a:srgbClr val="E84C1E">
              <a:alpha val="80000"/>
            </a:srgbClr>
          </a:solidFill>
          <a:ln w="12700">
            <a:solidFill>
              <a:srgbClr val="E84C1E"/>
            </a:solidFill>
            <a:prstDash val="solid"/>
          </a:ln>
        </p:spPr>
        <p:txBody>
          <a:bodyPr/>
          <a:lstStyle/>
          <a:p>
            <a:endParaRPr lang="en-US"/>
          </a:p>
        </p:txBody>
      </p:sp>
      <p:sp>
        <p:nvSpPr>
          <p:cNvPr id="14" name="Text 12"/>
          <p:cNvSpPr/>
          <p:nvPr/>
        </p:nvSpPr>
        <p:spPr>
          <a:xfrm>
            <a:off x="2468880" y="2926080"/>
            <a:ext cx="777240" cy="274320"/>
          </a:xfrm>
          <a:prstGeom prst="rect">
            <a:avLst/>
          </a:prstGeom>
          <a:noFill/>
          <a:ln/>
        </p:spPr>
        <p:txBody>
          <a:bodyPr wrap="square" rtlCol="0" anchor="ctr"/>
          <a:lstStyle/>
          <a:p>
            <a:pPr marL="0" indent="0" algn="ctr">
              <a:buNone/>
            </a:pPr>
            <a:r>
              <a:rPr lang="en-US" sz="750" dirty="0">
                <a:solidFill>
                  <a:srgbClr val="FFFFFF"/>
                </a:solidFill>
                <a:latin typeface="Cascadia Code" pitchFamily="34" charset="0"/>
                <a:ea typeface="Cascadia Code" pitchFamily="34" charset="-122"/>
                <a:cs typeface="Cascadia Code" pitchFamily="34" charset="-120"/>
              </a:rPr>
              <a:t>50 files</a:t>
            </a:r>
            <a:endParaRPr lang="en-US" sz="750" dirty="0"/>
          </a:p>
        </p:txBody>
      </p:sp>
      <p:sp>
        <p:nvSpPr>
          <p:cNvPr id="15" name="Text 13"/>
          <p:cNvSpPr/>
          <p:nvPr/>
        </p:nvSpPr>
        <p:spPr>
          <a:xfrm>
            <a:off x="2468880" y="4754880"/>
            <a:ext cx="777240" cy="228600"/>
          </a:xfrm>
          <a:prstGeom prst="rect">
            <a:avLst/>
          </a:prstGeom>
          <a:noFill/>
          <a:ln/>
        </p:spPr>
        <p:txBody>
          <a:bodyPr wrap="square" rtlCol="0" anchor="ctr"/>
          <a:lstStyle/>
          <a:p>
            <a:pPr marL="0" indent="0" algn="ctr">
              <a:buNone/>
            </a:pPr>
            <a:r>
              <a:rPr lang="en-US" sz="800" dirty="0">
                <a:solidFill>
                  <a:srgbClr val="636E72"/>
                </a:solidFill>
                <a:latin typeface="Cascadia Code" pitchFamily="34" charset="0"/>
                <a:ea typeface="Cascadia Code" pitchFamily="34" charset="-122"/>
                <a:cs typeface="Cascadia Code" pitchFamily="34" charset="-120"/>
              </a:rPr>
              <a:t>Wed</a:t>
            </a:r>
            <a:endParaRPr lang="en-US" sz="800" dirty="0"/>
          </a:p>
        </p:txBody>
      </p:sp>
      <p:sp>
        <p:nvSpPr>
          <p:cNvPr id="16" name="Shape 14"/>
          <p:cNvSpPr/>
          <p:nvPr/>
        </p:nvSpPr>
        <p:spPr>
          <a:xfrm>
            <a:off x="3429000" y="1965960"/>
            <a:ext cx="777240" cy="2743200"/>
          </a:xfrm>
          <a:prstGeom prst="rect">
            <a:avLst/>
          </a:prstGeom>
          <a:solidFill>
            <a:srgbClr val="E84C1E">
              <a:alpha val="80000"/>
            </a:srgbClr>
          </a:solidFill>
          <a:ln w="12700">
            <a:solidFill>
              <a:srgbClr val="E84C1E"/>
            </a:solidFill>
            <a:prstDash val="solid"/>
          </a:ln>
        </p:spPr>
        <p:txBody>
          <a:bodyPr/>
          <a:lstStyle/>
          <a:p>
            <a:endParaRPr lang="en-US"/>
          </a:p>
        </p:txBody>
      </p:sp>
      <p:sp>
        <p:nvSpPr>
          <p:cNvPr id="17" name="Text 15"/>
          <p:cNvSpPr/>
          <p:nvPr/>
        </p:nvSpPr>
        <p:spPr>
          <a:xfrm>
            <a:off x="3429000" y="2926080"/>
            <a:ext cx="777240" cy="274320"/>
          </a:xfrm>
          <a:prstGeom prst="rect">
            <a:avLst/>
          </a:prstGeom>
          <a:noFill/>
          <a:ln/>
        </p:spPr>
        <p:txBody>
          <a:bodyPr wrap="square" rtlCol="0" anchor="ctr"/>
          <a:lstStyle/>
          <a:p>
            <a:pPr marL="0" indent="0" algn="ctr">
              <a:buNone/>
            </a:pPr>
            <a:r>
              <a:rPr lang="en-US" sz="750" dirty="0">
                <a:solidFill>
                  <a:srgbClr val="FFFFFF"/>
                </a:solidFill>
                <a:latin typeface="Cascadia Code" pitchFamily="34" charset="0"/>
                <a:ea typeface="Cascadia Code" pitchFamily="34" charset="-122"/>
                <a:cs typeface="Cascadia Code" pitchFamily="34" charset="-120"/>
              </a:rPr>
              <a:t>50 files</a:t>
            </a:r>
            <a:endParaRPr lang="en-US" sz="750" dirty="0"/>
          </a:p>
        </p:txBody>
      </p:sp>
      <p:sp>
        <p:nvSpPr>
          <p:cNvPr id="18" name="Text 16"/>
          <p:cNvSpPr/>
          <p:nvPr/>
        </p:nvSpPr>
        <p:spPr>
          <a:xfrm>
            <a:off x="3429000" y="4754880"/>
            <a:ext cx="777240" cy="228600"/>
          </a:xfrm>
          <a:prstGeom prst="rect">
            <a:avLst/>
          </a:prstGeom>
          <a:noFill/>
          <a:ln/>
        </p:spPr>
        <p:txBody>
          <a:bodyPr wrap="square" rtlCol="0" anchor="ctr"/>
          <a:lstStyle/>
          <a:p>
            <a:pPr marL="0" indent="0" algn="ctr">
              <a:buNone/>
            </a:pPr>
            <a:r>
              <a:rPr lang="en-US" sz="800" dirty="0">
                <a:solidFill>
                  <a:srgbClr val="636E72"/>
                </a:solidFill>
                <a:latin typeface="Cascadia Code" pitchFamily="34" charset="0"/>
                <a:ea typeface="Cascadia Code" pitchFamily="34" charset="-122"/>
                <a:cs typeface="Cascadia Code" pitchFamily="34" charset="-120"/>
              </a:rPr>
              <a:t>Thu</a:t>
            </a:r>
            <a:endParaRPr lang="en-US" sz="800" dirty="0"/>
          </a:p>
        </p:txBody>
      </p:sp>
      <p:sp>
        <p:nvSpPr>
          <p:cNvPr id="19" name="Shape 17"/>
          <p:cNvSpPr/>
          <p:nvPr/>
        </p:nvSpPr>
        <p:spPr>
          <a:xfrm>
            <a:off x="4389120" y="1965960"/>
            <a:ext cx="777240" cy="2743200"/>
          </a:xfrm>
          <a:prstGeom prst="rect">
            <a:avLst/>
          </a:prstGeom>
          <a:solidFill>
            <a:srgbClr val="E84C1E">
              <a:alpha val="80000"/>
            </a:srgbClr>
          </a:solidFill>
          <a:ln w="12700">
            <a:solidFill>
              <a:srgbClr val="E84C1E"/>
            </a:solidFill>
            <a:prstDash val="solid"/>
          </a:ln>
        </p:spPr>
        <p:txBody>
          <a:bodyPr/>
          <a:lstStyle/>
          <a:p>
            <a:endParaRPr lang="en-US"/>
          </a:p>
        </p:txBody>
      </p:sp>
      <p:sp>
        <p:nvSpPr>
          <p:cNvPr id="20" name="Text 18"/>
          <p:cNvSpPr/>
          <p:nvPr/>
        </p:nvSpPr>
        <p:spPr>
          <a:xfrm>
            <a:off x="4389120" y="2926080"/>
            <a:ext cx="777240" cy="274320"/>
          </a:xfrm>
          <a:prstGeom prst="rect">
            <a:avLst/>
          </a:prstGeom>
          <a:noFill/>
          <a:ln/>
        </p:spPr>
        <p:txBody>
          <a:bodyPr wrap="square" rtlCol="0" anchor="ctr"/>
          <a:lstStyle/>
          <a:p>
            <a:pPr marL="0" indent="0" algn="ctr">
              <a:buNone/>
            </a:pPr>
            <a:r>
              <a:rPr lang="en-US" sz="750" dirty="0">
                <a:solidFill>
                  <a:srgbClr val="FFFFFF"/>
                </a:solidFill>
                <a:latin typeface="Cascadia Code" pitchFamily="34" charset="0"/>
                <a:ea typeface="Cascadia Code" pitchFamily="34" charset="-122"/>
                <a:cs typeface="Cascadia Code" pitchFamily="34" charset="-120"/>
              </a:rPr>
              <a:t>50 files</a:t>
            </a:r>
            <a:endParaRPr lang="en-US" sz="750" dirty="0"/>
          </a:p>
        </p:txBody>
      </p:sp>
      <p:sp>
        <p:nvSpPr>
          <p:cNvPr id="21" name="Text 19"/>
          <p:cNvSpPr/>
          <p:nvPr/>
        </p:nvSpPr>
        <p:spPr>
          <a:xfrm>
            <a:off x="4389120" y="4754880"/>
            <a:ext cx="777240" cy="228600"/>
          </a:xfrm>
          <a:prstGeom prst="rect">
            <a:avLst/>
          </a:prstGeom>
          <a:noFill/>
          <a:ln/>
        </p:spPr>
        <p:txBody>
          <a:bodyPr wrap="square" rtlCol="0" anchor="ctr"/>
          <a:lstStyle/>
          <a:p>
            <a:pPr marL="0" indent="0" algn="ctr">
              <a:buNone/>
            </a:pPr>
            <a:r>
              <a:rPr lang="en-US" sz="800" dirty="0">
                <a:solidFill>
                  <a:srgbClr val="636E72"/>
                </a:solidFill>
                <a:latin typeface="Cascadia Code" pitchFamily="34" charset="0"/>
                <a:ea typeface="Cascadia Code" pitchFamily="34" charset="-122"/>
                <a:cs typeface="Cascadia Code" pitchFamily="34" charset="-120"/>
              </a:rPr>
              <a:t>Fri</a:t>
            </a:r>
            <a:endParaRPr lang="en-US" sz="800" dirty="0"/>
          </a:p>
        </p:txBody>
      </p:sp>
      <p:sp>
        <p:nvSpPr>
          <p:cNvPr id="22" name="Shape 20"/>
          <p:cNvSpPr/>
          <p:nvPr/>
        </p:nvSpPr>
        <p:spPr>
          <a:xfrm>
            <a:off x="5486400" y="1645920"/>
            <a:ext cx="0" cy="3474720"/>
          </a:xfrm>
          <a:prstGeom prst="line">
            <a:avLst/>
          </a:prstGeom>
          <a:noFill/>
          <a:ln w="12700">
            <a:solidFill>
              <a:srgbClr val="DDDDDD"/>
            </a:solidFill>
            <a:prstDash val="dash"/>
          </a:ln>
        </p:spPr>
        <p:txBody>
          <a:bodyPr/>
          <a:lstStyle/>
          <a:p>
            <a:endParaRPr lang="en-US"/>
          </a:p>
        </p:txBody>
      </p:sp>
      <p:sp>
        <p:nvSpPr>
          <p:cNvPr id="23" name="Text 21"/>
          <p:cNvSpPr/>
          <p:nvPr/>
        </p:nvSpPr>
        <p:spPr>
          <a:xfrm>
            <a:off x="5669280" y="1691640"/>
            <a:ext cx="5760720" cy="228600"/>
          </a:xfrm>
          <a:prstGeom prst="rect">
            <a:avLst/>
          </a:prstGeom>
          <a:noFill/>
          <a:ln/>
        </p:spPr>
        <p:txBody>
          <a:bodyPr wrap="square" rtlCol="0" anchor="ctr"/>
          <a:lstStyle/>
          <a:p>
            <a:pPr marL="0" indent="0" algn="ctr">
              <a:buNone/>
            </a:pPr>
            <a:r>
              <a:rPr lang="en-US" sz="800" b="1" kern="0" spc="100" dirty="0">
                <a:solidFill>
                  <a:srgbClr val="00B894"/>
                </a:solidFill>
                <a:latin typeface="Cascadia Code" pitchFamily="34" charset="0"/>
                <a:ea typeface="Cascadia Code" pitchFamily="34" charset="-122"/>
                <a:cs typeface="Cascadia Code" pitchFamily="34" charset="-120"/>
              </a:rPr>
              <a:t>AFTER — INCREMENTAL DIFF ONLY</a:t>
            </a:r>
            <a:endParaRPr lang="en-US" sz="800" dirty="0"/>
          </a:p>
        </p:txBody>
      </p:sp>
      <p:sp>
        <p:nvSpPr>
          <p:cNvPr id="24" name="Shape 22"/>
          <p:cNvSpPr/>
          <p:nvPr/>
        </p:nvSpPr>
        <p:spPr>
          <a:xfrm>
            <a:off x="5760720" y="1965960"/>
            <a:ext cx="777240" cy="2743200"/>
          </a:xfrm>
          <a:prstGeom prst="rect">
            <a:avLst/>
          </a:prstGeom>
          <a:solidFill>
            <a:srgbClr val="10B981">
              <a:alpha val="85000"/>
            </a:srgbClr>
          </a:solidFill>
          <a:ln w="12700">
            <a:solidFill>
              <a:srgbClr val="10B981"/>
            </a:solidFill>
            <a:prstDash val="solid"/>
          </a:ln>
        </p:spPr>
        <p:txBody>
          <a:bodyPr/>
          <a:lstStyle/>
          <a:p>
            <a:endParaRPr lang="en-US"/>
          </a:p>
        </p:txBody>
      </p:sp>
      <p:sp>
        <p:nvSpPr>
          <p:cNvPr id="25" name="Text 23"/>
          <p:cNvSpPr/>
          <p:nvPr/>
        </p:nvSpPr>
        <p:spPr>
          <a:xfrm>
            <a:off x="5760720" y="2743200"/>
            <a:ext cx="777240" cy="548640"/>
          </a:xfrm>
          <a:prstGeom prst="rect">
            <a:avLst/>
          </a:prstGeom>
          <a:noFill/>
          <a:ln/>
        </p:spPr>
        <p:txBody>
          <a:bodyPr wrap="square" rtlCol="0" anchor="ctr"/>
          <a:lstStyle/>
          <a:p>
            <a:pPr marL="0" indent="0" algn="ctr">
              <a:buNone/>
            </a:pPr>
            <a:r>
              <a:rPr lang="en-US" sz="700" dirty="0">
                <a:solidFill>
                  <a:srgbClr val="FFFFFF"/>
                </a:solidFill>
                <a:latin typeface="Cascadia Code" pitchFamily="34" charset="0"/>
                <a:ea typeface="Cascadia Code" pitchFamily="34" charset="-122"/>
                <a:cs typeface="Cascadia Code" pitchFamily="34" charset="-120"/>
              </a:rPr>
              <a:t>50 files</a:t>
            </a:r>
            <a:endParaRPr lang="en-US" sz="700" dirty="0"/>
          </a:p>
          <a:p>
            <a:pPr marL="0" indent="0" algn="ctr">
              <a:buNone/>
            </a:pPr>
            <a:r>
              <a:rPr lang="en-US" sz="700" dirty="0">
                <a:solidFill>
                  <a:srgbClr val="FFFFFF"/>
                </a:solidFill>
                <a:latin typeface="Cascadia Code" pitchFamily="34" charset="0"/>
                <a:ea typeface="Cascadia Code" pitchFamily="34" charset="-122"/>
                <a:cs typeface="Cascadia Code" pitchFamily="34" charset="-120"/>
              </a:rPr>
              <a:t>baseline</a:t>
            </a:r>
            <a:endParaRPr lang="en-US" sz="700" dirty="0"/>
          </a:p>
        </p:txBody>
      </p:sp>
      <p:sp>
        <p:nvSpPr>
          <p:cNvPr id="26" name="Text 24"/>
          <p:cNvSpPr/>
          <p:nvPr/>
        </p:nvSpPr>
        <p:spPr>
          <a:xfrm>
            <a:off x="5760720" y="4754880"/>
            <a:ext cx="777240" cy="228600"/>
          </a:xfrm>
          <a:prstGeom prst="rect">
            <a:avLst/>
          </a:prstGeom>
          <a:noFill/>
          <a:ln/>
        </p:spPr>
        <p:txBody>
          <a:bodyPr wrap="square" rtlCol="0" anchor="ctr"/>
          <a:lstStyle/>
          <a:p>
            <a:pPr marL="0" indent="0" algn="ctr">
              <a:buNone/>
            </a:pPr>
            <a:r>
              <a:rPr lang="en-US" sz="800" dirty="0">
                <a:solidFill>
                  <a:srgbClr val="636E72"/>
                </a:solidFill>
                <a:latin typeface="Cascadia Code" pitchFamily="34" charset="0"/>
                <a:ea typeface="Cascadia Code" pitchFamily="34" charset="-122"/>
                <a:cs typeface="Cascadia Code" pitchFamily="34" charset="-120"/>
              </a:rPr>
              <a:t>Mon</a:t>
            </a:r>
            <a:endParaRPr lang="en-US" sz="800" dirty="0"/>
          </a:p>
        </p:txBody>
      </p:sp>
      <p:sp>
        <p:nvSpPr>
          <p:cNvPr id="27" name="Shape 25"/>
          <p:cNvSpPr/>
          <p:nvPr/>
        </p:nvSpPr>
        <p:spPr>
          <a:xfrm>
            <a:off x="6720840" y="4251960"/>
            <a:ext cx="777240" cy="457200"/>
          </a:xfrm>
          <a:prstGeom prst="rect">
            <a:avLst/>
          </a:prstGeom>
          <a:solidFill>
            <a:srgbClr val="10B981">
              <a:alpha val="70000"/>
            </a:srgbClr>
          </a:solidFill>
          <a:ln w="12700">
            <a:solidFill>
              <a:srgbClr val="10B981"/>
            </a:solidFill>
            <a:prstDash val="solid"/>
          </a:ln>
        </p:spPr>
        <p:txBody>
          <a:bodyPr/>
          <a:lstStyle/>
          <a:p>
            <a:endParaRPr lang="en-US"/>
          </a:p>
        </p:txBody>
      </p:sp>
      <p:sp>
        <p:nvSpPr>
          <p:cNvPr id="28" name="Text 26"/>
          <p:cNvSpPr/>
          <p:nvPr/>
        </p:nvSpPr>
        <p:spPr>
          <a:xfrm>
            <a:off x="6720840" y="4050792"/>
            <a:ext cx="777240" cy="201168"/>
          </a:xfrm>
          <a:prstGeom prst="rect">
            <a:avLst/>
          </a:prstGeom>
          <a:noFill/>
          <a:ln/>
        </p:spPr>
        <p:txBody>
          <a:bodyPr wrap="square" rtlCol="0" anchor="ctr"/>
          <a:lstStyle/>
          <a:p>
            <a:pPr marL="0" indent="0" algn="ctr">
              <a:buNone/>
            </a:pPr>
            <a:r>
              <a:rPr lang="en-US" sz="700" dirty="0">
                <a:solidFill>
                  <a:srgbClr val="636E72"/>
                </a:solidFill>
                <a:latin typeface="Cascadia Code" pitchFamily="34" charset="0"/>
                <a:ea typeface="Cascadia Code" pitchFamily="34" charset="-122"/>
                <a:cs typeface="Cascadia Code" pitchFamily="34" charset="-120"/>
              </a:rPr>
              <a:t>2 files</a:t>
            </a:r>
            <a:endParaRPr lang="en-US" sz="700" dirty="0"/>
          </a:p>
        </p:txBody>
      </p:sp>
      <p:sp>
        <p:nvSpPr>
          <p:cNvPr id="29" name="Text 27"/>
          <p:cNvSpPr/>
          <p:nvPr/>
        </p:nvSpPr>
        <p:spPr>
          <a:xfrm>
            <a:off x="6720840" y="4754880"/>
            <a:ext cx="777240" cy="228600"/>
          </a:xfrm>
          <a:prstGeom prst="rect">
            <a:avLst/>
          </a:prstGeom>
          <a:noFill/>
          <a:ln/>
        </p:spPr>
        <p:txBody>
          <a:bodyPr wrap="square" rtlCol="0" anchor="ctr"/>
          <a:lstStyle/>
          <a:p>
            <a:pPr marL="0" indent="0" algn="ctr">
              <a:buNone/>
            </a:pPr>
            <a:r>
              <a:rPr lang="en-US" sz="800" dirty="0">
                <a:solidFill>
                  <a:srgbClr val="636E72"/>
                </a:solidFill>
                <a:latin typeface="Cascadia Code" pitchFamily="34" charset="0"/>
                <a:ea typeface="Cascadia Code" pitchFamily="34" charset="-122"/>
                <a:cs typeface="Cascadia Code" pitchFamily="34" charset="-120"/>
              </a:rPr>
              <a:t>Tue</a:t>
            </a:r>
            <a:endParaRPr lang="en-US" sz="800" dirty="0"/>
          </a:p>
        </p:txBody>
      </p:sp>
      <p:sp>
        <p:nvSpPr>
          <p:cNvPr id="30" name="Shape 28"/>
          <p:cNvSpPr/>
          <p:nvPr/>
        </p:nvSpPr>
        <p:spPr>
          <a:xfrm>
            <a:off x="7680960" y="4069080"/>
            <a:ext cx="777240" cy="640080"/>
          </a:xfrm>
          <a:prstGeom prst="rect">
            <a:avLst/>
          </a:prstGeom>
          <a:solidFill>
            <a:srgbClr val="10B981">
              <a:alpha val="70000"/>
            </a:srgbClr>
          </a:solidFill>
          <a:ln w="12700">
            <a:solidFill>
              <a:srgbClr val="10B981"/>
            </a:solidFill>
            <a:prstDash val="solid"/>
          </a:ln>
        </p:spPr>
        <p:txBody>
          <a:bodyPr/>
          <a:lstStyle/>
          <a:p>
            <a:endParaRPr lang="en-US"/>
          </a:p>
        </p:txBody>
      </p:sp>
      <p:sp>
        <p:nvSpPr>
          <p:cNvPr id="31" name="Text 29"/>
          <p:cNvSpPr/>
          <p:nvPr/>
        </p:nvSpPr>
        <p:spPr>
          <a:xfrm>
            <a:off x="7680960" y="3867912"/>
            <a:ext cx="777240" cy="201168"/>
          </a:xfrm>
          <a:prstGeom prst="rect">
            <a:avLst/>
          </a:prstGeom>
          <a:noFill/>
          <a:ln/>
        </p:spPr>
        <p:txBody>
          <a:bodyPr wrap="square" rtlCol="0" anchor="ctr"/>
          <a:lstStyle/>
          <a:p>
            <a:pPr marL="0" indent="0" algn="ctr">
              <a:buNone/>
            </a:pPr>
            <a:r>
              <a:rPr lang="en-US" sz="700" dirty="0">
                <a:solidFill>
                  <a:srgbClr val="636E72"/>
                </a:solidFill>
                <a:latin typeface="Cascadia Code" pitchFamily="34" charset="0"/>
                <a:ea typeface="Cascadia Code" pitchFamily="34" charset="-122"/>
                <a:cs typeface="Cascadia Code" pitchFamily="34" charset="-120"/>
              </a:rPr>
              <a:t>3 files</a:t>
            </a:r>
            <a:endParaRPr lang="en-US" sz="700" dirty="0"/>
          </a:p>
        </p:txBody>
      </p:sp>
      <p:sp>
        <p:nvSpPr>
          <p:cNvPr id="32" name="Text 30"/>
          <p:cNvSpPr/>
          <p:nvPr/>
        </p:nvSpPr>
        <p:spPr>
          <a:xfrm>
            <a:off x="7680960" y="4754880"/>
            <a:ext cx="777240" cy="228600"/>
          </a:xfrm>
          <a:prstGeom prst="rect">
            <a:avLst/>
          </a:prstGeom>
          <a:noFill/>
          <a:ln/>
        </p:spPr>
        <p:txBody>
          <a:bodyPr wrap="square" rtlCol="0" anchor="ctr"/>
          <a:lstStyle/>
          <a:p>
            <a:pPr marL="0" indent="0" algn="ctr">
              <a:buNone/>
            </a:pPr>
            <a:r>
              <a:rPr lang="en-US" sz="800" dirty="0">
                <a:solidFill>
                  <a:srgbClr val="636E72"/>
                </a:solidFill>
                <a:latin typeface="Cascadia Code" pitchFamily="34" charset="0"/>
                <a:ea typeface="Cascadia Code" pitchFamily="34" charset="-122"/>
                <a:cs typeface="Cascadia Code" pitchFamily="34" charset="-120"/>
              </a:rPr>
              <a:t>Wed</a:t>
            </a:r>
            <a:endParaRPr lang="en-US" sz="800" dirty="0"/>
          </a:p>
        </p:txBody>
      </p:sp>
      <p:sp>
        <p:nvSpPr>
          <p:cNvPr id="33" name="Shape 31"/>
          <p:cNvSpPr/>
          <p:nvPr/>
        </p:nvSpPr>
        <p:spPr>
          <a:xfrm>
            <a:off x="8641080" y="4389120"/>
            <a:ext cx="777240" cy="320040"/>
          </a:xfrm>
          <a:prstGeom prst="rect">
            <a:avLst/>
          </a:prstGeom>
          <a:solidFill>
            <a:srgbClr val="10B981">
              <a:alpha val="70000"/>
            </a:srgbClr>
          </a:solidFill>
          <a:ln w="12700">
            <a:solidFill>
              <a:srgbClr val="10B981"/>
            </a:solidFill>
            <a:prstDash val="solid"/>
          </a:ln>
        </p:spPr>
        <p:txBody>
          <a:bodyPr/>
          <a:lstStyle/>
          <a:p>
            <a:endParaRPr lang="en-US"/>
          </a:p>
        </p:txBody>
      </p:sp>
      <p:sp>
        <p:nvSpPr>
          <p:cNvPr id="34" name="Text 32"/>
          <p:cNvSpPr/>
          <p:nvPr/>
        </p:nvSpPr>
        <p:spPr>
          <a:xfrm>
            <a:off x="8641080" y="4187952"/>
            <a:ext cx="777240" cy="201168"/>
          </a:xfrm>
          <a:prstGeom prst="rect">
            <a:avLst/>
          </a:prstGeom>
          <a:noFill/>
          <a:ln/>
        </p:spPr>
        <p:txBody>
          <a:bodyPr wrap="square" rtlCol="0" anchor="ctr"/>
          <a:lstStyle/>
          <a:p>
            <a:pPr marL="0" indent="0" algn="ctr">
              <a:buNone/>
            </a:pPr>
            <a:r>
              <a:rPr lang="en-US" sz="700" dirty="0">
                <a:solidFill>
                  <a:srgbClr val="636E72"/>
                </a:solidFill>
                <a:latin typeface="Cascadia Code" pitchFamily="34" charset="0"/>
                <a:ea typeface="Cascadia Code" pitchFamily="34" charset="-122"/>
                <a:cs typeface="Cascadia Code" pitchFamily="34" charset="-120"/>
              </a:rPr>
              <a:t>1 file</a:t>
            </a:r>
            <a:endParaRPr lang="en-US" sz="700" dirty="0"/>
          </a:p>
        </p:txBody>
      </p:sp>
      <p:sp>
        <p:nvSpPr>
          <p:cNvPr id="35" name="Text 33"/>
          <p:cNvSpPr/>
          <p:nvPr/>
        </p:nvSpPr>
        <p:spPr>
          <a:xfrm>
            <a:off x="8641080" y="4754880"/>
            <a:ext cx="777240" cy="228600"/>
          </a:xfrm>
          <a:prstGeom prst="rect">
            <a:avLst/>
          </a:prstGeom>
          <a:noFill/>
          <a:ln/>
        </p:spPr>
        <p:txBody>
          <a:bodyPr wrap="square" rtlCol="0" anchor="ctr"/>
          <a:lstStyle/>
          <a:p>
            <a:pPr marL="0" indent="0" algn="ctr">
              <a:buNone/>
            </a:pPr>
            <a:r>
              <a:rPr lang="en-US" sz="800" dirty="0">
                <a:solidFill>
                  <a:srgbClr val="636E72"/>
                </a:solidFill>
                <a:latin typeface="Cascadia Code" pitchFamily="34" charset="0"/>
                <a:ea typeface="Cascadia Code" pitchFamily="34" charset="-122"/>
                <a:cs typeface="Cascadia Code" pitchFamily="34" charset="-120"/>
              </a:rPr>
              <a:t>Thu</a:t>
            </a:r>
            <a:endParaRPr lang="en-US" sz="800" dirty="0"/>
          </a:p>
        </p:txBody>
      </p:sp>
      <p:sp>
        <p:nvSpPr>
          <p:cNvPr id="36" name="Shape 34"/>
          <p:cNvSpPr/>
          <p:nvPr/>
        </p:nvSpPr>
        <p:spPr>
          <a:xfrm>
            <a:off x="9601200" y="4206240"/>
            <a:ext cx="777240" cy="502920"/>
          </a:xfrm>
          <a:prstGeom prst="rect">
            <a:avLst/>
          </a:prstGeom>
          <a:solidFill>
            <a:srgbClr val="10B981">
              <a:alpha val="70000"/>
            </a:srgbClr>
          </a:solidFill>
          <a:ln w="12700">
            <a:solidFill>
              <a:srgbClr val="10B981"/>
            </a:solidFill>
            <a:prstDash val="solid"/>
          </a:ln>
        </p:spPr>
        <p:txBody>
          <a:bodyPr/>
          <a:lstStyle/>
          <a:p>
            <a:endParaRPr lang="en-US"/>
          </a:p>
        </p:txBody>
      </p:sp>
      <p:sp>
        <p:nvSpPr>
          <p:cNvPr id="37" name="Text 35"/>
          <p:cNvSpPr/>
          <p:nvPr/>
        </p:nvSpPr>
        <p:spPr>
          <a:xfrm>
            <a:off x="9601200" y="4005072"/>
            <a:ext cx="777240" cy="201168"/>
          </a:xfrm>
          <a:prstGeom prst="rect">
            <a:avLst/>
          </a:prstGeom>
          <a:noFill/>
          <a:ln/>
        </p:spPr>
        <p:txBody>
          <a:bodyPr wrap="square" rtlCol="0" anchor="ctr"/>
          <a:lstStyle/>
          <a:p>
            <a:pPr marL="0" indent="0" algn="ctr">
              <a:buNone/>
            </a:pPr>
            <a:r>
              <a:rPr lang="en-US" sz="700" dirty="0">
                <a:solidFill>
                  <a:srgbClr val="636E72"/>
                </a:solidFill>
                <a:latin typeface="Cascadia Code" pitchFamily="34" charset="0"/>
                <a:ea typeface="Cascadia Code" pitchFamily="34" charset="-122"/>
                <a:cs typeface="Cascadia Code" pitchFamily="34" charset="-120"/>
              </a:rPr>
              <a:t>2 files</a:t>
            </a:r>
            <a:endParaRPr lang="en-US" sz="700" dirty="0"/>
          </a:p>
        </p:txBody>
      </p:sp>
      <p:sp>
        <p:nvSpPr>
          <p:cNvPr id="38" name="Text 36"/>
          <p:cNvSpPr/>
          <p:nvPr/>
        </p:nvSpPr>
        <p:spPr>
          <a:xfrm>
            <a:off x="9601200" y="4754880"/>
            <a:ext cx="777240" cy="228600"/>
          </a:xfrm>
          <a:prstGeom prst="rect">
            <a:avLst/>
          </a:prstGeom>
          <a:noFill/>
          <a:ln/>
        </p:spPr>
        <p:txBody>
          <a:bodyPr wrap="square" rtlCol="0" anchor="ctr"/>
          <a:lstStyle/>
          <a:p>
            <a:pPr marL="0" indent="0" algn="ctr">
              <a:buNone/>
            </a:pPr>
            <a:r>
              <a:rPr lang="en-US" sz="800" dirty="0">
                <a:solidFill>
                  <a:srgbClr val="636E72"/>
                </a:solidFill>
                <a:latin typeface="Cascadia Code" pitchFamily="34" charset="0"/>
                <a:ea typeface="Cascadia Code" pitchFamily="34" charset="-122"/>
                <a:cs typeface="Cascadia Code" pitchFamily="34" charset="-120"/>
              </a:rPr>
              <a:t>Fri</a:t>
            </a:r>
            <a:endParaRPr lang="en-US" sz="800" dirty="0"/>
          </a:p>
        </p:txBody>
      </p:sp>
      <p:sp>
        <p:nvSpPr>
          <p:cNvPr id="39" name="Shape 37"/>
          <p:cNvSpPr/>
          <p:nvPr/>
        </p:nvSpPr>
        <p:spPr>
          <a:xfrm>
            <a:off x="6720840" y="1965960"/>
            <a:ext cx="4206240" cy="1463040"/>
          </a:xfrm>
          <a:prstGeom prst="roundRect">
            <a:avLst>
              <a:gd name="adj" fmla="val 6250"/>
            </a:avLst>
          </a:prstGeom>
          <a:solidFill>
            <a:srgbClr val="EDFAF5"/>
          </a:solidFill>
          <a:ln w="12700">
            <a:solidFill>
              <a:srgbClr val="10B981"/>
            </a:solidFill>
            <a:prstDash val="solid"/>
          </a:ln>
        </p:spPr>
        <p:txBody>
          <a:bodyPr/>
          <a:lstStyle/>
          <a:p>
            <a:endParaRPr lang="en-US"/>
          </a:p>
        </p:txBody>
      </p:sp>
      <p:sp>
        <p:nvSpPr>
          <p:cNvPr id="40" name="Text 38"/>
          <p:cNvSpPr/>
          <p:nvPr/>
        </p:nvSpPr>
        <p:spPr>
          <a:xfrm>
            <a:off x="6720840" y="2103120"/>
            <a:ext cx="4206240" cy="822960"/>
          </a:xfrm>
          <a:prstGeom prst="rect">
            <a:avLst/>
          </a:prstGeom>
          <a:noFill/>
          <a:ln/>
        </p:spPr>
        <p:txBody>
          <a:bodyPr wrap="square" rtlCol="0" anchor="ctr"/>
          <a:lstStyle/>
          <a:p>
            <a:pPr marL="0" indent="0" algn="ctr">
              <a:buNone/>
            </a:pPr>
            <a:r>
              <a:rPr lang="en-US" sz="3600" b="1" dirty="0">
                <a:solidFill>
                  <a:srgbClr val="00B894"/>
                </a:solidFill>
                <a:latin typeface="Georgia" pitchFamily="34" charset="0"/>
                <a:ea typeface="Georgia" pitchFamily="34" charset="-122"/>
                <a:cs typeface="Georgia" pitchFamily="34" charset="-120"/>
              </a:rPr>
              <a:t>80–95%</a:t>
            </a:r>
            <a:endParaRPr lang="en-US" sz="3600" dirty="0"/>
          </a:p>
        </p:txBody>
      </p:sp>
      <p:sp>
        <p:nvSpPr>
          <p:cNvPr id="41" name="Text 39"/>
          <p:cNvSpPr/>
          <p:nvPr/>
        </p:nvSpPr>
        <p:spPr>
          <a:xfrm>
            <a:off x="6720840" y="2880360"/>
            <a:ext cx="4206240" cy="320040"/>
          </a:xfrm>
          <a:prstGeom prst="rect">
            <a:avLst/>
          </a:prstGeom>
          <a:noFill/>
          <a:ln/>
        </p:spPr>
        <p:txBody>
          <a:bodyPr wrap="square" rtlCol="0" anchor="ctr"/>
          <a:lstStyle/>
          <a:p>
            <a:pPr marL="0" indent="0" algn="ctr">
              <a:buNone/>
            </a:pPr>
            <a:r>
              <a:rPr lang="en-US" sz="900" dirty="0">
                <a:solidFill>
                  <a:srgbClr val="636E72"/>
                </a:solidFill>
                <a:latin typeface="Cascadia Code" pitchFamily="34" charset="0"/>
                <a:ea typeface="Cascadia Code" pitchFamily="34" charset="-122"/>
                <a:cs typeface="Cascadia Code" pitchFamily="34" charset="-120"/>
              </a:rPr>
              <a:t>token savings after first run</a:t>
            </a:r>
            <a:endParaRPr lang="en-US" sz="900" dirty="0"/>
          </a:p>
        </p:txBody>
      </p:sp>
      <p:sp>
        <p:nvSpPr>
          <p:cNvPr id="42" name="Text 40"/>
          <p:cNvSpPr/>
          <p:nvPr/>
        </p:nvSpPr>
        <p:spPr>
          <a:xfrm>
            <a:off x="457200" y="5212080"/>
            <a:ext cx="11247120" cy="365760"/>
          </a:xfrm>
          <a:prstGeom prst="rect">
            <a:avLst/>
          </a:prstGeom>
          <a:noFill/>
          <a:ln/>
        </p:spPr>
        <p:txBody>
          <a:bodyPr wrap="square" rtlCol="0" anchor="ctr"/>
          <a:lstStyle/>
          <a:p>
            <a:pPr marL="0" indent="0" algn="ctr">
              <a:buNone/>
            </a:pPr>
            <a:r>
              <a:rPr lang="en-US" sz="1200" i="1" dirty="0">
                <a:solidFill>
                  <a:srgbClr val="636E72"/>
                </a:solidFill>
                <a:latin typeface="Segoe UI" pitchFamily="34" charset="0"/>
                <a:ea typeface="Segoe UI" pitchFamily="34" charset="-122"/>
                <a:cs typeface="Segoe UI" pitchFamily="34" charset="-120"/>
              </a:rPr>
              <a:t>This is Dev B’s morning — every morning. Re-reading raw text is not understanding.</a:t>
            </a:r>
            <a:endParaRPr lang="en-US" sz="1200" dirty="0"/>
          </a:p>
        </p:txBody>
      </p:sp>
      <p:sp>
        <p:nvSpPr>
          <p:cNvPr id="43" name="Text 41"/>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30 / 45</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Build the map once — for the machine to traverse</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Text 3"/>
          <p:cNvSpPr/>
          <p:nvPr/>
        </p:nvSpPr>
        <p:spPr>
          <a:xfrm>
            <a:off x="457200" y="868680"/>
            <a:ext cx="11247120" cy="548640"/>
          </a:xfrm>
          <a:prstGeom prst="rect">
            <a:avLst/>
          </a:prstGeom>
          <a:noFill/>
          <a:ln/>
        </p:spPr>
        <p:txBody>
          <a:bodyPr wrap="square" rtlCol="0" anchor="ctr"/>
          <a:lstStyle/>
          <a:p>
            <a:pPr marL="0" indent="0">
              <a:buNone/>
            </a:pPr>
            <a:r>
              <a:rPr lang="en-US" sz="1300" dirty="0">
                <a:solidFill>
                  <a:srgbClr val="636E72"/>
                </a:solidFill>
                <a:latin typeface="Segoe UI" pitchFamily="34" charset="0"/>
                <a:ea typeface="Segoe UI" pitchFamily="34" charset="-122"/>
                <a:cs typeface="Segoe UI" pitchFamily="34" charset="-120"/>
              </a:rPr>
              <a:t>The knowledge graph is the single place the AI orients from: a machine-readable structure it traverses and searches in milliseconds. The old per-feature domain-map was retired into it (ADR 0038).</a:t>
            </a:r>
            <a:endParaRPr lang="en-US" sz="1300" dirty="0"/>
          </a:p>
        </p:txBody>
      </p:sp>
      <p:sp>
        <p:nvSpPr>
          <p:cNvPr id="6" name="Shape 4"/>
          <p:cNvSpPr/>
          <p:nvPr/>
        </p:nvSpPr>
        <p:spPr>
          <a:xfrm>
            <a:off x="457200" y="1554480"/>
            <a:ext cx="7589520" cy="3383280"/>
          </a:xfrm>
          <a:prstGeom prst="roundRect">
            <a:avLst>
              <a:gd name="adj" fmla="val 2162"/>
            </a:avLst>
          </a:prstGeom>
          <a:solidFill>
            <a:srgbClr val="0D1F35"/>
          </a:solidFill>
          <a:ln w="12700">
            <a:solidFill>
              <a:srgbClr val="2C5F8A"/>
            </a:solidFill>
            <a:prstDash val="solid"/>
          </a:ln>
        </p:spPr>
        <p:txBody>
          <a:bodyPr/>
          <a:lstStyle/>
          <a:p>
            <a:endParaRPr lang="en-US"/>
          </a:p>
        </p:txBody>
      </p:sp>
      <p:sp>
        <p:nvSpPr>
          <p:cNvPr id="7" name="Text 5"/>
          <p:cNvSpPr/>
          <p:nvPr/>
        </p:nvSpPr>
        <p:spPr>
          <a:xfrm>
            <a:off x="640080" y="1691640"/>
            <a:ext cx="7315200" cy="3108960"/>
          </a:xfrm>
          <a:prstGeom prst="rect">
            <a:avLst/>
          </a:prstGeom>
          <a:noFill/>
          <a:ln/>
        </p:spPr>
        <p:txBody>
          <a:bodyPr wrap="square" rtlCol="0" anchor="t"/>
          <a:lstStyle/>
          <a:p>
            <a:pPr marL="0" indent="0">
              <a:lnSpc>
                <a:spcPct val="105000"/>
              </a:lnSpc>
              <a:buNone/>
            </a:pPr>
            <a:r>
              <a:rPr lang="en-US" sz="950" dirty="0">
                <a:solidFill>
                  <a:srgbClr val="CDD9E6"/>
                </a:solidFill>
                <a:latin typeface="Cascadia Code" pitchFamily="34" charset="0"/>
                <a:ea typeface="Cascadia Code" pitchFamily="34" charset="-122"/>
                <a:cs typeface="Cascadia Code" pitchFamily="34" charset="-120"/>
              </a:rPr>
              <a:t>.claude/graph/</a:t>
            </a:r>
            <a:endParaRPr lang="en-US" sz="950" dirty="0"/>
          </a:p>
          <a:p>
            <a:pPr marL="0" indent="0">
              <a:lnSpc>
                <a:spcPct val="105000"/>
              </a:lnSpc>
              <a:buNone/>
            </a:pPr>
            <a:r>
              <a:rPr lang="en-US" sz="950" dirty="0">
                <a:solidFill>
                  <a:srgbClr val="CDD9E6"/>
                </a:solidFill>
                <a:latin typeface="Cascadia Code" pitchFamily="34" charset="0"/>
                <a:ea typeface="Cascadia Code" pitchFamily="34" charset="-122"/>
                <a:cs typeface="Cascadia Code" pitchFamily="34" charset="-120"/>
              </a:rPr>
              <a:t>├─ graph.json      structure of record: typed nodes +</a:t>
            </a:r>
            <a:endParaRPr lang="en-US" sz="950" dirty="0"/>
          </a:p>
          <a:p>
            <a:pPr marL="0" indent="0">
              <a:lnSpc>
                <a:spcPct val="105000"/>
              </a:lnSpc>
              <a:buNone/>
            </a:pPr>
            <a:r>
              <a:rPr lang="en-US" sz="950" dirty="0">
                <a:solidFill>
                  <a:srgbClr val="CDD9E6"/>
                </a:solidFill>
                <a:latin typeface="Cascadia Code" pitchFamily="34" charset="0"/>
                <a:ea typeface="Cascadia Code" pitchFamily="34" charset="-122"/>
                <a:cs typeface="Cascadia Code" pitchFamily="34" charset="-120"/>
              </a:rPr>
              <a:t>│                 edges (confidence), fingerprints. committed.</a:t>
            </a:r>
            <a:endParaRPr lang="en-US" sz="950" dirty="0"/>
          </a:p>
          <a:p>
            <a:pPr marL="0" indent="0">
              <a:lnSpc>
                <a:spcPct val="105000"/>
              </a:lnSpc>
              <a:buNone/>
            </a:pPr>
            <a:r>
              <a:rPr lang="en-US" sz="950" dirty="0">
                <a:solidFill>
                  <a:srgbClr val="CDD9E6"/>
                </a:solidFill>
                <a:latin typeface="Cascadia Code" pitchFamily="34" charset="0"/>
                <a:ea typeface="Cascadia Code" pitchFamily="34" charset="-122"/>
                <a:cs typeface="Cascadia Code" pitchFamily="34" charset="-120"/>
              </a:rPr>
              <a:t>├─ graph-index.md  always-loaded map — 1 row/module.</a:t>
            </a:r>
            <a:endParaRPr lang="en-US" sz="950" dirty="0"/>
          </a:p>
          <a:p>
            <a:pPr marL="0" indent="0">
              <a:lnSpc>
                <a:spcPct val="105000"/>
              </a:lnSpc>
              <a:buNone/>
            </a:pPr>
            <a:r>
              <a:rPr lang="en-US" sz="950" dirty="0">
                <a:solidFill>
                  <a:srgbClr val="CDD9E6"/>
                </a:solidFill>
                <a:latin typeface="Cascadia Code" pitchFamily="34" charset="0"/>
                <a:ea typeface="Cascadia Code" pitchFamily="34" charset="-122"/>
                <a:cs typeface="Cascadia Code" pitchFamily="34" charset="-120"/>
              </a:rPr>
              <a:t>│                 paths: always   ( &lt; 350 tokens )</a:t>
            </a:r>
            <a:endParaRPr lang="en-US" sz="950" dirty="0"/>
          </a:p>
          <a:p>
            <a:pPr marL="0" indent="0">
              <a:lnSpc>
                <a:spcPct val="105000"/>
              </a:lnSpc>
              <a:buNone/>
            </a:pPr>
            <a:r>
              <a:rPr lang="en-US" sz="950" dirty="0">
                <a:solidFill>
                  <a:srgbClr val="CDD9E6"/>
                </a:solidFill>
                <a:latin typeface="Cascadia Code" pitchFamily="34" charset="0"/>
                <a:ea typeface="Cascadia Code" pitchFamily="34" charset="-122"/>
                <a:cs typeface="Cascadia Code" pitchFamily="34" charset="-120"/>
              </a:rPr>
              <a:t>├─ orders.md   ┐   per-module detail (200–400 tokens):</a:t>
            </a:r>
            <a:endParaRPr lang="en-US" sz="950" dirty="0"/>
          </a:p>
          <a:p>
            <a:pPr marL="0" indent="0">
              <a:lnSpc>
                <a:spcPct val="105000"/>
              </a:lnSpc>
              <a:buNone/>
            </a:pPr>
            <a:r>
              <a:rPr lang="en-US" sz="950" dirty="0">
                <a:solidFill>
                  <a:srgbClr val="CDD9E6"/>
                </a:solidFill>
                <a:latin typeface="Cascadia Code" pitchFamily="34" charset="0"/>
                <a:ea typeface="Cascadia Code" pitchFamily="34" charset="-122"/>
                <a:cs typeface="Cascadia Code" pitchFamily="34" charset="-120"/>
              </a:rPr>
              <a:t>├─ payments.md ┤   purpose, key files, deps, fingerprint;</a:t>
            </a:r>
            <a:endParaRPr lang="en-US" sz="950" dirty="0"/>
          </a:p>
          <a:p>
            <a:pPr marL="0" indent="0">
              <a:lnSpc>
                <a:spcPct val="105000"/>
              </a:lnSpc>
              <a:buNone/>
            </a:pPr>
            <a:r>
              <a:rPr lang="en-US" sz="950" dirty="0">
                <a:solidFill>
                  <a:srgbClr val="CDD9E6"/>
                </a:solidFill>
                <a:latin typeface="Cascadia Code" pitchFamily="34" charset="0"/>
                <a:ea typeface="Cascadia Code" pitchFamily="34" charset="-122"/>
                <a:cs typeface="Cascadia Code" pitchFamily="34" charset="-120"/>
              </a:rPr>
              <a:t>├─ auth.md     ┘   auto-loads via  paths: src/&lt;Module&gt;/**</a:t>
            </a:r>
            <a:endParaRPr lang="en-US" sz="950" dirty="0"/>
          </a:p>
          <a:p>
            <a:pPr marL="0" indent="0">
              <a:lnSpc>
                <a:spcPct val="105000"/>
              </a:lnSpc>
              <a:buNone/>
            </a:pPr>
            <a:r>
              <a:rPr lang="en-US" sz="950" dirty="0">
                <a:solidFill>
                  <a:srgbClr val="CDD9E6"/>
                </a:solidFill>
                <a:latin typeface="Cascadia Code" pitchFamily="34" charset="0"/>
                <a:ea typeface="Cascadia Code" pitchFamily="34" charset="-122"/>
                <a:cs typeface="Cascadia Code" pitchFamily="34" charset="-120"/>
              </a:rPr>
              <a:t>├─ .stale          refresh flag — cleared by /graph-sync</a:t>
            </a:r>
            <a:endParaRPr lang="en-US" sz="950" dirty="0"/>
          </a:p>
          <a:p>
            <a:pPr marL="0" indent="0">
              <a:lnSpc>
                <a:spcPct val="105000"/>
              </a:lnSpc>
              <a:buNone/>
            </a:pPr>
            <a:r>
              <a:rPr lang="en-US" sz="950" dirty="0">
                <a:solidFill>
                  <a:srgbClr val="CDD9E6"/>
                </a:solidFill>
                <a:latin typeface="Cascadia Code" pitchFamily="34" charset="0"/>
                <a:ea typeface="Cascadia Code" pitchFamily="34" charset="-122"/>
                <a:cs typeface="Cascadia Code" pitchFamily="34" charset="-120"/>
              </a:rPr>
              <a:t>└─ graph.html      offline map from /graph-viz (gitignored)</a:t>
            </a:r>
            <a:endParaRPr lang="en-US" sz="950" dirty="0"/>
          </a:p>
        </p:txBody>
      </p:sp>
      <p:sp>
        <p:nvSpPr>
          <p:cNvPr id="8" name="Shape 6"/>
          <p:cNvSpPr/>
          <p:nvPr/>
        </p:nvSpPr>
        <p:spPr>
          <a:xfrm>
            <a:off x="8229600" y="1554480"/>
            <a:ext cx="3474720" cy="3383280"/>
          </a:xfrm>
          <a:prstGeom prst="roundRect">
            <a:avLst>
              <a:gd name="adj" fmla="val 2162"/>
            </a:avLst>
          </a:prstGeom>
          <a:solidFill>
            <a:srgbClr val="FFFFFF"/>
          </a:solidFill>
          <a:ln w="12700">
            <a:solidFill>
              <a:srgbClr val="DFE6E9"/>
            </a:solidFill>
            <a:prstDash val="solid"/>
          </a:ln>
        </p:spPr>
        <p:txBody>
          <a:bodyPr/>
          <a:lstStyle/>
          <a:p>
            <a:endParaRPr lang="en-US"/>
          </a:p>
        </p:txBody>
      </p:sp>
      <p:sp>
        <p:nvSpPr>
          <p:cNvPr id="9" name="Text 7"/>
          <p:cNvSpPr/>
          <p:nvPr/>
        </p:nvSpPr>
        <p:spPr>
          <a:xfrm>
            <a:off x="8412480" y="1691640"/>
            <a:ext cx="3108960" cy="274320"/>
          </a:xfrm>
          <a:prstGeom prst="rect">
            <a:avLst/>
          </a:prstGeom>
          <a:noFill/>
          <a:ln/>
        </p:spPr>
        <p:txBody>
          <a:bodyPr wrap="square" rtlCol="0" anchor="ctr"/>
          <a:lstStyle/>
          <a:p>
            <a:pPr marL="0" indent="0">
              <a:buNone/>
            </a:pPr>
            <a:r>
              <a:rPr lang="en-US" sz="850" b="1" kern="0" spc="100" dirty="0">
                <a:solidFill>
                  <a:srgbClr val="C8A951"/>
                </a:solidFill>
                <a:latin typeface="Cascadia Code" pitchFamily="34" charset="0"/>
                <a:ea typeface="Cascadia Code" pitchFamily="34" charset="-122"/>
                <a:cs typeface="Cascadia Code" pitchFamily="34" charset="-120"/>
              </a:rPr>
              <a:t>EDGE CONFIDENCE</a:t>
            </a:r>
            <a:endParaRPr lang="en-US" sz="850" dirty="0"/>
          </a:p>
        </p:txBody>
      </p:sp>
      <p:sp>
        <p:nvSpPr>
          <p:cNvPr id="10" name="Shape 8"/>
          <p:cNvSpPr/>
          <p:nvPr/>
        </p:nvSpPr>
        <p:spPr>
          <a:xfrm>
            <a:off x="8458200" y="2148840"/>
            <a:ext cx="201168" cy="201168"/>
          </a:xfrm>
          <a:prstGeom prst="ellipse">
            <a:avLst/>
          </a:prstGeom>
          <a:solidFill>
            <a:srgbClr val="00B894"/>
          </a:solidFill>
          <a:ln w="12700">
            <a:solidFill>
              <a:srgbClr val="00B894"/>
            </a:solidFill>
            <a:prstDash val="solid"/>
          </a:ln>
        </p:spPr>
        <p:txBody>
          <a:bodyPr/>
          <a:lstStyle/>
          <a:p>
            <a:endParaRPr lang="en-US"/>
          </a:p>
        </p:txBody>
      </p:sp>
      <p:sp>
        <p:nvSpPr>
          <p:cNvPr id="11" name="Text 9"/>
          <p:cNvSpPr/>
          <p:nvPr/>
        </p:nvSpPr>
        <p:spPr>
          <a:xfrm>
            <a:off x="8778240" y="2103120"/>
            <a:ext cx="2743200" cy="274320"/>
          </a:xfrm>
          <a:prstGeom prst="rect">
            <a:avLst/>
          </a:prstGeom>
          <a:noFill/>
          <a:ln/>
        </p:spPr>
        <p:txBody>
          <a:bodyPr wrap="square" rtlCol="0" anchor="ctr"/>
          <a:lstStyle/>
          <a:p>
            <a:pPr marL="0" indent="0">
              <a:buNone/>
            </a:pPr>
            <a:r>
              <a:rPr lang="en-US" sz="1000" b="1" dirty="0">
                <a:solidFill>
                  <a:srgbClr val="1A3A5C"/>
                </a:solidFill>
                <a:latin typeface="Cascadia Code" pitchFamily="34" charset="0"/>
                <a:ea typeface="Cascadia Code" pitchFamily="34" charset="-122"/>
                <a:cs typeface="Cascadia Code" pitchFamily="34" charset="-120"/>
              </a:rPr>
              <a:t>EXTRACTED</a:t>
            </a:r>
            <a:endParaRPr lang="en-US" sz="1000" dirty="0"/>
          </a:p>
        </p:txBody>
      </p:sp>
      <p:sp>
        <p:nvSpPr>
          <p:cNvPr id="12" name="Text 10"/>
          <p:cNvSpPr/>
          <p:nvPr/>
        </p:nvSpPr>
        <p:spPr>
          <a:xfrm>
            <a:off x="8778240" y="2359152"/>
            <a:ext cx="2743200" cy="228600"/>
          </a:xfrm>
          <a:prstGeom prst="rect">
            <a:avLst/>
          </a:prstGeom>
          <a:noFill/>
          <a:ln/>
        </p:spPr>
        <p:txBody>
          <a:bodyPr wrap="square" rtlCol="0" anchor="ctr"/>
          <a:lstStyle/>
          <a:p>
            <a:pPr marL="0" indent="0">
              <a:buNone/>
            </a:pPr>
            <a:r>
              <a:rPr lang="en-US" sz="1000" dirty="0">
                <a:solidFill>
                  <a:srgbClr val="636E72"/>
                </a:solidFill>
                <a:latin typeface="Segoe UI" pitchFamily="34" charset="0"/>
                <a:ea typeface="Segoe UI" pitchFamily="34" charset="-122"/>
                <a:cs typeface="Segoe UI" pitchFamily="34" charset="-120"/>
              </a:rPr>
              <a:t>mechanically known</a:t>
            </a:r>
            <a:endParaRPr lang="en-US" sz="1000" dirty="0"/>
          </a:p>
        </p:txBody>
      </p:sp>
      <p:sp>
        <p:nvSpPr>
          <p:cNvPr id="13" name="Shape 11"/>
          <p:cNvSpPr/>
          <p:nvPr/>
        </p:nvSpPr>
        <p:spPr>
          <a:xfrm>
            <a:off x="8458200" y="2788920"/>
            <a:ext cx="201168" cy="201168"/>
          </a:xfrm>
          <a:prstGeom prst="ellipse">
            <a:avLst/>
          </a:prstGeom>
          <a:solidFill>
            <a:srgbClr val="C8A951"/>
          </a:solidFill>
          <a:ln w="12700">
            <a:solidFill>
              <a:srgbClr val="C8A951"/>
            </a:solidFill>
            <a:prstDash val="solid"/>
          </a:ln>
        </p:spPr>
        <p:txBody>
          <a:bodyPr/>
          <a:lstStyle/>
          <a:p>
            <a:endParaRPr lang="en-US"/>
          </a:p>
        </p:txBody>
      </p:sp>
      <p:sp>
        <p:nvSpPr>
          <p:cNvPr id="14" name="Text 12"/>
          <p:cNvSpPr/>
          <p:nvPr/>
        </p:nvSpPr>
        <p:spPr>
          <a:xfrm>
            <a:off x="8778240" y="2743200"/>
            <a:ext cx="2743200" cy="274320"/>
          </a:xfrm>
          <a:prstGeom prst="rect">
            <a:avLst/>
          </a:prstGeom>
          <a:noFill/>
          <a:ln/>
        </p:spPr>
        <p:txBody>
          <a:bodyPr wrap="square" rtlCol="0" anchor="ctr"/>
          <a:lstStyle/>
          <a:p>
            <a:pPr marL="0" indent="0">
              <a:buNone/>
            </a:pPr>
            <a:r>
              <a:rPr lang="en-US" sz="1000" b="1" dirty="0">
                <a:solidFill>
                  <a:srgbClr val="1A3A5C"/>
                </a:solidFill>
                <a:latin typeface="Cascadia Code" pitchFamily="34" charset="0"/>
                <a:ea typeface="Cascadia Code" pitchFamily="34" charset="-122"/>
                <a:cs typeface="Cascadia Code" pitchFamily="34" charset="-120"/>
              </a:rPr>
              <a:t>INFERRED</a:t>
            </a:r>
            <a:endParaRPr lang="en-US" sz="1000" dirty="0"/>
          </a:p>
        </p:txBody>
      </p:sp>
      <p:sp>
        <p:nvSpPr>
          <p:cNvPr id="15" name="Text 13"/>
          <p:cNvSpPr/>
          <p:nvPr/>
        </p:nvSpPr>
        <p:spPr>
          <a:xfrm>
            <a:off x="8778240" y="2999232"/>
            <a:ext cx="2743200" cy="228600"/>
          </a:xfrm>
          <a:prstGeom prst="rect">
            <a:avLst/>
          </a:prstGeom>
          <a:noFill/>
          <a:ln/>
        </p:spPr>
        <p:txBody>
          <a:bodyPr wrap="square" rtlCol="0" anchor="ctr"/>
          <a:lstStyle/>
          <a:p>
            <a:pPr marL="0" indent="0">
              <a:buNone/>
            </a:pPr>
            <a:r>
              <a:rPr lang="en-US" sz="1000" dirty="0">
                <a:solidFill>
                  <a:srgbClr val="636E72"/>
                </a:solidFill>
                <a:latin typeface="Segoe UI" pitchFamily="34" charset="0"/>
                <a:ea typeface="Segoe UI" pitchFamily="34" charset="-122"/>
                <a:cs typeface="Segoe UI" pitchFamily="34" charset="-120"/>
              </a:rPr>
              <a:t>model judgment</a:t>
            </a:r>
            <a:endParaRPr lang="en-US" sz="1000" dirty="0"/>
          </a:p>
        </p:txBody>
      </p:sp>
      <p:sp>
        <p:nvSpPr>
          <p:cNvPr id="16" name="Shape 14"/>
          <p:cNvSpPr/>
          <p:nvPr/>
        </p:nvSpPr>
        <p:spPr>
          <a:xfrm>
            <a:off x="8458200" y="3429000"/>
            <a:ext cx="201168" cy="201168"/>
          </a:xfrm>
          <a:prstGeom prst="ellipse">
            <a:avLst/>
          </a:prstGeom>
          <a:solidFill>
            <a:srgbClr val="E17055"/>
          </a:solidFill>
          <a:ln w="12700">
            <a:solidFill>
              <a:srgbClr val="E17055"/>
            </a:solidFill>
            <a:prstDash val="solid"/>
          </a:ln>
        </p:spPr>
        <p:txBody>
          <a:bodyPr/>
          <a:lstStyle/>
          <a:p>
            <a:endParaRPr lang="en-US"/>
          </a:p>
        </p:txBody>
      </p:sp>
      <p:sp>
        <p:nvSpPr>
          <p:cNvPr id="17" name="Text 15"/>
          <p:cNvSpPr/>
          <p:nvPr/>
        </p:nvSpPr>
        <p:spPr>
          <a:xfrm>
            <a:off x="8778240" y="3383280"/>
            <a:ext cx="2743200" cy="274320"/>
          </a:xfrm>
          <a:prstGeom prst="rect">
            <a:avLst/>
          </a:prstGeom>
          <a:noFill/>
          <a:ln/>
        </p:spPr>
        <p:txBody>
          <a:bodyPr wrap="square" rtlCol="0" anchor="ctr"/>
          <a:lstStyle/>
          <a:p>
            <a:pPr marL="0" indent="0">
              <a:buNone/>
            </a:pPr>
            <a:r>
              <a:rPr lang="en-US" sz="1000" b="1" dirty="0">
                <a:solidFill>
                  <a:srgbClr val="1A3A5C"/>
                </a:solidFill>
                <a:latin typeface="Cascadia Code" pitchFamily="34" charset="0"/>
                <a:ea typeface="Cascadia Code" pitchFamily="34" charset="-122"/>
                <a:cs typeface="Cascadia Code" pitchFamily="34" charset="-120"/>
              </a:rPr>
              <a:t>AMBIGUOUS</a:t>
            </a:r>
            <a:endParaRPr lang="en-US" sz="1000" dirty="0"/>
          </a:p>
        </p:txBody>
      </p:sp>
      <p:sp>
        <p:nvSpPr>
          <p:cNvPr id="18" name="Text 16"/>
          <p:cNvSpPr/>
          <p:nvPr/>
        </p:nvSpPr>
        <p:spPr>
          <a:xfrm>
            <a:off x="8778240" y="3639312"/>
            <a:ext cx="2743200" cy="228600"/>
          </a:xfrm>
          <a:prstGeom prst="rect">
            <a:avLst/>
          </a:prstGeom>
          <a:noFill/>
          <a:ln/>
        </p:spPr>
        <p:txBody>
          <a:bodyPr wrap="square" rtlCol="0" anchor="ctr"/>
          <a:lstStyle/>
          <a:p>
            <a:pPr marL="0" indent="0">
              <a:buNone/>
            </a:pPr>
            <a:r>
              <a:rPr lang="en-US" sz="1000" dirty="0">
                <a:solidFill>
                  <a:srgbClr val="636E72"/>
                </a:solidFill>
                <a:latin typeface="Segoe UI" pitchFamily="34" charset="0"/>
                <a:ea typeface="Segoe UI" pitchFamily="34" charset="-122"/>
                <a:cs typeface="Segoe UI" pitchFamily="34" charset="-120"/>
              </a:rPr>
              <a:t>needs a human</a:t>
            </a:r>
            <a:endParaRPr lang="en-US" sz="1000" dirty="0"/>
          </a:p>
        </p:txBody>
      </p:sp>
      <p:sp>
        <p:nvSpPr>
          <p:cNvPr id="19" name="Text 17"/>
          <p:cNvSpPr/>
          <p:nvPr/>
        </p:nvSpPr>
        <p:spPr>
          <a:xfrm>
            <a:off x="8412480" y="4114800"/>
            <a:ext cx="3200400" cy="731520"/>
          </a:xfrm>
          <a:prstGeom prst="rect">
            <a:avLst/>
          </a:prstGeom>
          <a:noFill/>
          <a:ln/>
        </p:spPr>
        <p:txBody>
          <a:bodyPr wrap="square" rtlCol="0" anchor="ctr"/>
          <a:lstStyle/>
          <a:p>
            <a:pPr marL="0" indent="0">
              <a:buNone/>
            </a:pPr>
            <a:r>
              <a:rPr lang="en-US" sz="1000" i="1" dirty="0">
                <a:solidFill>
                  <a:srgbClr val="636E72"/>
                </a:solidFill>
                <a:latin typeface="Segoe UI" pitchFamily="34" charset="0"/>
                <a:ea typeface="Segoe UI" pitchFamily="34" charset="-122"/>
                <a:cs typeface="Segoe UI" pitchFamily="34" charset="-120"/>
              </a:rPr>
              <a:t>/graph-viz renders it as an offline map — hubs ringed gold, stale nodes red.</a:t>
            </a:r>
            <a:endParaRPr lang="en-US" sz="1000" dirty="0"/>
          </a:p>
        </p:txBody>
      </p:sp>
      <p:sp>
        <p:nvSpPr>
          <p:cNvPr id="20" name="Text 18"/>
          <p:cNvSpPr/>
          <p:nvPr/>
        </p:nvSpPr>
        <p:spPr>
          <a:xfrm>
            <a:off x="457200" y="5074920"/>
            <a:ext cx="11247120" cy="365760"/>
          </a:xfrm>
          <a:prstGeom prst="rect">
            <a:avLst/>
          </a:prstGeom>
          <a:noFill/>
          <a:ln/>
        </p:spPr>
        <p:txBody>
          <a:bodyPr wrap="square" rtlCol="0" anchor="ctr"/>
          <a:lstStyle/>
          <a:p>
            <a:pPr marL="0" indent="0" algn="ctr">
              <a:buNone/>
            </a:pPr>
            <a:r>
              <a:rPr lang="en-US" sz="1200" i="1" dirty="0">
                <a:solidFill>
                  <a:srgbClr val="636E72"/>
                </a:solidFill>
                <a:latin typeface="Segoe UI" pitchFamily="34" charset="0"/>
                <a:ea typeface="Segoe UI" pitchFamily="34" charset="-122"/>
                <a:cs typeface="Segoe UI" pitchFamily="34" charset="-120"/>
              </a:rPr>
              <a:t>Committed &amp; PR-reviewed — shared across the team, reviewed like source.</a:t>
            </a:r>
            <a:endParaRPr lang="en-US" sz="1200" dirty="0"/>
          </a:p>
        </p:txBody>
      </p:sp>
      <p:sp>
        <p:nvSpPr>
          <p:cNvPr id="21" name="Text 19"/>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31 / 45</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What a parser can know, a parser should know</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Shape 3"/>
          <p:cNvSpPr/>
          <p:nvPr/>
        </p:nvSpPr>
        <p:spPr>
          <a:xfrm>
            <a:off x="548640" y="914400"/>
            <a:ext cx="64008" cy="1828800"/>
          </a:xfrm>
          <a:prstGeom prst="rect">
            <a:avLst/>
          </a:prstGeom>
          <a:solidFill>
            <a:srgbClr val="C8A951"/>
          </a:solidFill>
          <a:ln w="12700">
            <a:solidFill>
              <a:srgbClr val="C8A951"/>
            </a:solidFill>
            <a:prstDash val="solid"/>
          </a:ln>
        </p:spPr>
        <p:txBody>
          <a:bodyPr/>
          <a:lstStyle/>
          <a:p>
            <a:endParaRPr lang="en-US"/>
          </a:p>
        </p:txBody>
      </p:sp>
      <p:sp>
        <p:nvSpPr>
          <p:cNvPr id="6" name="Shape 4"/>
          <p:cNvSpPr/>
          <p:nvPr/>
        </p:nvSpPr>
        <p:spPr>
          <a:xfrm>
            <a:off x="612648" y="914400"/>
            <a:ext cx="11000232" cy="1828800"/>
          </a:xfrm>
          <a:prstGeom prst="rect">
            <a:avLst/>
          </a:prstGeom>
          <a:solidFill>
            <a:srgbClr val="FDFCF5"/>
          </a:solidFill>
          <a:ln w="12700">
            <a:solidFill>
              <a:srgbClr val="DFE6E9"/>
            </a:solidFill>
            <a:prstDash val="solid"/>
          </a:ln>
        </p:spPr>
        <p:txBody>
          <a:bodyPr/>
          <a:lstStyle/>
          <a:p>
            <a:endParaRPr lang="en-US"/>
          </a:p>
        </p:txBody>
      </p:sp>
      <p:sp>
        <p:nvSpPr>
          <p:cNvPr id="7" name="Text 5"/>
          <p:cNvSpPr/>
          <p:nvPr/>
        </p:nvSpPr>
        <p:spPr>
          <a:xfrm>
            <a:off x="731520" y="1024128"/>
            <a:ext cx="10607040" cy="201168"/>
          </a:xfrm>
          <a:prstGeom prst="rect">
            <a:avLst/>
          </a:prstGeom>
          <a:noFill/>
          <a:ln/>
        </p:spPr>
        <p:txBody>
          <a:bodyPr wrap="square" rtlCol="0" anchor="ctr"/>
          <a:lstStyle/>
          <a:p>
            <a:pPr marL="0" indent="0">
              <a:buNone/>
            </a:pPr>
            <a:r>
              <a:rPr lang="en-US" sz="800" b="1" kern="0" spc="150" dirty="0">
                <a:solidFill>
                  <a:srgbClr val="C8A951"/>
                </a:solidFill>
                <a:latin typeface="Cascadia Code" pitchFamily="34" charset="0"/>
                <a:ea typeface="Cascadia Code" pitchFamily="34" charset="-122"/>
                <a:cs typeface="Cascadia Code" pitchFamily="34" charset="-120"/>
              </a:rPr>
              <a:t>DETERMINISTIC EDGES  ·  ADR 0041</a:t>
            </a:r>
            <a:endParaRPr lang="en-US" sz="800" dirty="0"/>
          </a:p>
        </p:txBody>
      </p:sp>
      <p:sp>
        <p:nvSpPr>
          <p:cNvPr id="8" name="Text 6"/>
          <p:cNvSpPr/>
          <p:nvPr/>
        </p:nvSpPr>
        <p:spPr>
          <a:xfrm>
            <a:off x="731520" y="1207008"/>
            <a:ext cx="10607040" cy="1188720"/>
          </a:xfrm>
          <a:prstGeom prst="rect">
            <a:avLst/>
          </a:prstGeom>
          <a:noFill/>
          <a:ln/>
        </p:spPr>
        <p:txBody>
          <a:bodyPr wrap="square" rtlCol="0" anchor="t"/>
          <a:lstStyle/>
          <a:p>
            <a:pPr marL="0" indent="0">
              <a:buNone/>
            </a:pPr>
            <a:r>
              <a:rPr lang="en-US" sz="1300" b="1" dirty="0">
                <a:solidFill>
                  <a:srgbClr val="1A3A5C"/>
                </a:solidFill>
                <a:latin typeface="Segoe UI" pitchFamily="34" charset="0"/>
                <a:ea typeface="Segoe UI" pitchFamily="34" charset="-122"/>
                <a:cs typeface="Segoe UI" pitchFamily="34" charset="-120"/>
              </a:rPr>
              <a:t>"The part of the map a machine can know for certain — which file imports which — is computed by a parser, not guessed by a model. Same code in, same graph out."</a:t>
            </a:r>
            <a:endParaRPr lang="en-US" sz="1300" dirty="0"/>
          </a:p>
        </p:txBody>
      </p:sp>
      <p:sp>
        <p:nvSpPr>
          <p:cNvPr id="9" name="Text 7"/>
          <p:cNvSpPr/>
          <p:nvPr/>
        </p:nvSpPr>
        <p:spPr>
          <a:xfrm>
            <a:off x="731520" y="2395728"/>
            <a:ext cx="9692640" cy="274320"/>
          </a:xfrm>
          <a:prstGeom prst="rect">
            <a:avLst/>
          </a:prstGeom>
          <a:noFill/>
          <a:ln/>
        </p:spPr>
        <p:txBody>
          <a:bodyPr wrap="square" rtlCol="0" anchor="ctr"/>
          <a:lstStyle/>
          <a:p>
            <a:pPr marL="0" indent="0">
              <a:buNone/>
            </a:pPr>
            <a:r>
              <a:rPr lang="en-US" sz="1000" dirty="0">
                <a:solidFill>
                  <a:srgbClr val="636E72"/>
                </a:solidFill>
                <a:latin typeface="Segoe UI" pitchFamily="34" charset="0"/>
                <a:ea typeface="Segoe UI" pitchFamily="34" charset="-122"/>
                <a:cs typeface="Segoe UI" pitchFamily="34" charset="-120"/>
              </a:rPr>
              <a:t>extract-edges.js resolves imports / usings / requires — offline, zero API cost. Supports JS/TS · Python · C# · Java. Model judgment reserved for genuinely ambiguous edges.</a:t>
            </a:r>
            <a:endParaRPr lang="en-US" sz="1000" dirty="0"/>
          </a:p>
        </p:txBody>
      </p:sp>
      <p:sp>
        <p:nvSpPr>
          <p:cNvPr id="10" name="Text 8"/>
          <p:cNvSpPr/>
          <p:nvPr/>
        </p:nvSpPr>
        <p:spPr>
          <a:xfrm>
            <a:off x="10607040" y="2468880"/>
            <a:ext cx="868680" cy="201168"/>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ADR 0041</a:t>
            </a:r>
            <a:endParaRPr lang="en-US" sz="800" dirty="0"/>
          </a:p>
        </p:txBody>
      </p:sp>
      <p:sp>
        <p:nvSpPr>
          <p:cNvPr id="11" name="Shape 9"/>
          <p:cNvSpPr/>
          <p:nvPr/>
        </p:nvSpPr>
        <p:spPr>
          <a:xfrm>
            <a:off x="365760" y="2971800"/>
            <a:ext cx="5486400" cy="2834640"/>
          </a:xfrm>
          <a:prstGeom prst="roundRect">
            <a:avLst>
              <a:gd name="adj" fmla="val 3226"/>
            </a:avLst>
          </a:prstGeom>
          <a:solidFill>
            <a:srgbClr val="FFF0ED"/>
          </a:solidFill>
          <a:ln w="12700">
            <a:solidFill>
              <a:srgbClr val="F3B4A8"/>
            </a:solidFill>
            <a:prstDash val="solid"/>
          </a:ln>
        </p:spPr>
        <p:txBody>
          <a:bodyPr/>
          <a:lstStyle/>
          <a:p>
            <a:endParaRPr lang="en-US"/>
          </a:p>
        </p:txBody>
      </p:sp>
      <p:sp>
        <p:nvSpPr>
          <p:cNvPr id="12" name="Text 10"/>
          <p:cNvSpPr/>
          <p:nvPr/>
        </p:nvSpPr>
        <p:spPr>
          <a:xfrm>
            <a:off x="548640" y="3063240"/>
            <a:ext cx="5120640" cy="228600"/>
          </a:xfrm>
          <a:prstGeom prst="rect">
            <a:avLst/>
          </a:prstGeom>
          <a:noFill/>
          <a:ln/>
        </p:spPr>
        <p:txBody>
          <a:bodyPr wrap="square" rtlCol="0" anchor="ctr"/>
          <a:lstStyle/>
          <a:p>
            <a:pPr marL="0" indent="0">
              <a:buNone/>
            </a:pPr>
            <a:r>
              <a:rPr lang="en-US" sz="900" b="1" kern="0" spc="200" dirty="0">
                <a:solidFill>
                  <a:srgbClr val="E17055"/>
                </a:solidFill>
                <a:latin typeface="Segoe UI" pitchFamily="34" charset="0"/>
                <a:ea typeface="Segoe UI" pitchFamily="34" charset="-122"/>
                <a:cs typeface="Segoe UI" pitchFamily="34" charset="-120"/>
              </a:rPr>
              <a:t>BEFORE</a:t>
            </a:r>
            <a:endParaRPr lang="en-US" sz="900" dirty="0"/>
          </a:p>
        </p:txBody>
      </p:sp>
      <p:sp>
        <p:nvSpPr>
          <p:cNvPr id="13" name="Text 11"/>
          <p:cNvSpPr/>
          <p:nvPr/>
        </p:nvSpPr>
        <p:spPr>
          <a:xfrm>
            <a:off x="548640" y="3319272"/>
            <a:ext cx="5120640" cy="2377440"/>
          </a:xfrm>
          <a:prstGeom prst="rect">
            <a:avLst/>
          </a:prstGeom>
          <a:noFill/>
          <a:ln/>
        </p:spPr>
        <p:txBody>
          <a:bodyPr wrap="square" rtlCol="0" anchor="t"/>
          <a:lstStyle/>
          <a:p>
            <a:pPr>
              <a:spcAft>
                <a:spcPts val="700"/>
              </a:spcAft>
            </a:pPr>
            <a:r>
              <a:rPr lang="en-US" sz="1300" dirty="0">
                <a:solidFill>
                  <a:srgbClr val="2D3436"/>
                </a:solidFill>
                <a:latin typeface="Segoe UI" pitchFamily="34" charset="0"/>
                <a:ea typeface="Segoe UI" pitchFamily="34" charset="-122"/>
                <a:cs typeface="Segoe UI" pitchFamily="34" charset="-120"/>
              </a:rPr>
              <a:t>Non-deterministic — same file, different edges across runs</a:t>
            </a:r>
            <a:endParaRPr lang="en-US" sz="1300" dirty="0"/>
          </a:p>
          <a:p>
            <a:pPr>
              <a:spcAft>
                <a:spcPts val="700"/>
              </a:spcAft>
            </a:pPr>
            <a:r>
              <a:rPr lang="en-US" sz="1300" dirty="0">
                <a:solidFill>
                  <a:srgbClr val="2D3436"/>
                </a:solidFill>
                <a:latin typeface="Segoe UI" pitchFamily="34" charset="0"/>
                <a:ea typeface="Segoe UI" pitchFamily="34" charset="-122"/>
                <a:cs typeface="Segoe UI" pitchFamily="34" charset="-120"/>
              </a:rPr>
              <a:t>Token-expensive — a model call per module</a:t>
            </a:r>
            <a:endParaRPr lang="en-US" sz="1300" dirty="0"/>
          </a:p>
          <a:p>
            <a:pPr>
              <a:spcAft>
                <a:spcPts val="700"/>
              </a:spcAft>
            </a:pPr>
            <a:r>
              <a:rPr lang="en-US" sz="1300" dirty="0">
                <a:solidFill>
                  <a:srgbClr val="2D3436"/>
                </a:solidFill>
                <a:latin typeface="Segoe UI" pitchFamily="34" charset="0"/>
                <a:ea typeface="Segoe UI" pitchFamily="34" charset="-122"/>
                <a:cs typeface="Segoe UI" pitchFamily="34" charset="-120"/>
              </a:rPr>
              <a:t>Approximate — may miss transitive or multi-file imports</a:t>
            </a:r>
            <a:endParaRPr lang="en-US" sz="1300" dirty="0"/>
          </a:p>
        </p:txBody>
      </p:sp>
      <p:sp>
        <p:nvSpPr>
          <p:cNvPr id="14" name="Shape 12"/>
          <p:cNvSpPr/>
          <p:nvPr/>
        </p:nvSpPr>
        <p:spPr>
          <a:xfrm>
            <a:off x="6126480" y="2971800"/>
            <a:ext cx="5486400" cy="2834640"/>
          </a:xfrm>
          <a:prstGeom prst="roundRect">
            <a:avLst>
              <a:gd name="adj" fmla="val 3226"/>
            </a:avLst>
          </a:prstGeom>
          <a:solidFill>
            <a:srgbClr val="EEFAF6"/>
          </a:solidFill>
          <a:ln w="12700">
            <a:solidFill>
              <a:srgbClr val="A8E4D1"/>
            </a:solidFill>
            <a:prstDash val="solid"/>
          </a:ln>
        </p:spPr>
        <p:txBody>
          <a:bodyPr/>
          <a:lstStyle/>
          <a:p>
            <a:endParaRPr lang="en-US"/>
          </a:p>
        </p:txBody>
      </p:sp>
      <p:sp>
        <p:nvSpPr>
          <p:cNvPr id="15" name="Text 13"/>
          <p:cNvSpPr/>
          <p:nvPr/>
        </p:nvSpPr>
        <p:spPr>
          <a:xfrm>
            <a:off x="6309360" y="3063240"/>
            <a:ext cx="5120640" cy="228600"/>
          </a:xfrm>
          <a:prstGeom prst="rect">
            <a:avLst/>
          </a:prstGeom>
          <a:noFill/>
          <a:ln/>
        </p:spPr>
        <p:txBody>
          <a:bodyPr wrap="square" rtlCol="0" anchor="ctr"/>
          <a:lstStyle/>
          <a:p>
            <a:pPr marL="0" indent="0">
              <a:buNone/>
            </a:pPr>
            <a:r>
              <a:rPr lang="en-US" sz="900" b="1" kern="0" spc="200" dirty="0">
                <a:solidFill>
                  <a:srgbClr val="00B894"/>
                </a:solidFill>
                <a:latin typeface="Segoe UI" pitchFamily="34" charset="0"/>
                <a:ea typeface="Segoe UI" pitchFamily="34" charset="-122"/>
                <a:cs typeface="Segoe UI" pitchFamily="34" charset="-120"/>
              </a:rPr>
              <a:t>AFTER</a:t>
            </a:r>
            <a:endParaRPr lang="en-US" sz="900" dirty="0"/>
          </a:p>
        </p:txBody>
      </p:sp>
      <p:sp>
        <p:nvSpPr>
          <p:cNvPr id="16" name="Text 14"/>
          <p:cNvSpPr/>
          <p:nvPr/>
        </p:nvSpPr>
        <p:spPr>
          <a:xfrm>
            <a:off x="6309360" y="3319272"/>
            <a:ext cx="5120640" cy="2377440"/>
          </a:xfrm>
          <a:prstGeom prst="rect">
            <a:avLst/>
          </a:prstGeom>
          <a:noFill/>
          <a:ln/>
        </p:spPr>
        <p:txBody>
          <a:bodyPr wrap="square" rtlCol="0" anchor="t"/>
          <a:lstStyle/>
          <a:p>
            <a:pPr>
              <a:spcAft>
                <a:spcPts val="700"/>
              </a:spcAft>
            </a:pPr>
            <a:r>
              <a:rPr lang="en-US" sz="1300" dirty="0">
                <a:solidFill>
                  <a:srgbClr val="2D3436"/>
                </a:solidFill>
                <a:latin typeface="Segoe UI" pitchFamily="34" charset="0"/>
                <a:ea typeface="Segoe UI" pitchFamily="34" charset="-122"/>
                <a:cs typeface="Segoe UI" pitchFamily="34" charset="-120"/>
              </a:rPr>
              <a:t>Deterministic — identical output for identical input</a:t>
            </a:r>
            <a:endParaRPr lang="en-US" sz="1300" dirty="0"/>
          </a:p>
          <a:p>
            <a:pPr>
              <a:spcAft>
                <a:spcPts val="700"/>
              </a:spcAft>
            </a:pPr>
            <a:r>
              <a:rPr lang="en-US" sz="1300" dirty="0">
                <a:solidFill>
                  <a:srgbClr val="2D3436"/>
                </a:solidFill>
                <a:latin typeface="Segoe UI" pitchFamily="34" charset="0"/>
                <a:ea typeface="Segoe UI" pitchFamily="34" charset="-122"/>
                <a:cs typeface="Segoe UI" pitchFamily="34" charset="-120"/>
              </a:rPr>
              <a:t>Free — Node stdlib only, zero tokens, fully offline</a:t>
            </a:r>
            <a:endParaRPr lang="en-US" sz="1300" dirty="0"/>
          </a:p>
          <a:p>
            <a:pPr>
              <a:spcAft>
                <a:spcPts val="700"/>
              </a:spcAft>
            </a:pPr>
            <a:r>
              <a:rPr lang="en-US" sz="1300" dirty="0">
                <a:solidFill>
                  <a:srgbClr val="2D3436"/>
                </a:solidFill>
                <a:latin typeface="Segoe UI" pitchFamily="34" charset="0"/>
                <a:ea typeface="Segoe UI" pitchFamily="34" charset="-122"/>
                <a:cs typeface="Segoe UI" pitchFamily="34" charset="-120"/>
              </a:rPr>
              <a:t>Accurate — resolves the real import graph per language</a:t>
            </a:r>
            <a:endParaRPr lang="en-US" sz="1300" dirty="0"/>
          </a:p>
        </p:txBody>
      </p:sp>
      <p:sp>
        <p:nvSpPr>
          <p:cNvPr id="17" name="Text 15"/>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32 / 45</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The other half: docs that answer an architect’s questions</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Text 3"/>
          <p:cNvSpPr/>
          <p:nvPr/>
        </p:nvSpPr>
        <p:spPr>
          <a:xfrm>
            <a:off x="457200" y="868680"/>
            <a:ext cx="11247120" cy="457200"/>
          </a:xfrm>
          <a:prstGeom prst="rect">
            <a:avLst/>
          </a:prstGeom>
          <a:noFill/>
          <a:ln/>
        </p:spPr>
        <p:txBody>
          <a:bodyPr wrap="square" rtlCol="0" anchor="ctr"/>
          <a:lstStyle/>
          <a:p>
            <a:pPr marL="0" indent="0">
              <a:buNone/>
            </a:pPr>
            <a:r>
              <a:rPr lang="en-US" sz="1300" i="1" dirty="0">
                <a:solidFill>
                  <a:srgbClr val="636E72"/>
                </a:solidFill>
                <a:latin typeface="Segoe UI" pitchFamily="34" charset="0"/>
                <a:ea typeface="Segoe UI" pitchFamily="34" charset="-122"/>
                <a:cs typeface="Segoe UI" pitchFamily="34" charset="-120"/>
              </a:rPr>
              <a:t>Graph = structure (for the machine).  Architecture docs = understanding (for the human) — built from your target application. The set grew 4 → 8 (ADR 0050).</a:t>
            </a:r>
            <a:endParaRPr lang="en-US" sz="1300" dirty="0"/>
          </a:p>
        </p:txBody>
      </p:sp>
      <p:sp>
        <p:nvSpPr>
          <p:cNvPr id="6" name="Shape 4"/>
          <p:cNvSpPr/>
          <p:nvPr/>
        </p:nvSpPr>
        <p:spPr>
          <a:xfrm>
            <a:off x="457200" y="1417320"/>
            <a:ext cx="5486400" cy="932688"/>
          </a:xfrm>
          <a:prstGeom prst="roundRect">
            <a:avLst>
              <a:gd name="adj" fmla="val 7843"/>
            </a:avLst>
          </a:prstGeom>
          <a:solidFill>
            <a:srgbClr val="FFFFFF"/>
          </a:solidFill>
          <a:ln w="12700">
            <a:solidFill>
              <a:srgbClr val="DFE6E9"/>
            </a:solidFill>
            <a:prstDash val="solid"/>
          </a:ln>
        </p:spPr>
        <p:txBody>
          <a:bodyPr/>
          <a:lstStyle/>
          <a:p>
            <a:endParaRPr lang="en-US"/>
          </a:p>
        </p:txBody>
      </p:sp>
      <p:sp>
        <p:nvSpPr>
          <p:cNvPr id="7" name="Text 5"/>
          <p:cNvSpPr/>
          <p:nvPr/>
        </p:nvSpPr>
        <p:spPr>
          <a:xfrm>
            <a:off x="594360" y="1508760"/>
            <a:ext cx="5212080" cy="274320"/>
          </a:xfrm>
          <a:prstGeom prst="rect">
            <a:avLst/>
          </a:prstGeom>
          <a:noFill/>
          <a:ln/>
        </p:spPr>
        <p:txBody>
          <a:bodyPr wrap="square" rtlCol="0" anchor="ctr"/>
          <a:lstStyle/>
          <a:p>
            <a:pPr marL="0" indent="0">
              <a:buNone/>
            </a:pPr>
            <a:r>
              <a:rPr lang="en-US" sz="1100" b="1" dirty="0">
                <a:solidFill>
                  <a:srgbClr val="1A3A5C"/>
                </a:solidFill>
                <a:latin typeface="Cascadia Code" pitchFamily="34" charset="0"/>
                <a:ea typeface="Cascadia Code" pitchFamily="34" charset="-122"/>
                <a:cs typeface="Cascadia Code" pitchFamily="34" charset="-120"/>
              </a:rPr>
              <a:t>architecture.md</a:t>
            </a:r>
            <a:endParaRPr lang="en-US" sz="1100" dirty="0"/>
          </a:p>
        </p:txBody>
      </p:sp>
      <p:sp>
        <p:nvSpPr>
          <p:cNvPr id="8" name="Text 6"/>
          <p:cNvSpPr/>
          <p:nvPr/>
        </p:nvSpPr>
        <p:spPr>
          <a:xfrm>
            <a:off x="594360" y="1801368"/>
            <a:ext cx="5212080" cy="502920"/>
          </a:xfrm>
          <a:prstGeom prst="rect">
            <a:avLst/>
          </a:prstGeom>
          <a:noFill/>
          <a:ln/>
        </p:spPr>
        <p:txBody>
          <a:bodyPr wrap="square" rtlCol="0" anchor="t"/>
          <a:lstStyle/>
          <a:p>
            <a:pPr marL="0" indent="0">
              <a:buNone/>
            </a:pPr>
            <a:r>
              <a:rPr lang="en-US" sz="1100" dirty="0">
                <a:solidFill>
                  <a:srgbClr val="636E72"/>
                </a:solidFill>
                <a:latin typeface="Segoe UI" pitchFamily="34" charset="0"/>
                <a:ea typeface="Segoe UI" pitchFamily="34" charset="-122"/>
                <a:cs typeface="Segoe UI" pitchFamily="34" charset="-120"/>
              </a:rPr>
              <a:t>What’s the shape? (overview + Mermaid diagrams)</a:t>
            </a:r>
            <a:endParaRPr lang="en-US" sz="1100" dirty="0"/>
          </a:p>
        </p:txBody>
      </p:sp>
      <p:sp>
        <p:nvSpPr>
          <p:cNvPr id="9" name="Shape 7"/>
          <p:cNvSpPr/>
          <p:nvPr/>
        </p:nvSpPr>
        <p:spPr>
          <a:xfrm>
            <a:off x="6126480" y="1417320"/>
            <a:ext cx="5486400" cy="932688"/>
          </a:xfrm>
          <a:prstGeom prst="roundRect">
            <a:avLst>
              <a:gd name="adj" fmla="val 7843"/>
            </a:avLst>
          </a:prstGeom>
          <a:solidFill>
            <a:srgbClr val="FFFFFF"/>
          </a:solidFill>
          <a:ln w="12700">
            <a:solidFill>
              <a:srgbClr val="DFE6E9"/>
            </a:solidFill>
            <a:prstDash val="solid"/>
          </a:ln>
        </p:spPr>
        <p:txBody>
          <a:bodyPr/>
          <a:lstStyle/>
          <a:p>
            <a:endParaRPr lang="en-US"/>
          </a:p>
        </p:txBody>
      </p:sp>
      <p:sp>
        <p:nvSpPr>
          <p:cNvPr id="10" name="Text 8"/>
          <p:cNvSpPr/>
          <p:nvPr/>
        </p:nvSpPr>
        <p:spPr>
          <a:xfrm>
            <a:off x="6263640" y="1508760"/>
            <a:ext cx="5212080" cy="274320"/>
          </a:xfrm>
          <a:prstGeom prst="rect">
            <a:avLst/>
          </a:prstGeom>
          <a:noFill/>
          <a:ln/>
        </p:spPr>
        <p:txBody>
          <a:bodyPr wrap="square" rtlCol="0" anchor="ctr"/>
          <a:lstStyle/>
          <a:p>
            <a:pPr marL="0" indent="0">
              <a:buNone/>
            </a:pPr>
            <a:r>
              <a:rPr lang="en-US" sz="1100" b="1" dirty="0">
                <a:solidFill>
                  <a:srgbClr val="1A3A5C"/>
                </a:solidFill>
                <a:latin typeface="Cascadia Code" pitchFamily="34" charset="0"/>
                <a:ea typeface="Cascadia Code" pitchFamily="34" charset="-122"/>
                <a:cs typeface="Cascadia Code" pitchFamily="34" charset="-120"/>
              </a:rPr>
              <a:t>architecture-callchains.md</a:t>
            </a:r>
            <a:endParaRPr lang="en-US" sz="1100" dirty="0"/>
          </a:p>
        </p:txBody>
      </p:sp>
      <p:sp>
        <p:nvSpPr>
          <p:cNvPr id="11" name="Text 9"/>
          <p:cNvSpPr/>
          <p:nvPr/>
        </p:nvSpPr>
        <p:spPr>
          <a:xfrm>
            <a:off x="6263640" y="1801368"/>
            <a:ext cx="5212080" cy="502920"/>
          </a:xfrm>
          <a:prstGeom prst="rect">
            <a:avLst/>
          </a:prstGeom>
          <a:noFill/>
          <a:ln/>
        </p:spPr>
        <p:txBody>
          <a:bodyPr wrap="square" rtlCol="0" anchor="t"/>
          <a:lstStyle/>
          <a:p>
            <a:pPr marL="0" indent="0">
              <a:buNone/>
            </a:pPr>
            <a:r>
              <a:rPr lang="en-US" sz="1100" dirty="0">
                <a:solidFill>
                  <a:srgbClr val="636E72"/>
                </a:solidFill>
                <a:latin typeface="Segoe UI" pitchFamily="34" charset="0"/>
                <a:ea typeface="Segoe UI" pitchFamily="34" charset="-122"/>
                <a:cs typeface="Segoe UI" pitchFamily="34" charset="-120"/>
              </a:rPr>
              <a:t>How does a request flow through the layers?</a:t>
            </a:r>
            <a:endParaRPr lang="en-US" sz="1100" dirty="0"/>
          </a:p>
        </p:txBody>
      </p:sp>
      <p:sp>
        <p:nvSpPr>
          <p:cNvPr id="12" name="Shape 10"/>
          <p:cNvSpPr/>
          <p:nvPr/>
        </p:nvSpPr>
        <p:spPr>
          <a:xfrm>
            <a:off x="457200" y="2468880"/>
            <a:ext cx="5486400" cy="932688"/>
          </a:xfrm>
          <a:prstGeom prst="roundRect">
            <a:avLst>
              <a:gd name="adj" fmla="val 7843"/>
            </a:avLst>
          </a:prstGeom>
          <a:solidFill>
            <a:srgbClr val="FDFCF5"/>
          </a:solidFill>
          <a:ln w="12700">
            <a:solidFill>
              <a:srgbClr val="C8A951"/>
            </a:solidFill>
            <a:prstDash val="solid"/>
          </a:ln>
        </p:spPr>
        <p:txBody>
          <a:bodyPr/>
          <a:lstStyle/>
          <a:p>
            <a:endParaRPr lang="en-US"/>
          </a:p>
        </p:txBody>
      </p:sp>
      <p:sp>
        <p:nvSpPr>
          <p:cNvPr id="13" name="Text 11"/>
          <p:cNvSpPr/>
          <p:nvPr/>
        </p:nvSpPr>
        <p:spPr>
          <a:xfrm>
            <a:off x="594360" y="2560320"/>
            <a:ext cx="5212080" cy="274320"/>
          </a:xfrm>
          <a:prstGeom prst="rect">
            <a:avLst/>
          </a:prstGeom>
          <a:noFill/>
          <a:ln/>
        </p:spPr>
        <p:txBody>
          <a:bodyPr wrap="square" rtlCol="0" anchor="ctr"/>
          <a:lstStyle/>
          <a:p>
            <a:pPr marL="0" indent="0">
              <a:buNone/>
            </a:pPr>
            <a:r>
              <a:rPr lang="en-US" sz="1100" b="1" dirty="0">
                <a:solidFill>
                  <a:srgbClr val="1A3A5C"/>
                </a:solidFill>
                <a:latin typeface="Cascadia Code" pitchFamily="34" charset="0"/>
                <a:ea typeface="Cascadia Code" pitchFamily="34" charset="-122"/>
                <a:cs typeface="Cascadia Code" pitchFamily="34" charset="-120"/>
              </a:rPr>
              <a:t>architecture-data.md</a:t>
            </a:r>
            <a:r>
              <a:rPr lang="en-US" sz="900" dirty="0">
                <a:solidFill>
                  <a:srgbClr val="C8A951"/>
                </a:solidFill>
                <a:latin typeface="Cascadia Code" pitchFamily="34" charset="0"/>
                <a:ea typeface="Cascadia Code" pitchFamily="34" charset="-122"/>
                <a:cs typeface="Cascadia Code" pitchFamily="34" charset="-120"/>
              </a:rPr>
              <a:t>  ★ new</a:t>
            </a:r>
            <a:endParaRPr lang="en-US" sz="1100" dirty="0"/>
          </a:p>
        </p:txBody>
      </p:sp>
      <p:sp>
        <p:nvSpPr>
          <p:cNvPr id="14" name="Text 12"/>
          <p:cNvSpPr/>
          <p:nvPr/>
        </p:nvSpPr>
        <p:spPr>
          <a:xfrm>
            <a:off x="594360" y="2852928"/>
            <a:ext cx="5212080" cy="502920"/>
          </a:xfrm>
          <a:prstGeom prst="rect">
            <a:avLst/>
          </a:prstGeom>
          <a:noFill/>
          <a:ln/>
        </p:spPr>
        <p:txBody>
          <a:bodyPr wrap="square" rtlCol="0" anchor="t"/>
          <a:lstStyle/>
          <a:p>
            <a:pPr marL="0" indent="0">
              <a:buNone/>
            </a:pPr>
            <a:r>
              <a:rPr lang="en-US" sz="1100" dirty="0">
                <a:solidFill>
                  <a:srgbClr val="636E72"/>
                </a:solidFill>
                <a:latin typeface="Segoe UI" pitchFamily="34" charset="0"/>
                <a:ea typeface="Segoe UI" pitchFamily="34" charset="-122"/>
                <a:cs typeface="Segoe UI" pitchFamily="34" charset="-120"/>
              </a:rPr>
              <a:t>What is the data? (entities, relationships, ownership)</a:t>
            </a:r>
            <a:endParaRPr lang="en-US" sz="1100" dirty="0"/>
          </a:p>
        </p:txBody>
      </p:sp>
      <p:sp>
        <p:nvSpPr>
          <p:cNvPr id="15" name="Shape 13"/>
          <p:cNvSpPr/>
          <p:nvPr/>
        </p:nvSpPr>
        <p:spPr>
          <a:xfrm>
            <a:off x="6126480" y="2468880"/>
            <a:ext cx="5486400" cy="932688"/>
          </a:xfrm>
          <a:prstGeom prst="roundRect">
            <a:avLst>
              <a:gd name="adj" fmla="val 7843"/>
            </a:avLst>
          </a:prstGeom>
          <a:solidFill>
            <a:srgbClr val="FDFCF5"/>
          </a:solidFill>
          <a:ln w="12700">
            <a:solidFill>
              <a:srgbClr val="C8A951"/>
            </a:solidFill>
            <a:prstDash val="solid"/>
          </a:ln>
        </p:spPr>
        <p:txBody>
          <a:bodyPr/>
          <a:lstStyle/>
          <a:p>
            <a:endParaRPr lang="en-US"/>
          </a:p>
        </p:txBody>
      </p:sp>
      <p:sp>
        <p:nvSpPr>
          <p:cNvPr id="16" name="Text 14"/>
          <p:cNvSpPr/>
          <p:nvPr/>
        </p:nvSpPr>
        <p:spPr>
          <a:xfrm>
            <a:off x="6263640" y="2560320"/>
            <a:ext cx="5212080" cy="274320"/>
          </a:xfrm>
          <a:prstGeom prst="rect">
            <a:avLst/>
          </a:prstGeom>
          <a:noFill/>
          <a:ln/>
        </p:spPr>
        <p:txBody>
          <a:bodyPr wrap="square" rtlCol="0" anchor="ctr"/>
          <a:lstStyle/>
          <a:p>
            <a:pPr marL="0" indent="0">
              <a:buNone/>
            </a:pPr>
            <a:r>
              <a:rPr lang="en-US" sz="1100" b="1" dirty="0">
                <a:solidFill>
                  <a:srgbClr val="1A3A5C"/>
                </a:solidFill>
                <a:latin typeface="Cascadia Code" pitchFamily="34" charset="0"/>
                <a:ea typeface="Cascadia Code" pitchFamily="34" charset="-122"/>
                <a:cs typeface="Cascadia Code" pitchFamily="34" charset="-120"/>
              </a:rPr>
              <a:t>architecture-integrations.md</a:t>
            </a:r>
            <a:r>
              <a:rPr lang="en-US" sz="900" dirty="0">
                <a:solidFill>
                  <a:srgbClr val="C8A951"/>
                </a:solidFill>
                <a:latin typeface="Cascadia Code" pitchFamily="34" charset="0"/>
                <a:ea typeface="Cascadia Code" pitchFamily="34" charset="-122"/>
                <a:cs typeface="Cascadia Code" pitchFamily="34" charset="-120"/>
              </a:rPr>
              <a:t>  ★ new</a:t>
            </a:r>
            <a:endParaRPr lang="en-US" sz="1100" dirty="0"/>
          </a:p>
        </p:txBody>
      </p:sp>
      <p:sp>
        <p:nvSpPr>
          <p:cNvPr id="17" name="Text 15"/>
          <p:cNvSpPr/>
          <p:nvPr/>
        </p:nvSpPr>
        <p:spPr>
          <a:xfrm>
            <a:off x="6263640" y="2852928"/>
            <a:ext cx="5212080" cy="502920"/>
          </a:xfrm>
          <a:prstGeom prst="rect">
            <a:avLst/>
          </a:prstGeom>
          <a:noFill/>
          <a:ln/>
        </p:spPr>
        <p:txBody>
          <a:bodyPr wrap="square" rtlCol="0" anchor="t"/>
          <a:lstStyle/>
          <a:p>
            <a:pPr marL="0" indent="0">
              <a:buNone/>
            </a:pPr>
            <a:r>
              <a:rPr lang="en-US" sz="1100" dirty="0">
                <a:solidFill>
                  <a:srgbClr val="636E72"/>
                </a:solidFill>
                <a:latin typeface="Segoe UI" pitchFamily="34" charset="0"/>
                <a:ea typeface="Segoe UI" pitchFamily="34" charset="-122"/>
                <a:cs typeface="Segoe UI" pitchFamily="34" charset="-120"/>
              </a:rPr>
              <a:t>Who do we depend on — and what happens when they fail?</a:t>
            </a:r>
            <a:endParaRPr lang="en-US" sz="1100" dirty="0"/>
          </a:p>
        </p:txBody>
      </p:sp>
      <p:sp>
        <p:nvSpPr>
          <p:cNvPr id="18" name="Shape 16"/>
          <p:cNvSpPr/>
          <p:nvPr/>
        </p:nvSpPr>
        <p:spPr>
          <a:xfrm>
            <a:off x="457200" y="3520440"/>
            <a:ext cx="5486400" cy="932688"/>
          </a:xfrm>
          <a:prstGeom prst="roundRect">
            <a:avLst>
              <a:gd name="adj" fmla="val 7843"/>
            </a:avLst>
          </a:prstGeom>
          <a:solidFill>
            <a:srgbClr val="FDFCF5"/>
          </a:solidFill>
          <a:ln w="12700">
            <a:solidFill>
              <a:srgbClr val="C8A951"/>
            </a:solidFill>
            <a:prstDash val="solid"/>
          </a:ln>
        </p:spPr>
        <p:txBody>
          <a:bodyPr/>
          <a:lstStyle/>
          <a:p>
            <a:endParaRPr lang="en-US"/>
          </a:p>
        </p:txBody>
      </p:sp>
      <p:sp>
        <p:nvSpPr>
          <p:cNvPr id="19" name="Text 17"/>
          <p:cNvSpPr/>
          <p:nvPr/>
        </p:nvSpPr>
        <p:spPr>
          <a:xfrm>
            <a:off x="594360" y="3611880"/>
            <a:ext cx="5212080" cy="274320"/>
          </a:xfrm>
          <a:prstGeom prst="rect">
            <a:avLst/>
          </a:prstGeom>
          <a:noFill/>
          <a:ln/>
        </p:spPr>
        <p:txBody>
          <a:bodyPr wrap="square" rtlCol="0" anchor="ctr"/>
          <a:lstStyle/>
          <a:p>
            <a:pPr marL="0" indent="0">
              <a:buNone/>
            </a:pPr>
            <a:r>
              <a:rPr lang="en-US" sz="1100" b="1" dirty="0">
                <a:solidFill>
                  <a:srgbClr val="1A3A5C"/>
                </a:solidFill>
                <a:latin typeface="Cascadia Code" pitchFamily="34" charset="0"/>
                <a:ea typeface="Cascadia Code" pitchFamily="34" charset="-122"/>
                <a:cs typeface="Cascadia Code" pitchFamily="34" charset="-120"/>
              </a:rPr>
              <a:t>architecture-security.md</a:t>
            </a:r>
            <a:r>
              <a:rPr lang="en-US" sz="900" dirty="0">
                <a:solidFill>
                  <a:srgbClr val="C8A951"/>
                </a:solidFill>
                <a:latin typeface="Cascadia Code" pitchFamily="34" charset="0"/>
                <a:ea typeface="Cascadia Code" pitchFamily="34" charset="-122"/>
                <a:cs typeface="Cascadia Code" pitchFamily="34" charset="-120"/>
              </a:rPr>
              <a:t>  ★ new</a:t>
            </a:r>
            <a:endParaRPr lang="en-US" sz="1100" dirty="0"/>
          </a:p>
        </p:txBody>
      </p:sp>
      <p:sp>
        <p:nvSpPr>
          <p:cNvPr id="20" name="Text 18"/>
          <p:cNvSpPr/>
          <p:nvPr/>
        </p:nvSpPr>
        <p:spPr>
          <a:xfrm>
            <a:off x="594360" y="3904488"/>
            <a:ext cx="5212080" cy="502920"/>
          </a:xfrm>
          <a:prstGeom prst="rect">
            <a:avLst/>
          </a:prstGeom>
          <a:noFill/>
          <a:ln/>
        </p:spPr>
        <p:txBody>
          <a:bodyPr wrap="square" rtlCol="0" anchor="t"/>
          <a:lstStyle/>
          <a:p>
            <a:pPr marL="0" indent="0">
              <a:buNone/>
            </a:pPr>
            <a:r>
              <a:rPr lang="en-US" sz="1100" dirty="0">
                <a:solidFill>
                  <a:srgbClr val="636E72"/>
                </a:solidFill>
                <a:latin typeface="Segoe UI" pitchFamily="34" charset="0"/>
                <a:ea typeface="Segoe UI" pitchFamily="34" charset="-122"/>
                <a:cs typeface="Segoe UI" pitchFamily="34" charset="-120"/>
              </a:rPr>
              <a:t>Who’s allowed to do what? (Action → Role → Enforced-at)</a:t>
            </a:r>
            <a:endParaRPr lang="en-US" sz="1100" dirty="0"/>
          </a:p>
        </p:txBody>
      </p:sp>
      <p:sp>
        <p:nvSpPr>
          <p:cNvPr id="21" name="Shape 19"/>
          <p:cNvSpPr/>
          <p:nvPr/>
        </p:nvSpPr>
        <p:spPr>
          <a:xfrm>
            <a:off x="6126480" y="3520440"/>
            <a:ext cx="5486400" cy="932688"/>
          </a:xfrm>
          <a:prstGeom prst="roundRect">
            <a:avLst>
              <a:gd name="adj" fmla="val 7843"/>
            </a:avLst>
          </a:prstGeom>
          <a:solidFill>
            <a:srgbClr val="FDFCF5"/>
          </a:solidFill>
          <a:ln w="12700">
            <a:solidFill>
              <a:srgbClr val="C8A951"/>
            </a:solidFill>
            <a:prstDash val="solid"/>
          </a:ln>
        </p:spPr>
        <p:txBody>
          <a:bodyPr/>
          <a:lstStyle/>
          <a:p>
            <a:endParaRPr lang="en-US"/>
          </a:p>
        </p:txBody>
      </p:sp>
      <p:sp>
        <p:nvSpPr>
          <p:cNvPr id="22" name="Text 20"/>
          <p:cNvSpPr/>
          <p:nvPr/>
        </p:nvSpPr>
        <p:spPr>
          <a:xfrm>
            <a:off x="6263640" y="3611880"/>
            <a:ext cx="5212080" cy="274320"/>
          </a:xfrm>
          <a:prstGeom prst="rect">
            <a:avLst/>
          </a:prstGeom>
          <a:noFill/>
          <a:ln/>
        </p:spPr>
        <p:txBody>
          <a:bodyPr wrap="square" rtlCol="0" anchor="ctr"/>
          <a:lstStyle/>
          <a:p>
            <a:pPr marL="0" indent="0">
              <a:buNone/>
            </a:pPr>
            <a:r>
              <a:rPr lang="en-US" sz="1100" b="1" dirty="0">
                <a:solidFill>
                  <a:srgbClr val="1A3A5C"/>
                </a:solidFill>
                <a:latin typeface="Cascadia Code" pitchFamily="34" charset="0"/>
                <a:ea typeface="Cascadia Code" pitchFamily="34" charset="-122"/>
                <a:cs typeface="Cascadia Code" pitchFamily="34" charset="-120"/>
              </a:rPr>
              <a:t>architecture-decisions.md</a:t>
            </a:r>
            <a:r>
              <a:rPr lang="en-US" sz="900" dirty="0">
                <a:solidFill>
                  <a:srgbClr val="C8A951"/>
                </a:solidFill>
                <a:latin typeface="Cascadia Code" pitchFamily="34" charset="0"/>
                <a:ea typeface="Cascadia Code" pitchFamily="34" charset="-122"/>
                <a:cs typeface="Cascadia Code" pitchFamily="34" charset="-120"/>
              </a:rPr>
              <a:t>  ★ new</a:t>
            </a:r>
            <a:endParaRPr lang="en-US" sz="1100" dirty="0"/>
          </a:p>
        </p:txBody>
      </p:sp>
      <p:sp>
        <p:nvSpPr>
          <p:cNvPr id="23" name="Text 21"/>
          <p:cNvSpPr/>
          <p:nvPr/>
        </p:nvSpPr>
        <p:spPr>
          <a:xfrm>
            <a:off x="6263640" y="3904488"/>
            <a:ext cx="5212080" cy="502920"/>
          </a:xfrm>
          <a:prstGeom prst="rect">
            <a:avLst/>
          </a:prstGeom>
          <a:noFill/>
          <a:ln/>
        </p:spPr>
        <p:txBody>
          <a:bodyPr wrap="square" rtlCol="0" anchor="t"/>
          <a:lstStyle/>
          <a:p>
            <a:pPr marL="0" indent="0">
              <a:buNone/>
            </a:pPr>
            <a:r>
              <a:rPr lang="en-US" sz="1100" dirty="0">
                <a:solidFill>
                  <a:srgbClr val="636E72"/>
                </a:solidFill>
                <a:latin typeface="Segoe UI" pitchFamily="34" charset="0"/>
                <a:ea typeface="Segoe UI" pitchFamily="34" charset="-122"/>
                <a:cs typeface="Segoe UI" pitchFamily="34" charset="-120"/>
              </a:rPr>
              <a:t>Why did we build it this way? (AD-NNN log)</a:t>
            </a:r>
            <a:endParaRPr lang="en-US" sz="1100" dirty="0"/>
          </a:p>
        </p:txBody>
      </p:sp>
      <p:sp>
        <p:nvSpPr>
          <p:cNvPr id="24" name="Shape 22"/>
          <p:cNvSpPr/>
          <p:nvPr/>
        </p:nvSpPr>
        <p:spPr>
          <a:xfrm>
            <a:off x="457200" y="4572000"/>
            <a:ext cx="5486400" cy="932688"/>
          </a:xfrm>
          <a:prstGeom prst="roundRect">
            <a:avLst>
              <a:gd name="adj" fmla="val 7843"/>
            </a:avLst>
          </a:prstGeom>
          <a:solidFill>
            <a:srgbClr val="FFFFFF"/>
          </a:solidFill>
          <a:ln w="12700">
            <a:solidFill>
              <a:srgbClr val="DFE6E9"/>
            </a:solidFill>
            <a:prstDash val="solid"/>
          </a:ln>
        </p:spPr>
        <p:txBody>
          <a:bodyPr/>
          <a:lstStyle/>
          <a:p>
            <a:endParaRPr lang="en-US"/>
          </a:p>
        </p:txBody>
      </p:sp>
      <p:sp>
        <p:nvSpPr>
          <p:cNvPr id="25" name="Text 23"/>
          <p:cNvSpPr/>
          <p:nvPr/>
        </p:nvSpPr>
        <p:spPr>
          <a:xfrm>
            <a:off x="594360" y="4663440"/>
            <a:ext cx="5212080" cy="274320"/>
          </a:xfrm>
          <a:prstGeom prst="rect">
            <a:avLst/>
          </a:prstGeom>
          <a:noFill/>
          <a:ln/>
        </p:spPr>
        <p:txBody>
          <a:bodyPr wrap="square" rtlCol="0" anchor="ctr"/>
          <a:lstStyle/>
          <a:p>
            <a:pPr marL="0" indent="0">
              <a:buNone/>
            </a:pPr>
            <a:r>
              <a:rPr lang="en-US" sz="1100" b="1" dirty="0">
                <a:solidFill>
                  <a:srgbClr val="1A3A5C"/>
                </a:solidFill>
                <a:latin typeface="Cascadia Code" pitchFamily="34" charset="0"/>
                <a:ea typeface="Cascadia Code" pitchFamily="34" charset="-122"/>
                <a:cs typeface="Cascadia Code" pitchFamily="34" charset="-120"/>
              </a:rPr>
              <a:t>architecture-deployment.md</a:t>
            </a:r>
            <a:endParaRPr lang="en-US" sz="1100" dirty="0"/>
          </a:p>
        </p:txBody>
      </p:sp>
      <p:sp>
        <p:nvSpPr>
          <p:cNvPr id="26" name="Text 24"/>
          <p:cNvSpPr/>
          <p:nvPr/>
        </p:nvSpPr>
        <p:spPr>
          <a:xfrm>
            <a:off x="594360" y="4956048"/>
            <a:ext cx="5212080" cy="502920"/>
          </a:xfrm>
          <a:prstGeom prst="rect">
            <a:avLst/>
          </a:prstGeom>
          <a:noFill/>
          <a:ln/>
        </p:spPr>
        <p:txBody>
          <a:bodyPr wrap="square" rtlCol="0" anchor="t"/>
          <a:lstStyle/>
          <a:p>
            <a:pPr marL="0" indent="0">
              <a:buNone/>
            </a:pPr>
            <a:r>
              <a:rPr lang="en-US" sz="1100" dirty="0">
                <a:solidFill>
                  <a:srgbClr val="636E72"/>
                </a:solidFill>
                <a:latin typeface="Segoe UI" pitchFamily="34" charset="0"/>
                <a:ea typeface="Segoe UI" pitchFamily="34" charset="-122"/>
                <a:cs typeface="Segoe UI" pitchFamily="34" charset="-120"/>
              </a:rPr>
              <a:t>How and where does it run? (+ non-functional envelope)</a:t>
            </a:r>
            <a:endParaRPr lang="en-US" sz="1100" dirty="0"/>
          </a:p>
        </p:txBody>
      </p:sp>
      <p:sp>
        <p:nvSpPr>
          <p:cNvPr id="27" name="Shape 25"/>
          <p:cNvSpPr/>
          <p:nvPr/>
        </p:nvSpPr>
        <p:spPr>
          <a:xfrm>
            <a:off x="6126480" y="4572000"/>
            <a:ext cx="5486400" cy="932688"/>
          </a:xfrm>
          <a:prstGeom prst="roundRect">
            <a:avLst>
              <a:gd name="adj" fmla="val 7843"/>
            </a:avLst>
          </a:prstGeom>
          <a:solidFill>
            <a:srgbClr val="FFFFFF"/>
          </a:solidFill>
          <a:ln w="12700">
            <a:solidFill>
              <a:srgbClr val="DFE6E9"/>
            </a:solidFill>
            <a:prstDash val="solid"/>
          </a:ln>
        </p:spPr>
        <p:txBody>
          <a:bodyPr/>
          <a:lstStyle/>
          <a:p>
            <a:endParaRPr lang="en-US"/>
          </a:p>
        </p:txBody>
      </p:sp>
      <p:sp>
        <p:nvSpPr>
          <p:cNvPr id="28" name="Text 26"/>
          <p:cNvSpPr/>
          <p:nvPr/>
        </p:nvSpPr>
        <p:spPr>
          <a:xfrm>
            <a:off x="6263640" y="4663440"/>
            <a:ext cx="5212080" cy="274320"/>
          </a:xfrm>
          <a:prstGeom prst="rect">
            <a:avLst/>
          </a:prstGeom>
          <a:noFill/>
          <a:ln/>
        </p:spPr>
        <p:txBody>
          <a:bodyPr wrap="square" rtlCol="0" anchor="ctr"/>
          <a:lstStyle/>
          <a:p>
            <a:pPr marL="0" indent="0">
              <a:buNone/>
            </a:pPr>
            <a:r>
              <a:rPr lang="en-US" sz="1100" b="1" dirty="0">
                <a:solidFill>
                  <a:srgbClr val="1A3A5C"/>
                </a:solidFill>
                <a:latin typeface="Cascadia Code" pitchFamily="34" charset="0"/>
                <a:ea typeface="Cascadia Code" pitchFamily="34" charset="-122"/>
                <a:cs typeface="Cascadia Code" pitchFamily="34" charset="-120"/>
              </a:rPr>
              <a:t>architecture-reference.md</a:t>
            </a:r>
            <a:endParaRPr lang="en-US" sz="1100" dirty="0"/>
          </a:p>
        </p:txBody>
      </p:sp>
      <p:sp>
        <p:nvSpPr>
          <p:cNvPr id="29" name="Text 27"/>
          <p:cNvSpPr/>
          <p:nvPr/>
        </p:nvSpPr>
        <p:spPr>
          <a:xfrm>
            <a:off x="6263640" y="4956048"/>
            <a:ext cx="5212080" cy="502920"/>
          </a:xfrm>
          <a:prstGeom prst="rect">
            <a:avLst/>
          </a:prstGeom>
          <a:noFill/>
          <a:ln/>
        </p:spPr>
        <p:txBody>
          <a:bodyPr wrap="square" rtlCol="0" anchor="t"/>
          <a:lstStyle/>
          <a:p>
            <a:pPr marL="0" indent="0">
              <a:buNone/>
            </a:pPr>
            <a:r>
              <a:rPr lang="en-US" sz="1100" dirty="0">
                <a:solidFill>
                  <a:srgbClr val="636E72"/>
                </a:solidFill>
                <a:latin typeface="Segoe UI" pitchFamily="34" charset="0"/>
                <a:ea typeface="Segoe UI" pitchFamily="34" charset="-122"/>
                <a:cs typeface="Segoe UI" pitchFamily="34" charset="-120"/>
              </a:rPr>
              <a:t>What are the conventions?</a:t>
            </a:r>
            <a:endParaRPr lang="en-US" sz="1100" dirty="0"/>
          </a:p>
        </p:txBody>
      </p:sp>
      <p:sp>
        <p:nvSpPr>
          <p:cNvPr id="30" name="Text 28"/>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33 / 45</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Documents you can actually trust</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Shape 3"/>
          <p:cNvSpPr/>
          <p:nvPr/>
        </p:nvSpPr>
        <p:spPr>
          <a:xfrm>
            <a:off x="365760" y="1097280"/>
            <a:ext cx="5486400" cy="3291840"/>
          </a:xfrm>
          <a:prstGeom prst="roundRect">
            <a:avLst>
              <a:gd name="adj" fmla="val 2778"/>
            </a:avLst>
          </a:prstGeom>
          <a:solidFill>
            <a:srgbClr val="FFF0ED"/>
          </a:solidFill>
          <a:ln w="12700">
            <a:solidFill>
              <a:srgbClr val="F3B4A8"/>
            </a:solidFill>
            <a:prstDash val="solid"/>
          </a:ln>
        </p:spPr>
        <p:txBody>
          <a:bodyPr/>
          <a:lstStyle/>
          <a:p>
            <a:endParaRPr lang="en-US"/>
          </a:p>
        </p:txBody>
      </p:sp>
      <p:sp>
        <p:nvSpPr>
          <p:cNvPr id="6" name="Text 4"/>
          <p:cNvSpPr/>
          <p:nvPr/>
        </p:nvSpPr>
        <p:spPr>
          <a:xfrm>
            <a:off x="548640" y="1188720"/>
            <a:ext cx="5120640" cy="228600"/>
          </a:xfrm>
          <a:prstGeom prst="rect">
            <a:avLst/>
          </a:prstGeom>
          <a:noFill/>
          <a:ln/>
        </p:spPr>
        <p:txBody>
          <a:bodyPr wrap="square" rtlCol="0" anchor="ctr"/>
          <a:lstStyle/>
          <a:p>
            <a:pPr marL="0" indent="0">
              <a:buNone/>
            </a:pPr>
            <a:r>
              <a:rPr lang="en-US" sz="900" b="1" kern="0" spc="200" dirty="0">
                <a:solidFill>
                  <a:srgbClr val="E17055"/>
                </a:solidFill>
                <a:latin typeface="Segoe UI" pitchFamily="34" charset="0"/>
                <a:ea typeface="Segoe UI" pitchFamily="34" charset="-122"/>
                <a:cs typeface="Segoe UI" pitchFamily="34" charset="-120"/>
              </a:rPr>
              <a:t>HOW THEY’RE WRITTEN</a:t>
            </a:r>
            <a:endParaRPr lang="en-US" sz="900" dirty="0"/>
          </a:p>
        </p:txBody>
      </p:sp>
      <p:sp>
        <p:nvSpPr>
          <p:cNvPr id="7" name="Text 5"/>
          <p:cNvSpPr/>
          <p:nvPr/>
        </p:nvSpPr>
        <p:spPr>
          <a:xfrm>
            <a:off x="548640" y="1444752"/>
            <a:ext cx="5120640" cy="2834640"/>
          </a:xfrm>
          <a:prstGeom prst="rect">
            <a:avLst/>
          </a:prstGeom>
          <a:noFill/>
          <a:ln/>
        </p:spPr>
        <p:txBody>
          <a:bodyPr wrap="square" rtlCol="0" anchor="t"/>
          <a:lstStyle/>
          <a:p>
            <a:pPr>
              <a:spcAft>
                <a:spcPts val="700"/>
              </a:spcAft>
            </a:pPr>
            <a:r>
              <a:rPr lang="en-US" sz="1300" dirty="0">
                <a:solidFill>
                  <a:srgbClr val="2D3436"/>
                </a:solidFill>
                <a:latin typeface="Segoe UI" pitchFamily="34" charset="0"/>
                <a:ea typeface="Segoe UI" pitchFamily="34" charset="-122"/>
                <a:cs typeface="Segoe UI" pitchFamily="34" charset="-120"/>
              </a:rPr>
              <a:t>✅ Extracted from code — fill only what the code proves</a:t>
            </a:r>
            <a:endParaRPr lang="en-US" sz="1300" dirty="0"/>
          </a:p>
          <a:p>
            <a:pPr>
              <a:spcAft>
                <a:spcPts val="700"/>
              </a:spcAft>
            </a:pPr>
            <a:r>
              <a:rPr lang="en-US" sz="1300" dirty="0">
                <a:solidFill>
                  <a:srgbClr val="2D3436"/>
                </a:solidFill>
                <a:latin typeface="Segoe UI" pitchFamily="34" charset="0"/>
                <a:ea typeface="Segoe UI" pitchFamily="34" charset="-122"/>
                <a:cs typeface="Segoe UI" pitchFamily="34" charset="-120"/>
              </a:rPr>
              <a:t>⚠ Flagged “needs manual input” — authz rules, SLAs, retry policy, decision rationale</a:t>
            </a:r>
            <a:endParaRPr lang="en-US" sz="1300" dirty="0"/>
          </a:p>
          <a:p>
            <a:pPr>
              <a:spcAft>
                <a:spcPts val="700"/>
              </a:spcAft>
            </a:pPr>
            <a:r>
              <a:rPr lang="en-US" sz="1300" dirty="0">
                <a:solidFill>
                  <a:srgbClr val="2D3436"/>
                </a:solidFill>
                <a:latin typeface="Segoe UI" pitchFamily="34" charset="0"/>
                <a:ea typeface="Segoe UI" pitchFamily="34" charset="-122"/>
                <a:cs typeface="Segoe UI" pitchFamily="34" charset="-120"/>
              </a:rPr>
              <a:t>Never invents the parts a human must own</a:t>
            </a:r>
            <a:endParaRPr lang="en-US" sz="1300" dirty="0"/>
          </a:p>
        </p:txBody>
      </p:sp>
      <p:sp>
        <p:nvSpPr>
          <p:cNvPr id="8" name="Shape 6"/>
          <p:cNvSpPr/>
          <p:nvPr/>
        </p:nvSpPr>
        <p:spPr>
          <a:xfrm>
            <a:off x="6126480" y="1097280"/>
            <a:ext cx="5486400" cy="3291840"/>
          </a:xfrm>
          <a:prstGeom prst="roundRect">
            <a:avLst>
              <a:gd name="adj" fmla="val 2778"/>
            </a:avLst>
          </a:prstGeom>
          <a:solidFill>
            <a:srgbClr val="EEFAF6"/>
          </a:solidFill>
          <a:ln w="12700">
            <a:solidFill>
              <a:srgbClr val="A8E4D1"/>
            </a:solidFill>
            <a:prstDash val="solid"/>
          </a:ln>
        </p:spPr>
        <p:txBody>
          <a:bodyPr/>
          <a:lstStyle/>
          <a:p>
            <a:endParaRPr lang="en-US"/>
          </a:p>
        </p:txBody>
      </p:sp>
      <p:sp>
        <p:nvSpPr>
          <p:cNvPr id="9" name="Text 7"/>
          <p:cNvSpPr/>
          <p:nvPr/>
        </p:nvSpPr>
        <p:spPr>
          <a:xfrm>
            <a:off x="6309360" y="1188720"/>
            <a:ext cx="5120640" cy="228600"/>
          </a:xfrm>
          <a:prstGeom prst="rect">
            <a:avLst/>
          </a:prstGeom>
          <a:noFill/>
          <a:ln/>
        </p:spPr>
        <p:txBody>
          <a:bodyPr wrap="square" rtlCol="0" anchor="ctr"/>
          <a:lstStyle/>
          <a:p>
            <a:pPr marL="0" indent="0">
              <a:buNone/>
            </a:pPr>
            <a:r>
              <a:rPr lang="en-US" sz="900" b="1" kern="0" spc="200" dirty="0">
                <a:solidFill>
                  <a:srgbClr val="00B894"/>
                </a:solidFill>
                <a:latin typeface="Segoe UI" pitchFamily="34" charset="0"/>
                <a:ea typeface="Segoe UI" pitchFamily="34" charset="-122"/>
                <a:cs typeface="Segoe UI" pitchFamily="34" charset="-120"/>
              </a:rPr>
              <a:t>HOW THEY STAY ALIVE</a:t>
            </a:r>
            <a:endParaRPr lang="en-US" sz="900" dirty="0"/>
          </a:p>
        </p:txBody>
      </p:sp>
      <p:sp>
        <p:nvSpPr>
          <p:cNvPr id="10" name="Text 8"/>
          <p:cNvSpPr/>
          <p:nvPr/>
        </p:nvSpPr>
        <p:spPr>
          <a:xfrm>
            <a:off x="6309360" y="1444752"/>
            <a:ext cx="5120640" cy="2834640"/>
          </a:xfrm>
          <a:prstGeom prst="rect">
            <a:avLst/>
          </a:prstGeom>
          <a:noFill/>
          <a:ln/>
        </p:spPr>
        <p:txBody>
          <a:bodyPr wrap="square" rtlCol="0" anchor="t"/>
          <a:lstStyle/>
          <a:p>
            <a:pPr>
              <a:spcAft>
                <a:spcPts val="700"/>
              </a:spcAft>
            </a:pPr>
            <a:r>
              <a:rPr lang="en-US" sz="1300" dirty="0">
                <a:solidFill>
                  <a:srgbClr val="2D3436"/>
                </a:solidFill>
                <a:latin typeface="Segoe UI" pitchFamily="34" charset="0"/>
                <a:ea typeface="Segoe UI" pitchFamily="34" charset="-122"/>
                <a:cs typeface="Segoe UI" pitchFamily="34" charset="-120"/>
              </a:rPr>
              <a:t>Committed &amp; PR-reviewed — like source</a:t>
            </a:r>
            <a:endParaRPr lang="en-US" sz="1300" dirty="0"/>
          </a:p>
          <a:p>
            <a:pPr>
              <a:spcAft>
                <a:spcPts val="700"/>
              </a:spcAft>
            </a:pPr>
            <a:r>
              <a:rPr lang="en-US" sz="1300" dirty="0">
                <a:solidFill>
                  <a:srgbClr val="2D3436"/>
                </a:solidFill>
                <a:latin typeface="Segoe UI" pitchFamily="34" charset="0"/>
                <a:ea typeface="Segoe UI" pitchFamily="34" charset="-122"/>
                <a:cs typeface="Segoe UI" pitchFamily="34" charset="-120"/>
              </a:rPr>
              <a:t>Mermaid diagrams render right in the pull request</a:t>
            </a:r>
            <a:endParaRPr lang="en-US" sz="1300" dirty="0"/>
          </a:p>
          <a:p>
            <a:pPr>
              <a:spcAft>
                <a:spcPts val="700"/>
              </a:spcAft>
            </a:pPr>
            <a:r>
              <a:rPr lang="en-US" sz="1300" dirty="0">
                <a:solidFill>
                  <a:srgbClr val="2D3436"/>
                </a:solidFill>
                <a:latin typeface="Segoe UI" pitchFamily="34" charset="0"/>
                <a:ea typeface="Segoe UI" pitchFamily="34" charset="-122"/>
                <a:cs typeface="Segoe UI" pitchFamily="34" charset="-120"/>
              </a:rPr>
              <a:t>Read on every run by: security · icea-feature · icea-review · app-readiness</a:t>
            </a:r>
            <a:endParaRPr lang="en-US" sz="1300" dirty="0"/>
          </a:p>
        </p:txBody>
      </p:sp>
      <p:sp>
        <p:nvSpPr>
          <p:cNvPr id="11" name="Shape 9"/>
          <p:cNvSpPr/>
          <p:nvPr/>
        </p:nvSpPr>
        <p:spPr>
          <a:xfrm>
            <a:off x="457200" y="4572000"/>
            <a:ext cx="11338560" cy="1097280"/>
          </a:xfrm>
          <a:prstGeom prst="roundRect">
            <a:avLst>
              <a:gd name="adj" fmla="val 8333"/>
            </a:avLst>
          </a:prstGeom>
          <a:solidFill>
            <a:srgbClr val="FDFCF5"/>
          </a:solidFill>
          <a:ln w="12700">
            <a:solidFill>
              <a:srgbClr val="C8A951"/>
            </a:solidFill>
            <a:prstDash val="solid"/>
          </a:ln>
        </p:spPr>
        <p:txBody>
          <a:bodyPr/>
          <a:lstStyle/>
          <a:p>
            <a:endParaRPr lang="en-US"/>
          </a:p>
        </p:txBody>
      </p:sp>
      <p:sp>
        <p:nvSpPr>
          <p:cNvPr id="12" name="Text 10"/>
          <p:cNvSpPr/>
          <p:nvPr/>
        </p:nvSpPr>
        <p:spPr>
          <a:xfrm>
            <a:off x="685800" y="4663440"/>
            <a:ext cx="10972800" cy="914400"/>
          </a:xfrm>
          <a:prstGeom prst="rect">
            <a:avLst/>
          </a:prstGeom>
          <a:noFill/>
          <a:ln/>
        </p:spPr>
        <p:txBody>
          <a:bodyPr wrap="square" rtlCol="0" anchor="ctr"/>
          <a:lstStyle/>
          <a:p>
            <a:pPr marL="0" indent="0">
              <a:buNone/>
            </a:pPr>
            <a:r>
              <a:rPr lang="en-US" sz="1300" i="1" dirty="0">
                <a:solidFill>
                  <a:srgbClr val="1A3A5C"/>
                </a:solidFill>
                <a:latin typeface="Segoe UI" pitchFamily="34" charset="0"/>
                <a:ea typeface="Segoe UI" pitchFamily="34" charset="-122"/>
                <a:cs typeface="Segoe UI" pitchFamily="34" charset="-120"/>
              </a:rPr>
              <a:t>And notice architecture-decisions.md — the “why,” written down — is the same principle this whole talk is built on.</a:t>
            </a:r>
            <a:endParaRPr lang="en-US" sz="1300" dirty="0"/>
          </a:p>
        </p:txBody>
      </p:sp>
      <p:sp>
        <p:nvSpPr>
          <p:cNvPr id="13" name="Text 11"/>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34 / 45</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241A35"/>
        </a:solidFill>
        <a:effectLst/>
      </p:bgPr>
    </p:bg>
    <p:spTree>
      <p:nvGrpSpPr>
        <p:cNvPr id="1" name=""/>
        <p:cNvGrpSpPr/>
        <p:nvPr/>
      </p:nvGrpSpPr>
      <p:grpSpPr>
        <a:xfrm>
          <a:off x="0" y="0"/>
          <a:ext cx="0" cy="0"/>
          <a:chOff x="0" y="0"/>
          <a:chExt cx="0" cy="0"/>
        </a:xfrm>
      </p:grpSpPr>
      <p:sp>
        <p:nvSpPr>
          <p:cNvPr id="2" name="Text 0"/>
          <p:cNvSpPr/>
          <p:nvPr/>
        </p:nvSpPr>
        <p:spPr>
          <a:xfrm>
            <a:off x="548640" y="1005840"/>
            <a:ext cx="10972800" cy="274320"/>
          </a:xfrm>
          <a:prstGeom prst="rect">
            <a:avLst/>
          </a:prstGeom>
          <a:noFill/>
          <a:ln/>
        </p:spPr>
        <p:txBody>
          <a:bodyPr wrap="square" rtlCol="0" anchor="ctr"/>
          <a:lstStyle/>
          <a:p>
            <a:pPr marL="0" indent="0">
              <a:buNone/>
            </a:pPr>
            <a:r>
              <a:rPr lang="en-US" sz="900" b="1" kern="0" spc="300" dirty="0">
                <a:solidFill>
                  <a:srgbClr val="C8A951"/>
                </a:solidFill>
                <a:latin typeface="Segoe UI" pitchFamily="34" charset="0"/>
                <a:ea typeface="Segoe UI" pitchFamily="34" charset="-122"/>
                <a:cs typeface="Segoe UI" pitchFamily="34" charset="-120"/>
              </a:rPr>
              <a:t>INTERLUDE · GUARDRAILS</a:t>
            </a:r>
            <a:endParaRPr lang="en-US" sz="900" dirty="0"/>
          </a:p>
        </p:txBody>
      </p:sp>
      <p:sp>
        <p:nvSpPr>
          <p:cNvPr id="3" name="Text 1"/>
          <p:cNvSpPr/>
          <p:nvPr/>
        </p:nvSpPr>
        <p:spPr>
          <a:xfrm>
            <a:off x="548640" y="1371600"/>
            <a:ext cx="10515600" cy="1280160"/>
          </a:xfrm>
          <a:prstGeom prst="rect">
            <a:avLst/>
          </a:prstGeom>
          <a:noFill/>
          <a:ln/>
        </p:spPr>
        <p:txBody>
          <a:bodyPr wrap="square" rtlCol="0" anchor="ctr"/>
          <a:lstStyle/>
          <a:p>
            <a:pPr marL="0" indent="0">
              <a:buNone/>
            </a:pPr>
            <a:r>
              <a:rPr lang="en-US" sz="3200" b="1" dirty="0">
                <a:solidFill>
                  <a:srgbClr val="FFFFFF"/>
                </a:solidFill>
                <a:latin typeface="Segoe UI" pitchFamily="34" charset="0"/>
                <a:ea typeface="Segoe UI" pitchFamily="34" charset="-122"/>
                <a:cs typeface="Segoe UI" pitchFamily="34" charset="-120"/>
              </a:rPr>
              <a:t>Your conventions live in the system</a:t>
            </a:r>
            <a:endParaRPr lang="en-US" sz="3200" dirty="0"/>
          </a:p>
        </p:txBody>
      </p:sp>
      <p:sp>
        <p:nvSpPr>
          <p:cNvPr id="4" name="Shape 2"/>
          <p:cNvSpPr/>
          <p:nvPr/>
        </p:nvSpPr>
        <p:spPr>
          <a:xfrm>
            <a:off x="548640" y="2743200"/>
            <a:ext cx="54864" cy="640080"/>
          </a:xfrm>
          <a:prstGeom prst="rect">
            <a:avLst/>
          </a:prstGeom>
          <a:solidFill>
            <a:srgbClr val="A78BFA"/>
          </a:solidFill>
          <a:ln w="12700">
            <a:solidFill>
              <a:srgbClr val="A78BFA"/>
            </a:solidFill>
            <a:prstDash val="solid"/>
          </a:ln>
        </p:spPr>
        <p:txBody>
          <a:bodyPr/>
          <a:lstStyle/>
          <a:p>
            <a:endParaRPr lang="en-US"/>
          </a:p>
        </p:txBody>
      </p:sp>
      <p:sp>
        <p:nvSpPr>
          <p:cNvPr id="5" name="Text 3"/>
          <p:cNvSpPr/>
          <p:nvPr/>
        </p:nvSpPr>
        <p:spPr>
          <a:xfrm>
            <a:off x="731520" y="2743200"/>
            <a:ext cx="10424160" cy="640080"/>
          </a:xfrm>
          <a:prstGeom prst="rect">
            <a:avLst/>
          </a:prstGeom>
          <a:noFill/>
          <a:ln/>
        </p:spPr>
        <p:txBody>
          <a:bodyPr wrap="square" rtlCol="0" anchor="ctr"/>
          <a:lstStyle/>
          <a:p>
            <a:pPr marL="0" indent="0">
              <a:buNone/>
            </a:pPr>
            <a:r>
              <a:rPr lang="en-US" sz="1500" i="1" dirty="0">
                <a:solidFill>
                  <a:srgbClr val="C9BDE6"/>
                </a:solidFill>
                <a:latin typeface="Segoe UI" pitchFamily="34" charset="0"/>
                <a:ea typeface="Segoe UI" pitchFamily="34" charset="-122"/>
                <a:cs typeface="Segoe UI" pitchFamily="34" charset="-120"/>
              </a:rPr>
              <a:t>"Identical AI behavior — every developer, every session, no matter who’s driving."</a:t>
            </a:r>
            <a:endParaRPr lang="en-US" sz="1500" dirty="0"/>
          </a:p>
        </p:txBody>
      </p:sp>
      <p:sp>
        <p:nvSpPr>
          <p:cNvPr id="6" name="Text 4"/>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35 / 45</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Guidance that flexes, guardrails that don’t</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Shape 3"/>
          <p:cNvSpPr/>
          <p:nvPr/>
        </p:nvSpPr>
        <p:spPr>
          <a:xfrm>
            <a:off x="457200" y="1097280"/>
            <a:ext cx="3688080" cy="2743200"/>
          </a:xfrm>
          <a:prstGeom prst="roundRect">
            <a:avLst>
              <a:gd name="adj" fmla="val 3333"/>
            </a:avLst>
          </a:prstGeom>
          <a:solidFill>
            <a:srgbClr val="FFFFFF"/>
          </a:solidFill>
          <a:ln w="12700">
            <a:solidFill>
              <a:srgbClr val="DFE6E9"/>
            </a:solidFill>
            <a:prstDash val="solid"/>
          </a:ln>
        </p:spPr>
        <p:txBody>
          <a:bodyPr/>
          <a:lstStyle/>
          <a:p>
            <a:endParaRPr lang="en-US"/>
          </a:p>
        </p:txBody>
      </p:sp>
      <p:sp>
        <p:nvSpPr>
          <p:cNvPr id="6" name="Text 4"/>
          <p:cNvSpPr/>
          <p:nvPr/>
        </p:nvSpPr>
        <p:spPr>
          <a:xfrm>
            <a:off x="594360" y="1207008"/>
            <a:ext cx="3413760" cy="201168"/>
          </a:xfrm>
          <a:prstGeom prst="rect">
            <a:avLst/>
          </a:prstGeom>
          <a:noFill/>
          <a:ln/>
        </p:spPr>
        <p:txBody>
          <a:bodyPr wrap="square" rtlCol="0" anchor="ctr"/>
          <a:lstStyle/>
          <a:p>
            <a:pPr marL="0" indent="0">
              <a:buNone/>
            </a:pPr>
            <a:r>
              <a:rPr lang="en-US" sz="800" kern="0" spc="100" dirty="0">
                <a:solidFill>
                  <a:srgbClr val="C8A951"/>
                </a:solidFill>
                <a:latin typeface="Cascadia Code" pitchFamily="34" charset="0"/>
                <a:ea typeface="Cascadia Code" pitchFamily="34" charset="-122"/>
                <a:cs typeface="Cascadia Code" pitchFamily="34" charset="-120"/>
              </a:rPr>
              <a:t>ALWAYS-ON</a:t>
            </a:r>
            <a:endParaRPr lang="en-US" sz="800" dirty="0"/>
          </a:p>
        </p:txBody>
      </p:sp>
      <p:sp>
        <p:nvSpPr>
          <p:cNvPr id="7" name="Text 5"/>
          <p:cNvSpPr/>
          <p:nvPr/>
        </p:nvSpPr>
        <p:spPr>
          <a:xfrm>
            <a:off x="594360" y="1426464"/>
            <a:ext cx="3413760" cy="457200"/>
          </a:xfrm>
          <a:prstGeom prst="rect">
            <a:avLst/>
          </a:prstGeom>
          <a:noFill/>
          <a:ln/>
        </p:spPr>
        <p:txBody>
          <a:bodyPr wrap="square" rtlCol="0" anchor="ctr"/>
          <a:lstStyle/>
          <a:p>
            <a:pPr marL="0" indent="0">
              <a:buNone/>
            </a:pPr>
            <a:r>
              <a:rPr lang="en-US" sz="1300" b="1" dirty="0">
                <a:solidFill>
                  <a:srgbClr val="1A3A5C"/>
                </a:solidFill>
                <a:latin typeface="Segoe UI" pitchFamily="34" charset="0"/>
                <a:ea typeface="Segoe UI" pitchFamily="34" charset="-122"/>
                <a:cs typeface="Segoe UI" pitchFamily="34" charset="-120"/>
              </a:rPr>
              <a:t>CLAUDE.md system prompt</a:t>
            </a:r>
            <a:endParaRPr lang="en-US" sz="1300" dirty="0"/>
          </a:p>
        </p:txBody>
      </p:sp>
      <p:sp>
        <p:nvSpPr>
          <p:cNvPr id="8" name="Text 6"/>
          <p:cNvSpPr/>
          <p:nvPr/>
        </p:nvSpPr>
        <p:spPr>
          <a:xfrm>
            <a:off x="594360" y="1883664"/>
            <a:ext cx="3413760" cy="1828800"/>
          </a:xfrm>
          <a:prstGeom prst="rect">
            <a:avLst/>
          </a:prstGeom>
          <a:noFill/>
          <a:ln/>
        </p:spPr>
        <p:txBody>
          <a:bodyPr wrap="square" rtlCol="0" anchor="t"/>
          <a:lstStyle/>
          <a:p>
            <a:pPr marL="0" indent="0">
              <a:buNone/>
            </a:pPr>
            <a:r>
              <a:rPr lang="en-US" sz="1100" dirty="0">
                <a:solidFill>
                  <a:srgbClr val="636E72"/>
                </a:solidFill>
                <a:latin typeface="Segoe UI" pitchFamily="34" charset="0"/>
                <a:ea typeface="Segoe UI" pitchFamily="34" charset="-122"/>
                <a:cs typeface="Segoe UI" pitchFamily="34" charset="-120"/>
              </a:rPr>
              <a:t>Loaded every session. Write gate, feature gate, "Dapper + parameterised SQL, never EF Core", commit &amp; branch format. Applies everywhere.</a:t>
            </a:r>
            <a:endParaRPr lang="en-US" sz="1100" dirty="0"/>
          </a:p>
        </p:txBody>
      </p:sp>
      <p:sp>
        <p:nvSpPr>
          <p:cNvPr id="9" name="Shape 7"/>
          <p:cNvSpPr/>
          <p:nvPr/>
        </p:nvSpPr>
        <p:spPr>
          <a:xfrm>
            <a:off x="4282440" y="1097280"/>
            <a:ext cx="3688080" cy="2743200"/>
          </a:xfrm>
          <a:prstGeom prst="roundRect">
            <a:avLst>
              <a:gd name="adj" fmla="val 3333"/>
            </a:avLst>
          </a:prstGeom>
          <a:solidFill>
            <a:srgbClr val="FFFFFF"/>
          </a:solidFill>
          <a:ln w="12700">
            <a:solidFill>
              <a:srgbClr val="DFE6E9"/>
            </a:solidFill>
            <a:prstDash val="solid"/>
          </a:ln>
        </p:spPr>
        <p:txBody>
          <a:bodyPr/>
          <a:lstStyle/>
          <a:p>
            <a:endParaRPr lang="en-US"/>
          </a:p>
        </p:txBody>
      </p:sp>
      <p:sp>
        <p:nvSpPr>
          <p:cNvPr id="10" name="Text 8"/>
          <p:cNvSpPr/>
          <p:nvPr/>
        </p:nvSpPr>
        <p:spPr>
          <a:xfrm>
            <a:off x="4419600" y="1207008"/>
            <a:ext cx="3413760" cy="201168"/>
          </a:xfrm>
          <a:prstGeom prst="rect">
            <a:avLst/>
          </a:prstGeom>
          <a:noFill/>
          <a:ln/>
        </p:spPr>
        <p:txBody>
          <a:bodyPr wrap="square" rtlCol="0" anchor="ctr"/>
          <a:lstStyle/>
          <a:p>
            <a:pPr marL="0" indent="0">
              <a:buNone/>
            </a:pPr>
            <a:r>
              <a:rPr lang="en-US" sz="800" kern="0" spc="100" dirty="0">
                <a:solidFill>
                  <a:srgbClr val="C8A951"/>
                </a:solidFill>
                <a:latin typeface="Cascadia Code" pitchFamily="34" charset="0"/>
                <a:ea typeface="Cascadia Code" pitchFamily="34" charset="-122"/>
                <a:cs typeface="Cascadia Code" pitchFamily="34" charset="-120"/>
              </a:rPr>
              <a:t>PER FILE-TYPE</a:t>
            </a:r>
            <a:endParaRPr lang="en-US" sz="800" dirty="0"/>
          </a:p>
        </p:txBody>
      </p:sp>
      <p:sp>
        <p:nvSpPr>
          <p:cNvPr id="11" name="Text 9"/>
          <p:cNvSpPr/>
          <p:nvPr/>
        </p:nvSpPr>
        <p:spPr>
          <a:xfrm>
            <a:off x="4419600" y="1426464"/>
            <a:ext cx="3413760" cy="457200"/>
          </a:xfrm>
          <a:prstGeom prst="rect">
            <a:avLst/>
          </a:prstGeom>
          <a:noFill/>
          <a:ln/>
        </p:spPr>
        <p:txBody>
          <a:bodyPr wrap="square" rtlCol="0" anchor="ctr"/>
          <a:lstStyle/>
          <a:p>
            <a:pPr marL="0" indent="0">
              <a:buNone/>
            </a:pPr>
            <a:r>
              <a:rPr lang="en-US" sz="1300" b="1" dirty="0">
                <a:solidFill>
                  <a:srgbClr val="1A3A5C"/>
                </a:solidFill>
                <a:latin typeface="Segoe UI" pitchFamily="34" charset="0"/>
                <a:ea typeface="Segoe UI" pitchFamily="34" charset="-122"/>
                <a:cs typeface="Segoe UI" pitchFamily="34" charset="-120"/>
              </a:rPr>
              <a:t>43 scoped rule files</a:t>
            </a:r>
            <a:endParaRPr lang="en-US" sz="1300" dirty="0"/>
          </a:p>
        </p:txBody>
      </p:sp>
      <p:sp>
        <p:nvSpPr>
          <p:cNvPr id="12" name="Text 10"/>
          <p:cNvSpPr/>
          <p:nvPr/>
        </p:nvSpPr>
        <p:spPr>
          <a:xfrm>
            <a:off x="4419600" y="1883664"/>
            <a:ext cx="3413760" cy="1828800"/>
          </a:xfrm>
          <a:prstGeom prst="rect">
            <a:avLst/>
          </a:prstGeom>
          <a:noFill/>
          <a:ln/>
        </p:spPr>
        <p:txBody>
          <a:bodyPr wrap="square" rtlCol="0" anchor="t"/>
          <a:lstStyle/>
          <a:p>
            <a:pPr marL="0" indent="0">
              <a:buNone/>
            </a:pPr>
            <a:r>
              <a:rPr lang="en-US" sz="1100" dirty="0">
                <a:solidFill>
                  <a:srgbClr val="636E72"/>
                </a:solidFill>
                <a:latin typeface="Segoe UI" pitchFamily="34" charset="0"/>
                <a:ea typeface="Segoe UI" pitchFamily="34" charset="-122"/>
                <a:cs typeface="Segoe UI" pitchFamily="34" charset="-120"/>
              </a:rPr>
              <a:t>*.cs → C#/.NET/data-access · *.tsx → React/hooks · middleware/** → api-security. Load only when a matching file is touched — zero cost otherwise.</a:t>
            </a:r>
            <a:endParaRPr lang="en-US" sz="1100" dirty="0"/>
          </a:p>
        </p:txBody>
      </p:sp>
      <p:sp>
        <p:nvSpPr>
          <p:cNvPr id="13" name="Shape 11"/>
          <p:cNvSpPr/>
          <p:nvPr/>
        </p:nvSpPr>
        <p:spPr>
          <a:xfrm>
            <a:off x="8107680" y="1097280"/>
            <a:ext cx="3688080" cy="2743200"/>
          </a:xfrm>
          <a:prstGeom prst="roundRect">
            <a:avLst>
              <a:gd name="adj" fmla="val 3333"/>
            </a:avLst>
          </a:prstGeom>
          <a:solidFill>
            <a:srgbClr val="FFFFFF"/>
          </a:solidFill>
          <a:ln w="12700">
            <a:solidFill>
              <a:srgbClr val="DFE6E9"/>
            </a:solidFill>
            <a:prstDash val="solid"/>
          </a:ln>
        </p:spPr>
        <p:txBody>
          <a:bodyPr/>
          <a:lstStyle/>
          <a:p>
            <a:endParaRPr lang="en-US"/>
          </a:p>
        </p:txBody>
      </p:sp>
      <p:sp>
        <p:nvSpPr>
          <p:cNvPr id="14" name="Text 12"/>
          <p:cNvSpPr/>
          <p:nvPr/>
        </p:nvSpPr>
        <p:spPr>
          <a:xfrm>
            <a:off x="8244840" y="1207008"/>
            <a:ext cx="3413760" cy="201168"/>
          </a:xfrm>
          <a:prstGeom prst="rect">
            <a:avLst/>
          </a:prstGeom>
          <a:noFill/>
          <a:ln/>
        </p:spPr>
        <p:txBody>
          <a:bodyPr wrap="square" rtlCol="0" anchor="ctr"/>
          <a:lstStyle/>
          <a:p>
            <a:pPr marL="0" indent="0">
              <a:buNone/>
            </a:pPr>
            <a:r>
              <a:rPr lang="en-US" sz="800" kern="0" spc="100" dirty="0">
                <a:solidFill>
                  <a:srgbClr val="C8A951"/>
                </a:solidFill>
                <a:latin typeface="Cascadia Code" pitchFamily="34" charset="0"/>
                <a:ea typeface="Cascadia Code" pitchFamily="34" charset="-122"/>
                <a:cs typeface="Cascadia Code" pitchFamily="34" charset="-120"/>
              </a:rPr>
              <a:t>DETERMINISTIC</a:t>
            </a:r>
            <a:endParaRPr lang="en-US" sz="800" dirty="0"/>
          </a:p>
        </p:txBody>
      </p:sp>
      <p:sp>
        <p:nvSpPr>
          <p:cNvPr id="15" name="Text 13"/>
          <p:cNvSpPr/>
          <p:nvPr/>
        </p:nvSpPr>
        <p:spPr>
          <a:xfrm>
            <a:off x="8244840" y="1426464"/>
            <a:ext cx="3413760" cy="457200"/>
          </a:xfrm>
          <a:prstGeom prst="rect">
            <a:avLst/>
          </a:prstGeom>
          <a:noFill/>
          <a:ln/>
        </p:spPr>
        <p:txBody>
          <a:bodyPr wrap="square" rtlCol="0" anchor="ctr"/>
          <a:lstStyle/>
          <a:p>
            <a:pPr marL="0" indent="0">
              <a:buNone/>
            </a:pPr>
            <a:r>
              <a:rPr lang="en-US" sz="1300" b="1" dirty="0">
                <a:solidFill>
                  <a:srgbClr val="1A3A5C"/>
                </a:solidFill>
                <a:latin typeface="Segoe UI" pitchFamily="34" charset="0"/>
                <a:ea typeface="Segoe UI" pitchFamily="34" charset="-122"/>
                <a:cs typeface="Segoe UI" pitchFamily="34" charset="-120"/>
              </a:rPr>
              <a:t>Hooks intercept the call</a:t>
            </a:r>
            <a:endParaRPr lang="en-US" sz="1300" dirty="0"/>
          </a:p>
        </p:txBody>
      </p:sp>
      <p:sp>
        <p:nvSpPr>
          <p:cNvPr id="16" name="Text 14"/>
          <p:cNvSpPr/>
          <p:nvPr/>
        </p:nvSpPr>
        <p:spPr>
          <a:xfrm>
            <a:off x="8244840" y="1883664"/>
            <a:ext cx="3413760" cy="1828800"/>
          </a:xfrm>
          <a:prstGeom prst="rect">
            <a:avLst/>
          </a:prstGeom>
          <a:noFill/>
          <a:ln/>
        </p:spPr>
        <p:txBody>
          <a:bodyPr wrap="square" rtlCol="0" anchor="t"/>
          <a:lstStyle/>
          <a:p>
            <a:pPr marL="0" indent="0">
              <a:buNone/>
            </a:pPr>
            <a:r>
              <a:rPr lang="en-US" sz="1100" dirty="0">
                <a:solidFill>
                  <a:srgbClr val="636E72"/>
                </a:solidFill>
                <a:latin typeface="Segoe UI" pitchFamily="34" charset="0"/>
                <a:ea typeface="Segoe UI" pitchFamily="34" charset="-122"/>
                <a:cs typeface="Segoe UI" pitchFamily="34" charset="-120"/>
              </a:rPr>
              <a:t>System prompts &amp; rules instruct the model (probabilistic). Hooks intercept the tool call itself — Layer B from Act I’s ladder. It doesn’t negotiate.</a:t>
            </a:r>
            <a:endParaRPr lang="en-US" sz="1100" dirty="0"/>
          </a:p>
        </p:txBody>
      </p:sp>
      <p:sp>
        <p:nvSpPr>
          <p:cNvPr id="17" name="Shape 15"/>
          <p:cNvSpPr/>
          <p:nvPr/>
        </p:nvSpPr>
        <p:spPr>
          <a:xfrm>
            <a:off x="457200" y="4114800"/>
            <a:ext cx="11338560" cy="1371600"/>
          </a:xfrm>
          <a:prstGeom prst="roundRect">
            <a:avLst>
              <a:gd name="adj" fmla="val 6667"/>
            </a:avLst>
          </a:prstGeom>
          <a:solidFill>
            <a:srgbClr val="F4F7FA"/>
          </a:solidFill>
          <a:ln w="12700">
            <a:solidFill>
              <a:srgbClr val="DFE6E9"/>
            </a:solidFill>
            <a:prstDash val="solid"/>
          </a:ln>
        </p:spPr>
        <p:txBody>
          <a:bodyPr/>
          <a:lstStyle/>
          <a:p>
            <a:endParaRPr lang="en-US"/>
          </a:p>
        </p:txBody>
      </p:sp>
      <p:sp>
        <p:nvSpPr>
          <p:cNvPr id="18" name="Text 16"/>
          <p:cNvSpPr/>
          <p:nvPr/>
        </p:nvSpPr>
        <p:spPr>
          <a:xfrm>
            <a:off x="685800" y="4224528"/>
            <a:ext cx="10972800" cy="365760"/>
          </a:xfrm>
          <a:prstGeom prst="rect">
            <a:avLst/>
          </a:prstGeom>
          <a:noFill/>
          <a:ln/>
        </p:spPr>
        <p:txBody>
          <a:bodyPr wrap="square" rtlCol="0" anchor="ctr"/>
          <a:lstStyle/>
          <a:p>
            <a:pPr marL="0" indent="0">
              <a:buNone/>
            </a:pPr>
            <a:r>
              <a:rPr lang="en-US" sz="1300" b="1" dirty="0">
                <a:solidFill>
                  <a:srgbClr val="1A3A5C"/>
                </a:solidFill>
                <a:latin typeface="Segoe UI" pitchFamily="34" charset="0"/>
                <a:ea typeface="Segoe UI" pitchFamily="34" charset="-122"/>
                <a:cs typeface="Segoe UI" pitchFamily="34" charset="-120"/>
              </a:rPr>
              <a:t>Probabilistic guidance everywhere  ·  deterministic guardrails exactly where the risk is real</a:t>
            </a:r>
            <a:endParaRPr lang="en-US" sz="1300" dirty="0"/>
          </a:p>
        </p:txBody>
      </p:sp>
      <p:sp>
        <p:nvSpPr>
          <p:cNvPr id="19" name="Text 17"/>
          <p:cNvSpPr/>
          <p:nvPr/>
        </p:nvSpPr>
        <p:spPr>
          <a:xfrm>
            <a:off x="685800" y="4617720"/>
            <a:ext cx="10972800" cy="777240"/>
          </a:xfrm>
          <a:prstGeom prst="rect">
            <a:avLst/>
          </a:prstGeom>
          <a:noFill/>
          <a:ln/>
        </p:spPr>
        <p:txBody>
          <a:bodyPr wrap="square" rtlCol="0" anchor="ctr"/>
          <a:lstStyle/>
          <a:p>
            <a:pPr marL="0" indent="0">
              <a:buNone/>
            </a:pPr>
            <a:r>
              <a:rPr lang="en-US" sz="1200" dirty="0">
                <a:solidFill>
                  <a:srgbClr val="636E72"/>
                </a:solidFill>
                <a:latin typeface="Segoe UI" pitchFamily="34" charset="0"/>
                <a:ea typeface="Segoe UI" pitchFamily="34" charset="-122"/>
                <a:cs typeface="Segoe UI" pitchFamily="34" charset="-120"/>
              </a:rPr>
              <a:t>The skills and commands carry hard rules too, and the source-file consent model gates what the AI is even allowed to read.</a:t>
            </a:r>
            <a:endParaRPr lang="en-US" sz="1200" dirty="0"/>
          </a:p>
        </p:txBody>
      </p:sp>
      <p:sp>
        <p:nvSpPr>
          <p:cNvPr id="20" name="Text 18"/>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36 / 45</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D1F35"/>
        </a:solidFill>
        <a:effectLst/>
      </p:bgPr>
    </p:bg>
    <p:spTree>
      <p:nvGrpSpPr>
        <p:cNvPr id="1" name=""/>
        <p:cNvGrpSpPr/>
        <p:nvPr/>
      </p:nvGrpSpPr>
      <p:grpSpPr>
        <a:xfrm>
          <a:off x="0" y="0"/>
          <a:ext cx="0" cy="0"/>
          <a:chOff x="0" y="0"/>
          <a:chExt cx="0" cy="0"/>
        </a:xfrm>
      </p:grpSpPr>
      <p:sp>
        <p:nvSpPr>
          <p:cNvPr id="2" name="Text 0"/>
          <p:cNvSpPr/>
          <p:nvPr/>
        </p:nvSpPr>
        <p:spPr>
          <a:xfrm>
            <a:off x="365760" y="182880"/>
            <a:ext cx="2743200" cy="2286000"/>
          </a:xfrm>
          <a:prstGeom prst="rect">
            <a:avLst/>
          </a:prstGeom>
          <a:noFill/>
          <a:ln/>
        </p:spPr>
        <p:txBody>
          <a:bodyPr wrap="square" rtlCol="0" anchor="ctr"/>
          <a:lstStyle/>
          <a:p>
            <a:pPr marL="0" indent="0">
              <a:buNone/>
            </a:pPr>
            <a:r>
              <a:rPr lang="en-US" sz="12000" b="1" dirty="0">
                <a:solidFill>
                  <a:srgbClr val="1A3A5C"/>
                </a:solidFill>
                <a:latin typeface="Cascadia Code" pitchFamily="34" charset="0"/>
                <a:ea typeface="Cascadia Code" pitchFamily="34" charset="-122"/>
                <a:cs typeface="Cascadia Code" pitchFamily="34" charset="-120"/>
              </a:rPr>
              <a:t>V</a:t>
            </a:r>
            <a:endParaRPr lang="en-US" sz="12000" dirty="0"/>
          </a:p>
        </p:txBody>
      </p:sp>
      <p:sp>
        <p:nvSpPr>
          <p:cNvPr id="3" name="Text 1"/>
          <p:cNvSpPr/>
          <p:nvPr/>
        </p:nvSpPr>
        <p:spPr>
          <a:xfrm>
            <a:off x="548640" y="1005840"/>
            <a:ext cx="10972800" cy="274320"/>
          </a:xfrm>
          <a:prstGeom prst="rect">
            <a:avLst/>
          </a:prstGeom>
          <a:noFill/>
          <a:ln/>
        </p:spPr>
        <p:txBody>
          <a:bodyPr wrap="square" rtlCol="0" anchor="ctr"/>
          <a:lstStyle/>
          <a:p>
            <a:pPr marL="0" indent="0">
              <a:buNone/>
            </a:pPr>
            <a:r>
              <a:rPr lang="en-US" sz="900" b="1" kern="0" spc="300" dirty="0">
                <a:solidFill>
                  <a:srgbClr val="C8A951"/>
                </a:solidFill>
                <a:latin typeface="Segoe UI" pitchFamily="34" charset="0"/>
                <a:ea typeface="Segoe UI" pitchFamily="34" charset="-122"/>
                <a:cs typeface="Segoe UI" pitchFamily="34" charset="-120"/>
              </a:rPr>
              <a:t>ACT V · THE FIFTH ABSENCE</a:t>
            </a:r>
            <a:endParaRPr lang="en-US" sz="900" dirty="0"/>
          </a:p>
        </p:txBody>
      </p:sp>
      <p:sp>
        <p:nvSpPr>
          <p:cNvPr id="4" name="Text 2"/>
          <p:cNvSpPr/>
          <p:nvPr/>
        </p:nvSpPr>
        <p:spPr>
          <a:xfrm>
            <a:off x="548640" y="1371600"/>
            <a:ext cx="10515600" cy="1280160"/>
          </a:xfrm>
          <a:prstGeom prst="rect">
            <a:avLst/>
          </a:prstGeom>
          <a:noFill/>
          <a:ln/>
        </p:spPr>
        <p:txBody>
          <a:bodyPr wrap="square" rtlCol="0" anchor="ctr"/>
          <a:lstStyle/>
          <a:p>
            <a:pPr marL="0" indent="0">
              <a:buNone/>
            </a:pPr>
            <a:r>
              <a:rPr lang="en-US" sz="3200" b="1" dirty="0">
                <a:solidFill>
                  <a:srgbClr val="FFFFFF"/>
                </a:solidFill>
                <a:latin typeface="Segoe UI" pitchFamily="34" charset="0"/>
                <a:ea typeface="Segoe UI" pitchFamily="34" charset="-122"/>
                <a:cs typeface="Segoe UI" pitchFamily="34" charset="-120"/>
              </a:rPr>
              <a:t>Observability — Proof, Not Trust</a:t>
            </a:r>
            <a:endParaRPr lang="en-US" sz="3200" dirty="0"/>
          </a:p>
        </p:txBody>
      </p:sp>
      <p:sp>
        <p:nvSpPr>
          <p:cNvPr id="5" name="Shape 3"/>
          <p:cNvSpPr/>
          <p:nvPr/>
        </p:nvSpPr>
        <p:spPr>
          <a:xfrm>
            <a:off x="548640" y="2743200"/>
            <a:ext cx="54864" cy="502920"/>
          </a:xfrm>
          <a:prstGeom prst="rect">
            <a:avLst/>
          </a:prstGeom>
          <a:solidFill>
            <a:srgbClr val="C8A951"/>
          </a:solidFill>
          <a:ln w="12700">
            <a:solidFill>
              <a:srgbClr val="C8A951"/>
            </a:solidFill>
            <a:prstDash val="solid"/>
          </a:ln>
        </p:spPr>
        <p:txBody>
          <a:bodyPr/>
          <a:lstStyle/>
          <a:p>
            <a:endParaRPr lang="en-US"/>
          </a:p>
        </p:txBody>
      </p:sp>
      <p:sp>
        <p:nvSpPr>
          <p:cNvPr id="6" name="Text 4"/>
          <p:cNvSpPr/>
          <p:nvPr/>
        </p:nvSpPr>
        <p:spPr>
          <a:xfrm>
            <a:off x="731520" y="2743200"/>
            <a:ext cx="10058400" cy="502920"/>
          </a:xfrm>
          <a:prstGeom prst="rect">
            <a:avLst/>
          </a:prstGeom>
          <a:noFill/>
          <a:ln/>
        </p:spPr>
        <p:txBody>
          <a:bodyPr wrap="square" rtlCol="0" anchor="ctr"/>
          <a:lstStyle/>
          <a:p>
            <a:pPr marL="0" indent="0">
              <a:buNone/>
            </a:pPr>
            <a:r>
              <a:rPr lang="en-US" sz="1500" i="1" dirty="0">
                <a:solidFill>
                  <a:srgbClr val="B7C6D6"/>
                </a:solidFill>
                <a:latin typeface="Segoe UI" pitchFamily="34" charset="0"/>
                <a:ea typeface="Segoe UI" pitchFamily="34" charset="-122"/>
                <a:cs typeface="Segoe UI" pitchFamily="34" charset="-120"/>
              </a:rPr>
              <a:t>"You’re accountable for what ships. “The AI said it’s fine” isn’t evidence."</a:t>
            </a:r>
            <a:endParaRPr lang="en-US" sz="1500" dirty="0"/>
          </a:p>
        </p:txBody>
      </p:sp>
      <p:sp>
        <p:nvSpPr>
          <p:cNvPr id="7" name="Text 5"/>
          <p:cNvSpPr/>
          <p:nvPr/>
        </p:nvSpPr>
        <p:spPr>
          <a:xfrm>
            <a:off x="548640" y="6309360"/>
            <a:ext cx="11064240" cy="228600"/>
          </a:xfrm>
          <a:prstGeom prst="rect">
            <a:avLst/>
          </a:prstGeom>
          <a:noFill/>
          <a:ln/>
        </p:spPr>
        <p:txBody>
          <a:bodyPr wrap="square" rtlCol="0" anchor="ctr"/>
          <a:lstStyle/>
          <a:p>
            <a:pPr marL="0" indent="0" algn="r">
              <a:buNone/>
            </a:pPr>
            <a:r>
              <a:rPr lang="en-US" sz="800" dirty="0">
                <a:solidFill>
                  <a:srgbClr val="3A5A7C"/>
                </a:solidFill>
                <a:latin typeface="Cascadia Code" pitchFamily="34" charset="0"/>
                <a:ea typeface="Cascadia Code" pitchFamily="34" charset="-122"/>
                <a:cs typeface="Cascadia Code" pitchFamily="34" charset="-120"/>
              </a:rPr>
              <a:t>ADRs 0004 · 0014 · 0015 · 0019 · 0020 · 0045</a:t>
            </a:r>
            <a:endParaRPr lang="en-US" sz="800" dirty="0"/>
          </a:p>
        </p:txBody>
      </p:sp>
      <p:sp>
        <p:nvSpPr>
          <p:cNvPr id="8" name="Text 6"/>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37 / 45</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The failure mode: zero observability on the AI’s decisions</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Text 3"/>
          <p:cNvSpPr/>
          <p:nvPr/>
        </p:nvSpPr>
        <p:spPr>
          <a:xfrm>
            <a:off x="548640" y="914400"/>
            <a:ext cx="10789920" cy="3291840"/>
          </a:xfrm>
          <a:prstGeom prst="rect">
            <a:avLst/>
          </a:prstGeom>
          <a:noFill/>
          <a:ln/>
        </p:spPr>
        <p:txBody>
          <a:bodyPr wrap="square" rtlCol="0" anchor="t"/>
          <a:lstStyle/>
          <a:p>
            <a:pPr>
              <a:spcAft>
                <a:spcPts val="600"/>
              </a:spcAft>
            </a:pPr>
            <a:r>
              <a:rPr lang="en-US" sz="1400" dirty="0">
                <a:solidFill>
                  <a:srgbClr val="2D3436"/>
                </a:solidFill>
                <a:latin typeface="Segoe UI" pitchFamily="34" charset="0"/>
                <a:ea typeface="Segoe UI" pitchFamily="34" charset="-122"/>
                <a:cs typeface="Segoe UI" pitchFamily="34" charset="-120"/>
              </a:rPr>
              <a:t>No audit trail of what the AI actually generated — and whether it was right.</a:t>
            </a:r>
            <a:endParaRPr lang="en-US" sz="1400" dirty="0"/>
          </a:p>
          <a:p>
            <a:pPr>
              <a:spcAft>
                <a:spcPts val="600"/>
              </a:spcAft>
            </a:pPr>
            <a:r>
              <a:rPr lang="en-US" sz="1400" dirty="0">
                <a:solidFill>
                  <a:srgbClr val="2D3436"/>
                </a:solidFill>
                <a:latin typeface="Segoe UI" pitchFamily="34" charset="0"/>
                <a:ea typeface="Segoe UI" pitchFamily="34" charset="-122"/>
                <a:cs typeface="Segoe UI" pitchFamily="34" charset="-120"/>
              </a:rPr>
              <a:t>No line you could draw from a requirement to the code that satisfies it.</a:t>
            </a:r>
            <a:endParaRPr lang="en-US" sz="1400" dirty="0"/>
          </a:p>
          <a:p>
            <a:pPr>
              <a:spcAft>
                <a:spcPts val="600"/>
              </a:spcAft>
            </a:pPr>
            <a:r>
              <a:rPr lang="en-US" sz="1400" dirty="0">
                <a:solidFill>
                  <a:srgbClr val="2D3436"/>
                </a:solidFill>
                <a:latin typeface="Segoe UI" pitchFamily="34" charset="0"/>
                <a:ea typeface="Segoe UI" pitchFamily="34" charset="-122"/>
                <a:cs typeface="Segoe UI" pitchFamily="34" charset="-120"/>
              </a:rPr>
              <a:t>No evidence that what shipped matched what was agreed.</a:t>
            </a:r>
            <a:endParaRPr lang="en-US" sz="1400" dirty="0"/>
          </a:p>
          <a:p>
            <a:pPr>
              <a:spcAft>
                <a:spcPts val="600"/>
              </a:spcAft>
            </a:pPr>
            <a:r>
              <a:rPr lang="en-US" sz="1400" dirty="0">
                <a:solidFill>
                  <a:srgbClr val="2D3436"/>
                </a:solidFill>
                <a:latin typeface="Segoe UI" pitchFamily="34" charset="0"/>
                <a:ea typeface="Segoe UI" pitchFamily="34" charset="-122"/>
                <a:cs typeface="Segoe UI" pitchFamily="34" charset="-120"/>
              </a:rPr>
              <a:t>When a finding was waved off, the reason went with it.</a:t>
            </a:r>
            <a:endParaRPr lang="en-US" sz="1400" dirty="0"/>
          </a:p>
        </p:txBody>
      </p:sp>
      <p:sp>
        <p:nvSpPr>
          <p:cNvPr id="6" name="Shape 4"/>
          <p:cNvSpPr/>
          <p:nvPr/>
        </p:nvSpPr>
        <p:spPr>
          <a:xfrm>
            <a:off x="457200" y="4297680"/>
            <a:ext cx="3657600" cy="1005840"/>
          </a:xfrm>
          <a:prstGeom prst="roundRect">
            <a:avLst>
              <a:gd name="adj" fmla="val 9091"/>
            </a:avLst>
          </a:prstGeom>
          <a:solidFill>
            <a:srgbClr val="FFF0ED"/>
          </a:solidFill>
          <a:ln w="12700">
            <a:solidFill>
              <a:srgbClr val="F3B4A8"/>
            </a:solidFill>
            <a:prstDash val="solid"/>
          </a:ln>
        </p:spPr>
        <p:txBody>
          <a:bodyPr/>
          <a:lstStyle/>
          <a:p>
            <a:endParaRPr lang="en-US"/>
          </a:p>
        </p:txBody>
      </p:sp>
      <p:sp>
        <p:nvSpPr>
          <p:cNvPr id="7" name="Text 5"/>
          <p:cNvSpPr/>
          <p:nvPr/>
        </p:nvSpPr>
        <p:spPr>
          <a:xfrm>
            <a:off x="594360" y="4389120"/>
            <a:ext cx="548640" cy="822960"/>
          </a:xfrm>
          <a:prstGeom prst="rect">
            <a:avLst/>
          </a:prstGeom>
          <a:noFill/>
          <a:ln/>
        </p:spPr>
        <p:txBody>
          <a:bodyPr wrap="square" rtlCol="0" anchor="ctr"/>
          <a:lstStyle/>
          <a:p>
            <a:pPr marL="0" indent="0">
              <a:buNone/>
            </a:pPr>
            <a:r>
              <a:rPr lang="en-US" sz="3400" b="1" dirty="0">
                <a:solidFill>
                  <a:srgbClr val="E17055"/>
                </a:solidFill>
                <a:latin typeface="Georgia" pitchFamily="34" charset="0"/>
                <a:ea typeface="Georgia" pitchFamily="34" charset="-122"/>
                <a:cs typeface="Georgia" pitchFamily="34" charset="-120"/>
              </a:rPr>
              <a:t>?</a:t>
            </a:r>
            <a:endParaRPr lang="en-US" sz="3400" dirty="0"/>
          </a:p>
        </p:txBody>
      </p:sp>
      <p:sp>
        <p:nvSpPr>
          <p:cNvPr id="8" name="Text 6"/>
          <p:cNvSpPr/>
          <p:nvPr/>
        </p:nvSpPr>
        <p:spPr>
          <a:xfrm>
            <a:off x="1234440" y="4389120"/>
            <a:ext cx="2743200" cy="822960"/>
          </a:xfrm>
          <a:prstGeom prst="rect">
            <a:avLst/>
          </a:prstGeom>
          <a:noFill/>
          <a:ln/>
        </p:spPr>
        <p:txBody>
          <a:bodyPr wrap="square" rtlCol="0" anchor="ctr"/>
          <a:lstStyle/>
          <a:p>
            <a:pPr marL="0" indent="0">
              <a:buNone/>
            </a:pPr>
            <a:r>
              <a:rPr lang="en-US" sz="1200" b="1" dirty="0">
                <a:solidFill>
                  <a:srgbClr val="1A3A5C"/>
                </a:solidFill>
                <a:latin typeface="Segoe UI" pitchFamily="34" charset="0"/>
                <a:ea typeface="Segoe UI" pitchFamily="34" charset="-122"/>
                <a:cs typeface="Segoe UI" pitchFamily="34" charset="-120"/>
              </a:rPr>
              <a:t>what did it generate?</a:t>
            </a:r>
            <a:endParaRPr lang="en-US" sz="1200" dirty="0"/>
          </a:p>
        </p:txBody>
      </p:sp>
      <p:sp>
        <p:nvSpPr>
          <p:cNvPr id="9" name="Shape 7"/>
          <p:cNvSpPr/>
          <p:nvPr/>
        </p:nvSpPr>
        <p:spPr>
          <a:xfrm>
            <a:off x="4251960" y="4297680"/>
            <a:ext cx="3657600" cy="1005840"/>
          </a:xfrm>
          <a:prstGeom prst="roundRect">
            <a:avLst>
              <a:gd name="adj" fmla="val 9091"/>
            </a:avLst>
          </a:prstGeom>
          <a:solidFill>
            <a:srgbClr val="FFF0ED"/>
          </a:solidFill>
          <a:ln w="12700">
            <a:solidFill>
              <a:srgbClr val="F3B4A8"/>
            </a:solidFill>
            <a:prstDash val="solid"/>
          </a:ln>
        </p:spPr>
        <p:txBody>
          <a:bodyPr/>
          <a:lstStyle/>
          <a:p>
            <a:endParaRPr lang="en-US"/>
          </a:p>
        </p:txBody>
      </p:sp>
      <p:sp>
        <p:nvSpPr>
          <p:cNvPr id="10" name="Text 8"/>
          <p:cNvSpPr/>
          <p:nvPr/>
        </p:nvSpPr>
        <p:spPr>
          <a:xfrm>
            <a:off x="4389120" y="4389120"/>
            <a:ext cx="548640" cy="822960"/>
          </a:xfrm>
          <a:prstGeom prst="rect">
            <a:avLst/>
          </a:prstGeom>
          <a:noFill/>
          <a:ln/>
        </p:spPr>
        <p:txBody>
          <a:bodyPr wrap="square" rtlCol="0" anchor="ctr"/>
          <a:lstStyle/>
          <a:p>
            <a:pPr marL="0" indent="0">
              <a:buNone/>
            </a:pPr>
            <a:r>
              <a:rPr lang="en-US" sz="3400" b="1" dirty="0">
                <a:solidFill>
                  <a:srgbClr val="E17055"/>
                </a:solidFill>
                <a:latin typeface="Georgia" pitchFamily="34" charset="0"/>
                <a:ea typeface="Georgia" pitchFamily="34" charset="-122"/>
                <a:cs typeface="Georgia" pitchFamily="34" charset="-120"/>
              </a:rPr>
              <a:t>?</a:t>
            </a:r>
            <a:endParaRPr lang="en-US" sz="3400" dirty="0"/>
          </a:p>
        </p:txBody>
      </p:sp>
      <p:sp>
        <p:nvSpPr>
          <p:cNvPr id="11" name="Text 9"/>
          <p:cNvSpPr/>
          <p:nvPr/>
        </p:nvSpPr>
        <p:spPr>
          <a:xfrm>
            <a:off x="5029200" y="4389120"/>
            <a:ext cx="2743200" cy="822960"/>
          </a:xfrm>
          <a:prstGeom prst="rect">
            <a:avLst/>
          </a:prstGeom>
          <a:noFill/>
          <a:ln/>
        </p:spPr>
        <p:txBody>
          <a:bodyPr wrap="square" rtlCol="0" anchor="ctr"/>
          <a:lstStyle/>
          <a:p>
            <a:pPr marL="0" indent="0">
              <a:buNone/>
            </a:pPr>
            <a:r>
              <a:rPr lang="en-US" sz="1200" b="1" dirty="0">
                <a:solidFill>
                  <a:srgbClr val="1A3A5C"/>
                </a:solidFill>
                <a:latin typeface="Segoe UI" pitchFamily="34" charset="0"/>
                <a:ea typeface="Segoe UI" pitchFamily="34" charset="-122"/>
                <a:cs typeface="Segoe UI" pitchFamily="34" charset="-120"/>
              </a:rPr>
              <a:t>does it match what we agreed?</a:t>
            </a:r>
            <a:endParaRPr lang="en-US" sz="1200" dirty="0"/>
          </a:p>
        </p:txBody>
      </p:sp>
      <p:sp>
        <p:nvSpPr>
          <p:cNvPr id="12" name="Shape 10"/>
          <p:cNvSpPr/>
          <p:nvPr/>
        </p:nvSpPr>
        <p:spPr>
          <a:xfrm>
            <a:off x="8046720" y="4297680"/>
            <a:ext cx="3657600" cy="1005840"/>
          </a:xfrm>
          <a:prstGeom prst="roundRect">
            <a:avLst>
              <a:gd name="adj" fmla="val 9091"/>
            </a:avLst>
          </a:prstGeom>
          <a:solidFill>
            <a:srgbClr val="FFF0ED"/>
          </a:solidFill>
          <a:ln w="12700">
            <a:solidFill>
              <a:srgbClr val="F3B4A8"/>
            </a:solidFill>
            <a:prstDash val="solid"/>
          </a:ln>
        </p:spPr>
        <p:txBody>
          <a:bodyPr/>
          <a:lstStyle/>
          <a:p>
            <a:endParaRPr lang="en-US"/>
          </a:p>
        </p:txBody>
      </p:sp>
      <p:sp>
        <p:nvSpPr>
          <p:cNvPr id="13" name="Text 11"/>
          <p:cNvSpPr/>
          <p:nvPr/>
        </p:nvSpPr>
        <p:spPr>
          <a:xfrm>
            <a:off x="8183880" y="4389120"/>
            <a:ext cx="548640" cy="822960"/>
          </a:xfrm>
          <a:prstGeom prst="rect">
            <a:avLst/>
          </a:prstGeom>
          <a:noFill/>
          <a:ln/>
        </p:spPr>
        <p:txBody>
          <a:bodyPr wrap="square" rtlCol="0" anchor="ctr"/>
          <a:lstStyle/>
          <a:p>
            <a:pPr marL="0" indent="0">
              <a:buNone/>
            </a:pPr>
            <a:r>
              <a:rPr lang="en-US" sz="3400" b="1" dirty="0">
                <a:solidFill>
                  <a:srgbClr val="E17055"/>
                </a:solidFill>
                <a:latin typeface="Georgia" pitchFamily="34" charset="0"/>
                <a:ea typeface="Georgia" pitchFamily="34" charset="-122"/>
                <a:cs typeface="Georgia" pitchFamily="34" charset="-120"/>
              </a:rPr>
              <a:t>?</a:t>
            </a:r>
            <a:endParaRPr lang="en-US" sz="3400" dirty="0"/>
          </a:p>
        </p:txBody>
      </p:sp>
      <p:sp>
        <p:nvSpPr>
          <p:cNvPr id="14" name="Text 12"/>
          <p:cNvSpPr/>
          <p:nvPr/>
        </p:nvSpPr>
        <p:spPr>
          <a:xfrm>
            <a:off x="8823960" y="4389120"/>
            <a:ext cx="2743200" cy="822960"/>
          </a:xfrm>
          <a:prstGeom prst="rect">
            <a:avLst/>
          </a:prstGeom>
          <a:noFill/>
          <a:ln/>
        </p:spPr>
        <p:txBody>
          <a:bodyPr wrap="square" rtlCol="0" anchor="ctr"/>
          <a:lstStyle/>
          <a:p>
            <a:pPr marL="0" indent="0">
              <a:buNone/>
            </a:pPr>
            <a:r>
              <a:rPr lang="en-US" sz="1200" b="1" dirty="0">
                <a:solidFill>
                  <a:srgbClr val="1A3A5C"/>
                </a:solidFill>
                <a:latin typeface="Segoe UI" pitchFamily="34" charset="0"/>
                <a:ea typeface="Segoe UI" pitchFamily="34" charset="-122"/>
                <a:cs typeface="Segoe UI" pitchFamily="34" charset="-120"/>
              </a:rPr>
              <a:t>what did we choose to ignore?</a:t>
            </a:r>
            <a:endParaRPr lang="en-US" sz="1200" dirty="0"/>
          </a:p>
        </p:txBody>
      </p:sp>
      <p:sp>
        <p:nvSpPr>
          <p:cNvPr id="15" name="Text 13"/>
          <p:cNvSpPr/>
          <p:nvPr/>
        </p:nvSpPr>
        <p:spPr>
          <a:xfrm>
            <a:off x="457200" y="5486400"/>
            <a:ext cx="11247120" cy="365760"/>
          </a:xfrm>
          <a:prstGeom prst="rect">
            <a:avLst/>
          </a:prstGeom>
          <a:noFill/>
          <a:ln/>
        </p:spPr>
        <p:txBody>
          <a:bodyPr wrap="square" rtlCol="0" anchor="ctr"/>
          <a:lstStyle/>
          <a:p>
            <a:pPr marL="0" indent="0" algn="ctr">
              <a:buNone/>
            </a:pPr>
            <a:r>
              <a:rPr lang="en-US" sz="1300" i="1" dirty="0">
                <a:solidFill>
                  <a:srgbClr val="636E72"/>
                </a:solidFill>
                <a:latin typeface="Segoe UI" pitchFamily="34" charset="0"/>
                <a:ea typeface="Segoe UI" pitchFamily="34" charset="-122"/>
                <a:cs typeface="Segoe UI" pitchFamily="34" charset="-120"/>
              </a:rPr>
              <a:t>Accountable — with trust as the only instrument. Trust doesn’t survive an audit.</a:t>
            </a:r>
            <a:endParaRPr lang="en-US" sz="1300" dirty="0"/>
          </a:p>
        </p:txBody>
      </p:sp>
      <p:sp>
        <p:nvSpPr>
          <p:cNvPr id="16" name="Text 14"/>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38 / 45</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Traceability: from a requirement to the shipped line</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Text 3"/>
          <p:cNvSpPr/>
          <p:nvPr/>
        </p:nvSpPr>
        <p:spPr>
          <a:xfrm>
            <a:off x="457200" y="868680"/>
            <a:ext cx="11247120" cy="411480"/>
          </a:xfrm>
          <a:prstGeom prst="rect">
            <a:avLst/>
          </a:prstGeom>
          <a:noFill/>
          <a:ln/>
        </p:spPr>
        <p:txBody>
          <a:bodyPr wrap="square" rtlCol="0" anchor="ctr"/>
          <a:lstStyle/>
          <a:p>
            <a:pPr marL="0" indent="0">
              <a:buNone/>
            </a:pPr>
            <a:r>
              <a:rPr lang="en-US" sz="1400" i="1" dirty="0">
                <a:solidFill>
                  <a:srgbClr val="636E72"/>
                </a:solidFill>
                <a:latin typeface="Segoe UI" pitchFamily="34" charset="0"/>
                <a:ea typeface="Segoe UI" pitchFamily="34" charset="-122"/>
                <a:cs typeface="Segoe UI" pitchFamily="34" charset="-120"/>
              </a:rPr>
              <a:t>Can you prove you built what you agreed — and only that? Every Acceptance Criterion maps forward.</a:t>
            </a:r>
            <a:endParaRPr lang="en-US" sz="1400" dirty="0"/>
          </a:p>
        </p:txBody>
      </p:sp>
      <p:sp>
        <p:nvSpPr>
          <p:cNvPr id="6" name="Shape 4"/>
          <p:cNvSpPr/>
          <p:nvPr/>
        </p:nvSpPr>
        <p:spPr>
          <a:xfrm>
            <a:off x="274320" y="1737360"/>
            <a:ext cx="2651760" cy="548640"/>
          </a:xfrm>
          <a:prstGeom prst="roundRect">
            <a:avLst>
              <a:gd name="adj" fmla="val 11667"/>
            </a:avLst>
          </a:prstGeom>
          <a:solidFill>
            <a:srgbClr val="FFFFFF"/>
          </a:solidFill>
          <a:ln w="12700">
            <a:solidFill>
              <a:srgbClr val="DFE6E9"/>
            </a:solidFill>
            <a:prstDash val="solid"/>
          </a:ln>
        </p:spPr>
        <p:txBody>
          <a:bodyPr/>
          <a:lstStyle/>
          <a:p>
            <a:endParaRPr lang="en-US"/>
          </a:p>
        </p:txBody>
      </p:sp>
      <p:sp>
        <p:nvSpPr>
          <p:cNvPr id="7" name="Text 5"/>
          <p:cNvSpPr/>
          <p:nvPr/>
        </p:nvSpPr>
        <p:spPr>
          <a:xfrm>
            <a:off x="274320" y="1737360"/>
            <a:ext cx="2651760" cy="548640"/>
          </a:xfrm>
          <a:prstGeom prst="rect">
            <a:avLst/>
          </a:prstGeom>
          <a:noFill/>
          <a:ln/>
        </p:spPr>
        <p:txBody>
          <a:bodyPr wrap="square" rtlCol="0" anchor="ctr"/>
          <a:lstStyle/>
          <a:p>
            <a:pPr marL="0" indent="0" algn="ctr">
              <a:buNone/>
            </a:pPr>
            <a:r>
              <a:rPr lang="en-US" sz="950" b="1" dirty="0">
                <a:solidFill>
                  <a:srgbClr val="1A3A5C"/>
                </a:solidFill>
                <a:latin typeface="Segoe UI" pitchFamily="34" charset="0"/>
                <a:ea typeface="Segoe UI" pitchFamily="34" charset="-122"/>
                <a:cs typeface="Segoe UI" pitchFamily="34" charset="-120"/>
              </a:rPr>
              <a:t>ICEA</a:t>
            </a:r>
            <a:endParaRPr lang="en-US" sz="950" dirty="0"/>
          </a:p>
          <a:p>
            <a:pPr marL="0" indent="0" algn="ctr">
              <a:buNone/>
            </a:pPr>
            <a:r>
              <a:rPr lang="en-US" sz="950" b="1" dirty="0">
                <a:solidFill>
                  <a:srgbClr val="1A3A5C"/>
                </a:solidFill>
                <a:latin typeface="Segoe UI" pitchFamily="34" charset="0"/>
                <a:ea typeface="Segoe UI" pitchFamily="34" charset="-122"/>
                <a:cs typeface="Segoe UI" pitchFamily="34" charset="-120"/>
              </a:rPr>
              <a:t>Acceptance Criterion</a:t>
            </a:r>
            <a:endParaRPr lang="en-US" sz="950" dirty="0"/>
          </a:p>
        </p:txBody>
      </p:sp>
      <p:sp>
        <p:nvSpPr>
          <p:cNvPr id="8" name="Text 6"/>
          <p:cNvSpPr/>
          <p:nvPr/>
        </p:nvSpPr>
        <p:spPr>
          <a:xfrm>
            <a:off x="2926080" y="1737360"/>
            <a:ext cx="365760" cy="548640"/>
          </a:xfrm>
          <a:prstGeom prst="rect">
            <a:avLst/>
          </a:prstGeom>
          <a:noFill/>
          <a:ln/>
        </p:spPr>
        <p:txBody>
          <a:bodyPr wrap="square" rtlCol="0" anchor="ctr"/>
          <a:lstStyle/>
          <a:p>
            <a:pPr marL="0" indent="0" algn="ctr">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9" name="Shape 7"/>
          <p:cNvSpPr/>
          <p:nvPr/>
        </p:nvSpPr>
        <p:spPr>
          <a:xfrm>
            <a:off x="3291840" y="1737360"/>
            <a:ext cx="2651760" cy="548640"/>
          </a:xfrm>
          <a:prstGeom prst="roundRect">
            <a:avLst>
              <a:gd name="adj" fmla="val 11667"/>
            </a:avLst>
          </a:prstGeom>
          <a:solidFill>
            <a:srgbClr val="FFFFFF"/>
          </a:solidFill>
          <a:ln w="12700">
            <a:solidFill>
              <a:srgbClr val="DFE6E9"/>
            </a:solidFill>
            <a:prstDash val="solid"/>
          </a:ln>
        </p:spPr>
        <p:txBody>
          <a:bodyPr/>
          <a:lstStyle/>
          <a:p>
            <a:endParaRPr lang="en-US"/>
          </a:p>
        </p:txBody>
      </p:sp>
      <p:sp>
        <p:nvSpPr>
          <p:cNvPr id="10" name="Text 8"/>
          <p:cNvSpPr/>
          <p:nvPr/>
        </p:nvSpPr>
        <p:spPr>
          <a:xfrm>
            <a:off x="3291840" y="1737360"/>
            <a:ext cx="2651760" cy="548640"/>
          </a:xfrm>
          <a:prstGeom prst="rect">
            <a:avLst/>
          </a:prstGeom>
          <a:noFill/>
          <a:ln/>
        </p:spPr>
        <p:txBody>
          <a:bodyPr wrap="square" rtlCol="0" anchor="ctr"/>
          <a:lstStyle/>
          <a:p>
            <a:pPr marL="0" indent="0" algn="ctr">
              <a:buNone/>
            </a:pPr>
            <a:r>
              <a:rPr lang="en-US" sz="950" b="1" dirty="0">
                <a:solidFill>
                  <a:srgbClr val="1A3A5C"/>
                </a:solidFill>
                <a:latin typeface="Segoe UI" pitchFamily="34" charset="0"/>
                <a:ea typeface="Segoe UI" pitchFamily="34" charset="-122"/>
                <a:cs typeface="Segoe UI" pitchFamily="34" charset="-120"/>
              </a:rPr>
              <a:t>ADO</a:t>
            </a:r>
            <a:endParaRPr lang="en-US" sz="950" dirty="0"/>
          </a:p>
          <a:p>
            <a:pPr marL="0" indent="0" algn="ctr">
              <a:buNone/>
            </a:pPr>
            <a:r>
              <a:rPr lang="en-US" sz="950" b="1" dirty="0">
                <a:solidFill>
                  <a:srgbClr val="1A3A5C"/>
                </a:solidFill>
                <a:latin typeface="Segoe UI" pitchFamily="34" charset="0"/>
                <a:ea typeface="Segoe UI" pitchFamily="34" charset="-122"/>
                <a:cs typeface="Segoe UI" pitchFamily="34" charset="-120"/>
              </a:rPr>
              <a:t>task</a:t>
            </a:r>
            <a:endParaRPr lang="en-US" sz="950" dirty="0"/>
          </a:p>
        </p:txBody>
      </p:sp>
      <p:sp>
        <p:nvSpPr>
          <p:cNvPr id="11" name="Text 9"/>
          <p:cNvSpPr/>
          <p:nvPr/>
        </p:nvSpPr>
        <p:spPr>
          <a:xfrm>
            <a:off x="5943600" y="1737360"/>
            <a:ext cx="365760" cy="548640"/>
          </a:xfrm>
          <a:prstGeom prst="rect">
            <a:avLst/>
          </a:prstGeom>
          <a:noFill/>
          <a:ln/>
        </p:spPr>
        <p:txBody>
          <a:bodyPr wrap="square" rtlCol="0" anchor="ctr"/>
          <a:lstStyle/>
          <a:p>
            <a:pPr marL="0" indent="0" algn="ctr">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12" name="Shape 10"/>
          <p:cNvSpPr/>
          <p:nvPr/>
        </p:nvSpPr>
        <p:spPr>
          <a:xfrm>
            <a:off x="6309360" y="1737360"/>
            <a:ext cx="2651760" cy="548640"/>
          </a:xfrm>
          <a:prstGeom prst="roundRect">
            <a:avLst>
              <a:gd name="adj" fmla="val 11667"/>
            </a:avLst>
          </a:prstGeom>
          <a:solidFill>
            <a:srgbClr val="FFFFFF"/>
          </a:solidFill>
          <a:ln w="12700">
            <a:solidFill>
              <a:srgbClr val="DFE6E9"/>
            </a:solidFill>
            <a:prstDash val="solid"/>
          </a:ln>
        </p:spPr>
        <p:txBody>
          <a:bodyPr/>
          <a:lstStyle/>
          <a:p>
            <a:endParaRPr lang="en-US"/>
          </a:p>
        </p:txBody>
      </p:sp>
      <p:sp>
        <p:nvSpPr>
          <p:cNvPr id="13" name="Text 11"/>
          <p:cNvSpPr/>
          <p:nvPr/>
        </p:nvSpPr>
        <p:spPr>
          <a:xfrm>
            <a:off x="6309360" y="1737360"/>
            <a:ext cx="2651760" cy="548640"/>
          </a:xfrm>
          <a:prstGeom prst="rect">
            <a:avLst/>
          </a:prstGeom>
          <a:noFill/>
          <a:ln/>
        </p:spPr>
        <p:txBody>
          <a:bodyPr wrap="square" rtlCol="0" anchor="ctr"/>
          <a:lstStyle/>
          <a:p>
            <a:pPr marL="0" indent="0" algn="ctr">
              <a:buNone/>
            </a:pPr>
            <a:r>
              <a:rPr lang="en-US" sz="950" b="1" dirty="0">
                <a:solidFill>
                  <a:srgbClr val="1A3A5C"/>
                </a:solidFill>
                <a:latin typeface="Segoe UI" pitchFamily="34" charset="0"/>
                <a:ea typeface="Segoe UI" pitchFamily="34" charset="-122"/>
                <a:cs typeface="Segoe UI" pitchFamily="34" charset="-120"/>
              </a:rPr>
              <a:t>changed</a:t>
            </a:r>
            <a:endParaRPr lang="en-US" sz="950" dirty="0"/>
          </a:p>
          <a:p>
            <a:pPr marL="0" indent="0" algn="ctr">
              <a:buNone/>
            </a:pPr>
            <a:r>
              <a:rPr lang="en-US" sz="950" b="1" dirty="0">
                <a:solidFill>
                  <a:srgbClr val="1A3A5C"/>
                </a:solidFill>
                <a:latin typeface="Segoe UI" pitchFamily="34" charset="0"/>
                <a:ea typeface="Segoe UI" pitchFamily="34" charset="-122"/>
                <a:cs typeface="Segoe UI" pitchFamily="34" charset="-120"/>
              </a:rPr>
              <a:t>file</a:t>
            </a:r>
            <a:endParaRPr lang="en-US" sz="950" dirty="0"/>
          </a:p>
        </p:txBody>
      </p:sp>
      <p:sp>
        <p:nvSpPr>
          <p:cNvPr id="14" name="Text 12"/>
          <p:cNvSpPr/>
          <p:nvPr/>
        </p:nvSpPr>
        <p:spPr>
          <a:xfrm>
            <a:off x="8961120" y="1737360"/>
            <a:ext cx="365760" cy="548640"/>
          </a:xfrm>
          <a:prstGeom prst="rect">
            <a:avLst/>
          </a:prstGeom>
          <a:noFill/>
          <a:ln/>
        </p:spPr>
        <p:txBody>
          <a:bodyPr wrap="square" rtlCol="0" anchor="ctr"/>
          <a:lstStyle/>
          <a:p>
            <a:pPr marL="0" indent="0" algn="ctr">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15" name="Shape 13"/>
          <p:cNvSpPr/>
          <p:nvPr/>
        </p:nvSpPr>
        <p:spPr>
          <a:xfrm>
            <a:off x="9326880" y="1737360"/>
            <a:ext cx="2651760" cy="548640"/>
          </a:xfrm>
          <a:prstGeom prst="roundRect">
            <a:avLst>
              <a:gd name="adj" fmla="val 11667"/>
            </a:avLst>
          </a:prstGeom>
          <a:solidFill>
            <a:srgbClr val="00B894"/>
          </a:solidFill>
          <a:ln w="12700">
            <a:solidFill>
              <a:srgbClr val="00B894"/>
            </a:solidFill>
            <a:prstDash val="solid"/>
          </a:ln>
        </p:spPr>
        <p:txBody>
          <a:bodyPr/>
          <a:lstStyle/>
          <a:p>
            <a:endParaRPr lang="en-US"/>
          </a:p>
        </p:txBody>
      </p:sp>
      <p:sp>
        <p:nvSpPr>
          <p:cNvPr id="16" name="Text 14"/>
          <p:cNvSpPr/>
          <p:nvPr/>
        </p:nvSpPr>
        <p:spPr>
          <a:xfrm>
            <a:off x="9326880" y="1737360"/>
            <a:ext cx="2651760" cy="548640"/>
          </a:xfrm>
          <a:prstGeom prst="rect">
            <a:avLst/>
          </a:prstGeom>
          <a:noFill/>
          <a:ln/>
        </p:spPr>
        <p:txBody>
          <a:bodyPr wrap="square"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the exact</a:t>
            </a:r>
            <a:endParaRPr lang="en-US" sz="950" dirty="0"/>
          </a:p>
          <a:p>
            <a:pPr marL="0" indent="0" algn="ctr">
              <a:buNone/>
            </a:pPr>
            <a:r>
              <a:rPr lang="en-US" sz="950" b="1" dirty="0">
                <a:solidFill>
                  <a:srgbClr val="FFFFFF"/>
                </a:solidFill>
                <a:latin typeface="Segoe UI" pitchFamily="34" charset="0"/>
                <a:ea typeface="Segoe UI" pitchFamily="34" charset="-122"/>
                <a:cs typeface="Segoe UI" pitchFamily="34" charset="-120"/>
              </a:rPr>
              <a:t>line</a:t>
            </a:r>
            <a:endParaRPr lang="en-US" sz="950" dirty="0"/>
          </a:p>
        </p:txBody>
      </p:sp>
      <p:sp>
        <p:nvSpPr>
          <p:cNvPr id="17" name="Shape 15"/>
          <p:cNvSpPr/>
          <p:nvPr/>
        </p:nvSpPr>
        <p:spPr>
          <a:xfrm>
            <a:off x="548640" y="2834640"/>
            <a:ext cx="5486400" cy="2286000"/>
          </a:xfrm>
          <a:prstGeom prst="roundRect">
            <a:avLst>
              <a:gd name="adj" fmla="val 4000"/>
            </a:avLst>
          </a:prstGeom>
          <a:solidFill>
            <a:srgbClr val="EEFAF6"/>
          </a:solidFill>
          <a:ln w="12700">
            <a:solidFill>
              <a:srgbClr val="00B894"/>
            </a:solidFill>
            <a:prstDash val="solid"/>
          </a:ln>
        </p:spPr>
        <p:txBody>
          <a:bodyPr/>
          <a:lstStyle/>
          <a:p>
            <a:endParaRPr lang="en-US"/>
          </a:p>
        </p:txBody>
      </p:sp>
      <p:sp>
        <p:nvSpPr>
          <p:cNvPr id="18" name="Text 16"/>
          <p:cNvSpPr/>
          <p:nvPr/>
        </p:nvSpPr>
        <p:spPr>
          <a:xfrm>
            <a:off x="777240" y="2971800"/>
            <a:ext cx="5029200" cy="274320"/>
          </a:xfrm>
          <a:prstGeom prst="rect">
            <a:avLst/>
          </a:prstGeom>
          <a:noFill/>
          <a:ln/>
        </p:spPr>
        <p:txBody>
          <a:bodyPr wrap="square" rtlCol="0" anchor="ctr"/>
          <a:lstStyle/>
          <a:p>
            <a:pPr marL="0" indent="0">
              <a:buNone/>
            </a:pPr>
            <a:r>
              <a:rPr lang="en-US" sz="1000" b="1" kern="0" spc="100" dirty="0">
                <a:solidFill>
                  <a:srgbClr val="00B894"/>
                </a:solidFill>
                <a:latin typeface="Cascadia Code" pitchFamily="34" charset="0"/>
                <a:ea typeface="Cascadia Code" pitchFamily="34" charset="-122"/>
                <a:cs typeface="Cascadia Code" pitchFamily="34" charset="-120"/>
              </a:rPr>
              <a:t>✅ TRACED</a:t>
            </a:r>
            <a:endParaRPr lang="en-US" sz="1000" dirty="0"/>
          </a:p>
        </p:txBody>
      </p:sp>
      <p:sp>
        <p:nvSpPr>
          <p:cNvPr id="19" name="Text 17"/>
          <p:cNvSpPr/>
          <p:nvPr/>
        </p:nvSpPr>
        <p:spPr>
          <a:xfrm>
            <a:off x="777240" y="3291840"/>
            <a:ext cx="5029200" cy="1645920"/>
          </a:xfrm>
          <a:prstGeom prst="rect">
            <a:avLst/>
          </a:prstGeom>
          <a:noFill/>
          <a:ln/>
        </p:spPr>
        <p:txBody>
          <a:bodyPr wrap="square" rtlCol="0" anchor="t"/>
          <a:lstStyle/>
          <a:p>
            <a:pPr marL="0" indent="0">
              <a:buNone/>
            </a:pPr>
            <a:r>
              <a:rPr lang="en-US" sz="1300" dirty="0">
                <a:solidFill>
                  <a:srgbClr val="2D3436"/>
                </a:solidFill>
                <a:latin typeface="Segoe UI" pitchFamily="34" charset="0"/>
                <a:ea typeface="Segoe UI" pitchFamily="34" charset="-122"/>
                <a:cs typeface="Segoe UI" pitchFamily="34" charset="-120"/>
              </a:rPr>
              <a:t>This AC → satisfied here. The compliance report draws the line for you.</a:t>
            </a:r>
            <a:endParaRPr lang="en-US" sz="1300" dirty="0"/>
          </a:p>
        </p:txBody>
      </p:sp>
      <p:sp>
        <p:nvSpPr>
          <p:cNvPr id="20" name="Shape 18"/>
          <p:cNvSpPr/>
          <p:nvPr/>
        </p:nvSpPr>
        <p:spPr>
          <a:xfrm>
            <a:off x="6263640" y="2834640"/>
            <a:ext cx="5486400" cy="2286000"/>
          </a:xfrm>
          <a:prstGeom prst="roundRect">
            <a:avLst>
              <a:gd name="adj" fmla="val 4000"/>
            </a:avLst>
          </a:prstGeom>
          <a:solidFill>
            <a:srgbClr val="FFF0ED"/>
          </a:solidFill>
          <a:ln w="12700">
            <a:solidFill>
              <a:srgbClr val="E17055"/>
            </a:solidFill>
            <a:prstDash val="solid"/>
          </a:ln>
        </p:spPr>
        <p:txBody>
          <a:bodyPr/>
          <a:lstStyle/>
          <a:p>
            <a:endParaRPr lang="en-US"/>
          </a:p>
        </p:txBody>
      </p:sp>
      <p:sp>
        <p:nvSpPr>
          <p:cNvPr id="21" name="Text 19"/>
          <p:cNvSpPr/>
          <p:nvPr/>
        </p:nvSpPr>
        <p:spPr>
          <a:xfrm>
            <a:off x="6492240" y="2971800"/>
            <a:ext cx="5029200" cy="274320"/>
          </a:xfrm>
          <a:prstGeom prst="rect">
            <a:avLst/>
          </a:prstGeom>
          <a:noFill/>
          <a:ln/>
        </p:spPr>
        <p:txBody>
          <a:bodyPr wrap="square" rtlCol="0" anchor="ctr"/>
          <a:lstStyle/>
          <a:p>
            <a:pPr marL="0" indent="0">
              <a:buNone/>
            </a:pPr>
            <a:r>
              <a:rPr lang="en-US" sz="1000" b="1" kern="0" spc="100" dirty="0">
                <a:solidFill>
                  <a:srgbClr val="E17055"/>
                </a:solidFill>
                <a:latin typeface="Cascadia Code" pitchFamily="34" charset="0"/>
                <a:ea typeface="Cascadia Code" pitchFamily="34" charset="-122"/>
                <a:cs typeface="Cascadia Code" pitchFamily="34" charset="-120"/>
              </a:rPr>
              <a:t>❌ SCOPE CREEP</a:t>
            </a:r>
            <a:endParaRPr lang="en-US" sz="1000" dirty="0"/>
          </a:p>
        </p:txBody>
      </p:sp>
      <p:sp>
        <p:nvSpPr>
          <p:cNvPr id="22" name="Text 20"/>
          <p:cNvSpPr/>
          <p:nvPr/>
        </p:nvSpPr>
        <p:spPr>
          <a:xfrm>
            <a:off x="6492240" y="3291840"/>
            <a:ext cx="5029200" cy="1645920"/>
          </a:xfrm>
          <a:prstGeom prst="rect">
            <a:avLst/>
          </a:prstGeom>
          <a:noFill/>
          <a:ln/>
        </p:spPr>
        <p:txBody>
          <a:bodyPr wrap="square" rtlCol="0" anchor="t"/>
          <a:lstStyle/>
          <a:p>
            <a:pPr marL="0" indent="0">
              <a:buNone/>
            </a:pPr>
            <a:r>
              <a:rPr lang="en-US" sz="1300" dirty="0">
                <a:solidFill>
                  <a:srgbClr val="2D3436"/>
                </a:solidFill>
                <a:latin typeface="Segoe UI" pitchFamily="34" charset="0"/>
                <a:ea typeface="Segoe UI" pitchFamily="34" charset="-122"/>
                <a:cs typeface="Segoe UI" pitchFamily="34" charset="-120"/>
              </a:rPr>
              <a:t>This file traces to no AC — flagged. Something got built that nobody agreed to.</a:t>
            </a:r>
            <a:endParaRPr lang="en-US" sz="1300" dirty="0"/>
          </a:p>
        </p:txBody>
      </p:sp>
      <p:sp>
        <p:nvSpPr>
          <p:cNvPr id="23" name="Text 21"/>
          <p:cNvSpPr/>
          <p:nvPr/>
        </p:nvSpPr>
        <p:spPr>
          <a:xfrm>
            <a:off x="457200" y="5349240"/>
            <a:ext cx="11247120" cy="365760"/>
          </a:xfrm>
          <a:prstGeom prst="rect">
            <a:avLst/>
          </a:prstGeom>
          <a:noFill/>
          <a:ln/>
        </p:spPr>
        <p:txBody>
          <a:bodyPr wrap="square" rtlCol="0" anchor="ctr"/>
          <a:lstStyle/>
          <a:p>
            <a:pPr marL="0" indent="0" algn="ctr">
              <a:buNone/>
            </a:pPr>
            <a:r>
              <a:rPr lang="en-US" sz="1200" i="1" dirty="0">
                <a:solidFill>
                  <a:srgbClr val="636E72"/>
                </a:solidFill>
                <a:latin typeface="Segoe UI" pitchFamily="34" charset="0"/>
                <a:ea typeface="Segoe UI" pitchFamily="34" charset="-122"/>
                <a:cs typeface="Segoe UI" pitchFamily="34" charset="-120"/>
              </a:rPr>
              <a:t>“Did we build what we agreed, and only what we agreed?” — a matter of evidence, not opinion.</a:t>
            </a:r>
            <a:endParaRPr lang="en-US" sz="1200" dirty="0"/>
          </a:p>
        </p:txBody>
      </p:sp>
      <p:sp>
        <p:nvSpPr>
          <p:cNvPr id="24" name="Text 22"/>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39 / 45</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Every finding has a life you can audit</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Shape 3"/>
          <p:cNvSpPr/>
          <p:nvPr/>
        </p:nvSpPr>
        <p:spPr>
          <a:xfrm>
            <a:off x="548640" y="914400"/>
            <a:ext cx="64008" cy="1828800"/>
          </a:xfrm>
          <a:prstGeom prst="rect">
            <a:avLst/>
          </a:prstGeom>
          <a:solidFill>
            <a:srgbClr val="C8A951"/>
          </a:solidFill>
          <a:ln w="12700">
            <a:solidFill>
              <a:srgbClr val="C8A951"/>
            </a:solidFill>
            <a:prstDash val="solid"/>
          </a:ln>
        </p:spPr>
        <p:txBody>
          <a:bodyPr/>
          <a:lstStyle/>
          <a:p>
            <a:endParaRPr lang="en-US"/>
          </a:p>
        </p:txBody>
      </p:sp>
      <p:sp>
        <p:nvSpPr>
          <p:cNvPr id="6" name="Shape 4"/>
          <p:cNvSpPr/>
          <p:nvPr/>
        </p:nvSpPr>
        <p:spPr>
          <a:xfrm>
            <a:off x="612648" y="914400"/>
            <a:ext cx="11000232" cy="1828800"/>
          </a:xfrm>
          <a:prstGeom prst="rect">
            <a:avLst/>
          </a:prstGeom>
          <a:solidFill>
            <a:srgbClr val="FDFCF5"/>
          </a:solidFill>
          <a:ln w="12700">
            <a:solidFill>
              <a:srgbClr val="DFE6E9"/>
            </a:solidFill>
            <a:prstDash val="solid"/>
          </a:ln>
        </p:spPr>
        <p:txBody>
          <a:bodyPr/>
          <a:lstStyle/>
          <a:p>
            <a:endParaRPr lang="en-US"/>
          </a:p>
        </p:txBody>
      </p:sp>
      <p:sp>
        <p:nvSpPr>
          <p:cNvPr id="7" name="Text 5"/>
          <p:cNvSpPr/>
          <p:nvPr/>
        </p:nvSpPr>
        <p:spPr>
          <a:xfrm>
            <a:off x="731520" y="1024128"/>
            <a:ext cx="10607040" cy="201168"/>
          </a:xfrm>
          <a:prstGeom prst="rect">
            <a:avLst/>
          </a:prstGeom>
          <a:noFill/>
          <a:ln/>
        </p:spPr>
        <p:txBody>
          <a:bodyPr wrap="square" rtlCol="0" anchor="ctr"/>
          <a:lstStyle/>
          <a:p>
            <a:pPr marL="0" indent="0">
              <a:buNone/>
            </a:pPr>
            <a:r>
              <a:rPr lang="en-US" sz="800" b="1" kern="0" spc="150" dirty="0">
                <a:solidFill>
                  <a:srgbClr val="C8A951"/>
                </a:solidFill>
                <a:latin typeface="Cascadia Code" pitchFamily="34" charset="0"/>
                <a:ea typeface="Cascadia Code" pitchFamily="34" charset="-122"/>
                <a:cs typeface="Cascadia Code" pitchFamily="34" charset="-120"/>
              </a:rPr>
              <a:t>PERSISTENT LEDGERS  ·  ADR 0014</a:t>
            </a:r>
            <a:endParaRPr lang="en-US" sz="800" dirty="0"/>
          </a:p>
        </p:txBody>
      </p:sp>
      <p:sp>
        <p:nvSpPr>
          <p:cNvPr id="8" name="Text 6"/>
          <p:cNvSpPr/>
          <p:nvPr/>
        </p:nvSpPr>
        <p:spPr>
          <a:xfrm>
            <a:off x="731520" y="1207008"/>
            <a:ext cx="10607040" cy="1188720"/>
          </a:xfrm>
          <a:prstGeom prst="rect">
            <a:avLst/>
          </a:prstGeom>
          <a:noFill/>
          <a:ln/>
        </p:spPr>
        <p:txBody>
          <a:bodyPr wrap="square" rtlCol="0" anchor="t"/>
          <a:lstStyle/>
          <a:p>
            <a:pPr marL="0" indent="0">
              <a:buNone/>
            </a:pPr>
            <a:r>
              <a:rPr lang="en-US" sz="1300" b="1" dirty="0">
                <a:solidFill>
                  <a:srgbClr val="1A3A5C"/>
                </a:solidFill>
                <a:latin typeface="Segoe UI" pitchFamily="34" charset="0"/>
                <a:ea typeface="Segoe UI" pitchFamily="34" charset="-122"/>
                <a:cs typeface="Segoe UI" pitchFamily="34" charset="-120"/>
              </a:rPr>
              <a:t>"A dismissal is a claim about specific code — so the moment that code changes, the finding re-opens automatically. You can’t bury it by dismissing it once."</a:t>
            </a:r>
            <a:endParaRPr lang="en-US" sz="1300" dirty="0"/>
          </a:p>
        </p:txBody>
      </p:sp>
      <p:sp>
        <p:nvSpPr>
          <p:cNvPr id="9" name="Text 7"/>
          <p:cNvSpPr/>
          <p:nvPr/>
        </p:nvSpPr>
        <p:spPr>
          <a:xfrm>
            <a:off x="731520" y="2395728"/>
            <a:ext cx="9692640" cy="274320"/>
          </a:xfrm>
          <a:prstGeom prst="rect">
            <a:avLst/>
          </a:prstGeom>
          <a:noFill/>
          <a:ln/>
        </p:spPr>
        <p:txBody>
          <a:bodyPr wrap="square" rtlCol="0" anchor="ctr"/>
          <a:lstStyle/>
          <a:p>
            <a:pPr marL="0" indent="0">
              <a:buNone/>
            </a:pPr>
            <a:r>
              <a:rPr lang="en-US" sz="1000" dirty="0">
                <a:solidFill>
                  <a:srgbClr val="636E72"/>
                </a:solidFill>
                <a:latin typeface="Segoe UI" pitchFamily="34" charset="0"/>
                <a:ea typeface="Segoe UI" pitchFamily="34" charset="-122"/>
                <a:cs typeface="Segoe UI" pitchFamily="34" charset="-120"/>
              </a:rPr>
              <a:t>One schema across three ledgers: Open · Fixed (who/when/git ref) · Dismissed (reason + justification) · Baseline (never gates). /fix FP-xxxxxxxx works across all three.</a:t>
            </a:r>
            <a:endParaRPr lang="en-US" sz="1000" dirty="0"/>
          </a:p>
        </p:txBody>
      </p:sp>
      <p:sp>
        <p:nvSpPr>
          <p:cNvPr id="10" name="Text 8"/>
          <p:cNvSpPr/>
          <p:nvPr/>
        </p:nvSpPr>
        <p:spPr>
          <a:xfrm>
            <a:off x="10607040" y="2468880"/>
            <a:ext cx="868680" cy="201168"/>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ADR 0014</a:t>
            </a:r>
            <a:endParaRPr lang="en-US" sz="800" dirty="0"/>
          </a:p>
        </p:txBody>
      </p:sp>
      <p:sp>
        <p:nvSpPr>
          <p:cNvPr id="11" name="Shape 9"/>
          <p:cNvSpPr/>
          <p:nvPr/>
        </p:nvSpPr>
        <p:spPr>
          <a:xfrm>
            <a:off x="457200" y="2926080"/>
            <a:ext cx="3688080" cy="1691640"/>
          </a:xfrm>
          <a:prstGeom prst="roundRect">
            <a:avLst>
              <a:gd name="adj" fmla="val 5405"/>
            </a:avLst>
          </a:prstGeom>
          <a:solidFill>
            <a:srgbClr val="FFFFFF"/>
          </a:solidFill>
          <a:ln w="12700">
            <a:solidFill>
              <a:srgbClr val="DFE6E9"/>
            </a:solidFill>
            <a:prstDash val="solid"/>
          </a:ln>
        </p:spPr>
        <p:txBody>
          <a:bodyPr/>
          <a:lstStyle/>
          <a:p>
            <a:endParaRPr lang="en-US"/>
          </a:p>
        </p:txBody>
      </p:sp>
      <p:sp>
        <p:nvSpPr>
          <p:cNvPr id="12" name="Text 10"/>
          <p:cNvSpPr/>
          <p:nvPr/>
        </p:nvSpPr>
        <p:spPr>
          <a:xfrm>
            <a:off x="594360" y="3035808"/>
            <a:ext cx="3413760" cy="201168"/>
          </a:xfrm>
          <a:prstGeom prst="rect">
            <a:avLst/>
          </a:prstGeom>
          <a:noFill/>
          <a:ln/>
        </p:spPr>
        <p:txBody>
          <a:bodyPr wrap="square" rtlCol="0" anchor="ctr"/>
          <a:lstStyle/>
          <a:p>
            <a:pPr marL="0" indent="0">
              <a:buNone/>
            </a:pPr>
            <a:r>
              <a:rPr lang="en-US" sz="800" kern="0" spc="100" dirty="0">
                <a:solidFill>
                  <a:srgbClr val="C8A951"/>
                </a:solidFill>
                <a:latin typeface="Cascadia Code" pitchFamily="34" charset="0"/>
                <a:ea typeface="Cascadia Code" pitchFamily="34" charset="-122"/>
                <a:cs typeface="Cascadia Code" pitchFamily="34" charset="-120"/>
              </a:rPr>
              <a:t>CODE-REVIEW</a:t>
            </a:r>
            <a:endParaRPr lang="en-US" sz="800" dirty="0"/>
          </a:p>
        </p:txBody>
      </p:sp>
      <p:sp>
        <p:nvSpPr>
          <p:cNvPr id="13" name="Text 11"/>
          <p:cNvSpPr/>
          <p:nvPr/>
        </p:nvSpPr>
        <p:spPr>
          <a:xfrm>
            <a:off x="594360" y="3255264"/>
            <a:ext cx="3413760" cy="457200"/>
          </a:xfrm>
          <a:prstGeom prst="rect">
            <a:avLst/>
          </a:prstGeom>
          <a:noFill/>
          <a:ln/>
        </p:spPr>
        <p:txBody>
          <a:bodyPr wrap="square" rtlCol="0" anchor="ctr"/>
          <a:lstStyle/>
          <a:p>
            <a:pPr marL="0" indent="0">
              <a:buNone/>
            </a:pPr>
            <a:r>
              <a:rPr lang="en-US" sz="1300" b="1" dirty="0">
                <a:solidFill>
                  <a:srgbClr val="1A3A5C"/>
                </a:solidFill>
                <a:latin typeface="Segoe UI" pitchFamily="34" charset="0"/>
                <a:ea typeface="Segoe UI" pitchFamily="34" charset="-122"/>
                <a:cs typeface="Segoe UI" pitchFamily="34" charset="-120"/>
              </a:rPr>
              <a:t>code-review-ledger.md</a:t>
            </a:r>
            <a:endParaRPr lang="en-US" sz="1300" dirty="0"/>
          </a:p>
        </p:txBody>
      </p:sp>
      <p:sp>
        <p:nvSpPr>
          <p:cNvPr id="14" name="Text 12"/>
          <p:cNvSpPr/>
          <p:nvPr/>
        </p:nvSpPr>
        <p:spPr>
          <a:xfrm>
            <a:off x="594360" y="3712464"/>
            <a:ext cx="3413760" cy="777240"/>
          </a:xfrm>
          <a:prstGeom prst="rect">
            <a:avLst/>
          </a:prstGeom>
          <a:noFill/>
          <a:ln/>
        </p:spPr>
        <p:txBody>
          <a:bodyPr wrap="square" rtlCol="0" anchor="t"/>
          <a:lstStyle/>
          <a:p>
            <a:pPr marL="0" indent="0">
              <a:buNone/>
            </a:pPr>
            <a:r>
              <a:rPr lang="en-US" sz="1100" dirty="0">
                <a:solidFill>
                  <a:srgbClr val="636E72"/>
                </a:solidFill>
                <a:latin typeface="Segoe UI" pitchFamily="34" charset="0"/>
                <a:ea typeface="Segoe UI" pitchFamily="34" charset="-122"/>
                <a:cs typeface="Segoe UI" pitchFamily="34" charset="-120"/>
              </a:rPr>
              <a:t>Static analysis findings, FP-fingerprinted. Cache-aware rescan.</a:t>
            </a:r>
            <a:endParaRPr lang="en-US" sz="1100" dirty="0"/>
          </a:p>
        </p:txBody>
      </p:sp>
      <p:sp>
        <p:nvSpPr>
          <p:cNvPr id="15" name="Shape 13"/>
          <p:cNvSpPr/>
          <p:nvPr/>
        </p:nvSpPr>
        <p:spPr>
          <a:xfrm>
            <a:off x="4282440" y="2926080"/>
            <a:ext cx="3688080" cy="1691640"/>
          </a:xfrm>
          <a:prstGeom prst="roundRect">
            <a:avLst>
              <a:gd name="adj" fmla="val 5405"/>
            </a:avLst>
          </a:prstGeom>
          <a:solidFill>
            <a:srgbClr val="FFFFFF"/>
          </a:solidFill>
          <a:ln w="12700">
            <a:solidFill>
              <a:srgbClr val="DFE6E9"/>
            </a:solidFill>
            <a:prstDash val="solid"/>
          </a:ln>
        </p:spPr>
        <p:txBody>
          <a:bodyPr/>
          <a:lstStyle/>
          <a:p>
            <a:endParaRPr lang="en-US"/>
          </a:p>
        </p:txBody>
      </p:sp>
      <p:sp>
        <p:nvSpPr>
          <p:cNvPr id="16" name="Text 14"/>
          <p:cNvSpPr/>
          <p:nvPr/>
        </p:nvSpPr>
        <p:spPr>
          <a:xfrm>
            <a:off x="4419600" y="3035808"/>
            <a:ext cx="3413760" cy="201168"/>
          </a:xfrm>
          <a:prstGeom prst="rect">
            <a:avLst/>
          </a:prstGeom>
          <a:noFill/>
          <a:ln/>
        </p:spPr>
        <p:txBody>
          <a:bodyPr wrap="square" rtlCol="0" anchor="ctr"/>
          <a:lstStyle/>
          <a:p>
            <a:pPr marL="0" indent="0">
              <a:buNone/>
            </a:pPr>
            <a:r>
              <a:rPr lang="en-US" sz="800" kern="0" spc="100" dirty="0">
                <a:solidFill>
                  <a:srgbClr val="C8A951"/>
                </a:solidFill>
                <a:latin typeface="Cascadia Code" pitchFamily="34" charset="0"/>
                <a:ea typeface="Cascadia Code" pitchFamily="34" charset="-122"/>
                <a:cs typeface="Cascadia Code" pitchFamily="34" charset="-120"/>
              </a:rPr>
              <a:t>SECURITY</a:t>
            </a:r>
            <a:endParaRPr lang="en-US" sz="800" dirty="0"/>
          </a:p>
        </p:txBody>
      </p:sp>
      <p:sp>
        <p:nvSpPr>
          <p:cNvPr id="17" name="Text 15"/>
          <p:cNvSpPr/>
          <p:nvPr/>
        </p:nvSpPr>
        <p:spPr>
          <a:xfrm>
            <a:off x="4419600" y="3255264"/>
            <a:ext cx="3413760" cy="457200"/>
          </a:xfrm>
          <a:prstGeom prst="rect">
            <a:avLst/>
          </a:prstGeom>
          <a:noFill/>
          <a:ln/>
        </p:spPr>
        <p:txBody>
          <a:bodyPr wrap="square" rtlCol="0" anchor="ctr"/>
          <a:lstStyle/>
          <a:p>
            <a:pPr marL="0" indent="0">
              <a:buNone/>
            </a:pPr>
            <a:r>
              <a:rPr lang="en-US" sz="1300" b="1" dirty="0">
                <a:solidFill>
                  <a:srgbClr val="1A3A5C"/>
                </a:solidFill>
                <a:latin typeface="Segoe UI" pitchFamily="34" charset="0"/>
                <a:ea typeface="Segoe UI" pitchFamily="34" charset="-122"/>
                <a:cs typeface="Segoe UI" pitchFamily="34" charset="-120"/>
              </a:rPr>
              <a:t>security-ledger.md</a:t>
            </a:r>
            <a:endParaRPr lang="en-US" sz="1300" dirty="0"/>
          </a:p>
        </p:txBody>
      </p:sp>
      <p:sp>
        <p:nvSpPr>
          <p:cNvPr id="18" name="Text 16"/>
          <p:cNvSpPr/>
          <p:nvPr/>
        </p:nvSpPr>
        <p:spPr>
          <a:xfrm>
            <a:off x="4419600" y="3712464"/>
            <a:ext cx="3413760" cy="777240"/>
          </a:xfrm>
          <a:prstGeom prst="rect">
            <a:avLst/>
          </a:prstGeom>
          <a:noFill/>
          <a:ln/>
        </p:spPr>
        <p:txBody>
          <a:bodyPr wrap="square" rtlCol="0" anchor="t"/>
          <a:lstStyle/>
          <a:p>
            <a:pPr marL="0" indent="0">
              <a:buNone/>
            </a:pPr>
            <a:r>
              <a:rPr lang="en-US" sz="1100" dirty="0">
                <a:solidFill>
                  <a:srgbClr val="636E72"/>
                </a:solidFill>
                <a:latin typeface="Segoe UI" pitchFamily="34" charset="0"/>
                <a:ea typeface="Segoe UI" pitchFamily="34" charset="-122"/>
                <a:cs typeface="Segoe UI" pitchFamily="34" charset="-120"/>
              </a:rPr>
              <a:t>OWASP/CWE/CVSS with B1–B7 business-context escalation.</a:t>
            </a:r>
            <a:endParaRPr lang="en-US" sz="1100" dirty="0"/>
          </a:p>
        </p:txBody>
      </p:sp>
      <p:sp>
        <p:nvSpPr>
          <p:cNvPr id="19" name="Shape 17"/>
          <p:cNvSpPr/>
          <p:nvPr/>
        </p:nvSpPr>
        <p:spPr>
          <a:xfrm>
            <a:off x="8107680" y="2926080"/>
            <a:ext cx="3688080" cy="1691640"/>
          </a:xfrm>
          <a:prstGeom prst="roundRect">
            <a:avLst>
              <a:gd name="adj" fmla="val 5405"/>
            </a:avLst>
          </a:prstGeom>
          <a:solidFill>
            <a:srgbClr val="FFFFFF"/>
          </a:solidFill>
          <a:ln w="12700">
            <a:solidFill>
              <a:srgbClr val="DFE6E9"/>
            </a:solidFill>
            <a:prstDash val="solid"/>
          </a:ln>
        </p:spPr>
        <p:txBody>
          <a:bodyPr/>
          <a:lstStyle/>
          <a:p>
            <a:endParaRPr lang="en-US"/>
          </a:p>
        </p:txBody>
      </p:sp>
      <p:sp>
        <p:nvSpPr>
          <p:cNvPr id="20" name="Text 18"/>
          <p:cNvSpPr/>
          <p:nvPr/>
        </p:nvSpPr>
        <p:spPr>
          <a:xfrm>
            <a:off x="8244840" y="3035808"/>
            <a:ext cx="3413760" cy="201168"/>
          </a:xfrm>
          <a:prstGeom prst="rect">
            <a:avLst/>
          </a:prstGeom>
          <a:noFill/>
          <a:ln/>
        </p:spPr>
        <p:txBody>
          <a:bodyPr wrap="square" rtlCol="0" anchor="ctr"/>
          <a:lstStyle/>
          <a:p>
            <a:pPr marL="0" indent="0">
              <a:buNone/>
            </a:pPr>
            <a:r>
              <a:rPr lang="en-US" sz="800" kern="0" spc="100" dirty="0">
                <a:solidFill>
                  <a:srgbClr val="C8A951"/>
                </a:solidFill>
                <a:latin typeface="Cascadia Code" pitchFamily="34" charset="0"/>
                <a:ea typeface="Cascadia Code" pitchFamily="34" charset="-122"/>
                <a:cs typeface="Cascadia Code" pitchFamily="34" charset="-120"/>
              </a:rPr>
              <a:t>DYNAMIC-SCAN</a:t>
            </a:r>
            <a:endParaRPr lang="en-US" sz="800" dirty="0"/>
          </a:p>
        </p:txBody>
      </p:sp>
      <p:sp>
        <p:nvSpPr>
          <p:cNvPr id="21" name="Text 19"/>
          <p:cNvSpPr/>
          <p:nvPr/>
        </p:nvSpPr>
        <p:spPr>
          <a:xfrm>
            <a:off x="8244840" y="3255264"/>
            <a:ext cx="3413760" cy="457200"/>
          </a:xfrm>
          <a:prstGeom prst="rect">
            <a:avLst/>
          </a:prstGeom>
          <a:noFill/>
          <a:ln/>
        </p:spPr>
        <p:txBody>
          <a:bodyPr wrap="square" rtlCol="0" anchor="ctr"/>
          <a:lstStyle/>
          <a:p>
            <a:pPr marL="0" indent="0">
              <a:buNone/>
            </a:pPr>
            <a:r>
              <a:rPr lang="en-US" sz="1300" b="1" dirty="0">
                <a:solidFill>
                  <a:srgbClr val="1A3A5C"/>
                </a:solidFill>
                <a:latin typeface="Segoe UI" pitchFamily="34" charset="0"/>
                <a:ea typeface="Segoe UI" pitchFamily="34" charset="-122"/>
                <a:cs typeface="Segoe UI" pitchFamily="34" charset="-120"/>
              </a:rPr>
              <a:t>dynamic-scan-ledger.md</a:t>
            </a:r>
            <a:endParaRPr lang="en-US" sz="1300" dirty="0"/>
          </a:p>
        </p:txBody>
      </p:sp>
      <p:sp>
        <p:nvSpPr>
          <p:cNvPr id="22" name="Text 20"/>
          <p:cNvSpPr/>
          <p:nvPr/>
        </p:nvSpPr>
        <p:spPr>
          <a:xfrm>
            <a:off x="8244840" y="3712464"/>
            <a:ext cx="3413760" cy="777240"/>
          </a:xfrm>
          <a:prstGeom prst="rect">
            <a:avLst/>
          </a:prstGeom>
          <a:noFill/>
          <a:ln/>
        </p:spPr>
        <p:txBody>
          <a:bodyPr wrap="square" rtlCol="0" anchor="t"/>
          <a:lstStyle/>
          <a:p>
            <a:pPr marL="0" indent="0">
              <a:buNone/>
            </a:pPr>
            <a:r>
              <a:rPr lang="en-US" sz="1100" dirty="0">
                <a:solidFill>
                  <a:srgbClr val="636E72"/>
                </a:solidFill>
                <a:latin typeface="Segoe UI" pitchFamily="34" charset="0"/>
                <a:ea typeface="Segoe UI" pitchFamily="34" charset="-122"/>
                <a:cs typeface="Segoe UI" pitchFamily="34" charset="-120"/>
              </a:rPr>
              <a:t>DAST runtime findings. Same schema, same /fix flow.</a:t>
            </a:r>
            <a:endParaRPr lang="en-US" sz="1100" dirty="0"/>
          </a:p>
        </p:txBody>
      </p:sp>
      <p:sp>
        <p:nvSpPr>
          <p:cNvPr id="23" name="Text 21"/>
          <p:cNvSpPr/>
          <p:nvPr/>
        </p:nvSpPr>
        <p:spPr>
          <a:xfrm>
            <a:off x="457200" y="4800600"/>
            <a:ext cx="11247120" cy="457200"/>
          </a:xfrm>
          <a:prstGeom prst="rect">
            <a:avLst/>
          </a:prstGeom>
          <a:noFill/>
          <a:ln/>
        </p:spPr>
        <p:txBody>
          <a:bodyPr wrap="square" rtlCol="0" anchor="ctr"/>
          <a:lstStyle/>
          <a:p>
            <a:pPr marL="0" indent="0" algn="ctr">
              <a:buNone/>
            </a:pPr>
            <a:r>
              <a:rPr lang="en-US" sz="900" dirty="0">
                <a:solidFill>
                  <a:srgbClr val="636E72"/>
                </a:solidFill>
                <a:latin typeface="Cascadia Code" pitchFamily="34" charset="0"/>
                <a:ea typeface="Cascadia Code" pitchFamily="34" charset="-122"/>
                <a:cs typeface="Cascadia Code" pitchFamily="34" charset="-120"/>
              </a:rPr>
              <a:t>How findings get produced:  PHASE D (parsers, zero-token)  →  PHASE P (model judgment)  →  ARCHITECTURAL (hypotheses, evidence, ≤7)   ·  ADR 0019 + 0045</a:t>
            </a:r>
            <a:endParaRPr lang="en-US" sz="900" dirty="0"/>
          </a:p>
        </p:txBody>
      </p:sp>
      <p:sp>
        <p:nvSpPr>
          <p:cNvPr id="24" name="Text 22"/>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40 / 45</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The aggregate view: are we actually getting better?</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Text 3"/>
          <p:cNvSpPr/>
          <p:nvPr/>
        </p:nvSpPr>
        <p:spPr>
          <a:xfrm>
            <a:off x="457200" y="868680"/>
            <a:ext cx="11247120" cy="411480"/>
          </a:xfrm>
          <a:prstGeom prst="rect">
            <a:avLst/>
          </a:prstGeom>
          <a:noFill/>
          <a:ln/>
        </p:spPr>
        <p:txBody>
          <a:bodyPr wrap="square" rtlCol="0" anchor="ctr"/>
          <a:lstStyle/>
          <a:p>
            <a:pPr marL="0" indent="0">
              <a:buNone/>
            </a:pPr>
            <a:r>
              <a:rPr lang="en-US" sz="1400" i="1" dirty="0">
                <a:solidFill>
                  <a:srgbClr val="636E72"/>
                </a:solidFill>
                <a:latin typeface="Segoe UI" pitchFamily="34" charset="0"/>
                <a:ea typeface="Segoe UI" pitchFamily="34" charset="-122"/>
                <a:cs typeface="Segoe UI" pitchFamily="34" charset="-120"/>
              </a:rPr>
              <a:t>Observability isn’t only per-finding — it’s the trend. After each sprint, straight from Azure DevOps.</a:t>
            </a:r>
            <a:endParaRPr lang="en-US" sz="1400" dirty="0"/>
          </a:p>
        </p:txBody>
      </p:sp>
      <p:sp>
        <p:nvSpPr>
          <p:cNvPr id="6" name="Shape 4"/>
          <p:cNvSpPr/>
          <p:nvPr/>
        </p:nvSpPr>
        <p:spPr>
          <a:xfrm>
            <a:off x="548640" y="1463040"/>
            <a:ext cx="3611880" cy="1737360"/>
          </a:xfrm>
          <a:prstGeom prst="roundRect">
            <a:avLst>
              <a:gd name="adj" fmla="val 5263"/>
            </a:avLst>
          </a:prstGeom>
          <a:solidFill>
            <a:srgbClr val="FFFFFF"/>
          </a:solidFill>
          <a:ln w="12700">
            <a:solidFill>
              <a:srgbClr val="DFE6E9"/>
            </a:solidFill>
            <a:prstDash val="solid"/>
          </a:ln>
        </p:spPr>
        <p:txBody>
          <a:bodyPr/>
          <a:lstStyle/>
          <a:p>
            <a:endParaRPr lang="en-US"/>
          </a:p>
        </p:txBody>
      </p:sp>
      <p:sp>
        <p:nvSpPr>
          <p:cNvPr id="7" name="Shape 5"/>
          <p:cNvSpPr/>
          <p:nvPr/>
        </p:nvSpPr>
        <p:spPr>
          <a:xfrm>
            <a:off x="548640" y="1463040"/>
            <a:ext cx="3611880" cy="64008"/>
          </a:xfrm>
          <a:prstGeom prst="rect">
            <a:avLst/>
          </a:prstGeom>
          <a:solidFill>
            <a:srgbClr val="00B894"/>
          </a:solidFill>
          <a:ln w="12700">
            <a:solidFill>
              <a:srgbClr val="00B894"/>
            </a:solidFill>
            <a:prstDash val="solid"/>
          </a:ln>
        </p:spPr>
        <p:txBody>
          <a:bodyPr/>
          <a:lstStyle/>
          <a:p>
            <a:endParaRPr lang="en-US"/>
          </a:p>
        </p:txBody>
      </p:sp>
      <p:sp>
        <p:nvSpPr>
          <p:cNvPr id="8" name="Text 6"/>
          <p:cNvSpPr/>
          <p:nvPr/>
        </p:nvSpPr>
        <p:spPr>
          <a:xfrm>
            <a:off x="548640" y="1691640"/>
            <a:ext cx="3611880" cy="640080"/>
          </a:xfrm>
          <a:prstGeom prst="rect">
            <a:avLst/>
          </a:prstGeom>
          <a:noFill/>
          <a:ln/>
        </p:spPr>
        <p:txBody>
          <a:bodyPr wrap="square" rtlCol="0" anchor="ctr"/>
          <a:lstStyle/>
          <a:p>
            <a:pPr marL="0" indent="0" algn="ctr">
              <a:buNone/>
            </a:pPr>
            <a:r>
              <a:rPr lang="en-US" sz="2800" b="1" dirty="0">
                <a:solidFill>
                  <a:srgbClr val="00B894"/>
                </a:solidFill>
                <a:latin typeface="Georgia" pitchFamily="34" charset="0"/>
                <a:ea typeface="Georgia" pitchFamily="34" charset="-122"/>
                <a:cs typeface="Georgia" pitchFamily="34" charset="-120"/>
              </a:rPr>
              <a:t>↑ rising</a:t>
            </a:r>
            <a:endParaRPr lang="en-US" sz="2800" dirty="0"/>
          </a:p>
        </p:txBody>
      </p:sp>
      <p:sp>
        <p:nvSpPr>
          <p:cNvPr id="9" name="Text 7"/>
          <p:cNvSpPr/>
          <p:nvPr/>
        </p:nvSpPr>
        <p:spPr>
          <a:xfrm>
            <a:off x="685800" y="2468880"/>
            <a:ext cx="3337560" cy="548640"/>
          </a:xfrm>
          <a:prstGeom prst="rect">
            <a:avLst/>
          </a:prstGeom>
          <a:noFill/>
          <a:ln/>
        </p:spPr>
        <p:txBody>
          <a:bodyPr wrap="square" rtlCol="0" anchor="ctr"/>
          <a:lstStyle/>
          <a:p>
            <a:pPr marL="0" indent="0" algn="ctr">
              <a:buNone/>
            </a:pPr>
            <a:r>
              <a:rPr lang="en-US" sz="1400" b="1" dirty="0">
                <a:solidFill>
                  <a:srgbClr val="1A3A5C"/>
                </a:solidFill>
                <a:latin typeface="Segoe UI" pitchFamily="34" charset="0"/>
                <a:ea typeface="Segoe UI" pitchFamily="34" charset="-122"/>
                <a:cs typeface="Segoe UI" pitchFamily="34" charset="-120"/>
              </a:rPr>
              <a:t>ICEA compliance</a:t>
            </a:r>
            <a:endParaRPr lang="en-US" sz="1400" dirty="0"/>
          </a:p>
        </p:txBody>
      </p:sp>
      <p:sp>
        <p:nvSpPr>
          <p:cNvPr id="10" name="Shape 8"/>
          <p:cNvSpPr/>
          <p:nvPr/>
        </p:nvSpPr>
        <p:spPr>
          <a:xfrm>
            <a:off x="4343400" y="1463040"/>
            <a:ext cx="3611880" cy="1737360"/>
          </a:xfrm>
          <a:prstGeom prst="roundRect">
            <a:avLst>
              <a:gd name="adj" fmla="val 5263"/>
            </a:avLst>
          </a:prstGeom>
          <a:solidFill>
            <a:srgbClr val="FFFFFF"/>
          </a:solidFill>
          <a:ln w="12700">
            <a:solidFill>
              <a:srgbClr val="DFE6E9"/>
            </a:solidFill>
            <a:prstDash val="solid"/>
          </a:ln>
        </p:spPr>
        <p:txBody>
          <a:bodyPr/>
          <a:lstStyle/>
          <a:p>
            <a:endParaRPr lang="en-US"/>
          </a:p>
        </p:txBody>
      </p:sp>
      <p:sp>
        <p:nvSpPr>
          <p:cNvPr id="11" name="Shape 9"/>
          <p:cNvSpPr/>
          <p:nvPr/>
        </p:nvSpPr>
        <p:spPr>
          <a:xfrm>
            <a:off x="4343400" y="1463040"/>
            <a:ext cx="3611880" cy="64008"/>
          </a:xfrm>
          <a:prstGeom prst="rect">
            <a:avLst/>
          </a:prstGeom>
          <a:solidFill>
            <a:srgbClr val="00B894"/>
          </a:solidFill>
          <a:ln w="12700">
            <a:solidFill>
              <a:srgbClr val="00B894"/>
            </a:solidFill>
            <a:prstDash val="solid"/>
          </a:ln>
        </p:spPr>
        <p:txBody>
          <a:bodyPr/>
          <a:lstStyle/>
          <a:p>
            <a:endParaRPr lang="en-US"/>
          </a:p>
        </p:txBody>
      </p:sp>
      <p:sp>
        <p:nvSpPr>
          <p:cNvPr id="12" name="Text 10"/>
          <p:cNvSpPr/>
          <p:nvPr/>
        </p:nvSpPr>
        <p:spPr>
          <a:xfrm>
            <a:off x="4343400" y="1691640"/>
            <a:ext cx="3611880" cy="640080"/>
          </a:xfrm>
          <a:prstGeom prst="rect">
            <a:avLst/>
          </a:prstGeom>
          <a:noFill/>
          <a:ln/>
        </p:spPr>
        <p:txBody>
          <a:bodyPr wrap="square" rtlCol="0" anchor="ctr"/>
          <a:lstStyle/>
          <a:p>
            <a:pPr marL="0" indent="0" algn="ctr">
              <a:buNone/>
            </a:pPr>
            <a:r>
              <a:rPr lang="en-US" sz="2800" b="1" dirty="0">
                <a:solidFill>
                  <a:srgbClr val="00B894"/>
                </a:solidFill>
                <a:latin typeface="Georgia" pitchFamily="34" charset="0"/>
                <a:ea typeface="Georgia" pitchFamily="34" charset="-122"/>
                <a:cs typeface="Georgia" pitchFamily="34" charset="-120"/>
              </a:rPr>
              <a:t>↓ falling</a:t>
            </a:r>
            <a:endParaRPr lang="en-US" sz="2800" dirty="0"/>
          </a:p>
        </p:txBody>
      </p:sp>
      <p:sp>
        <p:nvSpPr>
          <p:cNvPr id="13" name="Text 11"/>
          <p:cNvSpPr/>
          <p:nvPr/>
        </p:nvSpPr>
        <p:spPr>
          <a:xfrm>
            <a:off x="4480560" y="2468880"/>
            <a:ext cx="3337560" cy="548640"/>
          </a:xfrm>
          <a:prstGeom prst="rect">
            <a:avLst/>
          </a:prstGeom>
          <a:noFill/>
          <a:ln/>
        </p:spPr>
        <p:txBody>
          <a:bodyPr wrap="square" rtlCol="0" anchor="ctr"/>
          <a:lstStyle/>
          <a:p>
            <a:pPr marL="0" indent="0" algn="ctr">
              <a:buNone/>
            </a:pPr>
            <a:r>
              <a:rPr lang="en-US" sz="1400" b="1" dirty="0">
                <a:solidFill>
                  <a:srgbClr val="1A3A5C"/>
                </a:solidFill>
                <a:latin typeface="Segoe UI" pitchFamily="34" charset="0"/>
                <a:ea typeface="Segoe UI" pitchFamily="34" charset="-122"/>
                <a:cs typeface="Segoe UI" pitchFamily="34" charset="-120"/>
              </a:rPr>
              <a:t>PR rejection rate</a:t>
            </a:r>
            <a:endParaRPr lang="en-US" sz="1400" dirty="0"/>
          </a:p>
        </p:txBody>
      </p:sp>
      <p:sp>
        <p:nvSpPr>
          <p:cNvPr id="14" name="Shape 12"/>
          <p:cNvSpPr/>
          <p:nvPr/>
        </p:nvSpPr>
        <p:spPr>
          <a:xfrm>
            <a:off x="8138160" y="1463040"/>
            <a:ext cx="3611880" cy="1737360"/>
          </a:xfrm>
          <a:prstGeom prst="roundRect">
            <a:avLst>
              <a:gd name="adj" fmla="val 5263"/>
            </a:avLst>
          </a:prstGeom>
          <a:solidFill>
            <a:srgbClr val="FFFFFF"/>
          </a:solidFill>
          <a:ln w="12700">
            <a:solidFill>
              <a:srgbClr val="DFE6E9"/>
            </a:solidFill>
            <a:prstDash val="solid"/>
          </a:ln>
        </p:spPr>
        <p:txBody>
          <a:bodyPr/>
          <a:lstStyle/>
          <a:p>
            <a:endParaRPr lang="en-US"/>
          </a:p>
        </p:txBody>
      </p:sp>
      <p:sp>
        <p:nvSpPr>
          <p:cNvPr id="15" name="Shape 13"/>
          <p:cNvSpPr/>
          <p:nvPr/>
        </p:nvSpPr>
        <p:spPr>
          <a:xfrm>
            <a:off x="8138160" y="1463040"/>
            <a:ext cx="3611880" cy="64008"/>
          </a:xfrm>
          <a:prstGeom prst="rect">
            <a:avLst/>
          </a:prstGeom>
          <a:solidFill>
            <a:srgbClr val="00B894"/>
          </a:solidFill>
          <a:ln w="12700">
            <a:solidFill>
              <a:srgbClr val="00B894"/>
            </a:solidFill>
            <a:prstDash val="solid"/>
          </a:ln>
        </p:spPr>
        <p:txBody>
          <a:bodyPr/>
          <a:lstStyle/>
          <a:p>
            <a:endParaRPr lang="en-US"/>
          </a:p>
        </p:txBody>
      </p:sp>
      <p:sp>
        <p:nvSpPr>
          <p:cNvPr id="16" name="Text 14"/>
          <p:cNvSpPr/>
          <p:nvPr/>
        </p:nvSpPr>
        <p:spPr>
          <a:xfrm>
            <a:off x="8138160" y="1691640"/>
            <a:ext cx="3611880" cy="640080"/>
          </a:xfrm>
          <a:prstGeom prst="rect">
            <a:avLst/>
          </a:prstGeom>
          <a:noFill/>
          <a:ln/>
        </p:spPr>
        <p:txBody>
          <a:bodyPr wrap="square" rtlCol="0" anchor="ctr"/>
          <a:lstStyle/>
          <a:p>
            <a:pPr marL="0" indent="0" algn="ctr">
              <a:buNone/>
            </a:pPr>
            <a:r>
              <a:rPr lang="en-US" sz="2800" b="1" dirty="0">
                <a:solidFill>
                  <a:srgbClr val="00B894"/>
                </a:solidFill>
                <a:latin typeface="Georgia" pitchFamily="34" charset="0"/>
                <a:ea typeface="Georgia" pitchFamily="34" charset="-122"/>
                <a:cs typeface="Georgia" pitchFamily="34" charset="-120"/>
              </a:rPr>
              <a:t>↓ falling</a:t>
            </a:r>
            <a:endParaRPr lang="en-US" sz="2800" dirty="0"/>
          </a:p>
        </p:txBody>
      </p:sp>
      <p:sp>
        <p:nvSpPr>
          <p:cNvPr id="17" name="Text 15"/>
          <p:cNvSpPr/>
          <p:nvPr/>
        </p:nvSpPr>
        <p:spPr>
          <a:xfrm>
            <a:off x="8275320" y="2468880"/>
            <a:ext cx="3337560" cy="548640"/>
          </a:xfrm>
          <a:prstGeom prst="rect">
            <a:avLst/>
          </a:prstGeom>
          <a:noFill/>
          <a:ln/>
        </p:spPr>
        <p:txBody>
          <a:bodyPr wrap="square" rtlCol="0" anchor="ctr"/>
          <a:lstStyle/>
          <a:p>
            <a:pPr marL="0" indent="0" algn="ctr">
              <a:buNone/>
            </a:pPr>
            <a:r>
              <a:rPr lang="en-US" sz="1400" b="1" dirty="0">
                <a:solidFill>
                  <a:srgbClr val="1A3A5C"/>
                </a:solidFill>
                <a:latin typeface="Segoe UI" pitchFamily="34" charset="0"/>
                <a:ea typeface="Segoe UI" pitchFamily="34" charset="-122"/>
                <a:cs typeface="Segoe UI" pitchFamily="34" charset="-120"/>
              </a:rPr>
              <a:t>Rework hours</a:t>
            </a:r>
            <a:endParaRPr lang="en-US" sz="1400" dirty="0"/>
          </a:p>
        </p:txBody>
      </p:sp>
      <p:sp>
        <p:nvSpPr>
          <p:cNvPr id="18" name="Text 16"/>
          <p:cNvSpPr/>
          <p:nvPr/>
        </p:nvSpPr>
        <p:spPr>
          <a:xfrm>
            <a:off x="548640" y="3246120"/>
            <a:ext cx="10972800" cy="274320"/>
          </a:xfrm>
          <a:prstGeom prst="rect">
            <a:avLst/>
          </a:prstGeom>
          <a:noFill/>
          <a:ln/>
        </p:spPr>
        <p:txBody>
          <a:bodyPr wrap="square" rtlCol="0" anchor="ctr"/>
          <a:lstStyle/>
          <a:p>
            <a:pPr marL="0" indent="0" algn="ctr">
              <a:buNone/>
            </a:pPr>
            <a:r>
              <a:rPr lang="en-US" sz="900" dirty="0">
                <a:solidFill>
                  <a:srgbClr val="636E72"/>
                </a:solidFill>
                <a:latin typeface="Cascadia Code" pitchFamily="34" charset="0"/>
                <a:ea typeface="Cascadia Code" pitchFamily="34" charset="-122"/>
                <a:cs typeface="Cascadia Code" pitchFamily="34" charset="-120"/>
              </a:rPr>
              <a:t>sprint-metrics  ·  via ADO REST API</a:t>
            </a:r>
            <a:endParaRPr lang="en-US" sz="900" dirty="0"/>
          </a:p>
        </p:txBody>
      </p:sp>
      <p:sp>
        <p:nvSpPr>
          <p:cNvPr id="19" name="Shape 17"/>
          <p:cNvSpPr/>
          <p:nvPr/>
        </p:nvSpPr>
        <p:spPr>
          <a:xfrm>
            <a:off x="457200" y="3749040"/>
            <a:ext cx="3688080" cy="1737360"/>
          </a:xfrm>
          <a:prstGeom prst="roundRect">
            <a:avLst>
              <a:gd name="adj" fmla="val 5263"/>
            </a:avLst>
          </a:prstGeom>
          <a:solidFill>
            <a:srgbClr val="FFFFFF"/>
          </a:solidFill>
          <a:ln w="12700">
            <a:solidFill>
              <a:srgbClr val="DFE6E9"/>
            </a:solidFill>
            <a:prstDash val="solid"/>
          </a:ln>
        </p:spPr>
        <p:txBody>
          <a:bodyPr/>
          <a:lstStyle/>
          <a:p>
            <a:endParaRPr lang="en-US"/>
          </a:p>
        </p:txBody>
      </p:sp>
      <p:sp>
        <p:nvSpPr>
          <p:cNvPr id="20" name="Text 18"/>
          <p:cNvSpPr/>
          <p:nvPr/>
        </p:nvSpPr>
        <p:spPr>
          <a:xfrm>
            <a:off x="594360" y="3858768"/>
            <a:ext cx="3413760" cy="201168"/>
          </a:xfrm>
          <a:prstGeom prst="rect">
            <a:avLst/>
          </a:prstGeom>
          <a:noFill/>
          <a:ln/>
        </p:spPr>
        <p:txBody>
          <a:bodyPr wrap="square" rtlCol="0" anchor="ctr"/>
          <a:lstStyle/>
          <a:p>
            <a:pPr marL="0" indent="0">
              <a:buNone/>
            </a:pPr>
            <a:r>
              <a:rPr lang="en-US" sz="800" kern="0" spc="100" dirty="0">
                <a:solidFill>
                  <a:srgbClr val="C8A951"/>
                </a:solidFill>
                <a:latin typeface="Cascadia Code" pitchFamily="34" charset="0"/>
                <a:ea typeface="Cascadia Code" pitchFamily="34" charset="-122"/>
                <a:cs typeface="Cascadia Code" pitchFamily="34" charset="-120"/>
              </a:rPr>
              <a:t>HEALTH</a:t>
            </a:r>
            <a:endParaRPr lang="en-US" sz="800" dirty="0"/>
          </a:p>
        </p:txBody>
      </p:sp>
      <p:sp>
        <p:nvSpPr>
          <p:cNvPr id="21" name="Text 19"/>
          <p:cNvSpPr/>
          <p:nvPr/>
        </p:nvSpPr>
        <p:spPr>
          <a:xfrm>
            <a:off x="594360" y="4078224"/>
            <a:ext cx="3413760" cy="457200"/>
          </a:xfrm>
          <a:prstGeom prst="rect">
            <a:avLst/>
          </a:prstGeom>
          <a:noFill/>
          <a:ln/>
        </p:spPr>
        <p:txBody>
          <a:bodyPr wrap="square" rtlCol="0" anchor="ctr"/>
          <a:lstStyle/>
          <a:p>
            <a:pPr marL="0" indent="0">
              <a:buNone/>
            </a:pPr>
            <a:r>
              <a:rPr lang="en-US" sz="1300" b="1" dirty="0">
                <a:solidFill>
                  <a:srgbClr val="1A3A5C"/>
                </a:solidFill>
                <a:latin typeface="Segoe UI" pitchFamily="34" charset="0"/>
                <a:ea typeface="Segoe UI" pitchFamily="34" charset="-122"/>
                <a:cs typeface="Segoe UI" pitchFamily="34" charset="-120"/>
              </a:rPr>
              <a:t>Memory</a:t>
            </a:r>
            <a:endParaRPr lang="en-US" sz="1300" dirty="0"/>
          </a:p>
        </p:txBody>
      </p:sp>
      <p:sp>
        <p:nvSpPr>
          <p:cNvPr id="22" name="Text 20"/>
          <p:cNvSpPr/>
          <p:nvPr/>
        </p:nvSpPr>
        <p:spPr>
          <a:xfrm>
            <a:off x="594360" y="4535424"/>
            <a:ext cx="3413760" cy="822960"/>
          </a:xfrm>
          <a:prstGeom prst="rect">
            <a:avLst/>
          </a:prstGeom>
          <a:noFill/>
          <a:ln/>
        </p:spPr>
        <p:txBody>
          <a:bodyPr wrap="square" rtlCol="0" anchor="t"/>
          <a:lstStyle/>
          <a:p>
            <a:pPr marL="0" indent="0">
              <a:buNone/>
            </a:pPr>
            <a:r>
              <a:rPr lang="en-US" sz="1100" dirty="0">
                <a:solidFill>
                  <a:srgbClr val="636E72"/>
                </a:solidFill>
                <a:latin typeface="Segoe UI" pitchFamily="34" charset="0"/>
                <a:ea typeface="Segoe UI" pitchFamily="34" charset="-122"/>
                <a:cs typeface="Segoe UI" pitchFamily="34" charset="-120"/>
              </a:rPr>
              <a:t>Confidence, decay curve, promote-ready — /dream-health.</a:t>
            </a:r>
            <a:endParaRPr lang="en-US" sz="1100" dirty="0"/>
          </a:p>
        </p:txBody>
      </p:sp>
      <p:sp>
        <p:nvSpPr>
          <p:cNvPr id="23" name="Shape 21"/>
          <p:cNvSpPr/>
          <p:nvPr/>
        </p:nvSpPr>
        <p:spPr>
          <a:xfrm>
            <a:off x="4282440" y="3749040"/>
            <a:ext cx="3688080" cy="1737360"/>
          </a:xfrm>
          <a:prstGeom prst="roundRect">
            <a:avLst>
              <a:gd name="adj" fmla="val 5263"/>
            </a:avLst>
          </a:prstGeom>
          <a:solidFill>
            <a:srgbClr val="FFFFFF"/>
          </a:solidFill>
          <a:ln w="12700">
            <a:solidFill>
              <a:srgbClr val="DFE6E9"/>
            </a:solidFill>
            <a:prstDash val="solid"/>
          </a:ln>
        </p:spPr>
        <p:txBody>
          <a:bodyPr/>
          <a:lstStyle/>
          <a:p>
            <a:endParaRPr lang="en-US"/>
          </a:p>
        </p:txBody>
      </p:sp>
      <p:sp>
        <p:nvSpPr>
          <p:cNvPr id="24" name="Text 22"/>
          <p:cNvSpPr/>
          <p:nvPr/>
        </p:nvSpPr>
        <p:spPr>
          <a:xfrm>
            <a:off x="4419600" y="3858768"/>
            <a:ext cx="3413760" cy="201168"/>
          </a:xfrm>
          <a:prstGeom prst="rect">
            <a:avLst/>
          </a:prstGeom>
          <a:noFill/>
          <a:ln/>
        </p:spPr>
        <p:txBody>
          <a:bodyPr wrap="square" rtlCol="0" anchor="ctr"/>
          <a:lstStyle/>
          <a:p>
            <a:pPr marL="0" indent="0">
              <a:buNone/>
            </a:pPr>
            <a:r>
              <a:rPr lang="en-US" sz="800" kern="0" spc="100" dirty="0">
                <a:solidFill>
                  <a:srgbClr val="C8A951"/>
                </a:solidFill>
                <a:latin typeface="Cascadia Code" pitchFamily="34" charset="0"/>
                <a:ea typeface="Cascadia Code" pitchFamily="34" charset="-122"/>
                <a:cs typeface="Cascadia Code" pitchFamily="34" charset="-120"/>
              </a:rPr>
              <a:t>HEALTH</a:t>
            </a:r>
            <a:endParaRPr lang="en-US" sz="800" dirty="0"/>
          </a:p>
        </p:txBody>
      </p:sp>
      <p:sp>
        <p:nvSpPr>
          <p:cNvPr id="25" name="Text 23"/>
          <p:cNvSpPr/>
          <p:nvPr/>
        </p:nvSpPr>
        <p:spPr>
          <a:xfrm>
            <a:off x="4419600" y="4078224"/>
            <a:ext cx="3413760" cy="457200"/>
          </a:xfrm>
          <a:prstGeom prst="rect">
            <a:avLst/>
          </a:prstGeom>
          <a:noFill/>
          <a:ln/>
        </p:spPr>
        <p:txBody>
          <a:bodyPr wrap="square" rtlCol="0" anchor="ctr"/>
          <a:lstStyle/>
          <a:p>
            <a:pPr marL="0" indent="0">
              <a:buNone/>
            </a:pPr>
            <a:r>
              <a:rPr lang="en-US" sz="1300" b="1" dirty="0">
                <a:solidFill>
                  <a:srgbClr val="1A3A5C"/>
                </a:solidFill>
                <a:latin typeface="Segoe UI" pitchFamily="34" charset="0"/>
                <a:ea typeface="Segoe UI" pitchFamily="34" charset="-122"/>
                <a:cs typeface="Segoe UI" pitchFamily="34" charset="-120"/>
              </a:rPr>
              <a:t>Graph staleness</a:t>
            </a:r>
            <a:endParaRPr lang="en-US" sz="1300" dirty="0"/>
          </a:p>
        </p:txBody>
      </p:sp>
      <p:sp>
        <p:nvSpPr>
          <p:cNvPr id="26" name="Text 24"/>
          <p:cNvSpPr/>
          <p:nvPr/>
        </p:nvSpPr>
        <p:spPr>
          <a:xfrm>
            <a:off x="4419600" y="4535424"/>
            <a:ext cx="3413760" cy="822960"/>
          </a:xfrm>
          <a:prstGeom prst="rect">
            <a:avLst/>
          </a:prstGeom>
          <a:noFill/>
          <a:ln/>
        </p:spPr>
        <p:txBody>
          <a:bodyPr wrap="square" rtlCol="0" anchor="t"/>
          <a:lstStyle/>
          <a:p>
            <a:pPr marL="0" indent="0">
              <a:buNone/>
            </a:pPr>
            <a:r>
              <a:rPr lang="en-US" sz="1100" dirty="0">
                <a:solidFill>
                  <a:srgbClr val="636E72"/>
                </a:solidFill>
                <a:latin typeface="Segoe UI" pitchFamily="34" charset="0"/>
                <a:ea typeface="Segoe UI" pitchFamily="34" charset="-122"/>
                <a:cs typeface="Segoe UI" pitchFamily="34" charset="-120"/>
              </a:rPr>
              <a:t>Which modules drifted from the code — setup-status.</a:t>
            </a:r>
            <a:endParaRPr lang="en-US" sz="1100" dirty="0"/>
          </a:p>
        </p:txBody>
      </p:sp>
      <p:sp>
        <p:nvSpPr>
          <p:cNvPr id="27" name="Shape 25"/>
          <p:cNvSpPr/>
          <p:nvPr/>
        </p:nvSpPr>
        <p:spPr>
          <a:xfrm>
            <a:off x="8107680" y="3749040"/>
            <a:ext cx="3688080" cy="1737360"/>
          </a:xfrm>
          <a:prstGeom prst="roundRect">
            <a:avLst>
              <a:gd name="adj" fmla="val 5263"/>
            </a:avLst>
          </a:prstGeom>
          <a:solidFill>
            <a:srgbClr val="FFFFFF"/>
          </a:solidFill>
          <a:ln w="12700">
            <a:solidFill>
              <a:srgbClr val="DFE6E9"/>
            </a:solidFill>
            <a:prstDash val="solid"/>
          </a:ln>
        </p:spPr>
        <p:txBody>
          <a:bodyPr/>
          <a:lstStyle/>
          <a:p>
            <a:endParaRPr lang="en-US"/>
          </a:p>
        </p:txBody>
      </p:sp>
      <p:sp>
        <p:nvSpPr>
          <p:cNvPr id="28" name="Text 26"/>
          <p:cNvSpPr/>
          <p:nvPr/>
        </p:nvSpPr>
        <p:spPr>
          <a:xfrm>
            <a:off x="8244840" y="3858768"/>
            <a:ext cx="3413760" cy="201168"/>
          </a:xfrm>
          <a:prstGeom prst="rect">
            <a:avLst/>
          </a:prstGeom>
          <a:noFill/>
          <a:ln/>
        </p:spPr>
        <p:txBody>
          <a:bodyPr wrap="square" rtlCol="0" anchor="ctr"/>
          <a:lstStyle/>
          <a:p>
            <a:pPr marL="0" indent="0">
              <a:buNone/>
            </a:pPr>
            <a:r>
              <a:rPr lang="en-US" sz="800" kern="0" spc="100" dirty="0">
                <a:solidFill>
                  <a:srgbClr val="C8A951"/>
                </a:solidFill>
                <a:latin typeface="Cascadia Code" pitchFamily="34" charset="0"/>
                <a:ea typeface="Cascadia Code" pitchFamily="34" charset="-122"/>
                <a:cs typeface="Cascadia Code" pitchFamily="34" charset="-120"/>
              </a:rPr>
              <a:t>HEALTH</a:t>
            </a:r>
            <a:endParaRPr lang="en-US" sz="800" dirty="0"/>
          </a:p>
        </p:txBody>
      </p:sp>
      <p:sp>
        <p:nvSpPr>
          <p:cNvPr id="29" name="Text 27"/>
          <p:cNvSpPr/>
          <p:nvPr/>
        </p:nvSpPr>
        <p:spPr>
          <a:xfrm>
            <a:off x="8244840" y="4078224"/>
            <a:ext cx="3413760" cy="457200"/>
          </a:xfrm>
          <a:prstGeom prst="rect">
            <a:avLst/>
          </a:prstGeom>
          <a:noFill/>
          <a:ln/>
        </p:spPr>
        <p:txBody>
          <a:bodyPr wrap="square" rtlCol="0" anchor="ctr"/>
          <a:lstStyle/>
          <a:p>
            <a:pPr marL="0" indent="0">
              <a:buNone/>
            </a:pPr>
            <a:r>
              <a:rPr lang="en-US" sz="1300" b="1" dirty="0">
                <a:solidFill>
                  <a:srgbClr val="1A3A5C"/>
                </a:solidFill>
                <a:latin typeface="Segoe UI" pitchFamily="34" charset="0"/>
                <a:ea typeface="Segoe UI" pitchFamily="34" charset="-122"/>
                <a:cs typeface="Segoe UI" pitchFamily="34" charset="-120"/>
              </a:rPr>
              <a:t>Open findings</a:t>
            </a:r>
            <a:endParaRPr lang="en-US" sz="1300" dirty="0"/>
          </a:p>
        </p:txBody>
      </p:sp>
      <p:sp>
        <p:nvSpPr>
          <p:cNvPr id="30" name="Text 28"/>
          <p:cNvSpPr/>
          <p:nvPr/>
        </p:nvSpPr>
        <p:spPr>
          <a:xfrm>
            <a:off x="8244840" y="4535424"/>
            <a:ext cx="3413760" cy="822960"/>
          </a:xfrm>
          <a:prstGeom prst="rect">
            <a:avLst/>
          </a:prstGeom>
          <a:noFill/>
          <a:ln/>
        </p:spPr>
        <p:txBody>
          <a:bodyPr wrap="square" rtlCol="0" anchor="t"/>
          <a:lstStyle/>
          <a:p>
            <a:pPr marL="0" indent="0">
              <a:buNone/>
            </a:pPr>
            <a:r>
              <a:rPr lang="en-US" sz="1100" dirty="0">
                <a:solidFill>
                  <a:srgbClr val="636E72"/>
                </a:solidFill>
                <a:latin typeface="Segoe UI" pitchFamily="34" charset="0"/>
                <a:ea typeface="Segoe UI" pitchFamily="34" charset="-122"/>
                <a:cs typeface="Segoe UI" pitchFamily="34" charset="-120"/>
              </a:rPr>
              <a:t>Critical / High / Medium across all three ledgers.</a:t>
            </a:r>
            <a:endParaRPr lang="en-US" sz="1100" dirty="0"/>
          </a:p>
        </p:txBody>
      </p:sp>
      <p:sp>
        <p:nvSpPr>
          <p:cNvPr id="31" name="Text 29"/>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41 / 45</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The plugin holds itself to the same bar</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Shape 3"/>
          <p:cNvSpPr/>
          <p:nvPr/>
        </p:nvSpPr>
        <p:spPr>
          <a:xfrm>
            <a:off x="548640" y="914400"/>
            <a:ext cx="64008" cy="1828800"/>
          </a:xfrm>
          <a:prstGeom prst="rect">
            <a:avLst/>
          </a:prstGeom>
          <a:solidFill>
            <a:srgbClr val="C8A951"/>
          </a:solidFill>
          <a:ln w="12700">
            <a:solidFill>
              <a:srgbClr val="C8A951"/>
            </a:solidFill>
            <a:prstDash val="solid"/>
          </a:ln>
        </p:spPr>
        <p:txBody>
          <a:bodyPr/>
          <a:lstStyle/>
          <a:p>
            <a:endParaRPr lang="en-US"/>
          </a:p>
        </p:txBody>
      </p:sp>
      <p:sp>
        <p:nvSpPr>
          <p:cNvPr id="6" name="Shape 4"/>
          <p:cNvSpPr/>
          <p:nvPr/>
        </p:nvSpPr>
        <p:spPr>
          <a:xfrm>
            <a:off x="612648" y="914400"/>
            <a:ext cx="11000232" cy="1828800"/>
          </a:xfrm>
          <a:prstGeom prst="rect">
            <a:avLst/>
          </a:prstGeom>
          <a:solidFill>
            <a:srgbClr val="FDFCF5"/>
          </a:solidFill>
          <a:ln w="12700">
            <a:solidFill>
              <a:srgbClr val="DFE6E9"/>
            </a:solidFill>
            <a:prstDash val="solid"/>
          </a:ln>
        </p:spPr>
        <p:txBody>
          <a:bodyPr/>
          <a:lstStyle/>
          <a:p>
            <a:endParaRPr lang="en-US"/>
          </a:p>
        </p:txBody>
      </p:sp>
      <p:sp>
        <p:nvSpPr>
          <p:cNvPr id="7" name="Text 5"/>
          <p:cNvSpPr/>
          <p:nvPr/>
        </p:nvSpPr>
        <p:spPr>
          <a:xfrm>
            <a:off x="731520" y="1024128"/>
            <a:ext cx="10607040" cy="201168"/>
          </a:xfrm>
          <a:prstGeom prst="rect">
            <a:avLst/>
          </a:prstGeom>
          <a:noFill/>
          <a:ln/>
        </p:spPr>
        <p:txBody>
          <a:bodyPr wrap="square" rtlCol="0" anchor="ctr"/>
          <a:lstStyle/>
          <a:p>
            <a:pPr marL="0" indent="0">
              <a:buNone/>
            </a:pPr>
            <a:r>
              <a:rPr lang="en-US" sz="800" b="1" kern="0" spc="150" dirty="0">
                <a:solidFill>
                  <a:srgbClr val="C8A951"/>
                </a:solidFill>
                <a:latin typeface="Cascadia Code" pitchFamily="34" charset="0"/>
                <a:ea typeface="Cascadia Code" pitchFamily="34" charset="-122"/>
                <a:cs typeface="Cascadia Code" pitchFamily="34" charset="-120"/>
              </a:rPr>
              <a:t>DETERMINISTIC WHERE POSSIBLE  ·  ADR 0046</a:t>
            </a:r>
            <a:endParaRPr lang="en-US" sz="800" dirty="0"/>
          </a:p>
        </p:txBody>
      </p:sp>
      <p:sp>
        <p:nvSpPr>
          <p:cNvPr id="8" name="Text 6"/>
          <p:cNvSpPr/>
          <p:nvPr/>
        </p:nvSpPr>
        <p:spPr>
          <a:xfrm>
            <a:off x="731520" y="1207008"/>
            <a:ext cx="10607040" cy="1188720"/>
          </a:xfrm>
          <a:prstGeom prst="rect">
            <a:avLst/>
          </a:prstGeom>
          <a:noFill/>
          <a:ln/>
        </p:spPr>
        <p:txBody>
          <a:bodyPr wrap="square" rtlCol="0" anchor="t"/>
          <a:lstStyle/>
          <a:p>
            <a:pPr marL="0" indent="0">
              <a:buNone/>
            </a:pPr>
            <a:r>
              <a:rPr lang="en-US" sz="1300" b="1" dirty="0">
                <a:solidFill>
                  <a:srgbClr val="1A3A5C"/>
                </a:solidFill>
                <a:latin typeface="Segoe UI" pitchFamily="34" charset="0"/>
                <a:ea typeface="Segoe UI" pitchFamily="34" charset="-122"/>
                <a:cs typeface="Segoe UI" pitchFamily="34" charset="-120"/>
              </a:rPr>
              <a:t>"setup-init was 30–60 sequential LLM tool calls before any real work began."</a:t>
            </a:r>
            <a:endParaRPr lang="en-US" sz="1300" dirty="0"/>
          </a:p>
        </p:txBody>
      </p:sp>
      <p:sp>
        <p:nvSpPr>
          <p:cNvPr id="9" name="Text 7"/>
          <p:cNvSpPr/>
          <p:nvPr/>
        </p:nvSpPr>
        <p:spPr>
          <a:xfrm>
            <a:off x="731520" y="2395728"/>
            <a:ext cx="9692640" cy="274320"/>
          </a:xfrm>
          <a:prstGeom prst="rect">
            <a:avLst/>
          </a:prstGeom>
          <a:noFill/>
          <a:ln/>
        </p:spPr>
        <p:txBody>
          <a:bodyPr wrap="square" rtlCol="0" anchor="ctr"/>
          <a:lstStyle/>
          <a:p>
            <a:pPr marL="0" indent="0">
              <a:buNone/>
            </a:pPr>
            <a:r>
              <a:rPr lang="en-US" sz="1000" dirty="0">
                <a:solidFill>
                  <a:srgbClr val="636E72"/>
                </a:solidFill>
                <a:latin typeface="Segoe UI" pitchFamily="34" charset="0"/>
                <a:ea typeface="Segoe UI" pitchFamily="34" charset="-122"/>
                <a:cs typeface="Segoe UI" pitchFamily="34" charset="-120"/>
              </a:rPr>
              <a:t>Collapsed to one deterministic Node.js bootstrap script. Rules deployed last — after the architect skill actually knows the stack. Crash-safe manifest as recovery checkpoint.</a:t>
            </a:r>
            <a:endParaRPr lang="en-US" sz="1000" dirty="0"/>
          </a:p>
        </p:txBody>
      </p:sp>
      <p:sp>
        <p:nvSpPr>
          <p:cNvPr id="10" name="Text 8"/>
          <p:cNvSpPr/>
          <p:nvPr/>
        </p:nvSpPr>
        <p:spPr>
          <a:xfrm>
            <a:off x="10607040" y="2468880"/>
            <a:ext cx="868680" cy="201168"/>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ADR 0046</a:t>
            </a:r>
            <a:endParaRPr lang="en-US" sz="800" dirty="0"/>
          </a:p>
        </p:txBody>
      </p:sp>
      <p:sp>
        <p:nvSpPr>
          <p:cNvPr id="11" name="Shape 9"/>
          <p:cNvSpPr/>
          <p:nvPr/>
        </p:nvSpPr>
        <p:spPr>
          <a:xfrm>
            <a:off x="548640" y="2926080"/>
            <a:ext cx="64008" cy="1828800"/>
          </a:xfrm>
          <a:prstGeom prst="rect">
            <a:avLst/>
          </a:prstGeom>
          <a:solidFill>
            <a:srgbClr val="C8A951"/>
          </a:solidFill>
          <a:ln w="12700">
            <a:solidFill>
              <a:srgbClr val="C8A951"/>
            </a:solidFill>
            <a:prstDash val="solid"/>
          </a:ln>
        </p:spPr>
        <p:txBody>
          <a:bodyPr/>
          <a:lstStyle/>
          <a:p>
            <a:endParaRPr lang="en-US"/>
          </a:p>
        </p:txBody>
      </p:sp>
      <p:sp>
        <p:nvSpPr>
          <p:cNvPr id="12" name="Shape 10"/>
          <p:cNvSpPr/>
          <p:nvPr/>
        </p:nvSpPr>
        <p:spPr>
          <a:xfrm>
            <a:off x="612648" y="2926080"/>
            <a:ext cx="11000232" cy="1828800"/>
          </a:xfrm>
          <a:prstGeom prst="rect">
            <a:avLst/>
          </a:prstGeom>
          <a:solidFill>
            <a:srgbClr val="FDFCF5"/>
          </a:solidFill>
          <a:ln w="12700">
            <a:solidFill>
              <a:srgbClr val="DFE6E9"/>
            </a:solidFill>
            <a:prstDash val="solid"/>
          </a:ln>
        </p:spPr>
        <p:txBody>
          <a:bodyPr/>
          <a:lstStyle/>
          <a:p>
            <a:endParaRPr lang="en-US"/>
          </a:p>
        </p:txBody>
      </p:sp>
      <p:sp>
        <p:nvSpPr>
          <p:cNvPr id="13" name="Text 11"/>
          <p:cNvSpPr/>
          <p:nvPr/>
        </p:nvSpPr>
        <p:spPr>
          <a:xfrm>
            <a:off x="731520" y="3035808"/>
            <a:ext cx="10607040" cy="201168"/>
          </a:xfrm>
          <a:prstGeom prst="rect">
            <a:avLst/>
          </a:prstGeom>
          <a:noFill/>
          <a:ln/>
        </p:spPr>
        <p:txBody>
          <a:bodyPr wrap="square" rtlCol="0" anchor="ctr"/>
          <a:lstStyle/>
          <a:p>
            <a:pPr marL="0" indent="0">
              <a:buNone/>
            </a:pPr>
            <a:r>
              <a:rPr lang="en-US" sz="800" b="1" kern="0" spc="150" dirty="0">
                <a:solidFill>
                  <a:srgbClr val="C8A951"/>
                </a:solidFill>
                <a:latin typeface="Cascadia Code" pitchFamily="34" charset="0"/>
                <a:ea typeface="Cascadia Code" pitchFamily="34" charset="-122"/>
                <a:cs typeface="Cascadia Code" pitchFamily="34" charset="-120"/>
              </a:rPr>
              <a:t>HONESTY OVER OVERCLAIM  ·  ADR 0048</a:t>
            </a:r>
            <a:endParaRPr lang="en-US" sz="800" dirty="0"/>
          </a:p>
        </p:txBody>
      </p:sp>
      <p:sp>
        <p:nvSpPr>
          <p:cNvPr id="14" name="Text 12"/>
          <p:cNvSpPr/>
          <p:nvPr/>
        </p:nvSpPr>
        <p:spPr>
          <a:xfrm>
            <a:off x="731520" y="3218688"/>
            <a:ext cx="10607040" cy="1188720"/>
          </a:xfrm>
          <a:prstGeom prst="rect">
            <a:avLst/>
          </a:prstGeom>
          <a:noFill/>
          <a:ln/>
        </p:spPr>
        <p:txBody>
          <a:bodyPr wrap="square" rtlCol="0" anchor="t"/>
          <a:lstStyle/>
          <a:p>
            <a:pPr marL="0" indent="0">
              <a:buNone/>
            </a:pPr>
            <a:r>
              <a:rPr lang="en-US" sz="1300" b="1" dirty="0">
                <a:solidFill>
                  <a:srgbClr val="1A3A5C"/>
                </a:solidFill>
                <a:latin typeface="Segoe UI" pitchFamily="34" charset="0"/>
                <a:ea typeface="Segoe UI" pitchFamily="34" charset="-122"/>
                <a:cs typeface="Segoe UI" pitchFamily="34" charset="-120"/>
              </a:rPr>
              <a:t>"A hidden dependency could quietly fail and still report success."</a:t>
            </a:r>
            <a:endParaRPr lang="en-US" sz="1300" dirty="0"/>
          </a:p>
        </p:txBody>
      </p:sp>
      <p:sp>
        <p:nvSpPr>
          <p:cNvPr id="15" name="Text 13"/>
          <p:cNvSpPr/>
          <p:nvPr/>
        </p:nvSpPr>
        <p:spPr>
          <a:xfrm>
            <a:off x="731520" y="4407408"/>
            <a:ext cx="9692640" cy="274320"/>
          </a:xfrm>
          <a:prstGeom prst="rect">
            <a:avLst/>
          </a:prstGeom>
          <a:noFill/>
          <a:ln/>
        </p:spPr>
        <p:txBody>
          <a:bodyPr wrap="square" rtlCol="0" anchor="ctr"/>
          <a:lstStyle/>
          <a:p>
            <a:pPr marL="0" indent="0">
              <a:buNone/>
            </a:pPr>
            <a:r>
              <a:rPr lang="en-US" sz="1000" dirty="0">
                <a:solidFill>
                  <a:srgbClr val="636E72"/>
                </a:solidFill>
                <a:latin typeface="Segoe UI" pitchFamily="34" charset="0"/>
                <a:ea typeface="Segoe UI" pitchFamily="34" charset="-122"/>
                <a:cs typeface="Segoe UI" pitchFamily="34" charset="-120"/>
              </a:rPr>
              <a:t>Eliminated. One canonical resolver reads the registry — O(1), no crawl, no guessing. It either knows, or says it doesn’t. A tool that asks you to be accountable is accountable itself.</a:t>
            </a:r>
            <a:endParaRPr lang="en-US" sz="1000" dirty="0"/>
          </a:p>
        </p:txBody>
      </p:sp>
      <p:sp>
        <p:nvSpPr>
          <p:cNvPr id="16" name="Text 14"/>
          <p:cNvSpPr/>
          <p:nvPr/>
        </p:nvSpPr>
        <p:spPr>
          <a:xfrm>
            <a:off x="10607040" y="4480560"/>
            <a:ext cx="868680" cy="201168"/>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ADR 0048</a:t>
            </a:r>
            <a:endParaRPr lang="en-US" sz="800" dirty="0"/>
          </a:p>
        </p:txBody>
      </p:sp>
      <p:sp>
        <p:nvSpPr>
          <p:cNvPr id="17" name="Text 15"/>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42 / 45</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What 55 decisions taught us</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Shape 3"/>
          <p:cNvSpPr/>
          <p:nvPr/>
        </p:nvSpPr>
        <p:spPr>
          <a:xfrm>
            <a:off x="365760" y="914400"/>
            <a:ext cx="2651760" cy="1828800"/>
          </a:xfrm>
          <a:prstGeom prst="roundRect">
            <a:avLst>
              <a:gd name="adj" fmla="val 5000"/>
            </a:avLst>
          </a:prstGeom>
          <a:solidFill>
            <a:srgbClr val="FFFFFF"/>
          </a:solidFill>
          <a:ln w="12700">
            <a:solidFill>
              <a:srgbClr val="DFE6E9"/>
            </a:solidFill>
            <a:prstDash val="solid"/>
          </a:ln>
        </p:spPr>
        <p:txBody>
          <a:bodyPr/>
          <a:lstStyle/>
          <a:p>
            <a:endParaRPr lang="en-US"/>
          </a:p>
        </p:txBody>
      </p:sp>
      <p:sp>
        <p:nvSpPr>
          <p:cNvPr id="6" name="Text 4"/>
          <p:cNvSpPr/>
          <p:nvPr/>
        </p:nvSpPr>
        <p:spPr>
          <a:xfrm>
            <a:off x="475488" y="1005840"/>
            <a:ext cx="2423160" cy="228600"/>
          </a:xfrm>
          <a:prstGeom prst="rect">
            <a:avLst/>
          </a:prstGeom>
          <a:noFill/>
          <a:ln/>
        </p:spPr>
        <p:txBody>
          <a:bodyPr wrap="square" rtlCol="0" anchor="ctr"/>
          <a:lstStyle/>
          <a:p>
            <a:pPr marL="0" indent="0">
              <a:buNone/>
            </a:pPr>
            <a:r>
              <a:rPr lang="en-US" sz="900" b="1" dirty="0">
                <a:solidFill>
                  <a:srgbClr val="C8A951"/>
                </a:solidFill>
                <a:latin typeface="Cascadia Code" pitchFamily="34" charset="0"/>
                <a:ea typeface="Cascadia Code" pitchFamily="34" charset="-122"/>
                <a:cs typeface="Cascadia Code" pitchFamily="34" charset="-120"/>
              </a:rPr>
              <a:t>01</a:t>
            </a:r>
            <a:endParaRPr lang="en-US" sz="900" dirty="0"/>
          </a:p>
        </p:txBody>
      </p:sp>
      <p:sp>
        <p:nvSpPr>
          <p:cNvPr id="7" name="Text 5"/>
          <p:cNvSpPr/>
          <p:nvPr/>
        </p:nvSpPr>
        <p:spPr>
          <a:xfrm>
            <a:off x="475488" y="1234440"/>
            <a:ext cx="2423160" cy="384048"/>
          </a:xfrm>
          <a:prstGeom prst="rect">
            <a:avLst/>
          </a:prstGeom>
          <a:noFill/>
          <a:ln/>
        </p:spPr>
        <p:txBody>
          <a:bodyPr wrap="square" rtlCol="0" anchor="ctr"/>
          <a:lstStyle/>
          <a:p>
            <a:pPr marL="0" indent="0">
              <a:buNone/>
            </a:pPr>
            <a:r>
              <a:rPr lang="en-US" sz="1200" b="1" dirty="0">
                <a:solidFill>
                  <a:srgbClr val="1A3A5C"/>
                </a:solidFill>
                <a:latin typeface="Segoe UI" pitchFamily="34" charset="0"/>
                <a:ea typeface="Segoe UI" pitchFamily="34" charset="-122"/>
                <a:cs typeface="Segoe UI" pitchFamily="34" charset="-120"/>
              </a:rPr>
              <a:t>Gates are incentive structures</a:t>
            </a:r>
            <a:endParaRPr lang="en-US" sz="1200" dirty="0"/>
          </a:p>
        </p:txBody>
      </p:sp>
      <p:sp>
        <p:nvSpPr>
          <p:cNvPr id="8" name="Text 6"/>
          <p:cNvSpPr/>
          <p:nvPr/>
        </p:nvSpPr>
        <p:spPr>
          <a:xfrm>
            <a:off x="475488" y="1627632"/>
            <a:ext cx="2423160" cy="822960"/>
          </a:xfrm>
          <a:prstGeom prst="rect">
            <a:avLst/>
          </a:prstGeom>
          <a:noFill/>
          <a:ln/>
        </p:spPr>
        <p:txBody>
          <a:bodyPr wrap="square" rtlCol="0" anchor="ctr"/>
          <a:lstStyle/>
          <a:p>
            <a:pPr marL="0" indent="0">
              <a:buNone/>
            </a:pPr>
            <a:r>
              <a:rPr lang="en-US" sz="1000" dirty="0">
                <a:solidFill>
                  <a:srgbClr val="636E72"/>
                </a:solidFill>
                <a:latin typeface="Segoe UI" pitchFamily="34" charset="0"/>
                <a:ea typeface="Segoe UI" pitchFamily="34" charset="-122"/>
                <a:cs typeface="Segoe UI" pitchFamily="34" charset="-120"/>
              </a:rPr>
              <a:t>They change what people do before anyone else has to review their work.</a:t>
            </a:r>
            <a:endParaRPr lang="en-US" sz="1000" dirty="0"/>
          </a:p>
        </p:txBody>
      </p:sp>
      <p:sp>
        <p:nvSpPr>
          <p:cNvPr id="9" name="Text 7"/>
          <p:cNvSpPr/>
          <p:nvPr/>
        </p:nvSpPr>
        <p:spPr>
          <a:xfrm>
            <a:off x="475488" y="2487168"/>
            <a:ext cx="2423160" cy="201168"/>
          </a:xfrm>
          <a:prstGeom prst="rect">
            <a:avLst/>
          </a:prstGeom>
          <a:noFill/>
          <a:ln/>
        </p:spPr>
        <p:txBody>
          <a:bodyPr wrap="square" rtlCol="0" anchor="ctr"/>
          <a:lstStyle/>
          <a:p>
            <a:pPr marL="0" indent="0">
              <a:buNone/>
            </a:pPr>
            <a:r>
              <a:rPr lang="en-US" sz="800" dirty="0">
                <a:solidFill>
                  <a:srgbClr val="636E72"/>
                </a:solidFill>
                <a:latin typeface="Cascadia Code" pitchFamily="34" charset="0"/>
                <a:ea typeface="Cascadia Code" pitchFamily="34" charset="-122"/>
                <a:cs typeface="Cascadia Code" pitchFamily="34" charset="-120"/>
              </a:rPr>
              <a:t>ADR 0001</a:t>
            </a:r>
            <a:endParaRPr lang="en-US" sz="800" dirty="0"/>
          </a:p>
        </p:txBody>
      </p:sp>
      <p:sp>
        <p:nvSpPr>
          <p:cNvPr id="10" name="Shape 8"/>
          <p:cNvSpPr/>
          <p:nvPr/>
        </p:nvSpPr>
        <p:spPr>
          <a:xfrm>
            <a:off x="3154680" y="914400"/>
            <a:ext cx="2651760" cy="1828800"/>
          </a:xfrm>
          <a:prstGeom prst="roundRect">
            <a:avLst>
              <a:gd name="adj" fmla="val 5000"/>
            </a:avLst>
          </a:prstGeom>
          <a:solidFill>
            <a:srgbClr val="FFFFFF"/>
          </a:solidFill>
          <a:ln w="12700">
            <a:solidFill>
              <a:srgbClr val="DFE6E9"/>
            </a:solidFill>
            <a:prstDash val="solid"/>
          </a:ln>
        </p:spPr>
        <p:txBody>
          <a:bodyPr/>
          <a:lstStyle/>
          <a:p>
            <a:endParaRPr lang="en-US"/>
          </a:p>
        </p:txBody>
      </p:sp>
      <p:sp>
        <p:nvSpPr>
          <p:cNvPr id="11" name="Text 9"/>
          <p:cNvSpPr/>
          <p:nvPr/>
        </p:nvSpPr>
        <p:spPr>
          <a:xfrm>
            <a:off x="3264408" y="1005840"/>
            <a:ext cx="2423160" cy="228600"/>
          </a:xfrm>
          <a:prstGeom prst="rect">
            <a:avLst/>
          </a:prstGeom>
          <a:noFill/>
          <a:ln/>
        </p:spPr>
        <p:txBody>
          <a:bodyPr wrap="square" rtlCol="0" anchor="ctr"/>
          <a:lstStyle/>
          <a:p>
            <a:pPr marL="0" indent="0">
              <a:buNone/>
            </a:pPr>
            <a:r>
              <a:rPr lang="en-US" sz="900" b="1" dirty="0">
                <a:solidFill>
                  <a:srgbClr val="C8A951"/>
                </a:solidFill>
                <a:latin typeface="Cascadia Code" pitchFamily="34" charset="0"/>
                <a:ea typeface="Cascadia Code" pitchFamily="34" charset="-122"/>
                <a:cs typeface="Cascadia Code" pitchFamily="34" charset="-120"/>
              </a:rPr>
              <a:t>02</a:t>
            </a:r>
            <a:endParaRPr lang="en-US" sz="900" dirty="0"/>
          </a:p>
        </p:txBody>
      </p:sp>
      <p:sp>
        <p:nvSpPr>
          <p:cNvPr id="12" name="Text 10"/>
          <p:cNvSpPr/>
          <p:nvPr/>
        </p:nvSpPr>
        <p:spPr>
          <a:xfrm>
            <a:off x="3264408" y="1234440"/>
            <a:ext cx="2423160" cy="384048"/>
          </a:xfrm>
          <a:prstGeom prst="rect">
            <a:avLst/>
          </a:prstGeom>
          <a:noFill/>
          <a:ln/>
        </p:spPr>
        <p:txBody>
          <a:bodyPr wrap="square" rtlCol="0" anchor="ctr"/>
          <a:lstStyle/>
          <a:p>
            <a:pPr marL="0" indent="0">
              <a:buNone/>
            </a:pPr>
            <a:r>
              <a:rPr lang="en-US" sz="1200" b="1" dirty="0">
                <a:solidFill>
                  <a:srgbClr val="1A3A5C"/>
                </a:solidFill>
                <a:latin typeface="Segoe UI" pitchFamily="34" charset="0"/>
                <a:ea typeface="Segoe UI" pitchFamily="34" charset="-122"/>
                <a:cs typeface="Segoe UI" pitchFamily="34" charset="-120"/>
              </a:rPr>
              <a:t>Honesty over overclaim</a:t>
            </a:r>
            <a:endParaRPr lang="en-US" sz="1200" dirty="0"/>
          </a:p>
        </p:txBody>
      </p:sp>
      <p:sp>
        <p:nvSpPr>
          <p:cNvPr id="13" name="Text 11"/>
          <p:cNvSpPr/>
          <p:nvPr/>
        </p:nvSpPr>
        <p:spPr>
          <a:xfrm>
            <a:off x="3264408" y="1627632"/>
            <a:ext cx="2423160" cy="822960"/>
          </a:xfrm>
          <a:prstGeom prst="rect">
            <a:avLst/>
          </a:prstGeom>
          <a:noFill/>
          <a:ln/>
        </p:spPr>
        <p:txBody>
          <a:bodyPr wrap="square" rtlCol="0" anchor="ctr"/>
          <a:lstStyle/>
          <a:p>
            <a:pPr marL="0" indent="0">
              <a:buNone/>
            </a:pPr>
            <a:r>
              <a:rPr lang="en-US" sz="1000" dirty="0">
                <a:solidFill>
                  <a:srgbClr val="636E72"/>
                </a:solidFill>
                <a:latin typeface="Segoe UI" pitchFamily="34" charset="0"/>
                <a:ea typeface="Segoe UI" pitchFamily="34" charset="-122"/>
                <a:cs typeface="Segoe UI" pitchFamily="34" charset="-120"/>
              </a:rPr>
              <a:t>Never claim a floor the system can’t hold. Make bypass visible instead.</a:t>
            </a:r>
            <a:endParaRPr lang="en-US" sz="1000" dirty="0"/>
          </a:p>
        </p:txBody>
      </p:sp>
      <p:sp>
        <p:nvSpPr>
          <p:cNvPr id="14" name="Text 12"/>
          <p:cNvSpPr/>
          <p:nvPr/>
        </p:nvSpPr>
        <p:spPr>
          <a:xfrm>
            <a:off x="3264408" y="2487168"/>
            <a:ext cx="2423160" cy="201168"/>
          </a:xfrm>
          <a:prstGeom prst="rect">
            <a:avLst/>
          </a:prstGeom>
          <a:noFill/>
          <a:ln/>
        </p:spPr>
        <p:txBody>
          <a:bodyPr wrap="square" rtlCol="0" anchor="ctr"/>
          <a:lstStyle/>
          <a:p>
            <a:pPr marL="0" indent="0">
              <a:buNone/>
            </a:pPr>
            <a:r>
              <a:rPr lang="en-US" sz="800" dirty="0">
                <a:solidFill>
                  <a:srgbClr val="636E72"/>
                </a:solidFill>
                <a:latin typeface="Cascadia Code" pitchFamily="34" charset="0"/>
                <a:ea typeface="Cascadia Code" pitchFamily="34" charset="-122"/>
                <a:cs typeface="Cascadia Code" pitchFamily="34" charset="-120"/>
              </a:rPr>
              <a:t>ADR 0010</a:t>
            </a:r>
            <a:endParaRPr lang="en-US" sz="800" dirty="0"/>
          </a:p>
        </p:txBody>
      </p:sp>
      <p:sp>
        <p:nvSpPr>
          <p:cNvPr id="15" name="Shape 13"/>
          <p:cNvSpPr/>
          <p:nvPr/>
        </p:nvSpPr>
        <p:spPr>
          <a:xfrm>
            <a:off x="5943600" y="914400"/>
            <a:ext cx="2651760" cy="1828800"/>
          </a:xfrm>
          <a:prstGeom prst="roundRect">
            <a:avLst>
              <a:gd name="adj" fmla="val 5000"/>
            </a:avLst>
          </a:prstGeom>
          <a:solidFill>
            <a:srgbClr val="FFFFFF"/>
          </a:solidFill>
          <a:ln w="12700">
            <a:solidFill>
              <a:srgbClr val="DFE6E9"/>
            </a:solidFill>
            <a:prstDash val="solid"/>
          </a:ln>
        </p:spPr>
        <p:txBody>
          <a:bodyPr/>
          <a:lstStyle/>
          <a:p>
            <a:endParaRPr lang="en-US"/>
          </a:p>
        </p:txBody>
      </p:sp>
      <p:sp>
        <p:nvSpPr>
          <p:cNvPr id="16" name="Text 14"/>
          <p:cNvSpPr/>
          <p:nvPr/>
        </p:nvSpPr>
        <p:spPr>
          <a:xfrm>
            <a:off x="6053328" y="1005840"/>
            <a:ext cx="2423160" cy="228600"/>
          </a:xfrm>
          <a:prstGeom prst="rect">
            <a:avLst/>
          </a:prstGeom>
          <a:noFill/>
          <a:ln/>
        </p:spPr>
        <p:txBody>
          <a:bodyPr wrap="square" rtlCol="0" anchor="ctr"/>
          <a:lstStyle/>
          <a:p>
            <a:pPr marL="0" indent="0">
              <a:buNone/>
            </a:pPr>
            <a:r>
              <a:rPr lang="en-US" sz="900" b="1" dirty="0">
                <a:solidFill>
                  <a:srgbClr val="C8A951"/>
                </a:solidFill>
                <a:latin typeface="Cascadia Code" pitchFamily="34" charset="0"/>
                <a:ea typeface="Cascadia Code" pitchFamily="34" charset="-122"/>
                <a:cs typeface="Cascadia Code" pitchFamily="34" charset="-120"/>
              </a:rPr>
              <a:t>03</a:t>
            </a:r>
            <a:endParaRPr lang="en-US" sz="900" dirty="0"/>
          </a:p>
        </p:txBody>
      </p:sp>
      <p:sp>
        <p:nvSpPr>
          <p:cNvPr id="17" name="Text 15"/>
          <p:cNvSpPr/>
          <p:nvPr/>
        </p:nvSpPr>
        <p:spPr>
          <a:xfrm>
            <a:off x="6053328" y="1234440"/>
            <a:ext cx="2423160" cy="384048"/>
          </a:xfrm>
          <a:prstGeom prst="rect">
            <a:avLst/>
          </a:prstGeom>
          <a:noFill/>
          <a:ln/>
        </p:spPr>
        <p:txBody>
          <a:bodyPr wrap="square" rtlCol="0" anchor="ctr"/>
          <a:lstStyle/>
          <a:p>
            <a:pPr marL="0" indent="0">
              <a:buNone/>
            </a:pPr>
            <a:r>
              <a:rPr lang="en-US" sz="1200" b="1" dirty="0">
                <a:solidFill>
                  <a:srgbClr val="1A3A5C"/>
                </a:solidFill>
                <a:latin typeface="Segoe UI" pitchFamily="34" charset="0"/>
                <a:ea typeface="Segoe UI" pitchFamily="34" charset="-122"/>
                <a:cs typeface="Segoe UI" pitchFamily="34" charset="-120"/>
              </a:rPr>
              <a:t>One source of truth per concept</a:t>
            </a:r>
            <a:endParaRPr lang="en-US" sz="1200" dirty="0"/>
          </a:p>
        </p:txBody>
      </p:sp>
      <p:sp>
        <p:nvSpPr>
          <p:cNvPr id="18" name="Text 16"/>
          <p:cNvSpPr/>
          <p:nvPr/>
        </p:nvSpPr>
        <p:spPr>
          <a:xfrm>
            <a:off x="6053328" y="1627632"/>
            <a:ext cx="2423160" cy="822960"/>
          </a:xfrm>
          <a:prstGeom prst="rect">
            <a:avLst/>
          </a:prstGeom>
          <a:noFill/>
          <a:ln/>
        </p:spPr>
        <p:txBody>
          <a:bodyPr wrap="square" rtlCol="0" anchor="ctr"/>
          <a:lstStyle/>
          <a:p>
            <a:pPr marL="0" indent="0">
              <a:buNone/>
            </a:pPr>
            <a:r>
              <a:rPr lang="en-US" sz="1000" dirty="0">
                <a:solidFill>
                  <a:srgbClr val="636E72"/>
                </a:solidFill>
                <a:latin typeface="Segoe UI" pitchFamily="34" charset="0"/>
                <a:ea typeface="Segoe UI" pitchFamily="34" charset="-122"/>
                <a:cs typeface="Segoe UI" pitchFamily="34" charset="-120"/>
              </a:rPr>
              <a:t>Duplication is the enemy. Shared primitives; the graph as sole orientation layer.</a:t>
            </a:r>
            <a:endParaRPr lang="en-US" sz="1000" dirty="0"/>
          </a:p>
        </p:txBody>
      </p:sp>
      <p:sp>
        <p:nvSpPr>
          <p:cNvPr id="19" name="Text 17"/>
          <p:cNvSpPr/>
          <p:nvPr/>
        </p:nvSpPr>
        <p:spPr>
          <a:xfrm>
            <a:off x="6053328" y="2487168"/>
            <a:ext cx="2423160" cy="201168"/>
          </a:xfrm>
          <a:prstGeom prst="rect">
            <a:avLst/>
          </a:prstGeom>
          <a:noFill/>
          <a:ln/>
        </p:spPr>
        <p:txBody>
          <a:bodyPr wrap="square" rtlCol="0" anchor="ctr"/>
          <a:lstStyle/>
          <a:p>
            <a:pPr marL="0" indent="0">
              <a:buNone/>
            </a:pPr>
            <a:r>
              <a:rPr lang="en-US" sz="800" dirty="0">
                <a:solidFill>
                  <a:srgbClr val="636E72"/>
                </a:solidFill>
                <a:latin typeface="Cascadia Code" pitchFamily="34" charset="0"/>
                <a:ea typeface="Cascadia Code" pitchFamily="34" charset="-122"/>
                <a:cs typeface="Cascadia Code" pitchFamily="34" charset="-120"/>
              </a:rPr>
              <a:t>ADR 0003</a:t>
            </a:r>
            <a:endParaRPr lang="en-US" sz="800" dirty="0"/>
          </a:p>
        </p:txBody>
      </p:sp>
      <p:sp>
        <p:nvSpPr>
          <p:cNvPr id="20" name="Shape 18"/>
          <p:cNvSpPr/>
          <p:nvPr/>
        </p:nvSpPr>
        <p:spPr>
          <a:xfrm>
            <a:off x="8732520" y="914400"/>
            <a:ext cx="2651760" cy="1828800"/>
          </a:xfrm>
          <a:prstGeom prst="roundRect">
            <a:avLst>
              <a:gd name="adj" fmla="val 5000"/>
            </a:avLst>
          </a:prstGeom>
          <a:solidFill>
            <a:srgbClr val="FFFFFF"/>
          </a:solidFill>
          <a:ln w="12700">
            <a:solidFill>
              <a:srgbClr val="DFE6E9"/>
            </a:solidFill>
            <a:prstDash val="solid"/>
          </a:ln>
        </p:spPr>
        <p:txBody>
          <a:bodyPr/>
          <a:lstStyle/>
          <a:p>
            <a:endParaRPr lang="en-US"/>
          </a:p>
        </p:txBody>
      </p:sp>
      <p:sp>
        <p:nvSpPr>
          <p:cNvPr id="21" name="Text 19"/>
          <p:cNvSpPr/>
          <p:nvPr/>
        </p:nvSpPr>
        <p:spPr>
          <a:xfrm>
            <a:off x="8842248" y="1005840"/>
            <a:ext cx="2423160" cy="228600"/>
          </a:xfrm>
          <a:prstGeom prst="rect">
            <a:avLst/>
          </a:prstGeom>
          <a:noFill/>
          <a:ln/>
        </p:spPr>
        <p:txBody>
          <a:bodyPr wrap="square" rtlCol="0" anchor="ctr"/>
          <a:lstStyle/>
          <a:p>
            <a:pPr marL="0" indent="0">
              <a:buNone/>
            </a:pPr>
            <a:r>
              <a:rPr lang="en-US" sz="900" b="1" dirty="0">
                <a:solidFill>
                  <a:srgbClr val="C8A951"/>
                </a:solidFill>
                <a:latin typeface="Cascadia Code" pitchFamily="34" charset="0"/>
                <a:ea typeface="Cascadia Code" pitchFamily="34" charset="-122"/>
                <a:cs typeface="Cascadia Code" pitchFamily="34" charset="-120"/>
              </a:rPr>
              <a:t>04</a:t>
            </a:r>
            <a:endParaRPr lang="en-US" sz="900" dirty="0"/>
          </a:p>
        </p:txBody>
      </p:sp>
      <p:sp>
        <p:nvSpPr>
          <p:cNvPr id="22" name="Text 20"/>
          <p:cNvSpPr/>
          <p:nvPr/>
        </p:nvSpPr>
        <p:spPr>
          <a:xfrm>
            <a:off x="8842248" y="1234440"/>
            <a:ext cx="2423160" cy="384048"/>
          </a:xfrm>
          <a:prstGeom prst="rect">
            <a:avLst/>
          </a:prstGeom>
          <a:noFill/>
          <a:ln/>
        </p:spPr>
        <p:txBody>
          <a:bodyPr wrap="square" rtlCol="0" anchor="ctr"/>
          <a:lstStyle/>
          <a:p>
            <a:pPr marL="0" indent="0">
              <a:buNone/>
            </a:pPr>
            <a:r>
              <a:rPr lang="en-US" sz="1200" b="1" dirty="0">
                <a:solidFill>
                  <a:srgbClr val="1A3A5C"/>
                </a:solidFill>
                <a:latin typeface="Segoe UI" pitchFamily="34" charset="0"/>
                <a:ea typeface="Segoe UI" pitchFamily="34" charset="-122"/>
                <a:cs typeface="Segoe UI" pitchFamily="34" charset="-120"/>
              </a:rPr>
              <a:t>Measure trust, don’t grant it</a:t>
            </a:r>
            <a:endParaRPr lang="en-US" sz="1200" dirty="0"/>
          </a:p>
        </p:txBody>
      </p:sp>
      <p:sp>
        <p:nvSpPr>
          <p:cNvPr id="23" name="Text 21"/>
          <p:cNvSpPr/>
          <p:nvPr/>
        </p:nvSpPr>
        <p:spPr>
          <a:xfrm>
            <a:off x="8842248" y="1627632"/>
            <a:ext cx="2423160" cy="822960"/>
          </a:xfrm>
          <a:prstGeom prst="rect">
            <a:avLst/>
          </a:prstGeom>
          <a:noFill/>
          <a:ln/>
        </p:spPr>
        <p:txBody>
          <a:bodyPr wrap="square" rtlCol="0" anchor="ctr"/>
          <a:lstStyle/>
          <a:p>
            <a:pPr marL="0" indent="0">
              <a:buNone/>
            </a:pPr>
            <a:r>
              <a:rPr lang="en-US" sz="1000" dirty="0">
                <a:solidFill>
                  <a:srgbClr val="636E72"/>
                </a:solidFill>
                <a:latin typeface="Segoe UI" pitchFamily="34" charset="0"/>
                <a:ea typeface="Segoe UI" pitchFamily="34" charset="-122"/>
                <a:cs typeface="Segoe UI" pitchFamily="34" charset="-120"/>
              </a:rPr>
              <a:t>You don’t grant autonomy — you measure accuracy and earn it.</a:t>
            </a:r>
            <a:endParaRPr lang="en-US" sz="1000" dirty="0"/>
          </a:p>
        </p:txBody>
      </p:sp>
      <p:sp>
        <p:nvSpPr>
          <p:cNvPr id="24" name="Text 22"/>
          <p:cNvSpPr/>
          <p:nvPr/>
        </p:nvSpPr>
        <p:spPr>
          <a:xfrm>
            <a:off x="8842248" y="2487168"/>
            <a:ext cx="2423160" cy="201168"/>
          </a:xfrm>
          <a:prstGeom prst="rect">
            <a:avLst/>
          </a:prstGeom>
          <a:noFill/>
          <a:ln/>
        </p:spPr>
        <p:txBody>
          <a:bodyPr wrap="square" rtlCol="0" anchor="ctr"/>
          <a:lstStyle/>
          <a:p>
            <a:pPr marL="0" indent="0">
              <a:buNone/>
            </a:pPr>
            <a:r>
              <a:rPr lang="en-US" sz="800" dirty="0">
                <a:solidFill>
                  <a:srgbClr val="636E72"/>
                </a:solidFill>
                <a:latin typeface="Cascadia Code" pitchFamily="34" charset="0"/>
                <a:ea typeface="Cascadia Code" pitchFamily="34" charset="-122"/>
                <a:cs typeface="Cascadia Code" pitchFamily="34" charset="-120"/>
              </a:rPr>
              <a:t>ADR 0011</a:t>
            </a:r>
            <a:endParaRPr lang="en-US" sz="800" dirty="0"/>
          </a:p>
        </p:txBody>
      </p:sp>
      <p:sp>
        <p:nvSpPr>
          <p:cNvPr id="25" name="Shape 23"/>
          <p:cNvSpPr/>
          <p:nvPr/>
        </p:nvSpPr>
        <p:spPr>
          <a:xfrm>
            <a:off x="365760" y="2880360"/>
            <a:ext cx="2651760" cy="1828800"/>
          </a:xfrm>
          <a:prstGeom prst="roundRect">
            <a:avLst>
              <a:gd name="adj" fmla="val 5000"/>
            </a:avLst>
          </a:prstGeom>
          <a:solidFill>
            <a:srgbClr val="FFFFFF"/>
          </a:solidFill>
          <a:ln w="12700">
            <a:solidFill>
              <a:srgbClr val="DFE6E9"/>
            </a:solidFill>
            <a:prstDash val="solid"/>
          </a:ln>
        </p:spPr>
        <p:txBody>
          <a:bodyPr/>
          <a:lstStyle/>
          <a:p>
            <a:endParaRPr lang="en-US"/>
          </a:p>
        </p:txBody>
      </p:sp>
      <p:sp>
        <p:nvSpPr>
          <p:cNvPr id="26" name="Text 24"/>
          <p:cNvSpPr/>
          <p:nvPr/>
        </p:nvSpPr>
        <p:spPr>
          <a:xfrm>
            <a:off x="475488" y="2971800"/>
            <a:ext cx="2423160" cy="228600"/>
          </a:xfrm>
          <a:prstGeom prst="rect">
            <a:avLst/>
          </a:prstGeom>
          <a:noFill/>
          <a:ln/>
        </p:spPr>
        <p:txBody>
          <a:bodyPr wrap="square" rtlCol="0" anchor="ctr"/>
          <a:lstStyle/>
          <a:p>
            <a:pPr marL="0" indent="0">
              <a:buNone/>
            </a:pPr>
            <a:r>
              <a:rPr lang="en-US" sz="900" b="1" dirty="0">
                <a:solidFill>
                  <a:srgbClr val="C8A951"/>
                </a:solidFill>
                <a:latin typeface="Cascadia Code" pitchFamily="34" charset="0"/>
                <a:ea typeface="Cascadia Code" pitchFamily="34" charset="-122"/>
                <a:cs typeface="Cascadia Code" pitchFamily="34" charset="-120"/>
              </a:rPr>
              <a:t>05</a:t>
            </a:r>
            <a:endParaRPr lang="en-US" sz="900" dirty="0"/>
          </a:p>
        </p:txBody>
      </p:sp>
      <p:sp>
        <p:nvSpPr>
          <p:cNvPr id="27" name="Text 25"/>
          <p:cNvSpPr/>
          <p:nvPr/>
        </p:nvSpPr>
        <p:spPr>
          <a:xfrm>
            <a:off x="475488" y="3200400"/>
            <a:ext cx="2423160" cy="384048"/>
          </a:xfrm>
          <a:prstGeom prst="rect">
            <a:avLst/>
          </a:prstGeom>
          <a:noFill/>
          <a:ln/>
        </p:spPr>
        <p:txBody>
          <a:bodyPr wrap="square" rtlCol="0" anchor="ctr"/>
          <a:lstStyle/>
          <a:p>
            <a:pPr marL="0" indent="0">
              <a:buNone/>
            </a:pPr>
            <a:r>
              <a:rPr lang="en-US" sz="1200" b="1" dirty="0">
                <a:solidFill>
                  <a:srgbClr val="1A3A5C"/>
                </a:solidFill>
                <a:latin typeface="Segoe UI" pitchFamily="34" charset="0"/>
                <a:ea typeface="Segoe UI" pitchFamily="34" charset="-122"/>
                <a:cs typeface="Segoe UI" pitchFamily="34" charset="-120"/>
              </a:rPr>
              <a:t>Deterministic where possible</a:t>
            </a:r>
            <a:endParaRPr lang="en-US" sz="1200" dirty="0"/>
          </a:p>
        </p:txBody>
      </p:sp>
      <p:sp>
        <p:nvSpPr>
          <p:cNvPr id="28" name="Text 26"/>
          <p:cNvSpPr/>
          <p:nvPr/>
        </p:nvSpPr>
        <p:spPr>
          <a:xfrm>
            <a:off x="475488" y="3593592"/>
            <a:ext cx="2423160" cy="822960"/>
          </a:xfrm>
          <a:prstGeom prst="rect">
            <a:avLst/>
          </a:prstGeom>
          <a:noFill/>
          <a:ln/>
        </p:spPr>
        <p:txBody>
          <a:bodyPr wrap="square" rtlCol="0" anchor="ctr"/>
          <a:lstStyle/>
          <a:p>
            <a:pPr marL="0" indent="0">
              <a:buNone/>
            </a:pPr>
            <a:r>
              <a:rPr lang="en-US" sz="1000" dirty="0">
                <a:solidFill>
                  <a:srgbClr val="636E72"/>
                </a:solidFill>
                <a:latin typeface="Segoe UI" pitchFamily="34" charset="0"/>
                <a:ea typeface="Segoe UI" pitchFamily="34" charset="-122"/>
                <a:cs typeface="Segoe UI" pitchFamily="34" charset="-120"/>
              </a:rPr>
              <a:t>What a parser can know, a parser should know. Reserve judgment for the ambiguous.</a:t>
            </a:r>
            <a:endParaRPr lang="en-US" sz="1000" dirty="0"/>
          </a:p>
        </p:txBody>
      </p:sp>
      <p:sp>
        <p:nvSpPr>
          <p:cNvPr id="29" name="Text 27"/>
          <p:cNvSpPr/>
          <p:nvPr/>
        </p:nvSpPr>
        <p:spPr>
          <a:xfrm>
            <a:off x="475488" y="4453128"/>
            <a:ext cx="2423160" cy="201168"/>
          </a:xfrm>
          <a:prstGeom prst="rect">
            <a:avLst/>
          </a:prstGeom>
          <a:noFill/>
          <a:ln/>
        </p:spPr>
        <p:txBody>
          <a:bodyPr wrap="square" rtlCol="0" anchor="ctr"/>
          <a:lstStyle/>
          <a:p>
            <a:pPr marL="0" indent="0">
              <a:buNone/>
            </a:pPr>
            <a:r>
              <a:rPr lang="en-US" sz="800" dirty="0">
                <a:solidFill>
                  <a:srgbClr val="636E72"/>
                </a:solidFill>
                <a:latin typeface="Cascadia Code" pitchFamily="34" charset="0"/>
                <a:ea typeface="Cascadia Code" pitchFamily="34" charset="-122"/>
                <a:cs typeface="Cascadia Code" pitchFamily="34" charset="-120"/>
              </a:rPr>
              <a:t>ADR 0041</a:t>
            </a:r>
            <a:endParaRPr lang="en-US" sz="800" dirty="0"/>
          </a:p>
        </p:txBody>
      </p:sp>
      <p:sp>
        <p:nvSpPr>
          <p:cNvPr id="30" name="Shape 28"/>
          <p:cNvSpPr/>
          <p:nvPr/>
        </p:nvSpPr>
        <p:spPr>
          <a:xfrm>
            <a:off x="3154680" y="2880360"/>
            <a:ext cx="2651760" cy="1828800"/>
          </a:xfrm>
          <a:prstGeom prst="roundRect">
            <a:avLst>
              <a:gd name="adj" fmla="val 5000"/>
            </a:avLst>
          </a:prstGeom>
          <a:solidFill>
            <a:srgbClr val="FFFFFF"/>
          </a:solidFill>
          <a:ln w="12700">
            <a:solidFill>
              <a:srgbClr val="DFE6E9"/>
            </a:solidFill>
            <a:prstDash val="solid"/>
          </a:ln>
        </p:spPr>
        <p:txBody>
          <a:bodyPr/>
          <a:lstStyle/>
          <a:p>
            <a:endParaRPr lang="en-US"/>
          </a:p>
        </p:txBody>
      </p:sp>
      <p:sp>
        <p:nvSpPr>
          <p:cNvPr id="31" name="Text 29"/>
          <p:cNvSpPr/>
          <p:nvPr/>
        </p:nvSpPr>
        <p:spPr>
          <a:xfrm>
            <a:off x="3264408" y="2971800"/>
            <a:ext cx="2423160" cy="228600"/>
          </a:xfrm>
          <a:prstGeom prst="rect">
            <a:avLst/>
          </a:prstGeom>
          <a:noFill/>
          <a:ln/>
        </p:spPr>
        <p:txBody>
          <a:bodyPr wrap="square" rtlCol="0" anchor="ctr"/>
          <a:lstStyle/>
          <a:p>
            <a:pPr marL="0" indent="0">
              <a:buNone/>
            </a:pPr>
            <a:r>
              <a:rPr lang="en-US" sz="900" b="1" dirty="0">
                <a:solidFill>
                  <a:srgbClr val="C8A951"/>
                </a:solidFill>
                <a:latin typeface="Cascadia Code" pitchFamily="34" charset="0"/>
                <a:ea typeface="Cascadia Code" pitchFamily="34" charset="-122"/>
                <a:cs typeface="Cascadia Code" pitchFamily="34" charset="-120"/>
              </a:rPr>
              <a:t>06</a:t>
            </a:r>
            <a:endParaRPr lang="en-US" sz="900" dirty="0"/>
          </a:p>
        </p:txBody>
      </p:sp>
      <p:sp>
        <p:nvSpPr>
          <p:cNvPr id="32" name="Text 30"/>
          <p:cNvSpPr/>
          <p:nvPr/>
        </p:nvSpPr>
        <p:spPr>
          <a:xfrm>
            <a:off x="3264408" y="3200400"/>
            <a:ext cx="2423160" cy="384048"/>
          </a:xfrm>
          <a:prstGeom prst="rect">
            <a:avLst/>
          </a:prstGeom>
          <a:noFill/>
          <a:ln/>
        </p:spPr>
        <p:txBody>
          <a:bodyPr wrap="square" rtlCol="0" anchor="ctr"/>
          <a:lstStyle/>
          <a:p>
            <a:pPr marL="0" indent="0">
              <a:buNone/>
            </a:pPr>
            <a:r>
              <a:rPr lang="en-US" sz="1200" b="1" dirty="0">
                <a:solidFill>
                  <a:srgbClr val="1A3A5C"/>
                </a:solidFill>
                <a:latin typeface="Segoe UI" pitchFamily="34" charset="0"/>
                <a:ea typeface="Segoe UI" pitchFamily="34" charset="-122"/>
                <a:cs typeface="Segoe UI" pitchFamily="34" charset="-120"/>
              </a:rPr>
              <a:t>Friction is multiplicative</a:t>
            </a:r>
            <a:endParaRPr lang="en-US" sz="1200" dirty="0"/>
          </a:p>
        </p:txBody>
      </p:sp>
      <p:sp>
        <p:nvSpPr>
          <p:cNvPr id="33" name="Text 31"/>
          <p:cNvSpPr/>
          <p:nvPr/>
        </p:nvSpPr>
        <p:spPr>
          <a:xfrm>
            <a:off x="3264408" y="3593592"/>
            <a:ext cx="2423160" cy="822960"/>
          </a:xfrm>
          <a:prstGeom prst="rect">
            <a:avLst/>
          </a:prstGeom>
          <a:noFill/>
          <a:ln/>
        </p:spPr>
        <p:txBody>
          <a:bodyPr wrap="square" rtlCol="0" anchor="ctr"/>
          <a:lstStyle/>
          <a:p>
            <a:pPr marL="0" indent="0">
              <a:buNone/>
            </a:pPr>
            <a:r>
              <a:rPr lang="en-US" sz="1000" dirty="0">
                <a:solidFill>
                  <a:srgbClr val="636E72"/>
                </a:solidFill>
                <a:latin typeface="Segoe UI" pitchFamily="34" charset="0"/>
                <a:ea typeface="Segoe UI" pitchFamily="34" charset="-122"/>
                <a:cs typeface="Segoe UI" pitchFamily="34" charset="-120"/>
              </a:rPr>
              <a:t>Small UX wins compound across 50+ sessions a month. Auditable exceptions beat gatekeeping.</a:t>
            </a:r>
            <a:endParaRPr lang="en-US" sz="1000" dirty="0"/>
          </a:p>
        </p:txBody>
      </p:sp>
      <p:sp>
        <p:nvSpPr>
          <p:cNvPr id="34" name="Text 32"/>
          <p:cNvSpPr/>
          <p:nvPr/>
        </p:nvSpPr>
        <p:spPr>
          <a:xfrm>
            <a:off x="3264408" y="4453128"/>
            <a:ext cx="2423160" cy="201168"/>
          </a:xfrm>
          <a:prstGeom prst="rect">
            <a:avLst/>
          </a:prstGeom>
          <a:noFill/>
          <a:ln/>
        </p:spPr>
        <p:txBody>
          <a:bodyPr wrap="square" rtlCol="0" anchor="ctr"/>
          <a:lstStyle/>
          <a:p>
            <a:pPr marL="0" indent="0">
              <a:buNone/>
            </a:pPr>
            <a:r>
              <a:rPr lang="en-US" sz="800" dirty="0">
                <a:solidFill>
                  <a:srgbClr val="636E72"/>
                </a:solidFill>
                <a:latin typeface="Cascadia Code" pitchFamily="34" charset="0"/>
                <a:ea typeface="Cascadia Code" pitchFamily="34" charset="-122"/>
                <a:cs typeface="Cascadia Code" pitchFamily="34" charset="-120"/>
              </a:rPr>
              <a:t>ADR 0036</a:t>
            </a:r>
            <a:endParaRPr lang="en-US" sz="800" dirty="0"/>
          </a:p>
        </p:txBody>
      </p:sp>
      <p:sp>
        <p:nvSpPr>
          <p:cNvPr id="35" name="Shape 33"/>
          <p:cNvSpPr/>
          <p:nvPr/>
        </p:nvSpPr>
        <p:spPr>
          <a:xfrm>
            <a:off x="5943600" y="2880360"/>
            <a:ext cx="5806440" cy="1828800"/>
          </a:xfrm>
          <a:prstGeom prst="roundRect">
            <a:avLst>
              <a:gd name="adj" fmla="val 5000"/>
            </a:avLst>
          </a:prstGeom>
          <a:solidFill>
            <a:srgbClr val="FFFFFF"/>
          </a:solidFill>
          <a:ln w="12700">
            <a:solidFill>
              <a:srgbClr val="DFE6E9"/>
            </a:solidFill>
            <a:prstDash val="solid"/>
          </a:ln>
        </p:spPr>
        <p:txBody>
          <a:bodyPr/>
          <a:lstStyle/>
          <a:p>
            <a:endParaRPr lang="en-US"/>
          </a:p>
        </p:txBody>
      </p:sp>
      <p:sp>
        <p:nvSpPr>
          <p:cNvPr id="36" name="Text 34"/>
          <p:cNvSpPr/>
          <p:nvPr/>
        </p:nvSpPr>
        <p:spPr>
          <a:xfrm>
            <a:off x="6053328" y="2971800"/>
            <a:ext cx="5577840" cy="228600"/>
          </a:xfrm>
          <a:prstGeom prst="rect">
            <a:avLst/>
          </a:prstGeom>
          <a:noFill/>
          <a:ln/>
        </p:spPr>
        <p:txBody>
          <a:bodyPr wrap="square" rtlCol="0" anchor="ctr"/>
          <a:lstStyle/>
          <a:p>
            <a:pPr marL="0" indent="0">
              <a:buNone/>
            </a:pPr>
            <a:r>
              <a:rPr lang="en-US" sz="900" b="1" dirty="0">
                <a:solidFill>
                  <a:srgbClr val="C8A951"/>
                </a:solidFill>
                <a:latin typeface="Cascadia Code" pitchFamily="34" charset="0"/>
                <a:ea typeface="Cascadia Code" pitchFamily="34" charset="-122"/>
                <a:cs typeface="Cascadia Code" pitchFamily="34" charset="-120"/>
              </a:rPr>
              <a:t>07</a:t>
            </a:r>
            <a:endParaRPr lang="en-US" sz="900" dirty="0"/>
          </a:p>
        </p:txBody>
      </p:sp>
      <p:sp>
        <p:nvSpPr>
          <p:cNvPr id="37" name="Text 35"/>
          <p:cNvSpPr/>
          <p:nvPr/>
        </p:nvSpPr>
        <p:spPr>
          <a:xfrm>
            <a:off x="6053328" y="3200400"/>
            <a:ext cx="5577840" cy="384048"/>
          </a:xfrm>
          <a:prstGeom prst="rect">
            <a:avLst/>
          </a:prstGeom>
          <a:noFill/>
          <a:ln/>
        </p:spPr>
        <p:txBody>
          <a:bodyPr wrap="square" rtlCol="0" anchor="ctr"/>
          <a:lstStyle/>
          <a:p>
            <a:pPr marL="0" indent="0">
              <a:buNone/>
            </a:pPr>
            <a:r>
              <a:rPr lang="en-US" sz="1200" b="1" dirty="0">
                <a:solidFill>
                  <a:srgbClr val="1A3A5C"/>
                </a:solidFill>
                <a:latin typeface="Segoe UI" pitchFamily="34" charset="0"/>
                <a:ea typeface="Segoe UI" pitchFamily="34" charset="-122"/>
                <a:cs typeface="Segoe UI" pitchFamily="34" charset="-120"/>
              </a:rPr>
              <a:t>Design for deployment reality</a:t>
            </a:r>
            <a:endParaRPr lang="en-US" sz="1200" dirty="0"/>
          </a:p>
        </p:txBody>
      </p:sp>
      <p:sp>
        <p:nvSpPr>
          <p:cNvPr id="38" name="Text 36"/>
          <p:cNvSpPr/>
          <p:nvPr/>
        </p:nvSpPr>
        <p:spPr>
          <a:xfrm>
            <a:off x="6053328" y="3593592"/>
            <a:ext cx="5577840" cy="822960"/>
          </a:xfrm>
          <a:prstGeom prst="rect">
            <a:avLst/>
          </a:prstGeom>
          <a:noFill/>
          <a:ln/>
        </p:spPr>
        <p:txBody>
          <a:bodyPr wrap="square" rtlCol="0" anchor="ctr"/>
          <a:lstStyle/>
          <a:p>
            <a:pPr marL="0" indent="0">
              <a:buNone/>
            </a:pPr>
            <a:r>
              <a:rPr lang="en-US" sz="1000" dirty="0">
                <a:solidFill>
                  <a:srgbClr val="636E72"/>
                </a:solidFill>
                <a:latin typeface="Segoe UI" pitchFamily="34" charset="0"/>
                <a:ea typeface="Segoe UI" pitchFamily="34" charset="-122"/>
                <a:cs typeface="Segoe UI" pitchFamily="34" charset="-120"/>
              </a:rPr>
              <a:t>The org never runs the plugin in CI. Design around that; surface the gap honestly.</a:t>
            </a:r>
            <a:endParaRPr lang="en-US" sz="1000" dirty="0"/>
          </a:p>
        </p:txBody>
      </p:sp>
      <p:sp>
        <p:nvSpPr>
          <p:cNvPr id="39" name="Text 37"/>
          <p:cNvSpPr/>
          <p:nvPr/>
        </p:nvSpPr>
        <p:spPr>
          <a:xfrm>
            <a:off x="6053328" y="4453128"/>
            <a:ext cx="5577840" cy="201168"/>
          </a:xfrm>
          <a:prstGeom prst="rect">
            <a:avLst/>
          </a:prstGeom>
          <a:noFill/>
          <a:ln/>
        </p:spPr>
        <p:txBody>
          <a:bodyPr wrap="square" rtlCol="0" anchor="ctr"/>
          <a:lstStyle/>
          <a:p>
            <a:pPr marL="0" indent="0">
              <a:buNone/>
            </a:pPr>
            <a:r>
              <a:rPr lang="en-US" sz="800" dirty="0">
                <a:solidFill>
                  <a:srgbClr val="636E72"/>
                </a:solidFill>
                <a:latin typeface="Cascadia Code" pitchFamily="34" charset="0"/>
                <a:ea typeface="Cascadia Code" pitchFamily="34" charset="-122"/>
                <a:cs typeface="Cascadia Code" pitchFamily="34" charset="-120"/>
              </a:rPr>
              <a:t>ADR 0010</a:t>
            </a:r>
            <a:endParaRPr lang="en-US" sz="800" dirty="0"/>
          </a:p>
        </p:txBody>
      </p:sp>
      <p:sp>
        <p:nvSpPr>
          <p:cNvPr id="40" name="Text 38"/>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43 / 45</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prstGeom>
          <a:solidFill>
            <a:srgbClr val="C8A951"/>
          </a:solidFill>
          <a:ln w="12700">
            <a:solidFill>
              <a:srgbClr val="C8A951"/>
            </a:solidFill>
            <a:prstDash val="solid"/>
          </a:ln>
        </p:spPr>
        <p:txBody>
          <a:bodyPr/>
          <a:lstStyle/>
          <a:p>
            <a:endParaRPr lang="en-US"/>
          </a:p>
        </p:txBody>
      </p:sp>
      <p:sp>
        <p:nvSpPr>
          <p:cNvPr id="3" name="Text 1"/>
          <p:cNvSpPr/>
          <p:nvPr/>
        </p:nvSpPr>
        <p:spPr>
          <a:xfrm>
            <a:off x="685800" y="292608"/>
            <a:ext cx="10972800" cy="347472"/>
          </a:xfrm>
          <a:prstGeom prst="rect">
            <a:avLst/>
          </a:prstGeom>
          <a:noFill/>
          <a:ln/>
        </p:spPr>
        <p:txBody>
          <a:bodyPr wrap="square" rtlCol="0" anchor="ctr"/>
          <a:lstStyle/>
          <a:p>
            <a:pPr marL="0" indent="0">
              <a:buNone/>
            </a:pPr>
            <a:r>
              <a:rPr lang="en-US" sz="2200" b="1" dirty="0">
                <a:solidFill>
                  <a:srgbClr val="1A3A5C"/>
                </a:solidFill>
                <a:latin typeface="Segoe UI" pitchFamily="34" charset="0"/>
                <a:ea typeface="Segoe UI" pitchFamily="34" charset="-122"/>
                <a:cs typeface="Segoe UI" pitchFamily="34" charset="-120"/>
              </a:rPr>
              <a:t>Five walls, climbed — your five responsibilities, answered</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txBody>
          <a:bodyPr/>
          <a:lstStyle/>
          <a:p>
            <a:endParaRPr lang="en-US"/>
          </a:p>
        </p:txBody>
      </p:sp>
      <p:sp>
        <p:nvSpPr>
          <p:cNvPr id="5" name="Shape 3"/>
          <p:cNvSpPr/>
          <p:nvPr/>
        </p:nvSpPr>
        <p:spPr>
          <a:xfrm>
            <a:off x="457200" y="1051560"/>
            <a:ext cx="3383280" cy="804672"/>
          </a:xfrm>
          <a:prstGeom prst="roundRect">
            <a:avLst>
              <a:gd name="adj" fmla="val 9091"/>
            </a:avLst>
          </a:prstGeom>
          <a:solidFill>
            <a:srgbClr val="F4F7FA"/>
          </a:solidFill>
          <a:ln w="12700">
            <a:solidFill>
              <a:srgbClr val="DFE6E9"/>
            </a:solidFill>
            <a:prstDash val="solid"/>
          </a:ln>
        </p:spPr>
        <p:txBody>
          <a:bodyPr/>
          <a:lstStyle/>
          <a:p>
            <a:endParaRPr lang="en-US"/>
          </a:p>
        </p:txBody>
      </p:sp>
      <p:sp>
        <p:nvSpPr>
          <p:cNvPr id="6" name="Text 4"/>
          <p:cNvSpPr/>
          <p:nvPr/>
        </p:nvSpPr>
        <p:spPr>
          <a:xfrm>
            <a:off x="594360" y="1051560"/>
            <a:ext cx="3108960" cy="804672"/>
          </a:xfrm>
          <a:prstGeom prst="rect">
            <a:avLst/>
          </a:prstGeom>
          <a:noFill/>
          <a:ln/>
        </p:spPr>
        <p:txBody>
          <a:bodyPr wrap="square" rtlCol="0" anchor="ctr"/>
          <a:lstStyle/>
          <a:p>
            <a:pPr marL="0" indent="0">
              <a:buNone/>
            </a:pPr>
            <a:r>
              <a:rPr lang="en-US" sz="1200" b="1" dirty="0">
                <a:solidFill>
                  <a:srgbClr val="1A3A5C"/>
                </a:solidFill>
                <a:latin typeface="Segoe UI" pitchFamily="34" charset="0"/>
                <a:ea typeface="Segoe UI" pitchFamily="34" charset="-122"/>
                <a:cs typeface="Segoe UI" pitchFamily="34" charset="-120"/>
              </a:rPr>
              <a:t>Own the intent (BA hat)</a:t>
            </a:r>
            <a:endParaRPr lang="en-US" sz="1200" dirty="0"/>
          </a:p>
        </p:txBody>
      </p:sp>
      <p:sp>
        <p:nvSpPr>
          <p:cNvPr id="7" name="Text 5"/>
          <p:cNvSpPr/>
          <p:nvPr/>
        </p:nvSpPr>
        <p:spPr>
          <a:xfrm>
            <a:off x="3886200" y="1051560"/>
            <a:ext cx="457200" cy="804672"/>
          </a:xfrm>
          <a:prstGeom prst="rect">
            <a:avLst/>
          </a:prstGeom>
          <a:noFill/>
          <a:ln/>
        </p:spPr>
        <p:txBody>
          <a:bodyPr wrap="square" rtlCol="0" anchor="ctr"/>
          <a:lstStyle/>
          <a:p>
            <a:pPr marL="0" indent="0" algn="ctr">
              <a:buNone/>
            </a:pPr>
            <a:r>
              <a:rPr lang="en-US" sz="1600" b="1" dirty="0">
                <a:solidFill>
                  <a:srgbClr val="C8A951"/>
                </a:solidFill>
                <a:latin typeface="Segoe UI" pitchFamily="34" charset="0"/>
                <a:ea typeface="Segoe UI" pitchFamily="34" charset="-122"/>
                <a:cs typeface="Segoe UI" pitchFamily="34" charset="-120"/>
              </a:rPr>
              <a:t>→</a:t>
            </a:r>
            <a:endParaRPr lang="en-US" sz="1600" dirty="0"/>
          </a:p>
        </p:txBody>
      </p:sp>
      <p:sp>
        <p:nvSpPr>
          <p:cNvPr id="8" name="Shape 6"/>
          <p:cNvSpPr/>
          <p:nvPr/>
        </p:nvSpPr>
        <p:spPr>
          <a:xfrm>
            <a:off x="4389120" y="1051560"/>
            <a:ext cx="2743200" cy="804672"/>
          </a:xfrm>
          <a:prstGeom prst="roundRect">
            <a:avLst>
              <a:gd name="adj" fmla="val 9091"/>
            </a:avLst>
          </a:prstGeom>
          <a:solidFill>
            <a:srgbClr val="1A3A5C"/>
          </a:solidFill>
          <a:ln w="12700">
            <a:solidFill>
              <a:srgbClr val="1A3A5C"/>
            </a:solidFill>
            <a:prstDash val="solid"/>
          </a:ln>
        </p:spPr>
        <p:txBody>
          <a:bodyPr/>
          <a:lstStyle/>
          <a:p>
            <a:endParaRPr lang="en-US"/>
          </a:p>
        </p:txBody>
      </p:sp>
      <p:sp>
        <p:nvSpPr>
          <p:cNvPr id="9" name="Text 7"/>
          <p:cNvSpPr/>
          <p:nvPr/>
        </p:nvSpPr>
        <p:spPr>
          <a:xfrm>
            <a:off x="4480560" y="1051560"/>
            <a:ext cx="2560320" cy="80467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Act I · Spec</a:t>
            </a:r>
            <a:endParaRPr lang="en-US" sz="1100" dirty="0"/>
          </a:p>
        </p:txBody>
      </p:sp>
      <p:sp>
        <p:nvSpPr>
          <p:cNvPr id="10" name="Text 8"/>
          <p:cNvSpPr/>
          <p:nvPr/>
        </p:nvSpPr>
        <p:spPr>
          <a:xfrm>
            <a:off x="7315200" y="1051560"/>
            <a:ext cx="4389120" cy="804672"/>
          </a:xfrm>
          <a:prstGeom prst="rect">
            <a:avLst/>
          </a:prstGeom>
          <a:noFill/>
          <a:ln/>
        </p:spPr>
        <p:txBody>
          <a:bodyPr wrap="square" rtlCol="0" anchor="ctr"/>
          <a:lstStyle/>
          <a:p>
            <a:pPr marL="0" indent="0">
              <a:buNone/>
            </a:pPr>
            <a:r>
              <a:rPr lang="en-US" sz="1100" dirty="0">
                <a:solidFill>
                  <a:srgbClr val="636E72"/>
                </a:solidFill>
                <a:latin typeface="Segoe UI" pitchFamily="34" charset="0"/>
                <a:ea typeface="Segoe UI" pitchFamily="34" charset="-122"/>
                <a:cs typeface="Segoe UI" pitchFamily="34" charset="-120"/>
              </a:rPr>
              <a:t>ICEA gate makes it the path of least resistance</a:t>
            </a:r>
            <a:endParaRPr lang="en-US" sz="1100" dirty="0"/>
          </a:p>
        </p:txBody>
      </p:sp>
      <p:sp>
        <p:nvSpPr>
          <p:cNvPr id="11" name="Shape 9"/>
          <p:cNvSpPr/>
          <p:nvPr/>
        </p:nvSpPr>
        <p:spPr>
          <a:xfrm>
            <a:off x="457200" y="1984248"/>
            <a:ext cx="3383280" cy="804672"/>
          </a:xfrm>
          <a:prstGeom prst="roundRect">
            <a:avLst>
              <a:gd name="adj" fmla="val 9091"/>
            </a:avLst>
          </a:prstGeom>
          <a:solidFill>
            <a:srgbClr val="F4F7FA"/>
          </a:solidFill>
          <a:ln w="12700">
            <a:solidFill>
              <a:srgbClr val="DFE6E9"/>
            </a:solidFill>
            <a:prstDash val="solid"/>
          </a:ln>
        </p:spPr>
        <p:txBody>
          <a:bodyPr/>
          <a:lstStyle/>
          <a:p>
            <a:endParaRPr lang="en-US"/>
          </a:p>
        </p:txBody>
      </p:sp>
      <p:sp>
        <p:nvSpPr>
          <p:cNvPr id="12" name="Text 10"/>
          <p:cNvSpPr/>
          <p:nvPr/>
        </p:nvSpPr>
        <p:spPr>
          <a:xfrm>
            <a:off x="594360" y="1984248"/>
            <a:ext cx="3108960" cy="804672"/>
          </a:xfrm>
          <a:prstGeom prst="rect">
            <a:avLst/>
          </a:prstGeom>
          <a:noFill/>
          <a:ln/>
        </p:spPr>
        <p:txBody>
          <a:bodyPr wrap="square" rtlCol="0" anchor="ctr"/>
          <a:lstStyle/>
          <a:p>
            <a:pPr marL="0" indent="0">
              <a:buNone/>
            </a:pPr>
            <a:r>
              <a:rPr lang="en-US" sz="1200" b="1" dirty="0">
                <a:solidFill>
                  <a:srgbClr val="1A3A5C"/>
                </a:solidFill>
                <a:latin typeface="Segoe UI" pitchFamily="34" charset="0"/>
                <a:ea typeface="Segoe UI" pitchFamily="34" charset="-122"/>
                <a:cs typeface="Segoe UI" pitchFamily="34" charset="-120"/>
              </a:rPr>
              <a:t>Review the AI’s judgment</a:t>
            </a:r>
            <a:endParaRPr lang="en-US" sz="1200" dirty="0"/>
          </a:p>
        </p:txBody>
      </p:sp>
      <p:sp>
        <p:nvSpPr>
          <p:cNvPr id="13" name="Text 11"/>
          <p:cNvSpPr/>
          <p:nvPr/>
        </p:nvSpPr>
        <p:spPr>
          <a:xfrm>
            <a:off x="3886200" y="1984248"/>
            <a:ext cx="457200" cy="804672"/>
          </a:xfrm>
          <a:prstGeom prst="rect">
            <a:avLst/>
          </a:prstGeom>
          <a:noFill/>
          <a:ln/>
        </p:spPr>
        <p:txBody>
          <a:bodyPr wrap="square" rtlCol="0" anchor="ctr"/>
          <a:lstStyle/>
          <a:p>
            <a:pPr marL="0" indent="0" algn="ctr">
              <a:buNone/>
            </a:pPr>
            <a:r>
              <a:rPr lang="en-US" sz="1600" b="1" dirty="0">
                <a:solidFill>
                  <a:srgbClr val="C8A951"/>
                </a:solidFill>
                <a:latin typeface="Segoe UI" pitchFamily="34" charset="0"/>
                <a:ea typeface="Segoe UI" pitchFamily="34" charset="-122"/>
                <a:cs typeface="Segoe UI" pitchFamily="34" charset="-120"/>
              </a:rPr>
              <a:t>→</a:t>
            </a:r>
            <a:endParaRPr lang="en-US" sz="1600" dirty="0"/>
          </a:p>
        </p:txBody>
      </p:sp>
      <p:sp>
        <p:nvSpPr>
          <p:cNvPr id="14" name="Shape 12"/>
          <p:cNvSpPr/>
          <p:nvPr/>
        </p:nvSpPr>
        <p:spPr>
          <a:xfrm>
            <a:off x="4389120" y="1984248"/>
            <a:ext cx="2743200" cy="804672"/>
          </a:xfrm>
          <a:prstGeom prst="roundRect">
            <a:avLst>
              <a:gd name="adj" fmla="val 9091"/>
            </a:avLst>
          </a:prstGeom>
          <a:solidFill>
            <a:srgbClr val="1A3A5C"/>
          </a:solidFill>
          <a:ln w="12700">
            <a:solidFill>
              <a:srgbClr val="1A3A5C"/>
            </a:solidFill>
            <a:prstDash val="solid"/>
          </a:ln>
        </p:spPr>
        <p:txBody>
          <a:bodyPr/>
          <a:lstStyle/>
          <a:p>
            <a:endParaRPr lang="en-US"/>
          </a:p>
        </p:txBody>
      </p:sp>
      <p:sp>
        <p:nvSpPr>
          <p:cNvPr id="15" name="Text 13"/>
          <p:cNvSpPr/>
          <p:nvPr/>
        </p:nvSpPr>
        <p:spPr>
          <a:xfrm>
            <a:off x="4480560" y="1984248"/>
            <a:ext cx="2560320" cy="80467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Act II · Trust</a:t>
            </a:r>
            <a:endParaRPr lang="en-US" sz="1100" dirty="0"/>
          </a:p>
        </p:txBody>
      </p:sp>
      <p:sp>
        <p:nvSpPr>
          <p:cNvPr id="16" name="Text 14"/>
          <p:cNvSpPr/>
          <p:nvPr/>
        </p:nvSpPr>
        <p:spPr>
          <a:xfrm>
            <a:off x="7315200" y="1984248"/>
            <a:ext cx="4389120" cy="804672"/>
          </a:xfrm>
          <a:prstGeom prst="rect">
            <a:avLst/>
          </a:prstGeom>
          <a:noFill/>
          <a:ln/>
        </p:spPr>
        <p:txBody>
          <a:bodyPr wrap="square" rtlCol="0" anchor="ctr"/>
          <a:lstStyle/>
          <a:p>
            <a:pPr marL="0" indent="0">
              <a:buNone/>
            </a:pPr>
            <a:r>
              <a:rPr lang="en-US" sz="1100" dirty="0">
                <a:solidFill>
                  <a:srgbClr val="636E72"/>
                </a:solidFill>
                <a:latin typeface="Segoe UI" pitchFamily="34" charset="0"/>
                <a:ea typeface="Segoe UI" pitchFamily="34" charset="-122"/>
                <a:cs typeface="Segoe UI" pitchFamily="34" charset="-120"/>
              </a:rPr>
              <a:t>The critic — a second opinion when it’s possible</a:t>
            </a:r>
            <a:endParaRPr lang="en-US" sz="1100" dirty="0"/>
          </a:p>
        </p:txBody>
      </p:sp>
      <p:sp>
        <p:nvSpPr>
          <p:cNvPr id="17" name="Shape 15"/>
          <p:cNvSpPr/>
          <p:nvPr/>
        </p:nvSpPr>
        <p:spPr>
          <a:xfrm>
            <a:off x="457200" y="2916936"/>
            <a:ext cx="3383280" cy="804672"/>
          </a:xfrm>
          <a:prstGeom prst="roundRect">
            <a:avLst>
              <a:gd name="adj" fmla="val 9091"/>
            </a:avLst>
          </a:prstGeom>
          <a:solidFill>
            <a:srgbClr val="F4F7FA"/>
          </a:solidFill>
          <a:ln w="12700">
            <a:solidFill>
              <a:srgbClr val="DFE6E9"/>
            </a:solidFill>
            <a:prstDash val="solid"/>
          </a:ln>
        </p:spPr>
        <p:txBody>
          <a:bodyPr/>
          <a:lstStyle/>
          <a:p>
            <a:endParaRPr lang="en-US"/>
          </a:p>
        </p:txBody>
      </p:sp>
      <p:sp>
        <p:nvSpPr>
          <p:cNvPr id="18" name="Text 16"/>
          <p:cNvSpPr/>
          <p:nvPr/>
        </p:nvSpPr>
        <p:spPr>
          <a:xfrm>
            <a:off x="594360" y="2916936"/>
            <a:ext cx="3108960" cy="804672"/>
          </a:xfrm>
          <a:prstGeom prst="rect">
            <a:avLst/>
          </a:prstGeom>
          <a:noFill/>
          <a:ln/>
        </p:spPr>
        <p:txBody>
          <a:bodyPr wrap="square" rtlCol="0" anchor="ctr"/>
          <a:lstStyle/>
          <a:p>
            <a:pPr marL="0" indent="0">
              <a:buNone/>
            </a:pPr>
            <a:r>
              <a:rPr lang="en-US" sz="1200" b="1" dirty="0">
                <a:solidFill>
                  <a:srgbClr val="1A3A5C"/>
                </a:solidFill>
                <a:latin typeface="Segoe UI" pitchFamily="34" charset="0"/>
                <a:ea typeface="Segoe UI" pitchFamily="34" charset="-122"/>
                <a:cs typeface="Segoe UI" pitchFamily="34" charset="-120"/>
              </a:rPr>
              <a:t>Carry decisions forward</a:t>
            </a:r>
            <a:endParaRPr lang="en-US" sz="1200" dirty="0"/>
          </a:p>
        </p:txBody>
      </p:sp>
      <p:sp>
        <p:nvSpPr>
          <p:cNvPr id="19" name="Text 17"/>
          <p:cNvSpPr/>
          <p:nvPr/>
        </p:nvSpPr>
        <p:spPr>
          <a:xfrm>
            <a:off x="3886200" y="2916936"/>
            <a:ext cx="457200" cy="804672"/>
          </a:xfrm>
          <a:prstGeom prst="rect">
            <a:avLst/>
          </a:prstGeom>
          <a:noFill/>
          <a:ln/>
        </p:spPr>
        <p:txBody>
          <a:bodyPr wrap="square" rtlCol="0" anchor="ctr"/>
          <a:lstStyle/>
          <a:p>
            <a:pPr marL="0" indent="0" algn="ctr">
              <a:buNone/>
            </a:pPr>
            <a:r>
              <a:rPr lang="en-US" sz="1600" b="1" dirty="0">
                <a:solidFill>
                  <a:srgbClr val="C8A951"/>
                </a:solidFill>
                <a:latin typeface="Segoe UI" pitchFamily="34" charset="0"/>
                <a:ea typeface="Segoe UI" pitchFamily="34" charset="-122"/>
                <a:cs typeface="Segoe UI" pitchFamily="34" charset="-120"/>
              </a:rPr>
              <a:t>→</a:t>
            </a:r>
            <a:endParaRPr lang="en-US" sz="1600" dirty="0"/>
          </a:p>
        </p:txBody>
      </p:sp>
      <p:sp>
        <p:nvSpPr>
          <p:cNvPr id="20" name="Shape 18"/>
          <p:cNvSpPr/>
          <p:nvPr/>
        </p:nvSpPr>
        <p:spPr>
          <a:xfrm>
            <a:off x="4389120" y="2916936"/>
            <a:ext cx="2743200" cy="804672"/>
          </a:xfrm>
          <a:prstGeom prst="roundRect">
            <a:avLst>
              <a:gd name="adj" fmla="val 9091"/>
            </a:avLst>
          </a:prstGeom>
          <a:solidFill>
            <a:srgbClr val="1A3A5C"/>
          </a:solidFill>
          <a:ln w="12700">
            <a:solidFill>
              <a:srgbClr val="1A3A5C"/>
            </a:solidFill>
            <a:prstDash val="solid"/>
          </a:ln>
        </p:spPr>
        <p:txBody>
          <a:bodyPr/>
          <a:lstStyle/>
          <a:p>
            <a:endParaRPr lang="en-US"/>
          </a:p>
        </p:txBody>
      </p:sp>
      <p:sp>
        <p:nvSpPr>
          <p:cNvPr id="21" name="Text 19"/>
          <p:cNvSpPr/>
          <p:nvPr/>
        </p:nvSpPr>
        <p:spPr>
          <a:xfrm>
            <a:off x="4480560" y="2916936"/>
            <a:ext cx="2560320" cy="80467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Act III + Dream</a:t>
            </a:r>
            <a:endParaRPr lang="en-US" sz="1100" dirty="0"/>
          </a:p>
        </p:txBody>
      </p:sp>
      <p:sp>
        <p:nvSpPr>
          <p:cNvPr id="22" name="Text 20"/>
          <p:cNvSpPr/>
          <p:nvPr/>
        </p:nvSpPr>
        <p:spPr>
          <a:xfrm>
            <a:off x="7315200" y="2916936"/>
            <a:ext cx="4389120" cy="804672"/>
          </a:xfrm>
          <a:prstGeom prst="rect">
            <a:avLst/>
          </a:prstGeom>
          <a:noFill/>
          <a:ln/>
        </p:spPr>
        <p:txBody>
          <a:bodyPr wrap="square" rtlCol="0" anchor="ctr"/>
          <a:lstStyle/>
          <a:p>
            <a:pPr marL="0" indent="0">
              <a:buNone/>
            </a:pPr>
            <a:r>
              <a:rPr lang="en-US" sz="1100" dirty="0">
                <a:solidFill>
                  <a:srgbClr val="636E72"/>
                </a:solidFill>
                <a:latin typeface="Segoe UI" pitchFamily="34" charset="0"/>
                <a:ea typeface="Segoe UI" pitchFamily="34" charset="-122"/>
                <a:cs typeface="Segoe UI" pitchFamily="34" charset="-120"/>
              </a:rPr>
              <a:t>Disk-state &amp; Dream mean they survive</a:t>
            </a:r>
            <a:endParaRPr lang="en-US" sz="1100" dirty="0"/>
          </a:p>
        </p:txBody>
      </p:sp>
      <p:sp>
        <p:nvSpPr>
          <p:cNvPr id="23" name="Shape 21"/>
          <p:cNvSpPr/>
          <p:nvPr/>
        </p:nvSpPr>
        <p:spPr>
          <a:xfrm>
            <a:off x="457200" y="3849624"/>
            <a:ext cx="3383280" cy="804672"/>
          </a:xfrm>
          <a:prstGeom prst="roundRect">
            <a:avLst>
              <a:gd name="adj" fmla="val 9091"/>
            </a:avLst>
          </a:prstGeom>
          <a:solidFill>
            <a:srgbClr val="F4F7FA"/>
          </a:solidFill>
          <a:ln w="12700">
            <a:solidFill>
              <a:srgbClr val="DFE6E9"/>
            </a:solidFill>
            <a:prstDash val="solid"/>
          </a:ln>
        </p:spPr>
        <p:txBody>
          <a:bodyPr/>
          <a:lstStyle/>
          <a:p>
            <a:endParaRPr lang="en-US"/>
          </a:p>
        </p:txBody>
      </p:sp>
      <p:sp>
        <p:nvSpPr>
          <p:cNvPr id="24" name="Text 22"/>
          <p:cNvSpPr/>
          <p:nvPr/>
        </p:nvSpPr>
        <p:spPr>
          <a:xfrm>
            <a:off x="594360" y="3849624"/>
            <a:ext cx="3108960" cy="804672"/>
          </a:xfrm>
          <a:prstGeom prst="rect">
            <a:avLst/>
          </a:prstGeom>
          <a:noFill/>
          <a:ln/>
        </p:spPr>
        <p:txBody>
          <a:bodyPr wrap="square" rtlCol="0" anchor="ctr"/>
          <a:lstStyle/>
          <a:p>
            <a:pPr marL="0" indent="0">
              <a:buNone/>
            </a:pPr>
            <a:r>
              <a:rPr lang="en-US" sz="1200" b="1" dirty="0">
                <a:solidFill>
                  <a:srgbClr val="1A3A5C"/>
                </a:solidFill>
                <a:latin typeface="Segoe UI" pitchFamily="34" charset="0"/>
                <a:ea typeface="Segoe UI" pitchFamily="34" charset="-122"/>
                <a:cs typeface="Segoe UI" pitchFamily="34" charset="-120"/>
              </a:rPr>
              <a:t>Understand the whole system</a:t>
            </a:r>
            <a:endParaRPr lang="en-US" sz="1200" dirty="0"/>
          </a:p>
        </p:txBody>
      </p:sp>
      <p:sp>
        <p:nvSpPr>
          <p:cNvPr id="25" name="Text 23"/>
          <p:cNvSpPr/>
          <p:nvPr/>
        </p:nvSpPr>
        <p:spPr>
          <a:xfrm>
            <a:off x="3886200" y="3849624"/>
            <a:ext cx="457200" cy="804672"/>
          </a:xfrm>
          <a:prstGeom prst="rect">
            <a:avLst/>
          </a:prstGeom>
          <a:noFill/>
          <a:ln/>
        </p:spPr>
        <p:txBody>
          <a:bodyPr wrap="square" rtlCol="0" anchor="ctr"/>
          <a:lstStyle/>
          <a:p>
            <a:pPr marL="0" indent="0" algn="ctr">
              <a:buNone/>
            </a:pPr>
            <a:r>
              <a:rPr lang="en-US" sz="1600" b="1" dirty="0">
                <a:solidFill>
                  <a:srgbClr val="C8A951"/>
                </a:solidFill>
                <a:latin typeface="Segoe UI" pitchFamily="34" charset="0"/>
                <a:ea typeface="Segoe UI" pitchFamily="34" charset="-122"/>
                <a:cs typeface="Segoe UI" pitchFamily="34" charset="-120"/>
              </a:rPr>
              <a:t>→</a:t>
            </a:r>
            <a:endParaRPr lang="en-US" sz="1600" dirty="0"/>
          </a:p>
        </p:txBody>
      </p:sp>
      <p:sp>
        <p:nvSpPr>
          <p:cNvPr id="26" name="Shape 24"/>
          <p:cNvSpPr/>
          <p:nvPr/>
        </p:nvSpPr>
        <p:spPr>
          <a:xfrm>
            <a:off x="4389120" y="3849624"/>
            <a:ext cx="2743200" cy="804672"/>
          </a:xfrm>
          <a:prstGeom prst="roundRect">
            <a:avLst>
              <a:gd name="adj" fmla="val 9091"/>
            </a:avLst>
          </a:prstGeom>
          <a:solidFill>
            <a:srgbClr val="1A3A5C"/>
          </a:solidFill>
          <a:ln w="12700">
            <a:solidFill>
              <a:srgbClr val="1A3A5C"/>
            </a:solidFill>
            <a:prstDash val="solid"/>
          </a:ln>
        </p:spPr>
        <p:txBody>
          <a:bodyPr/>
          <a:lstStyle/>
          <a:p>
            <a:endParaRPr lang="en-US"/>
          </a:p>
        </p:txBody>
      </p:sp>
      <p:sp>
        <p:nvSpPr>
          <p:cNvPr id="27" name="Text 25"/>
          <p:cNvSpPr/>
          <p:nvPr/>
        </p:nvSpPr>
        <p:spPr>
          <a:xfrm>
            <a:off x="4480560" y="3849624"/>
            <a:ext cx="2560320" cy="80467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Act IV · Knowledge</a:t>
            </a:r>
            <a:endParaRPr lang="en-US" sz="1100" dirty="0"/>
          </a:p>
        </p:txBody>
      </p:sp>
      <p:sp>
        <p:nvSpPr>
          <p:cNvPr id="28" name="Text 26"/>
          <p:cNvSpPr/>
          <p:nvPr/>
        </p:nvSpPr>
        <p:spPr>
          <a:xfrm>
            <a:off x="7315200" y="3849624"/>
            <a:ext cx="4389120" cy="804672"/>
          </a:xfrm>
          <a:prstGeom prst="rect">
            <a:avLst/>
          </a:prstGeom>
          <a:noFill/>
          <a:ln/>
        </p:spPr>
        <p:txBody>
          <a:bodyPr wrap="square" rtlCol="0" anchor="ctr"/>
          <a:lstStyle/>
          <a:p>
            <a:pPr marL="0" indent="0">
              <a:buNone/>
            </a:pPr>
            <a:r>
              <a:rPr lang="en-US" sz="1100" dirty="0">
                <a:solidFill>
                  <a:srgbClr val="636E72"/>
                </a:solidFill>
                <a:latin typeface="Segoe UI" pitchFamily="34" charset="0"/>
                <a:ea typeface="Segoe UI" pitchFamily="34" charset="-122"/>
                <a:cs typeface="Segoe UI" pitchFamily="34" charset="-120"/>
              </a:rPr>
              <a:t>The graph + architecture docs hand you the map</a:t>
            </a:r>
            <a:endParaRPr lang="en-US" sz="1100" dirty="0"/>
          </a:p>
        </p:txBody>
      </p:sp>
      <p:sp>
        <p:nvSpPr>
          <p:cNvPr id="29" name="Shape 27"/>
          <p:cNvSpPr/>
          <p:nvPr/>
        </p:nvSpPr>
        <p:spPr>
          <a:xfrm>
            <a:off x="457200" y="4782312"/>
            <a:ext cx="3383280" cy="804672"/>
          </a:xfrm>
          <a:prstGeom prst="roundRect">
            <a:avLst>
              <a:gd name="adj" fmla="val 9091"/>
            </a:avLst>
          </a:prstGeom>
          <a:solidFill>
            <a:srgbClr val="F4F7FA"/>
          </a:solidFill>
          <a:ln w="12700">
            <a:solidFill>
              <a:srgbClr val="DFE6E9"/>
            </a:solidFill>
            <a:prstDash val="solid"/>
          </a:ln>
        </p:spPr>
        <p:txBody>
          <a:bodyPr/>
          <a:lstStyle/>
          <a:p>
            <a:endParaRPr lang="en-US"/>
          </a:p>
        </p:txBody>
      </p:sp>
      <p:sp>
        <p:nvSpPr>
          <p:cNvPr id="30" name="Text 28"/>
          <p:cNvSpPr/>
          <p:nvPr/>
        </p:nvSpPr>
        <p:spPr>
          <a:xfrm>
            <a:off x="594360" y="4782312"/>
            <a:ext cx="3108960" cy="804672"/>
          </a:xfrm>
          <a:prstGeom prst="rect">
            <a:avLst/>
          </a:prstGeom>
          <a:noFill/>
          <a:ln/>
        </p:spPr>
        <p:txBody>
          <a:bodyPr wrap="square" rtlCol="0" anchor="ctr"/>
          <a:lstStyle/>
          <a:p>
            <a:pPr marL="0" indent="0">
              <a:buNone/>
            </a:pPr>
            <a:r>
              <a:rPr lang="en-US" sz="1200" b="1" dirty="0">
                <a:solidFill>
                  <a:srgbClr val="1A3A5C"/>
                </a:solidFill>
                <a:latin typeface="Segoe UI" pitchFamily="34" charset="0"/>
                <a:ea typeface="Segoe UI" pitchFamily="34" charset="-122"/>
                <a:cs typeface="Segoe UI" pitchFamily="34" charset="-120"/>
              </a:rPr>
              <a:t>Prove it actually held</a:t>
            </a:r>
            <a:endParaRPr lang="en-US" sz="1200" dirty="0"/>
          </a:p>
        </p:txBody>
      </p:sp>
      <p:sp>
        <p:nvSpPr>
          <p:cNvPr id="31" name="Text 29"/>
          <p:cNvSpPr/>
          <p:nvPr/>
        </p:nvSpPr>
        <p:spPr>
          <a:xfrm>
            <a:off x="3886200" y="4782312"/>
            <a:ext cx="457200" cy="804672"/>
          </a:xfrm>
          <a:prstGeom prst="rect">
            <a:avLst/>
          </a:prstGeom>
          <a:noFill/>
          <a:ln/>
        </p:spPr>
        <p:txBody>
          <a:bodyPr wrap="square" rtlCol="0" anchor="ctr"/>
          <a:lstStyle/>
          <a:p>
            <a:pPr marL="0" indent="0" algn="ctr">
              <a:buNone/>
            </a:pPr>
            <a:r>
              <a:rPr lang="en-US" sz="1600" b="1" dirty="0">
                <a:solidFill>
                  <a:srgbClr val="C8A951"/>
                </a:solidFill>
                <a:latin typeface="Segoe UI" pitchFamily="34" charset="0"/>
                <a:ea typeface="Segoe UI" pitchFamily="34" charset="-122"/>
                <a:cs typeface="Segoe UI" pitchFamily="34" charset="-120"/>
              </a:rPr>
              <a:t>→</a:t>
            </a:r>
            <a:endParaRPr lang="en-US" sz="1600" dirty="0"/>
          </a:p>
        </p:txBody>
      </p:sp>
      <p:sp>
        <p:nvSpPr>
          <p:cNvPr id="32" name="Shape 30"/>
          <p:cNvSpPr/>
          <p:nvPr/>
        </p:nvSpPr>
        <p:spPr>
          <a:xfrm>
            <a:off x="4389120" y="4782312"/>
            <a:ext cx="2743200" cy="804672"/>
          </a:xfrm>
          <a:prstGeom prst="roundRect">
            <a:avLst>
              <a:gd name="adj" fmla="val 9091"/>
            </a:avLst>
          </a:prstGeom>
          <a:solidFill>
            <a:srgbClr val="1A3A5C"/>
          </a:solidFill>
          <a:ln w="12700">
            <a:solidFill>
              <a:srgbClr val="1A3A5C"/>
            </a:solidFill>
            <a:prstDash val="solid"/>
          </a:ln>
        </p:spPr>
        <p:txBody>
          <a:bodyPr/>
          <a:lstStyle/>
          <a:p>
            <a:endParaRPr lang="en-US"/>
          </a:p>
        </p:txBody>
      </p:sp>
      <p:sp>
        <p:nvSpPr>
          <p:cNvPr id="33" name="Text 31"/>
          <p:cNvSpPr/>
          <p:nvPr/>
        </p:nvSpPr>
        <p:spPr>
          <a:xfrm>
            <a:off x="4480560" y="4782312"/>
            <a:ext cx="2560320" cy="80467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Act V · Observability</a:t>
            </a:r>
            <a:endParaRPr lang="en-US" sz="1100" dirty="0"/>
          </a:p>
        </p:txBody>
      </p:sp>
      <p:sp>
        <p:nvSpPr>
          <p:cNvPr id="34" name="Text 32"/>
          <p:cNvSpPr/>
          <p:nvPr/>
        </p:nvSpPr>
        <p:spPr>
          <a:xfrm>
            <a:off x="7315200" y="4782312"/>
            <a:ext cx="4389120" cy="804672"/>
          </a:xfrm>
          <a:prstGeom prst="rect">
            <a:avLst/>
          </a:prstGeom>
          <a:noFill/>
          <a:ln/>
        </p:spPr>
        <p:txBody>
          <a:bodyPr wrap="square" rtlCol="0" anchor="ctr"/>
          <a:lstStyle/>
          <a:p>
            <a:pPr marL="0" indent="0">
              <a:buNone/>
            </a:pPr>
            <a:r>
              <a:rPr lang="en-US" sz="1100" dirty="0">
                <a:solidFill>
                  <a:srgbClr val="636E72"/>
                </a:solidFill>
                <a:latin typeface="Segoe UI" pitchFamily="34" charset="0"/>
                <a:ea typeface="Segoe UI" pitchFamily="34" charset="-122"/>
                <a:cs typeface="Segoe UI" pitchFamily="34" charset="-120"/>
              </a:rPr>
              <a:t>Traceability + ledgers give you the evidence</a:t>
            </a:r>
            <a:endParaRPr lang="en-US" sz="1100" dirty="0"/>
          </a:p>
        </p:txBody>
      </p:sp>
      <p:sp>
        <p:nvSpPr>
          <p:cNvPr id="35" name="Text 33"/>
          <p:cNvSpPr/>
          <p:nvPr/>
        </p:nvSpPr>
        <p:spPr>
          <a:xfrm>
            <a:off x="457200" y="5806440"/>
            <a:ext cx="11247120" cy="365760"/>
          </a:xfrm>
          <a:prstGeom prst="rect">
            <a:avLst/>
          </a:prstGeom>
          <a:noFill/>
          <a:ln/>
        </p:spPr>
        <p:txBody>
          <a:bodyPr wrap="square" rtlCol="0" anchor="ctr"/>
          <a:lstStyle/>
          <a:p>
            <a:pPr marL="0" indent="0" algn="ctr">
              <a:buNone/>
            </a:pPr>
            <a:r>
              <a:rPr lang="en-US" sz="1200" i="1" dirty="0">
                <a:solidFill>
                  <a:srgbClr val="636E72"/>
                </a:solidFill>
                <a:latin typeface="Segoe UI" pitchFamily="34" charset="0"/>
                <a:ea typeface="Segoe UI" pitchFamily="34" charset="-122"/>
                <a:cs typeface="Segoe UI" pitchFamily="34" charset="-120"/>
              </a:rPr>
              <a:t>Each wall became visible only after you’d climbed the one before it.</a:t>
            </a:r>
            <a:endParaRPr lang="en-US" sz="1200" dirty="0"/>
          </a:p>
        </p:txBody>
      </p:sp>
      <p:sp>
        <p:nvSpPr>
          <p:cNvPr id="36" name="Text 34"/>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44 / 45</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A3A5C"/>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marL="0" indent="0">
              <a:buNone/>
            </a:pPr>
            <a:r>
              <a:rPr lang="en-US" sz="900" b="1" kern="0" spc="300" dirty="0">
                <a:solidFill>
                  <a:srgbClr val="C8A951"/>
                </a:solidFill>
                <a:latin typeface="Segoe UI" pitchFamily="34" charset="0"/>
                <a:ea typeface="Segoe UI" pitchFamily="34" charset="-122"/>
                <a:cs typeface="Segoe UI" pitchFamily="34" charset="-120"/>
              </a:rPr>
              <a:t>IN SUMMARY</a:t>
            </a:r>
            <a:endParaRPr lang="en-US" sz="900" dirty="0"/>
          </a:p>
        </p:txBody>
      </p:sp>
      <p:sp>
        <p:nvSpPr>
          <p:cNvPr id="3" name="Text 1"/>
          <p:cNvSpPr/>
          <p:nvPr/>
        </p:nvSpPr>
        <p:spPr>
          <a:xfrm>
            <a:off x="548640" y="868680"/>
            <a:ext cx="10972800" cy="1463040"/>
          </a:xfrm>
          <a:prstGeom prst="rect">
            <a:avLst/>
          </a:prstGeom>
          <a:noFill/>
          <a:ln/>
        </p:spPr>
        <p:txBody>
          <a:bodyPr wrap="square" rtlCol="0" anchor="ctr"/>
          <a:lstStyle/>
          <a:p>
            <a:pPr marL="0" indent="0">
              <a:buNone/>
            </a:pPr>
            <a:r>
              <a:rPr lang="en-US" sz="3400" b="1" dirty="0">
                <a:solidFill>
                  <a:srgbClr val="FFFFFF"/>
                </a:solidFill>
                <a:latin typeface="Segoe UI" pitchFamily="34" charset="0"/>
                <a:ea typeface="Segoe UI" pitchFamily="34" charset="-122"/>
                <a:cs typeface="Segoe UI" pitchFamily="34" charset="-120"/>
              </a:rPr>
              <a:t>You’re not the coder anymore.</a:t>
            </a:r>
            <a:endParaRPr lang="en-US" sz="3400" dirty="0"/>
          </a:p>
          <a:p>
            <a:pPr marL="0" indent="0">
              <a:buNone/>
            </a:pPr>
            <a:r>
              <a:rPr lang="en-US" sz="3400" b="1" dirty="0">
                <a:solidFill>
                  <a:srgbClr val="FFFFFF"/>
                </a:solidFill>
                <a:latin typeface="Segoe UI" pitchFamily="34" charset="0"/>
                <a:ea typeface="Segoe UI" pitchFamily="34" charset="-122"/>
                <a:cs typeface="Segoe UI" pitchFamily="34" charset="-120"/>
              </a:rPr>
              <a:t>You’re the one the AI answers to.</a:t>
            </a:r>
            <a:endParaRPr lang="en-US" sz="3400" dirty="0"/>
          </a:p>
        </p:txBody>
      </p:sp>
      <p:sp>
        <p:nvSpPr>
          <p:cNvPr id="4" name="Text 2"/>
          <p:cNvSpPr/>
          <p:nvPr/>
        </p:nvSpPr>
        <p:spPr>
          <a:xfrm>
            <a:off x="548640" y="2331720"/>
            <a:ext cx="10972800" cy="1280160"/>
          </a:xfrm>
          <a:prstGeom prst="rect">
            <a:avLst/>
          </a:prstGeom>
          <a:noFill/>
          <a:ln/>
        </p:spPr>
        <p:txBody>
          <a:bodyPr wrap="square" rtlCol="0" anchor="ctr"/>
          <a:lstStyle/>
          <a:p>
            <a:pPr marL="0" indent="0">
              <a:buNone/>
            </a:pPr>
            <a:r>
              <a:rPr lang="en-US" sz="1500" dirty="0">
                <a:solidFill>
                  <a:srgbClr val="CDD9E6"/>
                </a:solidFill>
                <a:latin typeface="Segoe UI" pitchFamily="34" charset="0"/>
                <a:ea typeface="Segoe UI" pitchFamily="34" charset="-122"/>
                <a:cs typeface="Segoe UI" pitchFamily="34" charset="-120"/>
              </a:rPr>
              <a:t>The coding got cheaper; the thinking became the job — wearing the BA hat, holding the system in your head, judging the plan, owning the decisions, proving what shipped. That’s a role, not a tool. And 55 decisions on disk exist to make that role trustworthy — so when you sign off, you sign off on evidence, not faith.</a:t>
            </a:r>
            <a:endParaRPr lang="en-US" sz="1500" dirty="0"/>
          </a:p>
        </p:txBody>
      </p:sp>
      <p:sp>
        <p:nvSpPr>
          <p:cNvPr id="5" name="Shape 3"/>
          <p:cNvSpPr/>
          <p:nvPr/>
        </p:nvSpPr>
        <p:spPr>
          <a:xfrm>
            <a:off x="548640" y="3840480"/>
            <a:ext cx="3566160" cy="1554480"/>
          </a:xfrm>
          <a:prstGeom prst="roundRect">
            <a:avLst>
              <a:gd name="adj" fmla="val 7059"/>
            </a:avLst>
          </a:prstGeom>
          <a:solidFill>
            <a:srgbClr val="1E4870"/>
          </a:solidFill>
          <a:ln w="12700">
            <a:solidFill>
              <a:srgbClr val="4A7AAA"/>
            </a:solidFill>
            <a:prstDash val="solid"/>
          </a:ln>
        </p:spPr>
        <p:txBody>
          <a:bodyPr/>
          <a:lstStyle/>
          <a:p>
            <a:endParaRPr lang="en-US"/>
          </a:p>
        </p:txBody>
      </p:sp>
      <p:sp>
        <p:nvSpPr>
          <p:cNvPr id="6" name="Text 4"/>
          <p:cNvSpPr/>
          <p:nvPr/>
        </p:nvSpPr>
        <p:spPr>
          <a:xfrm>
            <a:off x="685800" y="3950208"/>
            <a:ext cx="3291840" cy="256032"/>
          </a:xfrm>
          <a:prstGeom prst="rect">
            <a:avLst/>
          </a:prstGeom>
          <a:noFill/>
          <a:ln/>
        </p:spPr>
        <p:txBody>
          <a:bodyPr wrap="square" rtlCol="0" anchor="ctr"/>
          <a:lstStyle/>
          <a:p>
            <a:pPr marL="0" indent="0">
              <a:buNone/>
            </a:pPr>
            <a:r>
              <a:rPr lang="en-US" sz="800" b="1" kern="0" spc="150" dirty="0">
                <a:solidFill>
                  <a:srgbClr val="C8A951"/>
                </a:solidFill>
                <a:latin typeface="Cascadia Code" pitchFamily="34" charset="0"/>
                <a:ea typeface="Cascadia Code" pitchFamily="34" charset="-122"/>
                <a:cs typeface="Cascadia Code" pitchFamily="34" charset="-120"/>
              </a:rPr>
              <a:t>THE DECISIONS</a:t>
            </a:r>
            <a:endParaRPr lang="en-US" sz="800" dirty="0"/>
          </a:p>
        </p:txBody>
      </p:sp>
      <p:sp>
        <p:nvSpPr>
          <p:cNvPr id="7" name="Text 5"/>
          <p:cNvSpPr/>
          <p:nvPr/>
        </p:nvSpPr>
        <p:spPr>
          <a:xfrm>
            <a:off x="685800" y="4224528"/>
            <a:ext cx="3291840" cy="1051560"/>
          </a:xfrm>
          <a:prstGeom prst="rect">
            <a:avLst/>
          </a:prstGeom>
          <a:noFill/>
          <a:ln/>
        </p:spPr>
        <p:txBody>
          <a:bodyPr wrap="square" rtlCol="0" anchor="ctr"/>
          <a:lstStyle/>
          <a:p>
            <a:pPr marL="0" indent="0">
              <a:buNone/>
            </a:pPr>
            <a:r>
              <a:rPr lang="en-US" sz="1300" dirty="0">
                <a:solidFill>
                  <a:srgbClr val="DCE6F0"/>
                </a:solidFill>
                <a:latin typeface="Segoe UI" pitchFamily="34" charset="0"/>
                <a:ea typeface="Segoe UI" pitchFamily="34" charset="-122"/>
                <a:cs typeface="Segoe UI" pitchFamily="34" charset="-120"/>
              </a:rPr>
              <a:t>docs/adr/</a:t>
            </a:r>
            <a:endParaRPr lang="en-US" sz="1300" dirty="0"/>
          </a:p>
          <a:p>
            <a:pPr marL="0" indent="0">
              <a:buNone/>
            </a:pPr>
            <a:r>
              <a:rPr lang="en-US" sz="1300" dirty="0">
                <a:solidFill>
                  <a:srgbClr val="DCE6F0"/>
                </a:solidFill>
                <a:latin typeface="Segoe UI" pitchFamily="34" charset="0"/>
                <a:ea typeface="Segoe UI" pitchFamily="34" charset="-122"/>
                <a:cs typeface="Segoe UI" pitchFamily="34" charset="-120"/>
              </a:rPr>
              <a:t>55 ADRs, numbered and dated</a:t>
            </a:r>
            <a:endParaRPr lang="en-US" sz="1300" dirty="0"/>
          </a:p>
        </p:txBody>
      </p:sp>
      <p:sp>
        <p:nvSpPr>
          <p:cNvPr id="8" name="Shape 6"/>
          <p:cNvSpPr/>
          <p:nvPr/>
        </p:nvSpPr>
        <p:spPr>
          <a:xfrm>
            <a:off x="4297680" y="3840480"/>
            <a:ext cx="3566160" cy="1554480"/>
          </a:xfrm>
          <a:prstGeom prst="roundRect">
            <a:avLst>
              <a:gd name="adj" fmla="val 7059"/>
            </a:avLst>
          </a:prstGeom>
          <a:solidFill>
            <a:srgbClr val="1E4870"/>
          </a:solidFill>
          <a:ln w="12700">
            <a:solidFill>
              <a:srgbClr val="4A7AAA"/>
            </a:solidFill>
            <a:prstDash val="solid"/>
          </a:ln>
        </p:spPr>
        <p:txBody>
          <a:bodyPr/>
          <a:lstStyle/>
          <a:p>
            <a:endParaRPr lang="en-US"/>
          </a:p>
        </p:txBody>
      </p:sp>
      <p:sp>
        <p:nvSpPr>
          <p:cNvPr id="9" name="Text 7"/>
          <p:cNvSpPr/>
          <p:nvPr/>
        </p:nvSpPr>
        <p:spPr>
          <a:xfrm>
            <a:off x="4434840" y="3950208"/>
            <a:ext cx="3291840" cy="256032"/>
          </a:xfrm>
          <a:prstGeom prst="rect">
            <a:avLst/>
          </a:prstGeom>
          <a:noFill/>
          <a:ln/>
        </p:spPr>
        <p:txBody>
          <a:bodyPr wrap="square" rtlCol="0" anchor="ctr"/>
          <a:lstStyle/>
          <a:p>
            <a:pPr marL="0" indent="0">
              <a:buNone/>
            </a:pPr>
            <a:r>
              <a:rPr lang="en-US" sz="800" b="1" kern="0" spc="150" dirty="0">
                <a:solidFill>
                  <a:srgbClr val="C8A951"/>
                </a:solidFill>
                <a:latin typeface="Cascadia Code" pitchFamily="34" charset="0"/>
                <a:ea typeface="Cascadia Code" pitchFamily="34" charset="-122"/>
                <a:cs typeface="Cascadia Code" pitchFamily="34" charset="-120"/>
              </a:rPr>
              <a:t>THE PRINCIPLES</a:t>
            </a:r>
            <a:endParaRPr lang="en-US" sz="800" dirty="0"/>
          </a:p>
        </p:txBody>
      </p:sp>
      <p:sp>
        <p:nvSpPr>
          <p:cNvPr id="10" name="Text 8"/>
          <p:cNvSpPr/>
          <p:nvPr/>
        </p:nvSpPr>
        <p:spPr>
          <a:xfrm>
            <a:off x="4434840" y="4224528"/>
            <a:ext cx="3291840" cy="1051560"/>
          </a:xfrm>
          <a:prstGeom prst="rect">
            <a:avLst/>
          </a:prstGeom>
          <a:noFill/>
          <a:ln/>
        </p:spPr>
        <p:txBody>
          <a:bodyPr wrap="square" rtlCol="0" anchor="ctr"/>
          <a:lstStyle/>
          <a:p>
            <a:pPr marL="0" indent="0">
              <a:buNone/>
            </a:pPr>
            <a:r>
              <a:rPr lang="en-US" sz="1300" dirty="0">
                <a:solidFill>
                  <a:srgbClr val="DCE6F0"/>
                </a:solidFill>
                <a:latin typeface="Segoe UI" pitchFamily="34" charset="0"/>
                <a:ea typeface="Segoe UI" pitchFamily="34" charset="-122"/>
                <a:cs typeface="Segoe UI" pitchFamily="34" charset="-120"/>
              </a:rPr>
              <a:t>CLAUDE.md</a:t>
            </a:r>
            <a:endParaRPr lang="en-US" sz="1300" dirty="0"/>
          </a:p>
          <a:p>
            <a:pPr marL="0" indent="0">
              <a:buNone/>
            </a:pPr>
            <a:r>
              <a:rPr lang="en-US" sz="1300" dirty="0">
                <a:solidFill>
                  <a:srgbClr val="DCE6F0"/>
                </a:solidFill>
                <a:latin typeface="Segoe UI" pitchFamily="34" charset="0"/>
                <a:ea typeface="Segoe UI" pitchFamily="34" charset="-122"/>
                <a:cs typeface="Segoe UI" pitchFamily="34" charset="-120"/>
              </a:rPr>
              <a:t>The principles, every session</a:t>
            </a:r>
            <a:endParaRPr lang="en-US" sz="1300" dirty="0"/>
          </a:p>
        </p:txBody>
      </p:sp>
      <p:sp>
        <p:nvSpPr>
          <p:cNvPr id="11" name="Shape 9"/>
          <p:cNvSpPr/>
          <p:nvPr/>
        </p:nvSpPr>
        <p:spPr>
          <a:xfrm>
            <a:off x="8046720" y="3840480"/>
            <a:ext cx="3566160" cy="1554480"/>
          </a:xfrm>
          <a:prstGeom prst="roundRect">
            <a:avLst>
              <a:gd name="adj" fmla="val 7059"/>
            </a:avLst>
          </a:prstGeom>
          <a:solidFill>
            <a:srgbClr val="1E4870"/>
          </a:solidFill>
          <a:ln w="12700">
            <a:solidFill>
              <a:srgbClr val="4A7AAA"/>
            </a:solidFill>
            <a:prstDash val="solid"/>
          </a:ln>
        </p:spPr>
        <p:txBody>
          <a:bodyPr/>
          <a:lstStyle/>
          <a:p>
            <a:endParaRPr lang="en-US"/>
          </a:p>
        </p:txBody>
      </p:sp>
      <p:sp>
        <p:nvSpPr>
          <p:cNvPr id="12" name="Text 10"/>
          <p:cNvSpPr/>
          <p:nvPr/>
        </p:nvSpPr>
        <p:spPr>
          <a:xfrm>
            <a:off x="8183880" y="3950208"/>
            <a:ext cx="3291840" cy="256032"/>
          </a:xfrm>
          <a:prstGeom prst="rect">
            <a:avLst/>
          </a:prstGeom>
          <a:noFill/>
          <a:ln/>
        </p:spPr>
        <p:txBody>
          <a:bodyPr wrap="square" rtlCol="0" anchor="ctr"/>
          <a:lstStyle/>
          <a:p>
            <a:pPr marL="0" indent="0">
              <a:buNone/>
            </a:pPr>
            <a:r>
              <a:rPr lang="en-US" sz="800" b="1" kern="0" spc="150" dirty="0">
                <a:solidFill>
                  <a:srgbClr val="C8A951"/>
                </a:solidFill>
                <a:latin typeface="Cascadia Code" pitchFamily="34" charset="0"/>
                <a:ea typeface="Cascadia Code" pitchFamily="34" charset="-122"/>
                <a:cs typeface="Cascadia Code" pitchFamily="34" charset="-120"/>
              </a:rPr>
              <a:t>GO DEEPER ON DREAM</a:t>
            </a:r>
            <a:endParaRPr lang="en-US" sz="800" dirty="0"/>
          </a:p>
        </p:txBody>
      </p:sp>
      <p:sp>
        <p:nvSpPr>
          <p:cNvPr id="13" name="Text 11"/>
          <p:cNvSpPr/>
          <p:nvPr/>
        </p:nvSpPr>
        <p:spPr>
          <a:xfrm>
            <a:off x="8183880" y="4224528"/>
            <a:ext cx="3291840" cy="1051560"/>
          </a:xfrm>
          <a:prstGeom prst="rect">
            <a:avLst/>
          </a:prstGeom>
          <a:noFill/>
          <a:ln/>
        </p:spPr>
        <p:txBody>
          <a:bodyPr wrap="square" rtlCol="0" anchor="ctr"/>
          <a:lstStyle/>
          <a:p>
            <a:pPr marL="0" indent="0">
              <a:buNone/>
            </a:pPr>
            <a:r>
              <a:rPr lang="en-US" sz="1300" dirty="0">
                <a:solidFill>
                  <a:srgbClr val="DCE6F0"/>
                </a:solidFill>
                <a:latin typeface="Segoe UI" pitchFamily="34" charset="0"/>
                <a:ea typeface="Segoe UI" pitchFamily="34" charset="-122"/>
                <a:cs typeface="Segoe UI" pitchFamily="34" charset="-120"/>
              </a:rPr>
              <a:t>dream-skill.pptx</a:t>
            </a:r>
            <a:endParaRPr lang="en-US" sz="1300" dirty="0"/>
          </a:p>
          <a:p>
            <a:pPr marL="0" indent="0">
              <a:buNone/>
            </a:pPr>
            <a:r>
              <a:rPr lang="en-US" sz="1300" dirty="0">
                <a:solidFill>
                  <a:srgbClr val="DCE6F0"/>
                </a:solidFill>
                <a:latin typeface="Segoe UI" pitchFamily="34" charset="0"/>
                <a:ea typeface="Segoe UI" pitchFamily="34" charset="-122"/>
                <a:cs typeface="Segoe UI" pitchFamily="34" charset="-120"/>
              </a:rPr>
              <a:t>The 19-slide deep-dive</a:t>
            </a:r>
            <a:endParaRPr lang="en-US" sz="1300" dirty="0"/>
          </a:p>
        </p:txBody>
      </p:sp>
      <p:sp>
        <p:nvSpPr>
          <p:cNvPr id="14" name="Text 12"/>
          <p:cNvSpPr/>
          <p:nvPr/>
        </p:nvSpPr>
        <p:spPr>
          <a:xfrm>
            <a:off x="0" y="5806440"/>
            <a:ext cx="12192000" cy="594360"/>
          </a:xfrm>
          <a:prstGeom prst="rect">
            <a:avLst/>
          </a:prstGeom>
          <a:noFill/>
          <a:ln/>
        </p:spPr>
        <p:txBody>
          <a:bodyPr wrap="square" rtlCol="0" anchor="ctr"/>
          <a:lstStyle/>
          <a:p>
            <a:pPr marL="0" indent="0" algn="ctr">
              <a:buNone/>
            </a:pPr>
            <a:r>
              <a:rPr lang="en-US" sz="4400" b="1" dirty="0">
                <a:solidFill>
                  <a:srgbClr val="9DB2C7"/>
                </a:solidFill>
                <a:latin typeface="Segoe UI" pitchFamily="34" charset="0"/>
                <a:ea typeface="Segoe UI" pitchFamily="34" charset="-122"/>
                <a:cs typeface="Segoe UI" pitchFamily="34" charset="-120"/>
              </a:rPr>
              <a:t>Q &amp; A</a:t>
            </a:r>
            <a:endParaRPr lang="en-US" sz="4400" b="1" dirty="0"/>
          </a:p>
        </p:txBody>
      </p:sp>
      <p:sp>
        <p:nvSpPr>
          <p:cNvPr id="15" name="Text 13"/>
          <p:cNvSpPr/>
          <p:nvPr/>
        </p:nvSpPr>
        <p:spPr>
          <a:xfrm>
            <a:off x="10515600" y="6492240"/>
            <a:ext cx="1371600" cy="228600"/>
          </a:xfrm>
          <a:prstGeom prst="rect">
            <a:avLst/>
          </a:prstGeom>
          <a:noFill/>
          <a:ln/>
        </p:spPr>
        <p:txBody>
          <a:bodyPr wrap="square" rtlCol="0" anchor="ctr"/>
          <a:lstStyle/>
          <a:p>
            <a:pPr marL="0" indent="0" algn="r">
              <a:buNone/>
            </a:pPr>
            <a:r>
              <a:rPr lang="en-US" sz="800" dirty="0">
                <a:solidFill>
                  <a:srgbClr val="636E72"/>
                </a:solidFill>
                <a:latin typeface="Cascadia Code" pitchFamily="34" charset="0"/>
                <a:ea typeface="Cascadia Code" pitchFamily="34" charset="-122"/>
                <a:cs typeface="Cascadia Code" pitchFamily="34" charset="-120"/>
              </a:rPr>
              <a:t>45 / 45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2100</TotalTime>
  <Words>11169</Words>
  <Application>Microsoft Office PowerPoint</Application>
  <PresentationFormat>Widescreen</PresentationFormat>
  <Paragraphs>782</Paragraphs>
  <Slides>45</Slides>
  <Notes>45</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Arial</vt:lpstr>
      <vt:lpstr>Cascadia Code</vt:lpstr>
      <vt:lpstr>Georgia</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Rawat, Vivek</cp:lastModifiedBy>
  <cp:revision>1</cp:revision>
  <dcterms:created xsi:type="dcterms:W3CDTF">2026-07-17T04:10:25Z</dcterms:created>
  <dcterms:modified xsi:type="dcterms:W3CDTF">2026-07-24T20:49:15Z</dcterms:modified>
</cp:coreProperties>
</file>