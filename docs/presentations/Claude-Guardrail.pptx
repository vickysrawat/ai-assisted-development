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74" r:id="rId7"/>
    <p:sldId id="275" r:id="rId8"/>
    <p:sldId id="263" r:id="rId9"/>
    <p:sldId id="264" r:id="rId10"/>
    <p:sldId id="265" r:id="rId11"/>
    <p:sldId id="276" r:id="rId12"/>
    <p:sldId id="266" r:id="rId13"/>
    <p:sldId id="267" r:id="rId14"/>
    <p:sldId id="272" r:id="rId15"/>
    <p:sldId id="273" r:id="rId16"/>
    <p:sldId id="269" r:id="rId17"/>
    <p:sldId id="270" r:id="rId18"/>
    <p:sldId id="271" r:id="rId19"/>
    <p:sldId id="268" r:id="rId20"/>
    <p:sldId id="261" r:id="rId21"/>
    <p:sldId id="262"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019" autoAdjust="0"/>
  </p:normalViewPr>
  <p:slideViewPr>
    <p:cSldViewPr snapToGrid="0" snapToObjects="1">
      <p:cViewPr>
        <p:scale>
          <a:sx n="100" d="100"/>
          <a:sy n="100" d="100"/>
        </p:scale>
        <p:origin x="1914"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611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HOOK (about 20 seconds)
Who's had to explain their project to Claude more than once? On Monday, we walk it through our architecture, and it's genuinely helpful. On Tuesday, we open a new session, and it's forgotten all of it. So we start over.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PROBLEM (about 50 seconds)
Forgetting is just the start. Claude doesn't actually know our code, so it guesses. Sometimes it calls a function that doesn't exist. It doesn't know our industry either, so a law firm and a hospital get the same advice. And nothing stops it from writing code before anyone has agreed on the design. None of that is Claude being bad. It's just starting from nothing, every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BUILT (about 15 seconds)
So we built a guardrail that sits between our team and Claude. It remembers, it knows our code, it knows our industry, and it doesn't write a line until someone says go.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1: CODEBASE KNOWLEDGE GRAPH (about 30 seconds)
Now I can say, It actually knows our code. On setup, it reads the codebase once and builds a map of every module and what depends on what. After that, it only rereads what's changed. So when we ask a question, the answer comes from our code, not from a guess. And because it only pulls in the parts that matter, you use far fewer tokens.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CAPABILITY 2: AUTO-GENERATED ARCHITECTURE DOCS (about 30 seconds)
It writes our architecture docs for us. It reads the code and produces a document covering the layers, the dependencies, how data moves, and how it's deployed. Then it draws an interactive diagram from that. </a:t>
            </a:r>
          </a:p>
          <a:p>
            <a:r>
              <a:rPr lang="en-US" dirty="0"/>
              <a:t>Nobody's updating a Visio file the night before a review. You run one command and it's current.</a:t>
            </a:r>
          </a:p>
          <a:p>
            <a:endParaRPr lang="en-US" dirty="0"/>
          </a:p>
        </p:txBody>
      </p:sp>
    </p:spTree>
    <p:extLst>
      <p:ext uri="{BB962C8B-B14F-4D97-AF65-F5344CB8AC3E}">
        <p14:creationId xmlns:p14="http://schemas.microsoft.com/office/powerpoint/2010/main" val="2660374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3: TECH AGNOSTIC (about 30 seconds)
It doesn't care what you build in. .NET, Java, Python, Node. Angular or React. Azure DevOps or GitHub. It figures out our stack when we set it up, and after that, the commands and the workflow are the same everywhere. Someone moving between projects doesn't have to relearn anything.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4: MULTI-ROOT AWARENESS (about 30 seconds)
</a:t>
            </a:r>
          </a:p>
          <a:p>
            <a:r>
              <a:rPr lang="en-US" dirty="0"/>
              <a:t>It handles code that's spread across repos. Most real systems aren't one tidy folder. The plugin follows our project files, so when a dependency lives in another repo, it knows where to look. And if it's about to change something in a different repo, it stops and tells you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5: DREAM, PERSISTENT MEMORY (about 30 seconds)
So memory. We call it Dream. Remember Monday and Tuesday? This is the fix. Whenever the team makes a decision, hits an error, or picks an approach, it gets written down automatically. Every five to eight sessions, one person runs a cleanup that keeps what's proven useful and lets the stale stuff fade. So what you decided on Monday is still there on Friday.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6: BUSINESS CONTEXT (about 40 seconds)
As you know each application is different, each industry is unique and needs specific regulations and compliance. </a:t>
            </a:r>
          </a:p>
          <a:p>
            <a:r>
              <a:rPr lang="en-US" dirty="0"/>
              <a:t>So when we integrate our plugin with an application, it first sets up our domain and sub-domain once. Then two agents take over. </a:t>
            </a:r>
          </a:p>
          <a:p>
            <a:r>
              <a:rPr lang="en-US" dirty="0"/>
              <a:t>The first one searches public regulations for that domain and brings back which data counts as sensitive and when a breach has to be reported, each with a citation. It can't see any of our files. </a:t>
            </a:r>
          </a:p>
          <a:p>
            <a:r>
              <a:rPr lang="en-US" dirty="0"/>
              <a:t>The second one takes those findings and combines them with our architecture to write the review triggers for our domain. It can't go online at all. So the agent that searches can't see our code, and the agent that sees our code can't send it anywhere. The result is saved with the application, and every code and security review checks against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(about 35 seconds)
On top of all that is the part you'll see day to day. Before any code is written, the request gets broken down into intent, context, examples, and acceptance criteria. We call that ICEA. Then a gate holds everything until someone approves it. Every commit gets checked, and we can see exactly where our tokens are going.
And it's built to be accountable. Every action, every approval, and every design decision is logged, so we can always trace why something changed. A person signs off before any code is written. And the memory looks after itself: it keeps what's proven useful and lets the rest fade.
That's what's visible. What makes it work is everything underneath.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 WORKFLOW (about 45 seconds)
Here's what one feature looks like from start to finish. A developer describes the feature, and the ICEA gets drafted. Anything missing gets flagged, and nothing moves until the developer approves it. Then the story is broken into Azure DevOps tasks for each layer, with estimates. While we write the code, the stack rules keep us to our conventions as we touch each file. Before asking anyone else to look, it runs a seven-point self-review. When we raise the PR, it writes the description from the diff, with the acceptance criteria as a checklist. The reviewer gets a spec check, a traceability matrix, and a verdict. And at the end of the sprint, /dream folds what we learned back into memory, so CLAUDE.md stays lean.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 if someone asks how entries get into project knowledge, or whether anything is written automatically.
Follow one pattern. Developer A is working on ADO-1234. There are three ways what they learn gets saved. They can add it by hand with a KNOWLEDGE command. After their lessons review, Claude can ask whether a lesson belongs here, and it's only saved if they confirm. Or, while they're implementing, icea-implement hits a gap, an Example that can't produce a real test, and drops a small signal file. It never touches project knowledge itself. At the next Dream run the signals are counted by topic, and once the same gap has shown up on two different stories, Dream proposes the entry. Developer A replies promote, or skip to wait.
Every one of those paths needs Developer A to say yes. After that, it's in the file for the whole team.
Six months later, Developer B starts ADO-5678. When icea-feature drafts their ICEA, it reads the file at Step 3b, and the pattern is already applied. Developer B gets it right the first time, without knowing the pattern existed. Developer A said yes once. Developer B never had to ask.
Detail if asked: signals are written by signal-write.cjs to .claude/signals/, tallied in memory/topic-signals.md, and deleted after counting. The threshold is gap_promotion_threshold, default 2. SKIP keeps the count; PROMOTE writes the entry and resets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 if someone asks what stops project knowledge from going stale.
A pattern library is only useful if it's still true, so there are three checks.
The first two run every time we run Dream, as a second pass after the memory file. If an entry points at a class and that class is gone from the code, it's flagged and Dream suggests removing it. And anything older than six months or two releases gets flagged for a second look, even if its class still exists. For each flagged entry, the developer replies keep, remove, or update, and update asks for the corrected text.
The third check runs every time an ICEA is drafted. icea-feature treats each entry as something that was true at a point in time, checks it against today's code, and flags any conflict rather than quietly following it. Nobody has to do anything for that one.
It also stays lean. Signal files are deleted once they're counted, promoting a pattern resets its count, and anything that belongs in rule files, architecture docs, or a sprint update is kept out. So old patterns don't quietly steer new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RUNBOOK (about 4.5 minutes)
1. (45s) Open .claude/graph/graph.html, the live dependency diagram.
2. (45s) Ask "How does the auth flow work?" Point out that it explains the flow and shows the code behind each step, then find those modules in the graph.
3. (30s) Open memory/MEMORY.md and show a real past decision.
4. (30s) Open .claude/business-context.md and show the domain triggers. Use the example that fits the audience (SRA for legal, HIPAA for healthcare).
5. (90s) Describe a feature. Show ICEA firing, the Write Gate holding, the APPROVE step, and the diff being written. Keep a screen recording ready as a fallback.
6. (30s) Open the token-analysis report: which sessions are expensive and where context bloat happens.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CHEAT SHEET
How is this different from a good system prompt?
A system prompt is the same every time, and it's gone when the session ends. This builds up. The code map, the team's decisions, and the industry rules carry over and get better the more you use it.
Claude Code already has CLAUDE.md. Why this?
CLAUDE.md is useful, but someone has to write it and keep it current. Here, the memory writes itself as you work, and the cleanup clears out what's gone stale, so it doesn't just pile up.
Where does our data live? Does anything leave our network?
The code map, memory, and business context are files in our repo. We can open, read, or delete them. It only reaches outside in two cases: during migration work (upgrades, rewrites, replatforming) it searches for vendor documentation, with every query cleaned first so nothing sensitive or personal goes out; and once, during business context setup, it searches public regulations using only our domain and sub-domain, never our code. (Backup slide follows.)
Doesn't the code map go out of date?
No. It fingerprints each module and only redoes the ones that changed. It's quick enough to run on every commit.
What does "tech agnostic" actually mean?
It looks at our project files on setup and loads the right rules for our stack. You don't configure anything, and the commands are the same either way.
Why does the token tracking matter?
Past a certain point, stuffing more into a session makes answers worse, not better. It warns you before you get there, and the code map means it only loads what's relevant anyway.
What's the payoff?
We stop re-explaining our code every morning. The same mistake doesn't get made twice. Docs stay current without anyone owning them. And security reviews reflect the rules you actually answer to.
Can we use it on an existing project?
Yes. Run setup, and it sees what's already there and only fills in the gaps. You can rerun it anytime, and a status command shows what's still missing.
Who looks after the memory?
Anyone can add to it. The file is append-only, so nobody edits anyone else's entries. One person, usually the tech lead, runs the cleanup every five to eight sessions.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 if someone asks about data leaving the network.
Everything it builds lives in our repo: the code map, the memory file, and the business context. It only reaches outside in two cases. During migration work, meaning upgrades, rewrites, and replatforming, it searches for vendor documentation, and every query is cleaned first so nothing sensitive or personal goes out. And once, when we set up business context, it searches public regulations. That search gets only our domain and sub-domain, never our code.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GOTCHA, TOMORROW'S GUARDRAIL (about 45 seconds)
Memory is what happened. This is what we've learned. It's a small file for each application that collects patterns that make our ICEAs better. Say one developer finds that a certain repository always has to be declared up front. That goes in here once, and six months later a different developer on a different story gets it right the first time, without the back-and-forth.
Things get in three ways. We can add them by hand. Claude can suggest one after a lessons review. And when the same gap shows up on two or more stories, Dream proposes it for us, and we just say promote or skip. Every write goes through the Write Gate.
It also keeps itself honest. Entries can point at a class in the code, and if that class disappears, the entry gets flagged. Anything older than six months or two releases gets flagged for a second look. And when Claude reads the file, it checks each pattern against today's code before following it, so a stale entry gets caught before we even see the plan. At each Dream run, we decide: keep, remove, or update.
BACKUP DETAIL
Three separate files: memory/MEMORY.md holds developer decisions, errors, and architecture choices. ai-audit.md holds per-ADO governance. project-knowledge.md holds only patterns that improve future ICEAs.
What belongs: recurring dependency patterns, team naming conventions, ICEA anti-patterns that caused revisions, stack patterns unique to this codebase, and AC conventions.
What doesn't: general language or framework best practice (that goes in rule files), anything already in architecture.md (duplication creates drift), and transient information such as sprint goals, one-time setup steps, or status updates.
Entry format: numbered title, source ADO(s), date added and release, optional code anchor (class or interface name, used for auto-validation), then the pattern in 1-3 concrete sentences.
Manual path: KNOWLEDGE ADD / UPDATE {N} / REMOVE {N}. Immediate, through the Write Gate, no ADO required.
Semi-automatic path: after LESSONS ADO-{ID}, Claude asks whether a lesson belongs here and writes it on confirmation.
Auto-promotion (v3.25.0+): when an Example can't produce a real assertion, icea-implement writes a gap signal to .claude/signals/. Dream Phase 3.6 tallies signals by topic in memory/topic-signals.md and deletes the signal files. When a topic reaches gap_promotion_threshold (default 2) across different ADOs, Dream proposes an ADD. PROMOTE-{category} writes the entry and resets the count; SKIP-{category} defers it and keeps the count.
Staleness: layer 1 greps src/ for the code anchor and flags ANCHOR MISSING, proposing REMOVE. Layer 2 flags entries older than 180 days or 2 releases as AGE THRESHOLD, proposing REVALIDATE regardless of anchor status. Layer 3 is passive: icea-feature treats entries as point-in-time patterns, verifies them against current code, and flags conflicts. No developer action needed.
Dream order: project knowledge is checked as a second pass, after MEMORY.md and before Phase 4. Replies: KEEP-{N} accepts as-is, REMOVE-{N} deletes, UPDATE-{N} opens a follow-up prompt for replacement text.
Write Gate: no ADO ID needed, since the file is treated as plugin infrastructure, like ApprovalRoles.json.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2: AUTO-GENERATED ARCHITECTURE DOCS (about 30 seconds)
It writes our architecture docs for us. It reads the code and produces a document covering the layers, the dependencies, how data moves, and how it's deployed. Then it draws an interactive diagram from that. </a:t>
            </a:r>
          </a:p>
          <a:p>
            <a:r>
              <a:rPr lang="en-US" dirty="0"/>
              <a:t>Nobody's updating a Visio file the night before a review. You run one command and it's current.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3: TECH AGNOSTIC (about 30 seconds)
It doesn't care what you build in. .NET, Java, Python, Node. Angular or React. Azure DevOps or GitHub. It figures out our stack when we set it up, and after that, the commands and the workflow are the same everywhere. Someone moving between projects doesn't have to relearn anything.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0.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1.png"/><Relationship Id="rId4" Type="http://schemas.openxmlformats.org/officeDocument/2006/relationships/image" Target="../media/image31.pn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20.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0"/>
        </a:solidFill>
        <a:effectLst/>
      </p:bgPr>
    </p:bg>
    <p:spTree>
      <p:nvGrpSpPr>
        <p:cNvPr id="1" name=""/>
        <p:cNvGrpSpPr/>
        <p:nvPr/>
      </p:nvGrpSpPr>
      <p:grpSpPr>
        <a:xfrm>
          <a:off x="0" y="0"/>
          <a:ext cx="0" cy="0"/>
          <a:chOff x="0" y="0"/>
          <a:chExt cx="0" cy="0"/>
        </a:xfrm>
      </p:grpSpPr>
      <p:sp>
        <p:nvSpPr>
          <p:cNvPr id="18" name="Text 0">
            <a:extLst>
              <a:ext uri="{FF2B5EF4-FFF2-40B4-BE49-F238E27FC236}">
                <a16:creationId xmlns:a16="http://schemas.microsoft.com/office/drawing/2014/main" id="{19B3989C-3978-9C47-EE24-E986C1E3CC89}"/>
              </a:ext>
            </a:extLst>
          </p:cNvPr>
          <p:cNvSpPr txBox="1"/>
          <p:nvPr/>
        </p:nvSpPr>
        <p:spPr>
          <a:xfrm>
            <a:off x="705392" y="182883"/>
            <a:ext cx="4754880" cy="1737360"/>
          </a:xfrm>
          <a:prstGeom prst="rect">
            <a:avLst/>
          </a:prstGeom>
          <a:noFill/>
          <a:ln/>
        </p:spPr>
        <p:txBody>
          <a:bodyPr wrap="square" lIns="0" tIns="0" rIns="0" bIns="0" rtlCol="0" anchor="b"/>
          <a:lstStyle/>
          <a:p>
            <a:pPr marL="0" indent="0">
              <a:buNone/>
            </a:pPr>
            <a:r>
              <a:rPr lang="en-US" sz="3800" b="1" dirty="0">
                <a:solidFill>
                  <a:srgbClr val="FFFFFF"/>
                </a:solidFill>
                <a:latin typeface="Cambria" pitchFamily="34" charset="0"/>
                <a:ea typeface="Cambria" pitchFamily="34" charset="-122"/>
                <a:cs typeface="Cambria" pitchFamily="34" charset="-120"/>
              </a:rPr>
              <a:t>Guardrail: </a:t>
            </a:r>
            <a:r>
              <a:rPr lang="en-US" sz="3800" b="1" dirty="0">
                <a:solidFill>
                  <a:schemeClr val="accent4">
                    <a:lumMod val="20000"/>
                    <a:lumOff val="80000"/>
                  </a:schemeClr>
                </a:solidFill>
                <a:latin typeface="Cambria" pitchFamily="34" charset="0"/>
                <a:ea typeface="Cambria" pitchFamily="34" charset="-122"/>
                <a:cs typeface="Cambria" pitchFamily="34" charset="-120"/>
              </a:rPr>
              <a:t>Governed  </a:t>
            </a:r>
          </a:p>
          <a:p>
            <a:pPr marL="0" indent="0">
              <a:buNone/>
            </a:pPr>
            <a:r>
              <a:rPr lang="en-US" sz="3800" b="1" dirty="0">
                <a:solidFill>
                  <a:schemeClr val="accent4">
                    <a:lumMod val="20000"/>
                    <a:lumOff val="80000"/>
                  </a:schemeClr>
                </a:solidFill>
                <a:latin typeface="Cambria" pitchFamily="34" charset="0"/>
                <a:ea typeface="Cambria" pitchFamily="34" charset="-122"/>
                <a:cs typeface="Cambria" pitchFamily="34" charset="-120"/>
              </a:rPr>
              <a:t>AI-assisted delivery</a:t>
            </a:r>
            <a:endParaRPr lang="en-US" sz="3800" dirty="0">
              <a:solidFill>
                <a:schemeClr val="accent4">
                  <a:lumMod val="20000"/>
                  <a:lumOff val="80000"/>
                </a:schemeClr>
              </a:solidFill>
            </a:endParaRPr>
          </a:p>
        </p:txBody>
      </p:sp>
      <p:sp>
        <p:nvSpPr>
          <p:cNvPr id="19" name="Text 1">
            <a:extLst>
              <a:ext uri="{FF2B5EF4-FFF2-40B4-BE49-F238E27FC236}">
                <a16:creationId xmlns:a16="http://schemas.microsoft.com/office/drawing/2014/main" id="{D58A3AB1-11A1-BE79-32BD-1F448E2CC0FB}"/>
              </a:ext>
            </a:extLst>
          </p:cNvPr>
          <p:cNvSpPr txBox="1"/>
          <p:nvPr/>
        </p:nvSpPr>
        <p:spPr>
          <a:xfrm>
            <a:off x="705392" y="2103123"/>
            <a:ext cx="4572000" cy="731520"/>
          </a:xfrm>
          <a:prstGeom prst="rect">
            <a:avLst/>
          </a:prstGeom>
          <a:noFill/>
          <a:ln/>
        </p:spPr>
        <p:txBody>
          <a:bodyPr wrap="square" lIns="0" tIns="0" rIns="0" bIns="0" rtlCol="0" anchor="t"/>
          <a:lstStyle/>
          <a:p>
            <a:pPr marL="0" indent="0">
              <a:buNone/>
            </a:pPr>
            <a:r>
              <a:rPr lang="en-US" sz="1800" dirty="0">
                <a:solidFill>
                  <a:srgbClr val="B8C4C9"/>
                </a:solidFill>
                <a:latin typeface="Calibri" pitchFamily="34" charset="0"/>
                <a:ea typeface="Calibri" pitchFamily="34" charset="-122"/>
                <a:cs typeface="Calibri" pitchFamily="34" charset="-120"/>
              </a:rPr>
              <a:t>Memory, code knowledge, and industry awareness for Claude.</a:t>
            </a:r>
            <a:endParaRPr lang="en-US" sz="1800" dirty="0"/>
          </a:p>
        </p:txBody>
      </p:sp>
      <p:sp>
        <p:nvSpPr>
          <p:cNvPr id="20" name="Shape 2">
            <a:extLst>
              <a:ext uri="{FF2B5EF4-FFF2-40B4-BE49-F238E27FC236}">
                <a16:creationId xmlns:a16="http://schemas.microsoft.com/office/drawing/2014/main" id="{0589CE60-AB27-8E8C-5933-A17AF1840C2D}"/>
              </a:ext>
            </a:extLst>
          </p:cNvPr>
          <p:cNvSpPr/>
          <p:nvPr/>
        </p:nvSpPr>
        <p:spPr>
          <a:xfrm>
            <a:off x="6035040" y="914400"/>
            <a:ext cx="2651760" cy="868680"/>
          </a:xfrm>
          <a:prstGeom prst="roundRect">
            <a:avLst>
              <a:gd name="adj" fmla="val 12632"/>
            </a:avLst>
          </a:prstGeom>
          <a:solidFill>
            <a:srgbClr val="2B3940"/>
          </a:solidFill>
          <a:ln w="12700">
            <a:solidFill>
              <a:srgbClr val="2B3940"/>
            </a:solidFill>
            <a:prstDash val="solid"/>
          </a:ln>
        </p:spPr>
        <p:txBody>
          <a:bodyPr/>
          <a:lstStyle/>
          <a:p>
            <a:endParaRPr lang="en-US"/>
          </a:p>
        </p:txBody>
      </p:sp>
      <p:sp>
        <p:nvSpPr>
          <p:cNvPr id="21" name="Shape 3">
            <a:extLst>
              <a:ext uri="{FF2B5EF4-FFF2-40B4-BE49-F238E27FC236}">
                <a16:creationId xmlns:a16="http://schemas.microsoft.com/office/drawing/2014/main" id="{8835E98F-712B-498B-7239-B2B146466AEA}"/>
              </a:ext>
            </a:extLst>
          </p:cNvPr>
          <p:cNvSpPr/>
          <p:nvPr/>
        </p:nvSpPr>
        <p:spPr>
          <a:xfrm>
            <a:off x="6263640" y="1097280"/>
            <a:ext cx="502920" cy="502920"/>
          </a:xfrm>
          <a:prstGeom prst="ellipse">
            <a:avLst/>
          </a:prstGeom>
          <a:solidFill>
            <a:srgbClr val="4A5A63"/>
          </a:solidFill>
          <a:ln w="12700">
            <a:solidFill>
              <a:srgbClr val="4A5A63"/>
            </a:solidFill>
            <a:prstDash val="solid"/>
          </a:ln>
        </p:spPr>
        <p:txBody>
          <a:bodyPr/>
          <a:lstStyle/>
          <a:p>
            <a:endParaRPr lang="en-US"/>
          </a:p>
        </p:txBody>
      </p:sp>
      <p:pic>
        <p:nvPicPr>
          <p:cNvPr id="22" name="Image 0" descr="preencoded.png">
            <a:extLst>
              <a:ext uri="{FF2B5EF4-FFF2-40B4-BE49-F238E27FC236}">
                <a16:creationId xmlns:a16="http://schemas.microsoft.com/office/drawing/2014/main" id="{36CAC93A-3ECC-B52A-9517-9B88E0C95E66}"/>
              </a:ext>
            </a:extLst>
          </p:cNvPr>
          <p:cNvPicPr>
            <a:picLocks noChangeAspect="1"/>
          </p:cNvPicPr>
          <p:nvPr/>
        </p:nvPicPr>
        <p:blipFill>
          <a:blip r:embed="rId3"/>
          <a:stretch>
            <a:fillRect/>
          </a:stretch>
        </p:blipFill>
        <p:spPr>
          <a:xfrm>
            <a:off x="6389370" y="1223010"/>
            <a:ext cx="251460" cy="251460"/>
          </a:xfrm>
          <a:prstGeom prst="rect">
            <a:avLst/>
          </a:prstGeom>
        </p:spPr>
      </p:pic>
      <p:sp>
        <p:nvSpPr>
          <p:cNvPr id="23" name="Text 4">
            <a:extLst>
              <a:ext uri="{FF2B5EF4-FFF2-40B4-BE49-F238E27FC236}">
                <a16:creationId xmlns:a16="http://schemas.microsoft.com/office/drawing/2014/main" id="{26C16E9D-8786-897E-3131-6C8FEF3647DA}"/>
              </a:ext>
            </a:extLst>
          </p:cNvPr>
          <p:cNvSpPr txBox="1"/>
          <p:nvPr/>
        </p:nvSpPr>
        <p:spPr>
          <a:xfrm>
            <a:off x="6949440" y="914400"/>
            <a:ext cx="1554480" cy="8686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Our team</a:t>
            </a:r>
            <a:endParaRPr lang="en-US" sz="1800" dirty="0"/>
          </a:p>
        </p:txBody>
      </p:sp>
      <p:sp>
        <p:nvSpPr>
          <p:cNvPr id="24" name="Shape 5">
            <a:extLst>
              <a:ext uri="{FF2B5EF4-FFF2-40B4-BE49-F238E27FC236}">
                <a16:creationId xmlns:a16="http://schemas.microsoft.com/office/drawing/2014/main" id="{2FFFEE5E-7717-1877-AE6F-5B3F21792183}"/>
              </a:ext>
            </a:extLst>
          </p:cNvPr>
          <p:cNvSpPr/>
          <p:nvPr/>
        </p:nvSpPr>
        <p:spPr>
          <a:xfrm>
            <a:off x="6035040" y="2148840"/>
            <a:ext cx="2651760" cy="868680"/>
          </a:xfrm>
          <a:prstGeom prst="roundRect">
            <a:avLst>
              <a:gd name="adj" fmla="val 12632"/>
            </a:avLst>
          </a:prstGeom>
          <a:solidFill>
            <a:srgbClr val="2A9D8F"/>
          </a:solidFill>
          <a:ln w="12700">
            <a:solidFill>
              <a:srgbClr val="2A9D8F"/>
            </a:solidFill>
            <a:prstDash val="solid"/>
          </a:ln>
        </p:spPr>
        <p:txBody>
          <a:bodyPr/>
          <a:lstStyle/>
          <a:p>
            <a:endParaRPr lang="en-US"/>
          </a:p>
        </p:txBody>
      </p:sp>
      <p:sp>
        <p:nvSpPr>
          <p:cNvPr id="25" name="Shape 6">
            <a:extLst>
              <a:ext uri="{FF2B5EF4-FFF2-40B4-BE49-F238E27FC236}">
                <a16:creationId xmlns:a16="http://schemas.microsoft.com/office/drawing/2014/main" id="{3EA7C242-025F-A557-CE23-3498E98CA4F8}"/>
              </a:ext>
            </a:extLst>
          </p:cNvPr>
          <p:cNvSpPr/>
          <p:nvPr/>
        </p:nvSpPr>
        <p:spPr>
          <a:xfrm>
            <a:off x="6263640" y="2331720"/>
            <a:ext cx="502920" cy="502920"/>
          </a:xfrm>
          <a:prstGeom prst="ellipse">
            <a:avLst/>
          </a:prstGeom>
          <a:solidFill>
            <a:srgbClr val="1F2A30"/>
          </a:solidFill>
          <a:ln w="12700">
            <a:solidFill>
              <a:srgbClr val="1F2A30"/>
            </a:solidFill>
            <a:prstDash val="solid"/>
          </a:ln>
        </p:spPr>
        <p:txBody>
          <a:bodyPr/>
          <a:lstStyle/>
          <a:p>
            <a:endParaRPr lang="en-US"/>
          </a:p>
        </p:txBody>
      </p:sp>
      <p:pic>
        <p:nvPicPr>
          <p:cNvPr id="26" name="Image 1" descr="preencoded.png">
            <a:extLst>
              <a:ext uri="{FF2B5EF4-FFF2-40B4-BE49-F238E27FC236}">
                <a16:creationId xmlns:a16="http://schemas.microsoft.com/office/drawing/2014/main" id="{E9D04106-7B5F-B2E9-9A84-879644567546}"/>
              </a:ext>
            </a:extLst>
          </p:cNvPr>
          <p:cNvPicPr>
            <a:picLocks noChangeAspect="1"/>
          </p:cNvPicPr>
          <p:nvPr/>
        </p:nvPicPr>
        <p:blipFill>
          <a:blip r:embed="rId4"/>
          <a:stretch>
            <a:fillRect/>
          </a:stretch>
        </p:blipFill>
        <p:spPr>
          <a:xfrm>
            <a:off x="6389370" y="2457450"/>
            <a:ext cx="251460" cy="251460"/>
          </a:xfrm>
          <a:prstGeom prst="rect">
            <a:avLst/>
          </a:prstGeom>
        </p:spPr>
      </p:pic>
      <p:sp>
        <p:nvSpPr>
          <p:cNvPr id="27" name="Text 7">
            <a:extLst>
              <a:ext uri="{FF2B5EF4-FFF2-40B4-BE49-F238E27FC236}">
                <a16:creationId xmlns:a16="http://schemas.microsoft.com/office/drawing/2014/main" id="{2D1D218C-CDFB-638F-1C8F-140D2860E902}"/>
              </a:ext>
            </a:extLst>
          </p:cNvPr>
          <p:cNvSpPr txBox="1"/>
          <p:nvPr/>
        </p:nvSpPr>
        <p:spPr>
          <a:xfrm>
            <a:off x="6949440" y="2148840"/>
            <a:ext cx="1554480" cy="8686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Framework </a:t>
            </a:r>
          </a:p>
          <a:p>
            <a:pPr marL="0" indent="0">
              <a:buNone/>
            </a:pPr>
            <a:r>
              <a:rPr lang="en-US" b="1" dirty="0">
                <a:solidFill>
                  <a:srgbClr val="FFFFFF"/>
                </a:solidFill>
                <a:latin typeface="Calibri" pitchFamily="34" charset="0"/>
                <a:ea typeface="Calibri" pitchFamily="34" charset="-122"/>
                <a:cs typeface="Calibri" pitchFamily="34" charset="-120"/>
              </a:rPr>
              <a:t>(</a:t>
            </a:r>
            <a:r>
              <a:rPr lang="en-US" sz="1800" b="1" dirty="0">
                <a:solidFill>
                  <a:srgbClr val="FFFFFF"/>
                </a:solidFill>
                <a:latin typeface="Calibri" pitchFamily="34" charset="0"/>
                <a:ea typeface="Calibri" pitchFamily="34" charset="-122"/>
                <a:cs typeface="Calibri" pitchFamily="34" charset="-120"/>
              </a:rPr>
              <a:t>as Guardrail)</a:t>
            </a:r>
            <a:endParaRPr lang="en-US" sz="1800" dirty="0"/>
          </a:p>
        </p:txBody>
      </p:sp>
      <p:sp>
        <p:nvSpPr>
          <p:cNvPr id="28" name="Shape 8">
            <a:extLst>
              <a:ext uri="{FF2B5EF4-FFF2-40B4-BE49-F238E27FC236}">
                <a16:creationId xmlns:a16="http://schemas.microsoft.com/office/drawing/2014/main" id="{5452B631-6962-79D7-9904-1CC632D22F4D}"/>
              </a:ext>
            </a:extLst>
          </p:cNvPr>
          <p:cNvSpPr/>
          <p:nvPr/>
        </p:nvSpPr>
        <p:spPr>
          <a:xfrm>
            <a:off x="6035040" y="3383280"/>
            <a:ext cx="2651760" cy="868680"/>
          </a:xfrm>
          <a:prstGeom prst="roundRect">
            <a:avLst>
              <a:gd name="adj" fmla="val 12632"/>
            </a:avLst>
          </a:prstGeom>
          <a:solidFill>
            <a:srgbClr val="2B3940"/>
          </a:solidFill>
          <a:ln w="12700">
            <a:solidFill>
              <a:srgbClr val="2B3940"/>
            </a:solidFill>
            <a:prstDash val="solid"/>
          </a:ln>
        </p:spPr>
        <p:txBody>
          <a:bodyPr/>
          <a:lstStyle/>
          <a:p>
            <a:endParaRPr lang="en-US"/>
          </a:p>
        </p:txBody>
      </p:sp>
      <p:sp>
        <p:nvSpPr>
          <p:cNvPr id="29" name="Shape 9">
            <a:extLst>
              <a:ext uri="{FF2B5EF4-FFF2-40B4-BE49-F238E27FC236}">
                <a16:creationId xmlns:a16="http://schemas.microsoft.com/office/drawing/2014/main" id="{59953665-A059-42B4-C9D5-EEA6827EED5D}"/>
              </a:ext>
            </a:extLst>
          </p:cNvPr>
          <p:cNvSpPr/>
          <p:nvPr/>
        </p:nvSpPr>
        <p:spPr>
          <a:xfrm>
            <a:off x="6263640" y="3566160"/>
            <a:ext cx="502920" cy="502920"/>
          </a:xfrm>
          <a:prstGeom prst="ellipse">
            <a:avLst/>
          </a:prstGeom>
          <a:solidFill>
            <a:srgbClr val="4A5A63"/>
          </a:solidFill>
          <a:ln w="12700">
            <a:solidFill>
              <a:srgbClr val="4A5A63"/>
            </a:solidFill>
            <a:prstDash val="solid"/>
          </a:ln>
        </p:spPr>
        <p:txBody>
          <a:bodyPr/>
          <a:lstStyle/>
          <a:p>
            <a:endParaRPr lang="en-US"/>
          </a:p>
        </p:txBody>
      </p:sp>
      <p:pic>
        <p:nvPicPr>
          <p:cNvPr id="30" name="Image 2" descr="preencoded.png">
            <a:extLst>
              <a:ext uri="{FF2B5EF4-FFF2-40B4-BE49-F238E27FC236}">
                <a16:creationId xmlns:a16="http://schemas.microsoft.com/office/drawing/2014/main" id="{8A53739A-50A3-55FC-CED3-976208C3AFCA}"/>
              </a:ext>
            </a:extLst>
          </p:cNvPr>
          <p:cNvPicPr>
            <a:picLocks noChangeAspect="1"/>
          </p:cNvPicPr>
          <p:nvPr/>
        </p:nvPicPr>
        <p:blipFill>
          <a:blip r:embed="rId5"/>
          <a:stretch>
            <a:fillRect/>
          </a:stretch>
        </p:blipFill>
        <p:spPr>
          <a:xfrm>
            <a:off x="6389370" y="3691890"/>
            <a:ext cx="251460" cy="251460"/>
          </a:xfrm>
          <a:prstGeom prst="rect">
            <a:avLst/>
          </a:prstGeom>
        </p:spPr>
      </p:pic>
      <p:sp>
        <p:nvSpPr>
          <p:cNvPr id="31" name="Text 10">
            <a:extLst>
              <a:ext uri="{FF2B5EF4-FFF2-40B4-BE49-F238E27FC236}">
                <a16:creationId xmlns:a16="http://schemas.microsoft.com/office/drawing/2014/main" id="{B90C15D1-1158-E3F1-4F91-5CC098237162}"/>
              </a:ext>
            </a:extLst>
          </p:cNvPr>
          <p:cNvSpPr txBox="1"/>
          <p:nvPr/>
        </p:nvSpPr>
        <p:spPr>
          <a:xfrm>
            <a:off x="6949440" y="3383280"/>
            <a:ext cx="1554480" cy="8686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Claude</a:t>
            </a:r>
            <a:endParaRPr lang="en-US" sz="1800" dirty="0"/>
          </a:p>
        </p:txBody>
      </p:sp>
      <p:sp>
        <p:nvSpPr>
          <p:cNvPr id="32" name="Shape 11">
            <a:extLst>
              <a:ext uri="{FF2B5EF4-FFF2-40B4-BE49-F238E27FC236}">
                <a16:creationId xmlns:a16="http://schemas.microsoft.com/office/drawing/2014/main" id="{12656343-E6AA-00B9-6064-3AE05D296E87}"/>
              </a:ext>
            </a:extLst>
          </p:cNvPr>
          <p:cNvSpPr/>
          <p:nvPr/>
        </p:nvSpPr>
        <p:spPr>
          <a:xfrm>
            <a:off x="7360920" y="1828800"/>
            <a:ext cx="914" cy="274320"/>
          </a:xfrm>
          <a:prstGeom prst="line">
            <a:avLst/>
          </a:prstGeom>
          <a:noFill/>
          <a:ln w="22225">
            <a:solidFill>
              <a:srgbClr val="7A8A92"/>
            </a:solidFill>
            <a:prstDash val="solid"/>
            <a:tailEnd type="triangle"/>
          </a:ln>
        </p:spPr>
        <p:txBody>
          <a:bodyPr/>
          <a:lstStyle/>
          <a:p>
            <a:endParaRPr lang="en-US"/>
          </a:p>
        </p:txBody>
      </p:sp>
      <p:sp>
        <p:nvSpPr>
          <p:cNvPr id="33" name="Shape 12">
            <a:extLst>
              <a:ext uri="{FF2B5EF4-FFF2-40B4-BE49-F238E27FC236}">
                <a16:creationId xmlns:a16="http://schemas.microsoft.com/office/drawing/2014/main" id="{66CCCFD4-5734-F829-C04E-D1328E701EE5}"/>
              </a:ext>
            </a:extLst>
          </p:cNvPr>
          <p:cNvSpPr/>
          <p:nvPr/>
        </p:nvSpPr>
        <p:spPr>
          <a:xfrm>
            <a:off x="7360920" y="3063240"/>
            <a:ext cx="914" cy="274320"/>
          </a:xfrm>
          <a:prstGeom prst="line">
            <a:avLst/>
          </a:prstGeom>
          <a:noFill/>
          <a:ln w="22225">
            <a:solidFill>
              <a:srgbClr val="7A8A92"/>
            </a:solidFill>
            <a:prstDash val="solid"/>
            <a:tailEnd type="triangle"/>
          </a:ln>
        </p:spPr>
        <p:txBody>
          <a:bodyPr/>
          <a:lstStyle/>
          <a:p>
            <a:endParaRPr lang="en-US"/>
          </a:p>
        </p:txBody>
      </p:sp>
      <p:sp>
        <p:nvSpPr>
          <p:cNvPr id="34" name="Text 1">
            <a:extLst>
              <a:ext uri="{FF2B5EF4-FFF2-40B4-BE49-F238E27FC236}">
                <a16:creationId xmlns:a16="http://schemas.microsoft.com/office/drawing/2014/main" id="{B3587EC3-9653-6819-F9E3-78E740604CE2}"/>
              </a:ext>
            </a:extLst>
          </p:cNvPr>
          <p:cNvSpPr txBox="1"/>
          <p:nvPr/>
        </p:nvSpPr>
        <p:spPr>
          <a:xfrm>
            <a:off x="705392" y="3383280"/>
            <a:ext cx="4572000" cy="731520"/>
          </a:xfrm>
          <a:prstGeom prst="rect">
            <a:avLst/>
          </a:prstGeom>
          <a:noFill/>
          <a:ln/>
        </p:spPr>
        <p:txBody>
          <a:bodyPr wrap="square" lIns="0" tIns="0" rIns="0" bIns="0" rtlCol="0" anchor="t"/>
          <a:lstStyle/>
          <a:p>
            <a:r>
              <a:rPr lang="en-US" sz="2400" dirty="0">
                <a:solidFill>
                  <a:schemeClr val="accent2">
                    <a:lumMod val="60000"/>
                    <a:lumOff val="40000"/>
                  </a:schemeClr>
                </a:solidFill>
                <a:latin typeface="Calibri" pitchFamily="34" charset="0"/>
                <a:ea typeface="Calibri" pitchFamily="34" charset="-122"/>
                <a:cs typeface="Calibri" pitchFamily="34" charset="-120"/>
              </a:rPr>
              <a:t>Vivek Rawat</a:t>
            </a:r>
          </a:p>
          <a:p>
            <a:r>
              <a:rPr lang="en-US" sz="1600" dirty="0">
                <a:solidFill>
                  <a:schemeClr val="accent2">
                    <a:lumMod val="20000"/>
                    <a:lumOff val="80000"/>
                  </a:schemeClr>
                </a:solidFill>
              </a:rPr>
              <a:t>September 2026</a:t>
            </a:r>
          </a:p>
        </p:txBody>
      </p:sp>
      <p:cxnSp>
        <p:nvCxnSpPr>
          <p:cNvPr id="35" name="Straight Connector 34">
            <a:extLst>
              <a:ext uri="{FF2B5EF4-FFF2-40B4-BE49-F238E27FC236}">
                <a16:creationId xmlns:a16="http://schemas.microsoft.com/office/drawing/2014/main" id="{6187BF72-EBA8-0BCE-7B48-8D04DDBBB163}"/>
              </a:ext>
            </a:extLst>
          </p:cNvPr>
          <p:cNvCxnSpPr/>
          <p:nvPr/>
        </p:nvCxnSpPr>
        <p:spPr>
          <a:xfrm>
            <a:off x="5755821" y="457200"/>
            <a:ext cx="0" cy="429768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2A30"/>
        </a:solidFill>
        <a:effectLst/>
      </p:bgPr>
    </p:bg>
    <p:spTree>
      <p:nvGrpSpPr>
        <p:cNvPr id="1" name=""/>
        <p:cNvGrpSpPr/>
        <p:nvPr/>
      </p:nvGrpSpPr>
      <p:grpSpPr>
        <a:xfrm>
          <a:off x="0" y="0"/>
          <a:ext cx="0" cy="0"/>
          <a:chOff x="0" y="0"/>
          <a:chExt cx="0" cy="0"/>
        </a:xfrm>
      </p:grpSpPr>
      <p:sp>
        <p:nvSpPr>
          <p:cNvPr id="2" name="Text 0"/>
          <p:cNvSpPr txBox="1"/>
          <p:nvPr/>
        </p:nvSpPr>
        <p:spPr>
          <a:xfrm>
            <a:off x="457200" y="1280160"/>
            <a:ext cx="3840480" cy="164592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Why does Claude keep forgetting our project?</a:t>
            </a:r>
            <a:endParaRPr lang="en-US" sz="3200" dirty="0"/>
          </a:p>
        </p:txBody>
      </p:sp>
      <p:sp>
        <p:nvSpPr>
          <p:cNvPr id="3" name="Text 1"/>
          <p:cNvSpPr txBox="1"/>
          <p:nvPr/>
        </p:nvSpPr>
        <p:spPr>
          <a:xfrm>
            <a:off x="457200" y="3063240"/>
            <a:ext cx="3840480" cy="457200"/>
          </a:xfrm>
          <a:prstGeom prst="rect">
            <a:avLst/>
          </a:prstGeom>
          <a:noFill/>
          <a:ln/>
        </p:spPr>
        <p:txBody>
          <a:bodyPr wrap="square" lIns="0" tIns="0" rIns="0" bIns="0" rtlCol="0" anchor="t"/>
          <a:lstStyle/>
          <a:p>
            <a:pPr marL="0" indent="0">
              <a:buNone/>
            </a:pPr>
            <a:r>
              <a:rPr lang="en-US" sz="1600" i="1" dirty="0">
                <a:solidFill>
                  <a:srgbClr val="B8C4C9"/>
                </a:solidFill>
                <a:latin typeface="Calibri" pitchFamily="34" charset="0"/>
                <a:ea typeface="Calibri" pitchFamily="34" charset="-122"/>
                <a:cs typeface="Calibri" pitchFamily="34" charset="-120"/>
              </a:rPr>
              <a:t>And what it takes to make it remember.</a:t>
            </a:r>
            <a:endParaRPr lang="en-US" sz="1600" dirty="0"/>
          </a:p>
        </p:txBody>
      </p:sp>
      <p:sp>
        <p:nvSpPr>
          <p:cNvPr id="4" name="Shape 2"/>
          <p:cNvSpPr/>
          <p:nvPr/>
        </p:nvSpPr>
        <p:spPr>
          <a:xfrm>
            <a:off x="4754880" y="548640"/>
            <a:ext cx="3931920" cy="1874520"/>
          </a:xfrm>
          <a:prstGeom prst="roundRect">
            <a:avLst>
              <a:gd name="adj" fmla="val 5854"/>
            </a:avLst>
          </a:prstGeom>
          <a:solidFill>
            <a:srgbClr val="2B3940"/>
          </a:solidFill>
          <a:ln w="12700">
            <a:solidFill>
              <a:srgbClr val="2B3940"/>
            </a:solidFill>
            <a:prstDash val="solid"/>
          </a:ln>
        </p:spPr>
        <p:txBody>
          <a:bodyPr/>
          <a:lstStyle/>
          <a:p>
            <a:endParaRPr lang="en-US"/>
          </a:p>
        </p:txBody>
      </p:sp>
      <p:sp>
        <p:nvSpPr>
          <p:cNvPr id="5" name="Text 3"/>
          <p:cNvSpPr txBox="1"/>
          <p:nvPr/>
        </p:nvSpPr>
        <p:spPr>
          <a:xfrm>
            <a:off x="4983480" y="713232"/>
            <a:ext cx="1828800" cy="274320"/>
          </a:xfrm>
          <a:prstGeom prst="rect">
            <a:avLst/>
          </a:prstGeom>
          <a:noFill/>
          <a:ln/>
        </p:spPr>
        <p:txBody>
          <a:bodyPr wrap="square" lIns="0" tIns="0" rIns="0" bIns="0" rtlCol="0" anchor="t"/>
          <a:lstStyle/>
          <a:p>
            <a:pPr marL="0" indent="0">
              <a:buNone/>
            </a:pPr>
            <a:r>
              <a:rPr lang="en-US" sz="1100" b="1" kern="0" spc="300" dirty="0">
                <a:solidFill>
                  <a:srgbClr val="E9A23B"/>
                </a:solidFill>
                <a:latin typeface="Calibri" pitchFamily="34" charset="0"/>
                <a:ea typeface="Calibri" pitchFamily="34" charset="-122"/>
                <a:cs typeface="Calibri" pitchFamily="34" charset="-120"/>
              </a:rPr>
              <a:t>MONDAY</a:t>
            </a:r>
            <a:endParaRPr lang="en-US" sz="1100" dirty="0"/>
          </a:p>
        </p:txBody>
      </p:sp>
      <p:sp>
        <p:nvSpPr>
          <p:cNvPr id="6" name="Shape 4"/>
          <p:cNvSpPr/>
          <p:nvPr/>
        </p:nvSpPr>
        <p:spPr>
          <a:xfrm>
            <a:off x="5486400" y="1051560"/>
            <a:ext cx="3017520" cy="566928"/>
          </a:xfrm>
          <a:prstGeom prst="roundRect">
            <a:avLst>
              <a:gd name="adj" fmla="val 16129"/>
            </a:avLst>
          </a:prstGeom>
          <a:solidFill>
            <a:srgbClr val="3E5058"/>
          </a:solidFill>
          <a:ln w="12700">
            <a:solidFill>
              <a:srgbClr val="3E5058"/>
            </a:solidFill>
            <a:prstDash val="solid"/>
          </a:ln>
        </p:spPr>
        <p:txBody>
          <a:bodyPr/>
          <a:lstStyle/>
          <a:p>
            <a:endParaRPr lang="en-US"/>
          </a:p>
        </p:txBody>
      </p:sp>
      <p:sp>
        <p:nvSpPr>
          <p:cNvPr id="7" name="Text 5"/>
          <p:cNvSpPr txBox="1"/>
          <p:nvPr/>
        </p:nvSpPr>
        <p:spPr>
          <a:xfrm>
            <a:off x="5596128" y="1051560"/>
            <a:ext cx="2816352" cy="56692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Here's our architecture. Auth runs through the gateway, orders call billing…</a:t>
            </a:r>
            <a:endParaRPr lang="en-US" sz="1100" dirty="0"/>
          </a:p>
        </p:txBody>
      </p:sp>
      <p:sp>
        <p:nvSpPr>
          <p:cNvPr id="8" name="Shape 6"/>
          <p:cNvSpPr/>
          <p:nvPr/>
        </p:nvSpPr>
        <p:spPr>
          <a:xfrm>
            <a:off x="4983480" y="1719072"/>
            <a:ext cx="3017520" cy="530352"/>
          </a:xfrm>
          <a:prstGeom prst="roundRect">
            <a:avLst>
              <a:gd name="adj" fmla="val 17241"/>
            </a:avLst>
          </a:prstGeom>
          <a:solidFill>
            <a:srgbClr val="D5EEEB"/>
          </a:solidFill>
          <a:ln w="12700">
            <a:solidFill>
              <a:srgbClr val="D5EEEB"/>
            </a:solidFill>
            <a:prstDash val="solid"/>
          </a:ln>
        </p:spPr>
        <p:txBody>
          <a:bodyPr/>
          <a:lstStyle/>
          <a:p>
            <a:endParaRPr lang="en-US"/>
          </a:p>
        </p:txBody>
      </p:sp>
      <p:sp>
        <p:nvSpPr>
          <p:cNvPr id="9" name="Text 7"/>
          <p:cNvSpPr txBox="1"/>
          <p:nvPr/>
        </p:nvSpPr>
        <p:spPr>
          <a:xfrm>
            <a:off x="5093208" y="1719072"/>
            <a:ext cx="2816352" cy="530352"/>
          </a:xfrm>
          <a:prstGeom prst="rect">
            <a:avLst/>
          </a:prstGeom>
          <a:noFill/>
          <a:ln/>
        </p:spPr>
        <p:txBody>
          <a:bodyPr wrap="square" lIns="0" tIns="0" rIns="0" bIns="0" rtlCol="0" anchor="ctr"/>
          <a:lstStyle/>
          <a:p>
            <a:pPr marL="0" indent="0">
              <a:buNone/>
            </a:pPr>
            <a:r>
              <a:rPr lang="en-US" sz="1100" dirty="0">
                <a:solidFill>
                  <a:srgbClr val="1F2A30"/>
                </a:solidFill>
                <a:latin typeface="Calibri" pitchFamily="34" charset="0"/>
                <a:ea typeface="Calibri" pitchFamily="34" charset="-122"/>
                <a:cs typeface="Calibri" pitchFamily="34" charset="-120"/>
              </a:rPr>
              <a:t>Got it. Here's how I'd make that change.</a:t>
            </a:r>
            <a:endParaRPr lang="en-US" sz="1100" dirty="0"/>
          </a:p>
        </p:txBody>
      </p:sp>
      <p:sp>
        <p:nvSpPr>
          <p:cNvPr id="10" name="Shape 8"/>
          <p:cNvSpPr/>
          <p:nvPr/>
        </p:nvSpPr>
        <p:spPr>
          <a:xfrm>
            <a:off x="4754880" y="2697480"/>
            <a:ext cx="3931920" cy="1874520"/>
          </a:xfrm>
          <a:prstGeom prst="roundRect">
            <a:avLst>
              <a:gd name="adj" fmla="val 5854"/>
            </a:avLst>
          </a:prstGeom>
          <a:solidFill>
            <a:srgbClr val="2B3940"/>
          </a:solidFill>
          <a:ln w="12700">
            <a:solidFill>
              <a:srgbClr val="2B3940"/>
            </a:solidFill>
            <a:prstDash val="solid"/>
          </a:ln>
        </p:spPr>
        <p:txBody>
          <a:bodyPr/>
          <a:lstStyle/>
          <a:p>
            <a:endParaRPr lang="en-US"/>
          </a:p>
        </p:txBody>
      </p:sp>
      <p:sp>
        <p:nvSpPr>
          <p:cNvPr id="11" name="Text 9"/>
          <p:cNvSpPr txBox="1"/>
          <p:nvPr/>
        </p:nvSpPr>
        <p:spPr>
          <a:xfrm>
            <a:off x="4983480" y="2862072"/>
            <a:ext cx="1828800" cy="274320"/>
          </a:xfrm>
          <a:prstGeom prst="rect">
            <a:avLst/>
          </a:prstGeom>
          <a:noFill/>
          <a:ln/>
        </p:spPr>
        <p:txBody>
          <a:bodyPr wrap="square" lIns="0" tIns="0" rIns="0" bIns="0" rtlCol="0" anchor="t"/>
          <a:lstStyle/>
          <a:p>
            <a:pPr marL="0" indent="0">
              <a:buNone/>
            </a:pPr>
            <a:r>
              <a:rPr lang="en-US" sz="1100" b="1" kern="0" spc="300" dirty="0">
                <a:solidFill>
                  <a:srgbClr val="E9A23B"/>
                </a:solidFill>
                <a:latin typeface="Calibri" pitchFamily="34" charset="0"/>
                <a:ea typeface="Calibri" pitchFamily="34" charset="-122"/>
                <a:cs typeface="Calibri" pitchFamily="34" charset="-120"/>
              </a:rPr>
              <a:t>TUESDAY</a:t>
            </a:r>
            <a:endParaRPr lang="en-US" sz="1100" dirty="0"/>
          </a:p>
        </p:txBody>
      </p:sp>
      <p:sp>
        <p:nvSpPr>
          <p:cNvPr id="12" name="Shape 10"/>
          <p:cNvSpPr/>
          <p:nvPr/>
        </p:nvSpPr>
        <p:spPr>
          <a:xfrm>
            <a:off x="5486400" y="3200400"/>
            <a:ext cx="3017520" cy="566928"/>
          </a:xfrm>
          <a:prstGeom prst="roundRect">
            <a:avLst>
              <a:gd name="adj" fmla="val 16129"/>
            </a:avLst>
          </a:prstGeom>
          <a:solidFill>
            <a:srgbClr val="3E5058"/>
          </a:solidFill>
          <a:ln w="12700">
            <a:solidFill>
              <a:srgbClr val="3E5058"/>
            </a:solidFill>
            <a:prstDash val="solid"/>
          </a:ln>
        </p:spPr>
        <p:txBody>
          <a:bodyPr/>
          <a:lstStyle/>
          <a:p>
            <a:endParaRPr lang="en-US"/>
          </a:p>
        </p:txBody>
      </p:sp>
      <p:sp>
        <p:nvSpPr>
          <p:cNvPr id="13" name="Text 11"/>
          <p:cNvSpPr txBox="1"/>
          <p:nvPr/>
        </p:nvSpPr>
        <p:spPr>
          <a:xfrm>
            <a:off x="5596128" y="3200400"/>
            <a:ext cx="2816352" cy="56692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Let's pick up where we left off.</a:t>
            </a:r>
            <a:endParaRPr lang="en-US" sz="1100" dirty="0"/>
          </a:p>
        </p:txBody>
      </p:sp>
      <p:sp>
        <p:nvSpPr>
          <p:cNvPr id="14" name="Shape 12"/>
          <p:cNvSpPr/>
          <p:nvPr/>
        </p:nvSpPr>
        <p:spPr>
          <a:xfrm>
            <a:off x="4983480" y="3867912"/>
            <a:ext cx="3017520" cy="530352"/>
          </a:xfrm>
          <a:prstGeom prst="roundRect">
            <a:avLst>
              <a:gd name="adj" fmla="val 17241"/>
            </a:avLst>
          </a:prstGeom>
          <a:solidFill>
            <a:srgbClr val="FBEBD2"/>
          </a:solidFill>
          <a:ln w="12700">
            <a:solidFill>
              <a:srgbClr val="FBEBD2"/>
            </a:solidFill>
            <a:prstDash val="solid"/>
          </a:ln>
        </p:spPr>
        <p:txBody>
          <a:bodyPr/>
          <a:lstStyle/>
          <a:p>
            <a:endParaRPr lang="en-US"/>
          </a:p>
        </p:txBody>
      </p:sp>
      <p:sp>
        <p:nvSpPr>
          <p:cNvPr id="15" name="Text 13"/>
          <p:cNvSpPr txBox="1"/>
          <p:nvPr/>
        </p:nvSpPr>
        <p:spPr>
          <a:xfrm>
            <a:off x="5093208" y="3867912"/>
            <a:ext cx="2816352" cy="530352"/>
          </a:xfrm>
          <a:prstGeom prst="rect">
            <a:avLst/>
          </a:prstGeom>
          <a:noFill/>
          <a:ln/>
        </p:spPr>
        <p:txBody>
          <a:bodyPr wrap="square" lIns="0" tIns="0" rIns="0" bIns="0" rtlCol="0" anchor="ctr"/>
          <a:lstStyle/>
          <a:p>
            <a:pPr marL="0" indent="0">
              <a:buNone/>
            </a:pPr>
            <a:r>
              <a:rPr lang="en-US" sz="1100" dirty="0">
                <a:solidFill>
                  <a:srgbClr val="1F2A30"/>
                </a:solidFill>
                <a:latin typeface="Calibri" pitchFamily="34" charset="0"/>
                <a:ea typeface="Calibri" pitchFamily="34" charset="-122"/>
                <a:cs typeface="Calibri" pitchFamily="34" charset="-120"/>
              </a:rPr>
              <a:t>Sure! Could you tell me about your project?</a:t>
            </a:r>
            <a:endParaRPr lang="en-US" sz="1100" dirty="0"/>
          </a:p>
        </p:txBody>
      </p:sp>
      <p:sp>
        <p:nvSpPr>
          <p:cNvPr id="16" name="Text 0">
            <a:extLst>
              <a:ext uri="{FF2B5EF4-FFF2-40B4-BE49-F238E27FC236}">
                <a16:creationId xmlns:a16="http://schemas.microsoft.com/office/drawing/2014/main" id="{76054A16-E371-7D28-8A4F-DF692D2E5D8C}"/>
              </a:ext>
            </a:extLst>
          </p:cNvPr>
          <p:cNvSpPr txBox="1"/>
          <p:nvPr/>
        </p:nvSpPr>
        <p:spPr>
          <a:xfrm>
            <a:off x="457200" y="169817"/>
            <a:ext cx="3840480" cy="548640"/>
          </a:xfrm>
          <a:prstGeom prst="rect">
            <a:avLst/>
          </a:prstGeom>
          <a:noFill/>
          <a:ln/>
        </p:spPr>
        <p:txBody>
          <a:bodyPr wrap="square" lIns="0" tIns="0" rIns="0" bIns="0" rtlCol="0" anchor="t"/>
          <a:lstStyle/>
          <a:p>
            <a:pPr marL="0" indent="0">
              <a:buNone/>
            </a:pPr>
            <a:r>
              <a:rPr lang="en-US" sz="3200" dirty="0">
                <a:solidFill>
                  <a:schemeClr val="accent4"/>
                </a:solidFill>
              </a:rPr>
              <a:t>AI has insomnia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Forgetting is just the start</a:t>
            </a:r>
            <a:endParaRPr lang="en-US" sz="3000" dirty="0"/>
          </a:p>
        </p:txBody>
      </p:sp>
      <p:sp>
        <p:nvSpPr>
          <p:cNvPr id="3" name="Shape 1"/>
          <p:cNvSpPr/>
          <p:nvPr/>
        </p:nvSpPr>
        <p:spPr>
          <a:xfrm>
            <a:off x="457200" y="1310640"/>
            <a:ext cx="2596896" cy="2514600"/>
          </a:xfrm>
          <a:prstGeom prst="roundRect">
            <a:avLst>
              <a:gd name="adj" fmla="val 4364"/>
            </a:avLst>
          </a:prstGeom>
          <a:solidFill>
            <a:srgbClr val="EEF3F4"/>
          </a:solidFill>
          <a:ln w="12700">
            <a:solidFill>
              <a:srgbClr val="EEF3F4"/>
            </a:solidFill>
            <a:prstDash val="solid"/>
          </a:ln>
        </p:spPr>
        <p:txBody>
          <a:bodyPr/>
          <a:lstStyle/>
          <a:p>
            <a:endParaRPr lang="en-US"/>
          </a:p>
        </p:txBody>
      </p:sp>
      <p:sp>
        <p:nvSpPr>
          <p:cNvPr id="4" name="Shape 2"/>
          <p:cNvSpPr/>
          <p:nvPr/>
        </p:nvSpPr>
        <p:spPr>
          <a:xfrm>
            <a:off x="731520" y="1539240"/>
            <a:ext cx="640080" cy="640080"/>
          </a:xfrm>
          <a:prstGeom prst="ellipse">
            <a:avLst/>
          </a:prstGeom>
          <a:solidFill>
            <a:srgbClr val="4A5A63"/>
          </a:solidFill>
          <a:ln w="12700">
            <a:solidFill>
              <a:srgbClr val="4A5A63"/>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891540" y="1699260"/>
            <a:ext cx="320040" cy="320040"/>
          </a:xfrm>
          <a:prstGeom prst="rect">
            <a:avLst/>
          </a:prstGeom>
        </p:spPr>
      </p:pic>
      <p:sp>
        <p:nvSpPr>
          <p:cNvPr id="6" name="Text 3"/>
          <p:cNvSpPr txBox="1"/>
          <p:nvPr/>
        </p:nvSpPr>
        <p:spPr>
          <a:xfrm>
            <a:off x="731520" y="2316480"/>
            <a:ext cx="2103120" cy="548640"/>
          </a:xfrm>
          <a:prstGeom prst="rect">
            <a:avLst/>
          </a:prstGeom>
          <a:noFill/>
          <a:ln/>
        </p:spPr>
        <p:txBody>
          <a:bodyPr wrap="square" lIns="0" tIns="0" rIns="0" bIns="0" rtlCol="0" anchor="b"/>
          <a:lstStyle/>
          <a:p>
            <a:pPr marL="0" indent="0">
              <a:buNone/>
            </a:pPr>
            <a:r>
              <a:rPr lang="en-US" sz="1600" b="1" dirty="0">
                <a:solidFill>
                  <a:srgbClr val="1F2A30"/>
                </a:solidFill>
                <a:latin typeface="Calibri" pitchFamily="34" charset="0"/>
                <a:ea typeface="Calibri" pitchFamily="34" charset="-122"/>
                <a:cs typeface="Calibri" pitchFamily="34" charset="-120"/>
              </a:rPr>
              <a:t>It guesses at our code</a:t>
            </a:r>
            <a:endParaRPr lang="en-US" sz="1600" dirty="0"/>
          </a:p>
        </p:txBody>
      </p:sp>
      <p:sp>
        <p:nvSpPr>
          <p:cNvPr id="7" name="Text 4"/>
          <p:cNvSpPr txBox="1"/>
          <p:nvPr/>
        </p:nvSpPr>
        <p:spPr>
          <a:xfrm>
            <a:off x="731520" y="2956560"/>
            <a:ext cx="2103120" cy="960120"/>
          </a:xfrm>
          <a:prstGeom prst="rect">
            <a:avLst/>
          </a:prstGeom>
          <a:noFill/>
          <a:ln/>
        </p:spPr>
        <p:txBody>
          <a:bodyPr wrap="square" lIns="0" tIns="0" rIns="0" bIns="0" rtlCol="0" anchor="t"/>
          <a:lstStyle/>
          <a:p>
            <a:pPr marL="0" indent="0">
              <a:buNone/>
            </a:pPr>
            <a:r>
              <a:rPr lang="en-US" sz="1300" dirty="0">
                <a:solidFill>
                  <a:srgbClr val="4A5A63"/>
                </a:solidFill>
                <a:latin typeface="Calibri" pitchFamily="34" charset="0"/>
                <a:ea typeface="Calibri" pitchFamily="34" charset="-122"/>
                <a:cs typeface="Calibri" pitchFamily="34" charset="-120"/>
              </a:rPr>
              <a:t>It doesn't know our codebase, so it fills the gaps. Sometimes it calls a function that doesn't exist.</a:t>
            </a:r>
            <a:endParaRPr lang="en-US" sz="1300" dirty="0"/>
          </a:p>
        </p:txBody>
      </p:sp>
      <p:sp>
        <p:nvSpPr>
          <p:cNvPr id="8" name="Shape 5"/>
          <p:cNvSpPr/>
          <p:nvPr/>
        </p:nvSpPr>
        <p:spPr>
          <a:xfrm>
            <a:off x="3273552" y="1310640"/>
            <a:ext cx="2596896" cy="2514600"/>
          </a:xfrm>
          <a:prstGeom prst="roundRect">
            <a:avLst>
              <a:gd name="adj" fmla="val 4364"/>
            </a:avLst>
          </a:prstGeom>
          <a:solidFill>
            <a:srgbClr val="EEF3F4"/>
          </a:solidFill>
          <a:ln w="12700">
            <a:solidFill>
              <a:srgbClr val="EEF3F4"/>
            </a:solidFill>
            <a:prstDash val="solid"/>
          </a:ln>
        </p:spPr>
        <p:txBody>
          <a:bodyPr/>
          <a:lstStyle/>
          <a:p>
            <a:endParaRPr lang="en-US"/>
          </a:p>
        </p:txBody>
      </p:sp>
      <p:sp>
        <p:nvSpPr>
          <p:cNvPr id="9" name="Shape 6"/>
          <p:cNvSpPr/>
          <p:nvPr/>
        </p:nvSpPr>
        <p:spPr>
          <a:xfrm>
            <a:off x="3547872" y="1539240"/>
            <a:ext cx="640080" cy="640080"/>
          </a:xfrm>
          <a:prstGeom prst="ellipse">
            <a:avLst/>
          </a:prstGeom>
          <a:solidFill>
            <a:srgbClr val="4A5A63"/>
          </a:solidFill>
          <a:ln w="12700">
            <a:solidFill>
              <a:srgbClr val="4A5A63"/>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707892" y="1699260"/>
            <a:ext cx="320040" cy="320040"/>
          </a:xfrm>
          <a:prstGeom prst="rect">
            <a:avLst/>
          </a:prstGeom>
        </p:spPr>
      </p:pic>
      <p:sp>
        <p:nvSpPr>
          <p:cNvPr id="11" name="Text 7"/>
          <p:cNvSpPr txBox="1"/>
          <p:nvPr/>
        </p:nvSpPr>
        <p:spPr>
          <a:xfrm>
            <a:off x="3547872" y="2316480"/>
            <a:ext cx="2103120" cy="548640"/>
          </a:xfrm>
          <a:prstGeom prst="rect">
            <a:avLst/>
          </a:prstGeom>
          <a:noFill/>
          <a:ln/>
        </p:spPr>
        <p:txBody>
          <a:bodyPr wrap="square" lIns="0" tIns="0" rIns="0" bIns="0" rtlCol="0" anchor="b"/>
          <a:lstStyle/>
          <a:p>
            <a:pPr marL="0" indent="0">
              <a:buNone/>
            </a:pPr>
            <a:r>
              <a:rPr lang="en-US" sz="1600" b="1" dirty="0">
                <a:solidFill>
                  <a:srgbClr val="1F2A30"/>
                </a:solidFill>
                <a:latin typeface="Calibri" pitchFamily="34" charset="0"/>
                <a:ea typeface="Calibri" pitchFamily="34" charset="-122"/>
                <a:cs typeface="Calibri" pitchFamily="34" charset="-120"/>
              </a:rPr>
              <a:t>It doesn't know our industry</a:t>
            </a:r>
            <a:endParaRPr lang="en-US" sz="1600" dirty="0"/>
          </a:p>
        </p:txBody>
      </p:sp>
      <p:sp>
        <p:nvSpPr>
          <p:cNvPr id="12" name="Text 8"/>
          <p:cNvSpPr txBox="1"/>
          <p:nvPr/>
        </p:nvSpPr>
        <p:spPr>
          <a:xfrm>
            <a:off x="3547872" y="2956560"/>
            <a:ext cx="2103120" cy="960120"/>
          </a:xfrm>
          <a:prstGeom prst="rect">
            <a:avLst/>
          </a:prstGeom>
          <a:noFill/>
          <a:ln/>
        </p:spPr>
        <p:txBody>
          <a:bodyPr wrap="square" lIns="0" tIns="0" rIns="0" bIns="0" rtlCol="0" anchor="t"/>
          <a:lstStyle/>
          <a:p>
            <a:pPr marL="0" indent="0">
              <a:buNone/>
            </a:pPr>
            <a:r>
              <a:rPr lang="en-US" sz="1300" dirty="0">
                <a:solidFill>
                  <a:srgbClr val="4A5A63"/>
                </a:solidFill>
                <a:latin typeface="Calibri" pitchFamily="34" charset="0"/>
                <a:ea typeface="Calibri" pitchFamily="34" charset="-122"/>
                <a:cs typeface="Calibri" pitchFamily="34" charset="-120"/>
              </a:rPr>
              <a:t>A law firm and a hospital get the same advice, even though their rules are nothing alike.</a:t>
            </a:r>
            <a:endParaRPr lang="en-US" sz="1300" dirty="0"/>
          </a:p>
        </p:txBody>
      </p:sp>
      <p:sp>
        <p:nvSpPr>
          <p:cNvPr id="13" name="Shape 9"/>
          <p:cNvSpPr/>
          <p:nvPr/>
        </p:nvSpPr>
        <p:spPr>
          <a:xfrm>
            <a:off x="6089904" y="1310640"/>
            <a:ext cx="2596896" cy="2514600"/>
          </a:xfrm>
          <a:prstGeom prst="roundRect">
            <a:avLst>
              <a:gd name="adj" fmla="val 4364"/>
            </a:avLst>
          </a:prstGeom>
          <a:solidFill>
            <a:srgbClr val="EEF3F4"/>
          </a:solidFill>
          <a:ln w="12700">
            <a:solidFill>
              <a:srgbClr val="EEF3F4"/>
            </a:solidFill>
            <a:prstDash val="solid"/>
          </a:ln>
        </p:spPr>
        <p:txBody>
          <a:bodyPr/>
          <a:lstStyle/>
          <a:p>
            <a:endParaRPr lang="en-US"/>
          </a:p>
        </p:txBody>
      </p:sp>
      <p:sp>
        <p:nvSpPr>
          <p:cNvPr id="14" name="Shape 10"/>
          <p:cNvSpPr/>
          <p:nvPr/>
        </p:nvSpPr>
        <p:spPr>
          <a:xfrm>
            <a:off x="6364224" y="1539240"/>
            <a:ext cx="640080" cy="640080"/>
          </a:xfrm>
          <a:prstGeom prst="ellipse">
            <a:avLst/>
          </a:prstGeom>
          <a:solidFill>
            <a:srgbClr val="E9A23B"/>
          </a:solidFill>
          <a:ln w="12700">
            <a:solidFill>
              <a:srgbClr val="E9A23B"/>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6524244" y="1699260"/>
            <a:ext cx="320040" cy="320040"/>
          </a:xfrm>
          <a:prstGeom prst="rect">
            <a:avLst/>
          </a:prstGeom>
        </p:spPr>
      </p:pic>
      <p:sp>
        <p:nvSpPr>
          <p:cNvPr id="16" name="Text 11"/>
          <p:cNvSpPr txBox="1"/>
          <p:nvPr/>
        </p:nvSpPr>
        <p:spPr>
          <a:xfrm>
            <a:off x="6364224" y="2316480"/>
            <a:ext cx="2103120" cy="548640"/>
          </a:xfrm>
          <a:prstGeom prst="rect">
            <a:avLst/>
          </a:prstGeom>
          <a:noFill/>
          <a:ln/>
        </p:spPr>
        <p:txBody>
          <a:bodyPr wrap="square" lIns="0" tIns="0" rIns="0" bIns="0" rtlCol="0" anchor="b"/>
          <a:lstStyle/>
          <a:p>
            <a:pPr marL="0" indent="0">
              <a:buNone/>
            </a:pPr>
            <a:r>
              <a:rPr lang="en-US" sz="1600" b="1" dirty="0">
                <a:solidFill>
                  <a:srgbClr val="1F2A30"/>
                </a:solidFill>
                <a:latin typeface="Calibri" pitchFamily="34" charset="0"/>
                <a:ea typeface="Calibri" pitchFamily="34" charset="-122"/>
                <a:cs typeface="Calibri" pitchFamily="34" charset="-120"/>
              </a:rPr>
              <a:t>Nothing makes it wait</a:t>
            </a:r>
            <a:endParaRPr lang="en-US" sz="1600" dirty="0"/>
          </a:p>
        </p:txBody>
      </p:sp>
      <p:sp>
        <p:nvSpPr>
          <p:cNvPr id="17" name="Text 12"/>
          <p:cNvSpPr txBox="1"/>
          <p:nvPr/>
        </p:nvSpPr>
        <p:spPr>
          <a:xfrm>
            <a:off x="6364224" y="2956560"/>
            <a:ext cx="2103120" cy="960120"/>
          </a:xfrm>
          <a:prstGeom prst="rect">
            <a:avLst/>
          </a:prstGeom>
          <a:noFill/>
          <a:ln/>
        </p:spPr>
        <p:txBody>
          <a:bodyPr wrap="square" lIns="0" tIns="0" rIns="0" bIns="0" rtlCol="0" anchor="t"/>
          <a:lstStyle/>
          <a:p>
            <a:pPr marL="0" indent="0">
              <a:buNone/>
            </a:pPr>
            <a:r>
              <a:rPr lang="en-US" sz="1300" dirty="0">
                <a:solidFill>
                  <a:srgbClr val="4A5A63"/>
                </a:solidFill>
                <a:latin typeface="Calibri" pitchFamily="34" charset="0"/>
                <a:ea typeface="Calibri" pitchFamily="34" charset="-122"/>
                <a:cs typeface="Calibri" pitchFamily="34" charset="-120"/>
              </a:rPr>
              <a:t>It will happily write code before anyone has agreed on the design.</a:t>
            </a:r>
            <a:endParaRPr lang="en-US" sz="1300" dirty="0"/>
          </a:p>
        </p:txBody>
      </p:sp>
      <p:sp>
        <p:nvSpPr>
          <p:cNvPr id="18" name="Text 13"/>
          <p:cNvSpPr txBox="1"/>
          <p:nvPr/>
        </p:nvSpPr>
        <p:spPr>
          <a:xfrm>
            <a:off x="457200" y="4114800"/>
            <a:ext cx="8229600" cy="457200"/>
          </a:xfrm>
          <a:prstGeom prst="rect">
            <a:avLst/>
          </a:prstGeom>
          <a:noFill/>
          <a:ln/>
        </p:spPr>
        <p:txBody>
          <a:bodyPr wrap="square" lIns="0" tIns="0" rIns="0" bIns="0" rtlCol="0" anchor="t"/>
          <a:lstStyle/>
          <a:p>
            <a:pPr marL="0" indent="0">
              <a:buNone/>
            </a:pPr>
            <a:r>
              <a:rPr lang="en-US" sz="1600" i="1" dirty="0">
                <a:solidFill>
                  <a:srgbClr val="2A9D8F"/>
                </a:solidFill>
                <a:latin typeface="Cambria" pitchFamily="34" charset="0"/>
                <a:ea typeface="Cambria" pitchFamily="34" charset="-122"/>
                <a:cs typeface="Cambria" pitchFamily="34" charset="-120"/>
              </a:rPr>
              <a:t>None of that is Claude being bad. It's just starting from nothing, every time.</a:t>
            </a:r>
            <a:endParaRPr lang="en-US" sz="1600" dirty="0"/>
          </a:p>
        </p:txBody>
      </p:sp>
      <p:sp>
        <p:nvSpPr>
          <p:cNvPr id="33" name="Text 31"/>
          <p:cNvSpPr txBox="1"/>
          <p:nvPr/>
        </p:nvSpPr>
        <p:spPr>
          <a:xfrm>
            <a:off x="542925" y="976503"/>
            <a:ext cx="3714750" cy="320040"/>
          </a:xfrm>
          <a:prstGeom prst="rect">
            <a:avLst/>
          </a:prstGeom>
          <a:noFill/>
          <a:ln/>
        </p:spPr>
        <p:txBody>
          <a:bodyPr wrap="square" lIns="0" tIns="0" rIns="0" bIns="0" rtlCol="0" anchor="t"/>
          <a:lstStyle>
            <a:lvl1pPr indent="0">
              <a:buNone/>
              <a:defRPr sz="1600" i="1">
                <a:solidFill>
                  <a:srgbClr val="B8C4C9"/>
                </a:solidFill>
                <a:latin typeface="Calibri" pitchFamily="34" charset="0"/>
                <a:ea typeface="Calibri" pitchFamily="34" charset="-122"/>
                <a:cs typeface="Calibri" pitchFamily="34" charset="-120"/>
              </a:defRPr>
            </a:lvl1pPr>
          </a:lstStyle>
          <a:p>
            <a:r>
              <a:rPr lang="en-US" dirty="0">
                <a:solidFill>
                  <a:schemeClr val="accent6">
                    <a:lumMod val="75000"/>
                  </a:schemeClr>
                </a:solidFill>
              </a:rPr>
              <a:t>Knowledge first, then governance.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A Guardrail between our team and Claude</a:t>
            </a:r>
            <a:endParaRPr lang="en-US" sz="3000" dirty="0"/>
          </a:p>
        </p:txBody>
      </p:sp>
      <p:sp>
        <p:nvSpPr>
          <p:cNvPr id="3" name="Shape 1"/>
          <p:cNvSpPr/>
          <p:nvPr/>
        </p:nvSpPr>
        <p:spPr>
          <a:xfrm>
            <a:off x="457200" y="1737360"/>
            <a:ext cx="1645920" cy="1828800"/>
          </a:xfrm>
          <a:prstGeom prst="roundRect">
            <a:avLst>
              <a:gd name="adj" fmla="val 6667"/>
            </a:avLst>
          </a:prstGeom>
          <a:solidFill>
            <a:srgbClr val="EEF3F4"/>
          </a:solidFill>
          <a:ln w="12700">
            <a:solidFill>
              <a:srgbClr val="EEF3F4"/>
            </a:solidFill>
            <a:prstDash val="solid"/>
          </a:ln>
        </p:spPr>
        <p:txBody>
          <a:bodyPr/>
          <a:lstStyle/>
          <a:p>
            <a:endParaRPr lang="en-US"/>
          </a:p>
        </p:txBody>
      </p:sp>
      <p:sp>
        <p:nvSpPr>
          <p:cNvPr id="4" name="Shape 2"/>
          <p:cNvSpPr/>
          <p:nvPr/>
        </p:nvSpPr>
        <p:spPr>
          <a:xfrm>
            <a:off x="960120" y="1965960"/>
            <a:ext cx="640080" cy="640080"/>
          </a:xfrm>
          <a:prstGeom prst="ellipse">
            <a:avLst/>
          </a:prstGeom>
          <a:solidFill>
            <a:srgbClr val="4A5A63"/>
          </a:solidFill>
          <a:ln w="12700">
            <a:solidFill>
              <a:srgbClr val="4A5A63"/>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120140" y="2125980"/>
            <a:ext cx="320040" cy="320040"/>
          </a:xfrm>
          <a:prstGeom prst="rect">
            <a:avLst/>
          </a:prstGeom>
        </p:spPr>
      </p:pic>
      <p:sp>
        <p:nvSpPr>
          <p:cNvPr id="6" name="Text 3"/>
          <p:cNvSpPr txBox="1"/>
          <p:nvPr/>
        </p:nvSpPr>
        <p:spPr>
          <a:xfrm>
            <a:off x="457200" y="2788920"/>
            <a:ext cx="1645920" cy="365760"/>
          </a:xfrm>
          <a:prstGeom prst="rect">
            <a:avLst/>
          </a:prstGeom>
          <a:noFill/>
          <a:ln/>
        </p:spPr>
        <p:txBody>
          <a:bodyPr wrap="square" lIns="0" tIns="0" rIns="0" bIns="0" rtlCol="0" anchor="t"/>
          <a:lstStyle/>
          <a:p>
            <a:pPr marL="0" indent="0" algn="ctr">
              <a:buNone/>
            </a:pPr>
            <a:r>
              <a:rPr lang="en-US" sz="1500" b="1" dirty="0">
                <a:solidFill>
                  <a:srgbClr val="1F2A30"/>
                </a:solidFill>
                <a:latin typeface="Calibri" pitchFamily="34" charset="0"/>
                <a:ea typeface="Calibri" pitchFamily="34" charset="-122"/>
                <a:cs typeface="Calibri" pitchFamily="34" charset="-120"/>
              </a:rPr>
              <a:t>Our team</a:t>
            </a:r>
            <a:endParaRPr lang="en-US" sz="1500" dirty="0"/>
          </a:p>
        </p:txBody>
      </p:sp>
      <p:sp>
        <p:nvSpPr>
          <p:cNvPr id="7" name="Shape 4"/>
          <p:cNvSpPr/>
          <p:nvPr/>
        </p:nvSpPr>
        <p:spPr>
          <a:xfrm>
            <a:off x="2651760" y="1188720"/>
            <a:ext cx="3840480" cy="3108960"/>
          </a:xfrm>
          <a:prstGeom prst="roundRect">
            <a:avLst>
              <a:gd name="adj" fmla="val 3529"/>
            </a:avLst>
          </a:prstGeom>
          <a:solidFill>
            <a:srgbClr val="D5EEEB"/>
          </a:solidFill>
          <a:ln w="12700">
            <a:solidFill>
              <a:srgbClr val="D5EEEB"/>
            </a:solidFill>
            <a:prstDash val="solid"/>
          </a:ln>
        </p:spPr>
        <p:txBody>
          <a:bodyPr/>
          <a:lstStyle/>
          <a:p>
            <a:endParaRPr lang="en-US"/>
          </a:p>
        </p:txBody>
      </p:sp>
      <p:sp>
        <p:nvSpPr>
          <p:cNvPr id="8" name="Text 5"/>
          <p:cNvSpPr txBox="1"/>
          <p:nvPr/>
        </p:nvSpPr>
        <p:spPr>
          <a:xfrm>
            <a:off x="2880360" y="1298448"/>
            <a:ext cx="3474720" cy="320040"/>
          </a:xfrm>
          <a:prstGeom prst="rect">
            <a:avLst/>
          </a:prstGeom>
          <a:noFill/>
          <a:ln/>
        </p:spPr>
        <p:txBody>
          <a:bodyPr wrap="square" lIns="0" tIns="0" rIns="0" bIns="0" rtlCol="0" anchor="t"/>
          <a:lstStyle/>
          <a:p>
            <a:pPr marL="0" indent="0">
              <a:buNone/>
            </a:pPr>
            <a:r>
              <a:rPr lang="en-US" sz="1300" b="1" dirty="0">
                <a:solidFill>
                  <a:srgbClr val="2A9D8F"/>
                </a:solidFill>
                <a:latin typeface="Calibri" pitchFamily="34" charset="0"/>
                <a:ea typeface="Calibri" pitchFamily="34" charset="-122"/>
                <a:cs typeface="Calibri" pitchFamily="34" charset="-120"/>
              </a:rPr>
              <a:t>Guardrail: Governed AI-assisted delivery</a:t>
            </a:r>
            <a:endParaRPr lang="en-US" sz="1300" dirty="0"/>
          </a:p>
        </p:txBody>
      </p:sp>
      <p:sp>
        <p:nvSpPr>
          <p:cNvPr id="9" name="Shape 6"/>
          <p:cNvSpPr/>
          <p:nvPr/>
        </p:nvSpPr>
        <p:spPr>
          <a:xfrm>
            <a:off x="2880360" y="1691640"/>
            <a:ext cx="3383280" cy="512064"/>
          </a:xfrm>
          <a:prstGeom prst="roundRect">
            <a:avLst>
              <a:gd name="adj" fmla="val 14286"/>
            </a:avLst>
          </a:prstGeom>
          <a:solidFill>
            <a:srgbClr val="FFFFFF"/>
          </a:solidFill>
          <a:ln w="12700">
            <a:solidFill>
              <a:srgbClr val="FFFFFF"/>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035808" y="1810512"/>
            <a:ext cx="274320" cy="274320"/>
          </a:xfrm>
          <a:prstGeom prst="rect">
            <a:avLst/>
          </a:prstGeom>
        </p:spPr>
      </p:pic>
      <p:sp>
        <p:nvSpPr>
          <p:cNvPr id="11" name="Text 7"/>
          <p:cNvSpPr txBox="1"/>
          <p:nvPr/>
        </p:nvSpPr>
        <p:spPr>
          <a:xfrm>
            <a:off x="3474720" y="1691640"/>
            <a:ext cx="2651760" cy="512064"/>
          </a:xfrm>
          <a:prstGeom prst="rect">
            <a:avLst/>
          </a:prstGeom>
          <a:noFill/>
          <a:ln/>
        </p:spPr>
        <p:txBody>
          <a:bodyPr wrap="square" lIns="0" tIns="0" rIns="0" bIns="0" rtlCol="0" anchor="ctr"/>
          <a:lstStyle/>
          <a:p>
            <a:pPr marL="0" indent="0">
              <a:buNone/>
            </a:pPr>
            <a:r>
              <a:rPr lang="en-US" sz="1400" b="1" dirty="0">
                <a:solidFill>
                  <a:srgbClr val="1F2A30"/>
                </a:solidFill>
                <a:latin typeface="Calibri" pitchFamily="34" charset="0"/>
                <a:ea typeface="Calibri" pitchFamily="34" charset="-122"/>
                <a:cs typeface="Calibri" pitchFamily="34" charset="-120"/>
              </a:rPr>
              <a:t>Remembers decisions</a:t>
            </a:r>
            <a:endParaRPr lang="en-US" sz="1400" dirty="0"/>
          </a:p>
        </p:txBody>
      </p:sp>
      <p:sp>
        <p:nvSpPr>
          <p:cNvPr id="12" name="Shape 8"/>
          <p:cNvSpPr/>
          <p:nvPr/>
        </p:nvSpPr>
        <p:spPr>
          <a:xfrm>
            <a:off x="2880360" y="2331720"/>
            <a:ext cx="3383280" cy="512064"/>
          </a:xfrm>
          <a:prstGeom prst="roundRect">
            <a:avLst>
              <a:gd name="adj" fmla="val 14286"/>
            </a:avLst>
          </a:prstGeom>
          <a:solidFill>
            <a:srgbClr val="FFFFFF"/>
          </a:solidFill>
          <a:ln w="12700">
            <a:solidFill>
              <a:srgbClr val="FFFFFF"/>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3035808" y="2450592"/>
            <a:ext cx="274320" cy="274320"/>
          </a:xfrm>
          <a:prstGeom prst="rect">
            <a:avLst/>
          </a:prstGeom>
        </p:spPr>
      </p:pic>
      <p:sp>
        <p:nvSpPr>
          <p:cNvPr id="14" name="Text 9"/>
          <p:cNvSpPr txBox="1"/>
          <p:nvPr/>
        </p:nvSpPr>
        <p:spPr>
          <a:xfrm>
            <a:off x="3474720" y="2331720"/>
            <a:ext cx="2651760" cy="512064"/>
          </a:xfrm>
          <a:prstGeom prst="rect">
            <a:avLst/>
          </a:prstGeom>
          <a:noFill/>
          <a:ln/>
        </p:spPr>
        <p:txBody>
          <a:bodyPr wrap="square" lIns="0" tIns="0" rIns="0" bIns="0" rtlCol="0" anchor="ctr"/>
          <a:lstStyle/>
          <a:p>
            <a:pPr marL="0" indent="0">
              <a:buNone/>
            </a:pPr>
            <a:r>
              <a:rPr lang="en-US" sz="1400" b="1" dirty="0">
                <a:solidFill>
                  <a:srgbClr val="1F2A30"/>
                </a:solidFill>
                <a:latin typeface="Calibri" pitchFamily="34" charset="0"/>
                <a:ea typeface="Calibri" pitchFamily="34" charset="-122"/>
                <a:cs typeface="Calibri" pitchFamily="34" charset="-120"/>
              </a:rPr>
              <a:t>Knows our code</a:t>
            </a:r>
            <a:endParaRPr lang="en-US" sz="1400" dirty="0"/>
          </a:p>
        </p:txBody>
      </p:sp>
      <p:sp>
        <p:nvSpPr>
          <p:cNvPr id="15" name="Shape 10"/>
          <p:cNvSpPr/>
          <p:nvPr/>
        </p:nvSpPr>
        <p:spPr>
          <a:xfrm>
            <a:off x="2880360" y="2971800"/>
            <a:ext cx="3383280" cy="512064"/>
          </a:xfrm>
          <a:prstGeom prst="roundRect">
            <a:avLst>
              <a:gd name="adj" fmla="val 14286"/>
            </a:avLst>
          </a:prstGeom>
          <a:solidFill>
            <a:srgbClr val="FFFFFF"/>
          </a:solidFill>
          <a:ln w="12700">
            <a:solidFill>
              <a:srgbClr val="FFFFFF"/>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3035808" y="3090672"/>
            <a:ext cx="274320" cy="274320"/>
          </a:xfrm>
          <a:prstGeom prst="rect">
            <a:avLst/>
          </a:prstGeom>
        </p:spPr>
      </p:pic>
      <p:sp>
        <p:nvSpPr>
          <p:cNvPr id="17" name="Text 11"/>
          <p:cNvSpPr txBox="1"/>
          <p:nvPr/>
        </p:nvSpPr>
        <p:spPr>
          <a:xfrm>
            <a:off x="3474720" y="2971800"/>
            <a:ext cx="2651760" cy="512064"/>
          </a:xfrm>
          <a:prstGeom prst="rect">
            <a:avLst/>
          </a:prstGeom>
          <a:noFill/>
          <a:ln/>
        </p:spPr>
        <p:txBody>
          <a:bodyPr wrap="square" lIns="0" tIns="0" rIns="0" bIns="0" rtlCol="0" anchor="ctr"/>
          <a:lstStyle/>
          <a:p>
            <a:pPr marL="0" indent="0">
              <a:buNone/>
            </a:pPr>
            <a:r>
              <a:rPr lang="en-US" sz="1400" b="1" dirty="0">
                <a:solidFill>
                  <a:srgbClr val="1F2A30"/>
                </a:solidFill>
                <a:latin typeface="Calibri" pitchFamily="34" charset="0"/>
                <a:ea typeface="Calibri" pitchFamily="34" charset="-122"/>
                <a:cs typeface="Calibri" pitchFamily="34" charset="-120"/>
              </a:rPr>
              <a:t>Knows our industry</a:t>
            </a:r>
            <a:endParaRPr lang="en-US" sz="1400" dirty="0"/>
          </a:p>
        </p:txBody>
      </p:sp>
      <p:sp>
        <p:nvSpPr>
          <p:cNvPr id="18" name="Shape 12"/>
          <p:cNvSpPr/>
          <p:nvPr/>
        </p:nvSpPr>
        <p:spPr>
          <a:xfrm>
            <a:off x="2880360" y="3611880"/>
            <a:ext cx="3383280" cy="512064"/>
          </a:xfrm>
          <a:prstGeom prst="roundRect">
            <a:avLst>
              <a:gd name="adj" fmla="val 14286"/>
            </a:avLst>
          </a:prstGeom>
          <a:solidFill>
            <a:srgbClr val="FFFFFF"/>
          </a:solidFill>
          <a:ln w="12700">
            <a:solidFill>
              <a:srgbClr val="FFFFFF"/>
            </a:solidFill>
            <a:prstDash val="solid"/>
          </a:ln>
        </p:spPr>
        <p:txBody>
          <a:bodyPr/>
          <a:lstStyle/>
          <a:p>
            <a:endParaRPr lang="en-US"/>
          </a:p>
        </p:txBody>
      </p:sp>
      <p:pic>
        <p:nvPicPr>
          <p:cNvPr id="19" name="Image 4" descr="preencoded.png"/>
          <p:cNvPicPr>
            <a:picLocks noChangeAspect="1"/>
          </p:cNvPicPr>
          <p:nvPr/>
        </p:nvPicPr>
        <p:blipFill>
          <a:blip r:embed="rId7"/>
          <a:stretch>
            <a:fillRect/>
          </a:stretch>
        </p:blipFill>
        <p:spPr>
          <a:xfrm>
            <a:off x="3035808" y="3730752"/>
            <a:ext cx="274320" cy="274320"/>
          </a:xfrm>
          <a:prstGeom prst="rect">
            <a:avLst/>
          </a:prstGeom>
        </p:spPr>
      </p:pic>
      <p:sp>
        <p:nvSpPr>
          <p:cNvPr id="20" name="Text 13"/>
          <p:cNvSpPr txBox="1"/>
          <p:nvPr/>
        </p:nvSpPr>
        <p:spPr>
          <a:xfrm>
            <a:off x="3474720" y="3611880"/>
            <a:ext cx="2651760" cy="512064"/>
          </a:xfrm>
          <a:prstGeom prst="rect">
            <a:avLst/>
          </a:prstGeom>
          <a:noFill/>
          <a:ln/>
        </p:spPr>
        <p:txBody>
          <a:bodyPr wrap="square" lIns="0" tIns="0" rIns="0" bIns="0" rtlCol="0" anchor="ctr"/>
          <a:lstStyle/>
          <a:p>
            <a:pPr marL="0" indent="0">
              <a:buNone/>
            </a:pPr>
            <a:r>
              <a:rPr lang="en-US" sz="1400" b="1" dirty="0">
                <a:solidFill>
                  <a:srgbClr val="1F2A30"/>
                </a:solidFill>
                <a:latin typeface="Calibri" pitchFamily="34" charset="0"/>
                <a:ea typeface="Calibri" pitchFamily="34" charset="-122"/>
                <a:cs typeface="Calibri" pitchFamily="34" charset="-120"/>
              </a:rPr>
              <a:t>Waits for approval</a:t>
            </a:r>
            <a:endParaRPr lang="en-US" sz="1400" dirty="0"/>
          </a:p>
        </p:txBody>
      </p:sp>
      <p:sp>
        <p:nvSpPr>
          <p:cNvPr id="21" name="Shape 14"/>
          <p:cNvSpPr/>
          <p:nvPr/>
        </p:nvSpPr>
        <p:spPr>
          <a:xfrm>
            <a:off x="7040880" y="1737360"/>
            <a:ext cx="1645920" cy="1828800"/>
          </a:xfrm>
          <a:prstGeom prst="roundRect">
            <a:avLst>
              <a:gd name="adj" fmla="val 6667"/>
            </a:avLst>
          </a:prstGeom>
          <a:solidFill>
            <a:srgbClr val="EEF3F4"/>
          </a:solidFill>
          <a:ln w="12700">
            <a:solidFill>
              <a:srgbClr val="EEF3F4"/>
            </a:solidFill>
            <a:prstDash val="solid"/>
          </a:ln>
        </p:spPr>
        <p:txBody>
          <a:bodyPr/>
          <a:lstStyle/>
          <a:p>
            <a:endParaRPr lang="en-US"/>
          </a:p>
        </p:txBody>
      </p:sp>
      <p:sp>
        <p:nvSpPr>
          <p:cNvPr id="22" name="Shape 15"/>
          <p:cNvSpPr/>
          <p:nvPr/>
        </p:nvSpPr>
        <p:spPr>
          <a:xfrm>
            <a:off x="7543800" y="1965960"/>
            <a:ext cx="640080" cy="640080"/>
          </a:xfrm>
          <a:prstGeom prst="ellipse">
            <a:avLst/>
          </a:prstGeom>
          <a:solidFill>
            <a:srgbClr val="1F2A30"/>
          </a:solidFill>
          <a:ln w="12700">
            <a:solidFill>
              <a:srgbClr val="1F2A30"/>
            </a:solidFill>
            <a:prstDash val="solid"/>
          </a:ln>
        </p:spPr>
        <p:txBody>
          <a:bodyPr/>
          <a:lstStyle/>
          <a:p>
            <a:endParaRPr lang="en-US"/>
          </a:p>
        </p:txBody>
      </p:sp>
      <p:pic>
        <p:nvPicPr>
          <p:cNvPr id="23" name="Image 5" descr="preencoded.png"/>
          <p:cNvPicPr>
            <a:picLocks noChangeAspect="1"/>
          </p:cNvPicPr>
          <p:nvPr/>
        </p:nvPicPr>
        <p:blipFill>
          <a:blip r:embed="rId8"/>
          <a:stretch>
            <a:fillRect/>
          </a:stretch>
        </p:blipFill>
        <p:spPr>
          <a:xfrm>
            <a:off x="7703820" y="2125980"/>
            <a:ext cx="320040" cy="320040"/>
          </a:xfrm>
          <a:prstGeom prst="rect">
            <a:avLst/>
          </a:prstGeom>
        </p:spPr>
      </p:pic>
      <p:sp>
        <p:nvSpPr>
          <p:cNvPr id="24" name="Text 16"/>
          <p:cNvSpPr txBox="1"/>
          <p:nvPr/>
        </p:nvSpPr>
        <p:spPr>
          <a:xfrm>
            <a:off x="7040880" y="2788920"/>
            <a:ext cx="1645920" cy="365760"/>
          </a:xfrm>
          <a:prstGeom prst="rect">
            <a:avLst/>
          </a:prstGeom>
          <a:noFill/>
          <a:ln/>
        </p:spPr>
        <p:txBody>
          <a:bodyPr wrap="square" lIns="0" tIns="0" rIns="0" bIns="0" rtlCol="0" anchor="t"/>
          <a:lstStyle/>
          <a:p>
            <a:pPr marL="0" indent="0" algn="ctr">
              <a:buNone/>
            </a:pPr>
            <a:r>
              <a:rPr lang="en-US" sz="1500" b="1" dirty="0">
                <a:solidFill>
                  <a:srgbClr val="1F2A30"/>
                </a:solidFill>
                <a:latin typeface="Calibri" pitchFamily="34" charset="0"/>
                <a:ea typeface="Calibri" pitchFamily="34" charset="-122"/>
                <a:cs typeface="Calibri" pitchFamily="34" charset="-120"/>
              </a:rPr>
              <a:t>Claude</a:t>
            </a:r>
            <a:endParaRPr lang="en-US" sz="1500" dirty="0"/>
          </a:p>
        </p:txBody>
      </p:sp>
      <p:sp>
        <p:nvSpPr>
          <p:cNvPr id="25" name="Shape 17"/>
          <p:cNvSpPr/>
          <p:nvPr/>
        </p:nvSpPr>
        <p:spPr>
          <a:xfrm>
            <a:off x="2148840" y="2651760"/>
            <a:ext cx="457200" cy="914"/>
          </a:xfrm>
          <a:prstGeom prst="line">
            <a:avLst/>
          </a:prstGeom>
          <a:noFill/>
          <a:ln w="22225">
            <a:solidFill>
              <a:srgbClr val="4A5A63"/>
            </a:solidFill>
            <a:prstDash val="solid"/>
            <a:tailEnd type="triangle"/>
          </a:ln>
        </p:spPr>
        <p:txBody>
          <a:bodyPr/>
          <a:lstStyle/>
          <a:p>
            <a:endParaRPr lang="en-US"/>
          </a:p>
        </p:txBody>
      </p:sp>
      <p:sp>
        <p:nvSpPr>
          <p:cNvPr id="26" name="Shape 18"/>
          <p:cNvSpPr/>
          <p:nvPr/>
        </p:nvSpPr>
        <p:spPr>
          <a:xfrm>
            <a:off x="6537960" y="2651760"/>
            <a:ext cx="457200" cy="914"/>
          </a:xfrm>
          <a:prstGeom prst="line">
            <a:avLst/>
          </a:prstGeom>
          <a:noFill/>
          <a:ln w="22225">
            <a:solidFill>
              <a:srgbClr val="4A5A63"/>
            </a:solidFill>
            <a:prstDash val="solid"/>
            <a:tailEnd type="triangle"/>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1. It knows our code</a:t>
            </a:r>
            <a:endParaRPr lang="en-US" sz="3000" dirty="0"/>
          </a:p>
        </p:txBody>
      </p:sp>
      <p:sp>
        <p:nvSpPr>
          <p:cNvPr id="3" name="Text 1"/>
          <p:cNvSpPr txBox="1"/>
          <p:nvPr/>
        </p:nvSpPr>
        <p:spPr>
          <a:xfrm>
            <a:off x="457200" y="1234440"/>
            <a:ext cx="3474720" cy="320040"/>
          </a:xfrm>
          <a:prstGeom prst="rect">
            <a:avLst/>
          </a:prstGeom>
          <a:noFill/>
          <a:ln/>
        </p:spPr>
        <p:txBody>
          <a:bodyPr wrap="square" lIns="0" tIns="0" rIns="0" bIns="0" rtlCol="0" anchor="t"/>
          <a:lstStyle/>
          <a:p>
            <a:pPr marL="0" indent="0">
              <a:buNone/>
            </a:pPr>
            <a:r>
              <a:rPr lang="en-US" sz="1600" b="1" dirty="0">
                <a:solidFill>
                  <a:srgbClr val="1F2A30"/>
                </a:solidFill>
                <a:latin typeface="Calibri" pitchFamily="34" charset="0"/>
                <a:ea typeface="Calibri" pitchFamily="34" charset="-122"/>
                <a:cs typeface="Calibri" pitchFamily="34" charset="-120"/>
              </a:rPr>
              <a:t>Reads once</a:t>
            </a:r>
            <a:endParaRPr lang="en-US" sz="1600" dirty="0"/>
          </a:p>
        </p:txBody>
      </p:sp>
      <p:sp>
        <p:nvSpPr>
          <p:cNvPr id="4" name="Text 2"/>
          <p:cNvSpPr txBox="1"/>
          <p:nvPr/>
        </p:nvSpPr>
        <p:spPr>
          <a:xfrm>
            <a:off x="457200" y="1581912"/>
            <a:ext cx="3474720" cy="548640"/>
          </a:xfrm>
          <a:prstGeom prst="rect">
            <a:avLst/>
          </a:prstGeom>
          <a:noFill/>
          <a:ln/>
        </p:spPr>
        <p:txBody>
          <a:bodyPr wrap="square" lIns="0" tIns="0" rIns="0" bIns="0" rtlCol="0" anchor="t"/>
          <a:lstStyle/>
          <a:p>
            <a:pPr marL="0" indent="0">
              <a:buNone/>
            </a:pPr>
            <a:r>
              <a:rPr lang="en-US" sz="1300" dirty="0">
                <a:solidFill>
                  <a:srgbClr val="4A5A63"/>
                </a:solidFill>
                <a:latin typeface="Calibri" pitchFamily="34" charset="0"/>
                <a:ea typeface="Calibri" pitchFamily="34" charset="-122"/>
                <a:cs typeface="Calibri" pitchFamily="34" charset="-120"/>
              </a:rPr>
              <a:t>Builds a map of every module and what depends on what.</a:t>
            </a:r>
            <a:endParaRPr lang="en-US" sz="1300" dirty="0"/>
          </a:p>
        </p:txBody>
      </p:sp>
      <p:sp>
        <p:nvSpPr>
          <p:cNvPr id="5" name="Text 3"/>
          <p:cNvSpPr txBox="1"/>
          <p:nvPr/>
        </p:nvSpPr>
        <p:spPr>
          <a:xfrm>
            <a:off x="457200" y="2240280"/>
            <a:ext cx="3474720" cy="320040"/>
          </a:xfrm>
          <a:prstGeom prst="rect">
            <a:avLst/>
          </a:prstGeom>
          <a:noFill/>
          <a:ln/>
        </p:spPr>
        <p:txBody>
          <a:bodyPr wrap="square" lIns="0" tIns="0" rIns="0" bIns="0" rtlCol="0" anchor="t"/>
          <a:lstStyle/>
          <a:p>
            <a:pPr marL="0" indent="0">
              <a:buNone/>
            </a:pPr>
            <a:r>
              <a:rPr lang="en-US" sz="1600" b="1" dirty="0">
                <a:solidFill>
                  <a:srgbClr val="1F2A30"/>
                </a:solidFill>
                <a:latin typeface="Calibri" pitchFamily="34" charset="0"/>
                <a:ea typeface="Calibri" pitchFamily="34" charset="-122"/>
                <a:cs typeface="Calibri" pitchFamily="34" charset="-120"/>
              </a:rPr>
              <a:t>Rereads only what changed</a:t>
            </a:r>
            <a:endParaRPr lang="en-US" sz="1600" dirty="0"/>
          </a:p>
        </p:txBody>
      </p:sp>
      <p:sp>
        <p:nvSpPr>
          <p:cNvPr id="6" name="Text 4"/>
          <p:cNvSpPr txBox="1"/>
          <p:nvPr/>
        </p:nvSpPr>
        <p:spPr>
          <a:xfrm>
            <a:off x="457200" y="2587752"/>
            <a:ext cx="3474720" cy="548640"/>
          </a:xfrm>
          <a:prstGeom prst="rect">
            <a:avLst/>
          </a:prstGeom>
          <a:noFill/>
          <a:ln/>
        </p:spPr>
        <p:txBody>
          <a:bodyPr wrap="square" lIns="0" tIns="0" rIns="0" bIns="0" rtlCol="0" anchor="t"/>
          <a:lstStyle/>
          <a:p>
            <a:pPr marL="0" indent="0">
              <a:buNone/>
            </a:pPr>
            <a:r>
              <a:rPr lang="en-US" sz="1300" dirty="0">
                <a:solidFill>
                  <a:srgbClr val="4A5A63"/>
                </a:solidFill>
                <a:latin typeface="Calibri" pitchFamily="34" charset="0"/>
                <a:ea typeface="Calibri" pitchFamily="34" charset="-122"/>
                <a:cs typeface="Calibri" pitchFamily="34" charset="-120"/>
              </a:rPr>
              <a:t>Later updates skip everything that stayed the same.</a:t>
            </a:r>
            <a:endParaRPr lang="en-US" sz="1300" dirty="0"/>
          </a:p>
        </p:txBody>
      </p:sp>
      <p:sp>
        <p:nvSpPr>
          <p:cNvPr id="7" name="Text 5"/>
          <p:cNvSpPr txBox="1"/>
          <p:nvPr/>
        </p:nvSpPr>
        <p:spPr>
          <a:xfrm>
            <a:off x="457200" y="3246120"/>
            <a:ext cx="3474720" cy="320040"/>
          </a:xfrm>
          <a:prstGeom prst="rect">
            <a:avLst/>
          </a:prstGeom>
          <a:noFill/>
          <a:ln/>
        </p:spPr>
        <p:txBody>
          <a:bodyPr wrap="square" lIns="0" tIns="0" rIns="0" bIns="0" rtlCol="0" anchor="t"/>
          <a:lstStyle/>
          <a:p>
            <a:pPr marL="0" indent="0">
              <a:buNone/>
            </a:pPr>
            <a:r>
              <a:rPr lang="en-US" sz="1600" b="1" dirty="0">
                <a:solidFill>
                  <a:srgbClr val="1F2A30"/>
                </a:solidFill>
                <a:latin typeface="Calibri" pitchFamily="34" charset="0"/>
                <a:ea typeface="Calibri" pitchFamily="34" charset="-122"/>
                <a:cs typeface="Calibri" pitchFamily="34" charset="-120"/>
              </a:rPr>
              <a:t>Loads only what matters</a:t>
            </a:r>
            <a:endParaRPr lang="en-US" sz="1600" dirty="0"/>
          </a:p>
        </p:txBody>
      </p:sp>
      <p:sp>
        <p:nvSpPr>
          <p:cNvPr id="8" name="Text 6"/>
          <p:cNvSpPr txBox="1"/>
          <p:nvPr/>
        </p:nvSpPr>
        <p:spPr>
          <a:xfrm>
            <a:off x="457200" y="3593592"/>
            <a:ext cx="3474720" cy="548640"/>
          </a:xfrm>
          <a:prstGeom prst="rect">
            <a:avLst/>
          </a:prstGeom>
          <a:noFill/>
          <a:ln/>
        </p:spPr>
        <p:txBody>
          <a:bodyPr wrap="square" lIns="0" tIns="0" rIns="0" bIns="0" rtlCol="0" anchor="t"/>
          <a:lstStyle/>
          <a:p>
            <a:pPr marL="0" indent="0">
              <a:buNone/>
            </a:pPr>
            <a:r>
              <a:rPr lang="en-US" sz="1300" dirty="0">
                <a:solidFill>
                  <a:srgbClr val="4A5A63"/>
                </a:solidFill>
                <a:latin typeface="Calibri" pitchFamily="34" charset="0"/>
                <a:ea typeface="Calibri" pitchFamily="34" charset="-122"/>
                <a:cs typeface="Calibri" pitchFamily="34" charset="-120"/>
              </a:rPr>
              <a:t>Answers come from our code, and use far fewer tokens.</a:t>
            </a:r>
            <a:endParaRPr lang="en-US" sz="1300" dirty="0"/>
          </a:p>
        </p:txBody>
      </p:sp>
      <p:sp>
        <p:nvSpPr>
          <p:cNvPr id="9" name="Shape 7"/>
          <p:cNvSpPr/>
          <p:nvPr/>
        </p:nvSpPr>
        <p:spPr>
          <a:xfrm>
            <a:off x="4389120" y="1143000"/>
            <a:ext cx="4297680" cy="3383280"/>
          </a:xfrm>
          <a:prstGeom prst="roundRect">
            <a:avLst>
              <a:gd name="adj" fmla="val 3243"/>
            </a:avLst>
          </a:prstGeom>
          <a:solidFill>
            <a:srgbClr val="EEF3F4"/>
          </a:solidFill>
          <a:ln w="12700">
            <a:solidFill>
              <a:srgbClr val="EEF3F4"/>
            </a:solidFill>
            <a:prstDash val="solid"/>
          </a:ln>
        </p:spPr>
        <p:txBody>
          <a:bodyPr/>
          <a:lstStyle/>
          <a:p>
            <a:endParaRPr lang="en-US"/>
          </a:p>
        </p:txBody>
      </p:sp>
      <p:sp>
        <p:nvSpPr>
          <p:cNvPr id="10" name="Shape 8"/>
          <p:cNvSpPr/>
          <p:nvPr/>
        </p:nvSpPr>
        <p:spPr>
          <a:xfrm flipV="1">
            <a:off x="5029200" y="1463040"/>
            <a:ext cx="1371600" cy="137160"/>
          </a:xfrm>
          <a:prstGeom prst="line">
            <a:avLst/>
          </a:prstGeom>
          <a:noFill/>
          <a:ln w="19050">
            <a:solidFill>
              <a:srgbClr val="B8C4C9"/>
            </a:solidFill>
            <a:prstDash val="solid"/>
          </a:ln>
        </p:spPr>
        <p:txBody>
          <a:bodyPr/>
          <a:lstStyle/>
          <a:p>
            <a:endParaRPr lang="en-US"/>
          </a:p>
        </p:txBody>
      </p:sp>
      <p:sp>
        <p:nvSpPr>
          <p:cNvPr id="11" name="Shape 9"/>
          <p:cNvSpPr/>
          <p:nvPr/>
        </p:nvSpPr>
        <p:spPr>
          <a:xfrm>
            <a:off x="6400800" y="1463040"/>
            <a:ext cx="1371600" cy="365760"/>
          </a:xfrm>
          <a:prstGeom prst="line">
            <a:avLst/>
          </a:prstGeom>
          <a:noFill/>
          <a:ln w="19050">
            <a:solidFill>
              <a:srgbClr val="B8C4C9"/>
            </a:solidFill>
            <a:prstDash val="solid"/>
          </a:ln>
        </p:spPr>
        <p:txBody>
          <a:bodyPr/>
          <a:lstStyle/>
          <a:p>
            <a:endParaRPr lang="en-US"/>
          </a:p>
        </p:txBody>
      </p:sp>
      <p:sp>
        <p:nvSpPr>
          <p:cNvPr id="12" name="Shape 10"/>
          <p:cNvSpPr/>
          <p:nvPr/>
        </p:nvSpPr>
        <p:spPr>
          <a:xfrm flipV="1">
            <a:off x="5669280" y="1463040"/>
            <a:ext cx="731520" cy="1280160"/>
          </a:xfrm>
          <a:prstGeom prst="line">
            <a:avLst/>
          </a:prstGeom>
          <a:noFill/>
          <a:ln w="19050">
            <a:solidFill>
              <a:srgbClr val="B8C4C9"/>
            </a:solidFill>
            <a:prstDash val="solid"/>
          </a:ln>
        </p:spPr>
        <p:txBody>
          <a:bodyPr/>
          <a:lstStyle/>
          <a:p>
            <a:endParaRPr lang="en-US"/>
          </a:p>
        </p:txBody>
      </p:sp>
      <p:sp>
        <p:nvSpPr>
          <p:cNvPr id="13" name="Shape 11"/>
          <p:cNvSpPr/>
          <p:nvPr/>
        </p:nvSpPr>
        <p:spPr>
          <a:xfrm>
            <a:off x="5669280" y="2743200"/>
            <a:ext cx="1554480" cy="182880"/>
          </a:xfrm>
          <a:prstGeom prst="line">
            <a:avLst/>
          </a:prstGeom>
          <a:noFill/>
          <a:ln w="19050">
            <a:solidFill>
              <a:srgbClr val="B8C4C9"/>
            </a:solidFill>
            <a:prstDash val="solid"/>
          </a:ln>
        </p:spPr>
        <p:txBody>
          <a:bodyPr/>
          <a:lstStyle/>
          <a:p>
            <a:endParaRPr lang="en-US"/>
          </a:p>
        </p:txBody>
      </p:sp>
      <p:sp>
        <p:nvSpPr>
          <p:cNvPr id="14" name="Shape 12"/>
          <p:cNvSpPr/>
          <p:nvPr/>
        </p:nvSpPr>
        <p:spPr>
          <a:xfrm>
            <a:off x="5669280" y="2743200"/>
            <a:ext cx="731520" cy="1097280"/>
          </a:xfrm>
          <a:prstGeom prst="line">
            <a:avLst/>
          </a:prstGeom>
          <a:noFill/>
          <a:ln w="19050">
            <a:solidFill>
              <a:srgbClr val="B8C4C9"/>
            </a:solidFill>
            <a:prstDash val="solid"/>
          </a:ln>
        </p:spPr>
        <p:txBody>
          <a:bodyPr/>
          <a:lstStyle/>
          <a:p>
            <a:endParaRPr lang="en-US"/>
          </a:p>
        </p:txBody>
      </p:sp>
      <p:sp>
        <p:nvSpPr>
          <p:cNvPr id="15" name="Shape 13"/>
          <p:cNvSpPr/>
          <p:nvPr/>
        </p:nvSpPr>
        <p:spPr>
          <a:xfrm flipV="1">
            <a:off x="6400800" y="2926080"/>
            <a:ext cx="822960" cy="914400"/>
          </a:xfrm>
          <a:prstGeom prst="line">
            <a:avLst/>
          </a:prstGeom>
          <a:noFill/>
          <a:ln w="19050">
            <a:solidFill>
              <a:srgbClr val="B8C4C9"/>
            </a:solidFill>
            <a:prstDash val="solid"/>
          </a:ln>
        </p:spPr>
        <p:txBody>
          <a:bodyPr/>
          <a:lstStyle/>
          <a:p>
            <a:endParaRPr lang="en-US"/>
          </a:p>
        </p:txBody>
      </p:sp>
      <p:sp>
        <p:nvSpPr>
          <p:cNvPr id="16" name="Shape 14"/>
          <p:cNvSpPr/>
          <p:nvPr/>
        </p:nvSpPr>
        <p:spPr>
          <a:xfrm flipV="1">
            <a:off x="7223760" y="1828800"/>
            <a:ext cx="548640" cy="1097280"/>
          </a:xfrm>
          <a:prstGeom prst="line">
            <a:avLst/>
          </a:prstGeom>
          <a:noFill/>
          <a:ln w="19050">
            <a:solidFill>
              <a:srgbClr val="B8C4C9"/>
            </a:solidFill>
            <a:prstDash val="solid"/>
          </a:ln>
        </p:spPr>
        <p:txBody>
          <a:bodyPr/>
          <a:lstStyle/>
          <a:p>
            <a:endParaRPr lang="en-US"/>
          </a:p>
        </p:txBody>
      </p:sp>
      <p:sp>
        <p:nvSpPr>
          <p:cNvPr id="17" name="Shape 15"/>
          <p:cNvSpPr/>
          <p:nvPr/>
        </p:nvSpPr>
        <p:spPr>
          <a:xfrm>
            <a:off x="4700016" y="1271016"/>
            <a:ext cx="658368" cy="658368"/>
          </a:xfrm>
          <a:prstGeom prst="ellipse">
            <a:avLst/>
          </a:prstGeom>
          <a:solidFill>
            <a:srgbClr val="4A5A63"/>
          </a:solidFill>
          <a:ln w="25400">
            <a:solidFill>
              <a:srgbClr val="FFFFFF"/>
            </a:solidFill>
            <a:prstDash val="solid"/>
          </a:ln>
        </p:spPr>
        <p:txBody>
          <a:bodyPr/>
          <a:lstStyle/>
          <a:p>
            <a:endParaRPr lang="en-US"/>
          </a:p>
        </p:txBody>
      </p:sp>
      <p:sp>
        <p:nvSpPr>
          <p:cNvPr id="18" name="Text 16"/>
          <p:cNvSpPr txBox="1"/>
          <p:nvPr/>
        </p:nvSpPr>
        <p:spPr>
          <a:xfrm>
            <a:off x="4480560" y="1271016"/>
            <a:ext cx="109728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UI</a:t>
            </a:r>
            <a:endParaRPr lang="en-US" sz="1000" dirty="0"/>
          </a:p>
        </p:txBody>
      </p:sp>
      <p:sp>
        <p:nvSpPr>
          <p:cNvPr id="19" name="Shape 17"/>
          <p:cNvSpPr/>
          <p:nvPr/>
        </p:nvSpPr>
        <p:spPr>
          <a:xfrm>
            <a:off x="6071616" y="1133856"/>
            <a:ext cx="658368" cy="658368"/>
          </a:xfrm>
          <a:prstGeom prst="ellipse">
            <a:avLst/>
          </a:prstGeom>
          <a:solidFill>
            <a:srgbClr val="4A5A63"/>
          </a:solidFill>
          <a:ln w="25400">
            <a:solidFill>
              <a:srgbClr val="FFFFFF"/>
            </a:solidFill>
            <a:prstDash val="solid"/>
          </a:ln>
        </p:spPr>
        <p:txBody>
          <a:bodyPr/>
          <a:lstStyle/>
          <a:p>
            <a:endParaRPr lang="en-US"/>
          </a:p>
        </p:txBody>
      </p:sp>
      <p:sp>
        <p:nvSpPr>
          <p:cNvPr id="20" name="Text 18"/>
          <p:cNvSpPr txBox="1"/>
          <p:nvPr/>
        </p:nvSpPr>
        <p:spPr>
          <a:xfrm>
            <a:off x="5852160" y="1133856"/>
            <a:ext cx="109728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API</a:t>
            </a:r>
            <a:endParaRPr lang="en-US" sz="1000" dirty="0"/>
          </a:p>
        </p:txBody>
      </p:sp>
      <p:sp>
        <p:nvSpPr>
          <p:cNvPr id="21" name="Shape 19"/>
          <p:cNvSpPr/>
          <p:nvPr/>
        </p:nvSpPr>
        <p:spPr>
          <a:xfrm>
            <a:off x="7443216" y="1499616"/>
            <a:ext cx="658368" cy="658368"/>
          </a:xfrm>
          <a:prstGeom prst="ellipse">
            <a:avLst/>
          </a:prstGeom>
          <a:solidFill>
            <a:srgbClr val="4A5A63"/>
          </a:solidFill>
          <a:ln w="25400">
            <a:solidFill>
              <a:srgbClr val="FFFFFF"/>
            </a:solidFill>
            <a:prstDash val="solid"/>
          </a:ln>
        </p:spPr>
        <p:txBody>
          <a:bodyPr/>
          <a:lstStyle/>
          <a:p>
            <a:endParaRPr lang="en-US"/>
          </a:p>
        </p:txBody>
      </p:sp>
      <p:sp>
        <p:nvSpPr>
          <p:cNvPr id="22" name="Text 20"/>
          <p:cNvSpPr txBox="1"/>
          <p:nvPr/>
        </p:nvSpPr>
        <p:spPr>
          <a:xfrm>
            <a:off x="7223760" y="1499616"/>
            <a:ext cx="109728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Auth</a:t>
            </a:r>
            <a:endParaRPr lang="en-US" sz="1000" dirty="0"/>
          </a:p>
        </p:txBody>
      </p:sp>
      <p:sp>
        <p:nvSpPr>
          <p:cNvPr id="23" name="Shape 21"/>
          <p:cNvSpPr/>
          <p:nvPr/>
        </p:nvSpPr>
        <p:spPr>
          <a:xfrm>
            <a:off x="5340096" y="2414016"/>
            <a:ext cx="658368" cy="658368"/>
          </a:xfrm>
          <a:prstGeom prst="ellipse">
            <a:avLst/>
          </a:prstGeom>
          <a:solidFill>
            <a:srgbClr val="4A5A63"/>
          </a:solidFill>
          <a:ln w="25400">
            <a:solidFill>
              <a:srgbClr val="FFFFFF"/>
            </a:solidFill>
            <a:prstDash val="solid"/>
          </a:ln>
        </p:spPr>
        <p:txBody>
          <a:bodyPr/>
          <a:lstStyle/>
          <a:p>
            <a:endParaRPr lang="en-US"/>
          </a:p>
        </p:txBody>
      </p:sp>
      <p:sp>
        <p:nvSpPr>
          <p:cNvPr id="24" name="Text 22"/>
          <p:cNvSpPr txBox="1"/>
          <p:nvPr/>
        </p:nvSpPr>
        <p:spPr>
          <a:xfrm>
            <a:off x="5120640" y="2414016"/>
            <a:ext cx="109728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Orders</a:t>
            </a:r>
            <a:endParaRPr lang="en-US" sz="1000" dirty="0"/>
          </a:p>
        </p:txBody>
      </p:sp>
      <p:sp>
        <p:nvSpPr>
          <p:cNvPr id="25" name="Shape 23"/>
          <p:cNvSpPr/>
          <p:nvPr/>
        </p:nvSpPr>
        <p:spPr>
          <a:xfrm>
            <a:off x="6894576" y="2596896"/>
            <a:ext cx="658368" cy="658368"/>
          </a:xfrm>
          <a:prstGeom prst="ellipse">
            <a:avLst/>
          </a:prstGeom>
          <a:solidFill>
            <a:srgbClr val="E9A23B"/>
          </a:solidFill>
          <a:ln w="25400">
            <a:solidFill>
              <a:srgbClr val="FFFFFF"/>
            </a:solidFill>
            <a:prstDash val="solid"/>
          </a:ln>
        </p:spPr>
        <p:txBody>
          <a:bodyPr/>
          <a:lstStyle/>
          <a:p>
            <a:endParaRPr lang="en-US"/>
          </a:p>
        </p:txBody>
      </p:sp>
      <p:sp>
        <p:nvSpPr>
          <p:cNvPr id="26" name="Text 24"/>
          <p:cNvSpPr txBox="1"/>
          <p:nvPr/>
        </p:nvSpPr>
        <p:spPr>
          <a:xfrm>
            <a:off x="6675120" y="2596896"/>
            <a:ext cx="109728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Billing</a:t>
            </a:r>
            <a:endParaRPr lang="en-US" sz="1000" dirty="0"/>
          </a:p>
        </p:txBody>
      </p:sp>
      <p:sp>
        <p:nvSpPr>
          <p:cNvPr id="27" name="Shape 25"/>
          <p:cNvSpPr/>
          <p:nvPr/>
        </p:nvSpPr>
        <p:spPr>
          <a:xfrm>
            <a:off x="6071616" y="3511296"/>
            <a:ext cx="658368" cy="658368"/>
          </a:xfrm>
          <a:prstGeom prst="ellipse">
            <a:avLst/>
          </a:prstGeom>
          <a:solidFill>
            <a:srgbClr val="4A5A63"/>
          </a:solidFill>
          <a:ln w="25400">
            <a:solidFill>
              <a:srgbClr val="FFFFFF"/>
            </a:solidFill>
            <a:prstDash val="solid"/>
          </a:ln>
        </p:spPr>
        <p:txBody>
          <a:bodyPr/>
          <a:lstStyle/>
          <a:p>
            <a:endParaRPr lang="en-US"/>
          </a:p>
        </p:txBody>
      </p:sp>
      <p:sp>
        <p:nvSpPr>
          <p:cNvPr id="28" name="Text 26"/>
          <p:cNvSpPr txBox="1"/>
          <p:nvPr/>
        </p:nvSpPr>
        <p:spPr>
          <a:xfrm>
            <a:off x="5852160" y="3511296"/>
            <a:ext cx="109728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a:t>
            </a:r>
            <a:endParaRPr lang="en-US" sz="1000" dirty="0"/>
          </a:p>
        </p:txBody>
      </p:sp>
      <p:sp>
        <p:nvSpPr>
          <p:cNvPr id="29" name="Shape 27"/>
          <p:cNvSpPr/>
          <p:nvPr/>
        </p:nvSpPr>
        <p:spPr>
          <a:xfrm>
            <a:off x="4617720" y="4224528"/>
            <a:ext cx="128016" cy="128016"/>
          </a:xfrm>
          <a:prstGeom prst="ellipse">
            <a:avLst/>
          </a:prstGeom>
          <a:solidFill>
            <a:srgbClr val="E9A23B"/>
          </a:solidFill>
          <a:ln w="12700">
            <a:solidFill>
              <a:srgbClr val="E9A23B"/>
            </a:solidFill>
            <a:prstDash val="solid"/>
          </a:ln>
        </p:spPr>
        <p:txBody>
          <a:bodyPr/>
          <a:lstStyle/>
          <a:p>
            <a:endParaRPr lang="en-US"/>
          </a:p>
        </p:txBody>
      </p:sp>
      <p:sp>
        <p:nvSpPr>
          <p:cNvPr id="30" name="Text 28"/>
          <p:cNvSpPr txBox="1"/>
          <p:nvPr/>
        </p:nvSpPr>
        <p:spPr>
          <a:xfrm>
            <a:off x="4818888" y="4160520"/>
            <a:ext cx="3749040" cy="256032"/>
          </a:xfrm>
          <a:prstGeom prst="rect">
            <a:avLst/>
          </a:prstGeom>
          <a:noFill/>
          <a:ln/>
        </p:spPr>
        <p:txBody>
          <a:bodyPr wrap="square" lIns="0" tIns="0" rIns="0" bIns="0" rtlCol="0" anchor="ctr"/>
          <a:lstStyle/>
          <a:p>
            <a:pPr marL="0" indent="0">
              <a:buNone/>
            </a:pPr>
            <a:r>
              <a:rPr lang="en-US" sz="1000" dirty="0">
                <a:solidFill>
                  <a:srgbClr val="4A5A63"/>
                </a:solidFill>
                <a:latin typeface="Calibri" pitchFamily="34" charset="0"/>
                <a:ea typeface="Calibri" pitchFamily="34" charset="-122"/>
                <a:cs typeface="Calibri" pitchFamily="34" charset="-120"/>
              </a:rPr>
              <a:t>Changed since last sync, so it's the only one reread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8A22F1-F216-E39D-D35A-906DC4A315E5}"/>
              </a:ext>
            </a:extLst>
          </p:cNvPr>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Docs write themselves</a:t>
            </a:r>
            <a:endParaRPr lang="en-US" sz="3000" dirty="0"/>
          </a:p>
        </p:txBody>
      </p:sp>
      <p:grpSp>
        <p:nvGrpSpPr>
          <p:cNvPr id="3" name="Group 2">
            <a:extLst>
              <a:ext uri="{FF2B5EF4-FFF2-40B4-BE49-F238E27FC236}">
                <a16:creationId xmlns:a16="http://schemas.microsoft.com/office/drawing/2014/main" id="{CC8DEBC0-D8A6-E31A-75E9-A17B4A85B4F1}"/>
              </a:ext>
            </a:extLst>
          </p:cNvPr>
          <p:cNvGrpSpPr/>
          <p:nvPr/>
        </p:nvGrpSpPr>
        <p:grpSpPr>
          <a:xfrm>
            <a:off x="457200" y="1878058"/>
            <a:ext cx="2468880" cy="2103120"/>
            <a:chOff x="457200" y="1878058"/>
            <a:chExt cx="2468880" cy="2103120"/>
          </a:xfrm>
        </p:grpSpPr>
        <p:sp>
          <p:nvSpPr>
            <p:cNvPr id="4" name="Shape 1">
              <a:extLst>
                <a:ext uri="{FF2B5EF4-FFF2-40B4-BE49-F238E27FC236}">
                  <a16:creationId xmlns:a16="http://schemas.microsoft.com/office/drawing/2014/main" id="{5EABEDCA-1C31-1072-56ED-C8AB51EBB8B4}"/>
                </a:ext>
              </a:extLst>
            </p:cNvPr>
            <p:cNvSpPr/>
            <p:nvPr/>
          </p:nvSpPr>
          <p:spPr>
            <a:xfrm>
              <a:off x="457200" y="1878058"/>
              <a:ext cx="2468880" cy="2103120"/>
            </a:xfrm>
            <a:prstGeom prst="roundRect">
              <a:avLst>
                <a:gd name="adj" fmla="val 5217"/>
              </a:avLst>
            </a:prstGeom>
            <a:solidFill>
              <a:schemeClr val="accent5">
                <a:lumMod val="20000"/>
                <a:lumOff val="80000"/>
              </a:schemeClr>
            </a:solidFill>
            <a:ln w="12700">
              <a:solidFill>
                <a:srgbClr val="EEF3F4"/>
              </a:solidFill>
              <a:prstDash val="solid"/>
            </a:ln>
          </p:spPr>
          <p:txBody>
            <a:bodyPr/>
            <a:lstStyle/>
            <a:p>
              <a:endParaRPr lang="en-US"/>
            </a:p>
          </p:txBody>
        </p:sp>
        <p:sp>
          <p:nvSpPr>
            <p:cNvPr id="5" name="Shape 2">
              <a:extLst>
                <a:ext uri="{FF2B5EF4-FFF2-40B4-BE49-F238E27FC236}">
                  <a16:creationId xmlns:a16="http://schemas.microsoft.com/office/drawing/2014/main" id="{14333EB1-1312-158E-833D-E86C562ADA9F}"/>
                </a:ext>
              </a:extLst>
            </p:cNvPr>
            <p:cNvSpPr/>
            <p:nvPr/>
          </p:nvSpPr>
          <p:spPr>
            <a:xfrm>
              <a:off x="1325880" y="2106658"/>
              <a:ext cx="731520" cy="731520"/>
            </a:xfrm>
            <a:prstGeom prst="ellipse">
              <a:avLst/>
            </a:prstGeom>
            <a:solidFill>
              <a:srgbClr val="4A5A63"/>
            </a:solidFill>
            <a:ln w="12700">
              <a:solidFill>
                <a:srgbClr val="4A5A63"/>
              </a:solidFill>
              <a:prstDash val="solid"/>
            </a:ln>
          </p:spPr>
          <p:txBody>
            <a:bodyPr/>
            <a:lstStyle/>
            <a:p>
              <a:endParaRPr lang="en-US"/>
            </a:p>
          </p:txBody>
        </p:sp>
        <p:pic>
          <p:nvPicPr>
            <p:cNvPr id="6" name="Image 0" descr="preencoded.png">
              <a:extLst>
                <a:ext uri="{FF2B5EF4-FFF2-40B4-BE49-F238E27FC236}">
                  <a16:creationId xmlns:a16="http://schemas.microsoft.com/office/drawing/2014/main" id="{CD615A29-FB9B-3693-3EF6-60F03940579E}"/>
                </a:ext>
              </a:extLst>
            </p:cNvPr>
            <p:cNvPicPr>
              <a:picLocks noChangeAspect="1"/>
            </p:cNvPicPr>
            <p:nvPr/>
          </p:nvPicPr>
          <p:blipFill>
            <a:blip r:embed="rId3"/>
            <a:stretch>
              <a:fillRect/>
            </a:stretch>
          </p:blipFill>
          <p:spPr>
            <a:xfrm>
              <a:off x="1508760" y="2289538"/>
              <a:ext cx="365760" cy="365760"/>
            </a:xfrm>
            <a:prstGeom prst="rect">
              <a:avLst/>
            </a:prstGeom>
          </p:spPr>
        </p:pic>
        <p:sp>
          <p:nvSpPr>
            <p:cNvPr id="7" name="Text 3">
              <a:extLst>
                <a:ext uri="{FF2B5EF4-FFF2-40B4-BE49-F238E27FC236}">
                  <a16:creationId xmlns:a16="http://schemas.microsoft.com/office/drawing/2014/main" id="{27EA32CD-1690-2522-B80C-B16F8033DC41}"/>
                </a:ext>
              </a:extLst>
            </p:cNvPr>
            <p:cNvSpPr txBox="1"/>
            <p:nvPr/>
          </p:nvSpPr>
          <p:spPr>
            <a:xfrm>
              <a:off x="594360" y="2975338"/>
              <a:ext cx="2194560" cy="365760"/>
            </a:xfrm>
            <a:prstGeom prst="rect">
              <a:avLst/>
            </a:prstGeom>
            <a:noFill/>
            <a:ln/>
          </p:spPr>
          <p:txBody>
            <a:bodyPr wrap="square" lIns="0" tIns="0" rIns="0" bIns="0" rtlCol="0" anchor="t"/>
            <a:lstStyle/>
            <a:p>
              <a:pPr marL="0" indent="0" algn="ctr">
                <a:buNone/>
              </a:pPr>
              <a:r>
                <a:rPr lang="en-US" sz="1600" b="1" dirty="0">
                  <a:solidFill>
                    <a:srgbClr val="1F2A30"/>
                  </a:solidFill>
                  <a:latin typeface="Calibri" pitchFamily="34" charset="0"/>
                  <a:ea typeface="Calibri" pitchFamily="34" charset="-122"/>
                  <a:cs typeface="Calibri" pitchFamily="34" charset="-120"/>
                </a:rPr>
                <a:t>Our code</a:t>
              </a:r>
              <a:endParaRPr lang="en-US" sz="1600" dirty="0"/>
            </a:p>
          </p:txBody>
        </p:sp>
        <p:sp>
          <p:nvSpPr>
            <p:cNvPr id="8" name="Text 4">
              <a:extLst>
                <a:ext uri="{FF2B5EF4-FFF2-40B4-BE49-F238E27FC236}">
                  <a16:creationId xmlns:a16="http://schemas.microsoft.com/office/drawing/2014/main" id="{C52295C4-6245-1BCB-CD80-2E78EF98C1AE}"/>
                </a:ext>
              </a:extLst>
            </p:cNvPr>
            <p:cNvSpPr txBox="1"/>
            <p:nvPr/>
          </p:nvSpPr>
          <p:spPr>
            <a:xfrm>
              <a:off x="640080" y="3341098"/>
              <a:ext cx="2103120" cy="548640"/>
            </a:xfrm>
            <a:prstGeom prst="rect">
              <a:avLst/>
            </a:prstGeom>
            <a:noFill/>
            <a:ln/>
          </p:spPr>
          <p:txBody>
            <a:bodyPr wrap="square" lIns="0" tIns="0" rIns="0" bIns="0" rtlCol="0" anchor="t"/>
            <a:lstStyle/>
            <a:p>
              <a:pPr marL="0" indent="0" algn="ctr">
                <a:buNone/>
              </a:pPr>
              <a:r>
                <a:rPr lang="en-US" sz="1200" dirty="0">
                  <a:solidFill>
                    <a:srgbClr val="4A5A63"/>
                  </a:solidFill>
                  <a:latin typeface="Calibri" pitchFamily="34" charset="0"/>
                  <a:ea typeface="Calibri" pitchFamily="34" charset="-122"/>
                  <a:cs typeface="Calibri" pitchFamily="34" charset="-120"/>
                </a:rPr>
                <a:t>Read directly from the repo</a:t>
              </a:r>
              <a:endParaRPr lang="en-US" sz="1200" dirty="0"/>
            </a:p>
          </p:txBody>
        </p:sp>
      </p:grpSp>
      <p:sp>
        <p:nvSpPr>
          <p:cNvPr id="9" name="Text 8">
            <a:extLst>
              <a:ext uri="{FF2B5EF4-FFF2-40B4-BE49-F238E27FC236}">
                <a16:creationId xmlns:a16="http://schemas.microsoft.com/office/drawing/2014/main" id="{8D2675B6-60FB-2491-8952-9ED73DC2C5CF}"/>
              </a:ext>
            </a:extLst>
          </p:cNvPr>
          <p:cNvSpPr txBox="1"/>
          <p:nvPr/>
        </p:nvSpPr>
        <p:spPr>
          <a:xfrm>
            <a:off x="5545181" y="410667"/>
            <a:ext cx="2194560" cy="365760"/>
          </a:xfrm>
          <a:prstGeom prst="rect">
            <a:avLst/>
          </a:prstGeom>
          <a:noFill/>
          <a:ln/>
        </p:spPr>
        <p:txBody>
          <a:bodyPr wrap="square" lIns="0" tIns="0" rIns="0" bIns="0" rtlCol="0" anchor="t"/>
          <a:lstStyle/>
          <a:p>
            <a:pPr marL="0" indent="0" algn="ctr">
              <a:buNone/>
            </a:pPr>
            <a:r>
              <a:rPr lang="en-US" sz="1600" b="1" dirty="0">
                <a:solidFill>
                  <a:srgbClr val="1F2A30"/>
                </a:solidFill>
                <a:latin typeface="Calibri" pitchFamily="34" charset="0"/>
                <a:ea typeface="Calibri" pitchFamily="34" charset="-122"/>
                <a:cs typeface="Calibri" pitchFamily="34" charset="-120"/>
              </a:rPr>
              <a:t>Documents</a:t>
            </a:r>
            <a:endParaRPr lang="en-US" sz="1600" dirty="0"/>
          </a:p>
        </p:txBody>
      </p:sp>
      <p:sp>
        <p:nvSpPr>
          <p:cNvPr id="10" name="Text 13">
            <a:extLst>
              <a:ext uri="{FF2B5EF4-FFF2-40B4-BE49-F238E27FC236}">
                <a16:creationId xmlns:a16="http://schemas.microsoft.com/office/drawing/2014/main" id="{E35A38B5-76CD-A923-EB78-C1F8EF126559}"/>
              </a:ext>
            </a:extLst>
          </p:cNvPr>
          <p:cNvSpPr txBox="1"/>
          <p:nvPr/>
        </p:nvSpPr>
        <p:spPr>
          <a:xfrm>
            <a:off x="5701939" y="3131277"/>
            <a:ext cx="2194560" cy="365760"/>
          </a:xfrm>
          <a:prstGeom prst="rect">
            <a:avLst/>
          </a:prstGeom>
          <a:noFill/>
          <a:ln/>
        </p:spPr>
        <p:txBody>
          <a:bodyPr wrap="square" lIns="0" tIns="0" rIns="0" bIns="0" rtlCol="0" anchor="t"/>
          <a:lstStyle/>
          <a:p>
            <a:pPr marL="0" indent="0" algn="ctr">
              <a:buNone/>
            </a:pPr>
            <a:r>
              <a:rPr lang="en-US" sz="1600" b="1" dirty="0">
                <a:solidFill>
                  <a:srgbClr val="1F2A30"/>
                </a:solidFill>
                <a:latin typeface="Calibri" pitchFamily="34" charset="0"/>
                <a:ea typeface="Calibri" pitchFamily="34" charset="-122"/>
                <a:cs typeface="Calibri" pitchFamily="34" charset="-120"/>
              </a:rPr>
              <a:t>Reports</a:t>
            </a:r>
            <a:endParaRPr lang="en-US" sz="1600" dirty="0"/>
          </a:p>
        </p:txBody>
      </p:sp>
      <p:sp>
        <p:nvSpPr>
          <p:cNvPr id="11" name="Text 14">
            <a:extLst>
              <a:ext uri="{FF2B5EF4-FFF2-40B4-BE49-F238E27FC236}">
                <a16:creationId xmlns:a16="http://schemas.microsoft.com/office/drawing/2014/main" id="{D7E29C85-618B-0CEC-7F34-907A32310801}"/>
              </a:ext>
            </a:extLst>
          </p:cNvPr>
          <p:cNvSpPr txBox="1"/>
          <p:nvPr/>
        </p:nvSpPr>
        <p:spPr>
          <a:xfrm>
            <a:off x="5460275" y="3337017"/>
            <a:ext cx="2671354" cy="228600"/>
          </a:xfrm>
          <a:prstGeom prst="rect">
            <a:avLst/>
          </a:prstGeom>
          <a:noFill/>
          <a:ln/>
        </p:spPr>
        <p:txBody>
          <a:bodyPr wrap="square" lIns="0" tIns="0" rIns="0" bIns="0" rtlCol="0" anchor="t"/>
          <a:lstStyle/>
          <a:p>
            <a:pPr marL="0" indent="0" algn="ctr">
              <a:buNone/>
            </a:pPr>
            <a:r>
              <a:rPr lang="en-US" sz="1200" dirty="0">
                <a:solidFill>
                  <a:srgbClr val="4A5A63"/>
                </a:solidFill>
                <a:latin typeface="Calibri" pitchFamily="34" charset="0"/>
                <a:ea typeface="Calibri" pitchFamily="34" charset="-122"/>
                <a:cs typeface="Calibri" pitchFamily="34" charset="-120"/>
              </a:rPr>
              <a:t>Clickable HTML, generated from the doc</a:t>
            </a:r>
            <a:endParaRPr lang="en-US" sz="1200" dirty="0"/>
          </a:p>
        </p:txBody>
      </p:sp>
      <p:sp>
        <p:nvSpPr>
          <p:cNvPr id="12" name="Text 17">
            <a:extLst>
              <a:ext uri="{FF2B5EF4-FFF2-40B4-BE49-F238E27FC236}">
                <a16:creationId xmlns:a16="http://schemas.microsoft.com/office/drawing/2014/main" id="{8E4049BB-26A0-C51B-5352-D74AE6A08F75}"/>
              </a:ext>
            </a:extLst>
          </p:cNvPr>
          <p:cNvSpPr txBox="1"/>
          <p:nvPr/>
        </p:nvSpPr>
        <p:spPr>
          <a:xfrm>
            <a:off x="457200" y="832752"/>
            <a:ext cx="3513909" cy="295821"/>
          </a:xfrm>
          <a:prstGeom prst="rect">
            <a:avLst/>
          </a:prstGeom>
          <a:noFill/>
          <a:ln/>
        </p:spPr>
        <p:txBody>
          <a:bodyPr wrap="square" lIns="0" tIns="0" rIns="0" bIns="0" rtlCol="0" anchor="t"/>
          <a:lstStyle>
            <a:lvl1pPr indent="0">
              <a:buNone/>
              <a:defRPr sz="1300" i="1">
                <a:solidFill>
                  <a:srgbClr val="2A9D8F"/>
                </a:solidFill>
                <a:latin typeface="Calibri" pitchFamily="34" charset="0"/>
                <a:ea typeface="Calibri" pitchFamily="34" charset="-122"/>
                <a:cs typeface="Calibri" pitchFamily="34" charset="-120"/>
              </a:defRPr>
            </a:lvl1pPr>
          </a:lstStyle>
          <a:p>
            <a:r>
              <a:rPr lang="en-US" dirty="0"/>
              <a:t>No diagram / documents to update by hand.</a:t>
            </a:r>
          </a:p>
        </p:txBody>
      </p:sp>
      <p:grpSp>
        <p:nvGrpSpPr>
          <p:cNvPr id="13" name="Group 12">
            <a:extLst>
              <a:ext uri="{FF2B5EF4-FFF2-40B4-BE49-F238E27FC236}">
                <a16:creationId xmlns:a16="http://schemas.microsoft.com/office/drawing/2014/main" id="{AC82DB44-FDCD-A26A-9B9B-2AEF3DBE52F3}"/>
              </a:ext>
            </a:extLst>
          </p:cNvPr>
          <p:cNvGrpSpPr/>
          <p:nvPr/>
        </p:nvGrpSpPr>
        <p:grpSpPr>
          <a:xfrm>
            <a:off x="5587638" y="3565617"/>
            <a:ext cx="2338251" cy="1303020"/>
            <a:chOff x="6302829" y="3520440"/>
            <a:chExt cx="2338251" cy="1303020"/>
          </a:xfrm>
        </p:grpSpPr>
        <p:sp>
          <p:nvSpPr>
            <p:cNvPr id="14" name="Shape 15">
              <a:extLst>
                <a:ext uri="{FF2B5EF4-FFF2-40B4-BE49-F238E27FC236}">
                  <a16:creationId xmlns:a16="http://schemas.microsoft.com/office/drawing/2014/main" id="{D189DA80-7FF0-1528-5010-0B088FB044EF}"/>
                </a:ext>
              </a:extLst>
            </p:cNvPr>
            <p:cNvSpPr/>
            <p:nvPr/>
          </p:nvSpPr>
          <p:spPr>
            <a:xfrm>
              <a:off x="6302829" y="3520440"/>
              <a:ext cx="2338251" cy="1303020"/>
            </a:xfrm>
            <a:prstGeom prst="roundRect">
              <a:avLst/>
            </a:prstGeom>
            <a:solidFill>
              <a:srgbClr val="1F2A30"/>
            </a:solidFill>
            <a:ln w="12700">
              <a:solidFill>
                <a:srgbClr val="1F2A30"/>
              </a:solidFill>
              <a:prstDash val="solid"/>
            </a:ln>
          </p:spPr>
          <p:txBody>
            <a:bodyPr/>
            <a:lstStyle/>
            <a:p>
              <a:endParaRPr lang="en-US"/>
            </a:p>
          </p:txBody>
        </p:sp>
        <p:sp>
          <p:nvSpPr>
            <p:cNvPr id="15" name="Text 16">
              <a:extLst>
                <a:ext uri="{FF2B5EF4-FFF2-40B4-BE49-F238E27FC236}">
                  <a16:creationId xmlns:a16="http://schemas.microsoft.com/office/drawing/2014/main" id="{431AD256-5BC8-600B-841E-B32F9475979D}"/>
                </a:ext>
              </a:extLst>
            </p:cNvPr>
            <p:cNvSpPr txBox="1"/>
            <p:nvPr/>
          </p:nvSpPr>
          <p:spPr>
            <a:xfrm>
              <a:off x="6590212" y="3533503"/>
              <a:ext cx="1227908" cy="1276894"/>
            </a:xfrm>
            <a:prstGeom prst="rect">
              <a:avLst/>
            </a:prstGeom>
            <a:noFill/>
            <a:ln/>
          </p:spPr>
          <p:txBody>
            <a:bodyPr wrap="square" lIns="0" tIns="0" rIns="0" bIns="0" rtlCol="0" anchor="ctr"/>
            <a:lstStyle/>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Token Analysis</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Graph Visual</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Product Doc</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Code Review</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Security Review</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Memory analysis</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Release Matrix</a:t>
              </a:r>
              <a:endParaRPr lang="en-US" sz="1000" dirty="0"/>
            </a:p>
          </p:txBody>
        </p:sp>
        <p:grpSp>
          <p:nvGrpSpPr>
            <p:cNvPr id="16" name="Group 15">
              <a:extLst>
                <a:ext uri="{FF2B5EF4-FFF2-40B4-BE49-F238E27FC236}">
                  <a16:creationId xmlns:a16="http://schemas.microsoft.com/office/drawing/2014/main" id="{19BCA8DA-6729-AB59-076B-242047FFC383}"/>
                </a:ext>
              </a:extLst>
            </p:cNvPr>
            <p:cNvGrpSpPr/>
            <p:nvPr/>
          </p:nvGrpSpPr>
          <p:grpSpPr>
            <a:xfrm>
              <a:off x="7831183" y="3840480"/>
              <a:ext cx="548640" cy="548640"/>
              <a:chOff x="7086600" y="1508760"/>
              <a:chExt cx="731520" cy="731520"/>
            </a:xfrm>
          </p:grpSpPr>
          <p:sp>
            <p:nvSpPr>
              <p:cNvPr id="17" name="Shape 12">
                <a:extLst>
                  <a:ext uri="{FF2B5EF4-FFF2-40B4-BE49-F238E27FC236}">
                    <a16:creationId xmlns:a16="http://schemas.microsoft.com/office/drawing/2014/main" id="{7D66E55B-6D53-C7C3-6387-EC858F8F6F41}"/>
                  </a:ext>
                </a:extLst>
              </p:cNvPr>
              <p:cNvSpPr/>
              <p:nvPr/>
            </p:nvSpPr>
            <p:spPr>
              <a:xfrm>
                <a:off x="7086600" y="1508760"/>
                <a:ext cx="731520" cy="731520"/>
              </a:xfrm>
              <a:prstGeom prst="ellipse">
                <a:avLst/>
              </a:prstGeom>
              <a:solidFill>
                <a:srgbClr val="2A9D8F"/>
              </a:solidFill>
              <a:ln w="12700">
                <a:solidFill>
                  <a:srgbClr val="2A9D8F"/>
                </a:solidFill>
                <a:prstDash val="solid"/>
              </a:ln>
            </p:spPr>
            <p:txBody>
              <a:bodyPr/>
              <a:lstStyle/>
              <a:p>
                <a:endParaRPr lang="en-US"/>
              </a:p>
            </p:txBody>
          </p:sp>
          <p:pic>
            <p:nvPicPr>
              <p:cNvPr id="18" name="Image 2" descr="preencoded.png">
                <a:extLst>
                  <a:ext uri="{FF2B5EF4-FFF2-40B4-BE49-F238E27FC236}">
                    <a16:creationId xmlns:a16="http://schemas.microsoft.com/office/drawing/2014/main" id="{79029BBD-FC3A-D727-6E31-6A7B32FE7873}"/>
                  </a:ext>
                </a:extLst>
              </p:cNvPr>
              <p:cNvPicPr>
                <a:picLocks noChangeAspect="1"/>
              </p:cNvPicPr>
              <p:nvPr/>
            </p:nvPicPr>
            <p:blipFill>
              <a:blip r:embed="rId4"/>
              <a:stretch>
                <a:fillRect/>
              </a:stretch>
            </p:blipFill>
            <p:spPr>
              <a:xfrm>
                <a:off x="7269480" y="1691640"/>
                <a:ext cx="365760" cy="365760"/>
              </a:xfrm>
              <a:prstGeom prst="rect">
                <a:avLst/>
              </a:prstGeom>
            </p:spPr>
          </p:pic>
        </p:grpSp>
      </p:grpSp>
      <p:grpSp>
        <p:nvGrpSpPr>
          <p:cNvPr id="19" name="Group 18">
            <a:extLst>
              <a:ext uri="{FF2B5EF4-FFF2-40B4-BE49-F238E27FC236}">
                <a16:creationId xmlns:a16="http://schemas.microsoft.com/office/drawing/2014/main" id="{4321C093-6BC4-FFFA-5529-000AAE3513EB}"/>
              </a:ext>
            </a:extLst>
          </p:cNvPr>
          <p:cNvGrpSpPr/>
          <p:nvPr/>
        </p:nvGrpSpPr>
        <p:grpSpPr>
          <a:xfrm>
            <a:off x="5564776" y="876029"/>
            <a:ext cx="2338251" cy="1303020"/>
            <a:chOff x="3429000" y="1588770"/>
            <a:chExt cx="2338251" cy="1303020"/>
          </a:xfrm>
        </p:grpSpPr>
        <p:sp>
          <p:nvSpPr>
            <p:cNvPr id="20" name="Shape 15">
              <a:extLst>
                <a:ext uri="{FF2B5EF4-FFF2-40B4-BE49-F238E27FC236}">
                  <a16:creationId xmlns:a16="http://schemas.microsoft.com/office/drawing/2014/main" id="{DADD31D7-E5EA-94A3-652A-75E3F9879D04}"/>
                </a:ext>
              </a:extLst>
            </p:cNvPr>
            <p:cNvSpPr/>
            <p:nvPr/>
          </p:nvSpPr>
          <p:spPr>
            <a:xfrm>
              <a:off x="3429000" y="1588770"/>
              <a:ext cx="2338251" cy="1303020"/>
            </a:xfrm>
            <a:prstGeom prst="roundRect">
              <a:avLst/>
            </a:prstGeom>
            <a:solidFill>
              <a:schemeClr val="accent4">
                <a:lumMod val="50000"/>
              </a:schemeClr>
            </a:solidFill>
            <a:ln w="12700">
              <a:solidFill>
                <a:srgbClr val="1F2A30"/>
              </a:solidFill>
              <a:prstDash val="solid"/>
            </a:ln>
          </p:spPr>
          <p:txBody>
            <a:bodyPr/>
            <a:lstStyle/>
            <a:p>
              <a:endParaRPr lang="en-US"/>
            </a:p>
          </p:txBody>
        </p:sp>
        <p:sp>
          <p:nvSpPr>
            <p:cNvPr id="21" name="Text 16">
              <a:extLst>
                <a:ext uri="{FF2B5EF4-FFF2-40B4-BE49-F238E27FC236}">
                  <a16:creationId xmlns:a16="http://schemas.microsoft.com/office/drawing/2014/main" id="{CB6C359A-347D-D125-F50C-0ED33787077F}"/>
                </a:ext>
              </a:extLst>
            </p:cNvPr>
            <p:cNvSpPr txBox="1"/>
            <p:nvPr/>
          </p:nvSpPr>
          <p:spPr>
            <a:xfrm>
              <a:off x="3504112" y="1762942"/>
              <a:ext cx="1861457" cy="947057"/>
            </a:xfrm>
            <a:prstGeom prst="rect">
              <a:avLst/>
            </a:prstGeom>
            <a:noFill/>
            <a:ln/>
          </p:spPr>
          <p:txBody>
            <a:bodyPr wrap="square" lIns="0" tIns="0" rIns="0" bIns="0" rtlCol="0" anchor="t"/>
            <a:lstStyle/>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Architecture (dimensional)</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Requirement / Tech Specs</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Story trackers</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Go-live / Operational</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Product / User Guide</a:t>
              </a:r>
            </a:p>
            <a:p>
              <a:pPr marL="171450" indent="-171450">
                <a:buFont typeface="Wingdings" panose="05000000000000000000" pitchFamily="2" charset="2"/>
                <a:buChar char="ü"/>
              </a:pPr>
              <a:r>
                <a:rPr lang="en-US" sz="1000" dirty="0">
                  <a:solidFill>
                    <a:srgbClr val="FFFFFF"/>
                  </a:solidFill>
                  <a:latin typeface="Calibri" pitchFamily="34" charset="0"/>
                  <a:ea typeface="Calibri" pitchFamily="34" charset="-122"/>
                  <a:cs typeface="Calibri" pitchFamily="34" charset="-120"/>
                </a:rPr>
                <a:t>Migration family documents</a:t>
              </a:r>
              <a:endParaRPr lang="en-US" sz="1000" dirty="0"/>
            </a:p>
          </p:txBody>
        </p:sp>
        <p:grpSp>
          <p:nvGrpSpPr>
            <p:cNvPr id="22" name="Group 21">
              <a:extLst>
                <a:ext uri="{FF2B5EF4-FFF2-40B4-BE49-F238E27FC236}">
                  <a16:creationId xmlns:a16="http://schemas.microsoft.com/office/drawing/2014/main" id="{9EFAB639-79CC-099C-407F-3A4416B0ECDD}"/>
                </a:ext>
              </a:extLst>
            </p:cNvPr>
            <p:cNvGrpSpPr/>
            <p:nvPr/>
          </p:nvGrpSpPr>
          <p:grpSpPr>
            <a:xfrm>
              <a:off x="5104312" y="1939290"/>
              <a:ext cx="548640" cy="548640"/>
              <a:chOff x="4206240" y="1508760"/>
              <a:chExt cx="731520" cy="731520"/>
            </a:xfrm>
          </p:grpSpPr>
          <p:sp>
            <p:nvSpPr>
              <p:cNvPr id="23" name="Shape 7">
                <a:extLst>
                  <a:ext uri="{FF2B5EF4-FFF2-40B4-BE49-F238E27FC236}">
                    <a16:creationId xmlns:a16="http://schemas.microsoft.com/office/drawing/2014/main" id="{04339143-997C-DCF3-BFB4-A803BB81A40C}"/>
                  </a:ext>
                </a:extLst>
              </p:cNvPr>
              <p:cNvSpPr/>
              <p:nvPr/>
            </p:nvSpPr>
            <p:spPr>
              <a:xfrm>
                <a:off x="4206240" y="1508760"/>
                <a:ext cx="731520" cy="731520"/>
              </a:xfrm>
              <a:prstGeom prst="ellipse">
                <a:avLst/>
              </a:prstGeom>
              <a:solidFill>
                <a:srgbClr val="4A5A63"/>
              </a:solidFill>
              <a:ln w="12700">
                <a:solidFill>
                  <a:srgbClr val="4A5A63"/>
                </a:solidFill>
                <a:prstDash val="solid"/>
              </a:ln>
            </p:spPr>
            <p:txBody>
              <a:bodyPr/>
              <a:lstStyle/>
              <a:p>
                <a:endParaRPr lang="en-US"/>
              </a:p>
            </p:txBody>
          </p:sp>
          <p:pic>
            <p:nvPicPr>
              <p:cNvPr id="24" name="Image 1" descr="preencoded.png">
                <a:extLst>
                  <a:ext uri="{FF2B5EF4-FFF2-40B4-BE49-F238E27FC236}">
                    <a16:creationId xmlns:a16="http://schemas.microsoft.com/office/drawing/2014/main" id="{60847F9D-3B40-3BE6-6FFB-A4CA0E744A37}"/>
                  </a:ext>
                </a:extLst>
              </p:cNvPr>
              <p:cNvPicPr>
                <a:picLocks noChangeAspect="1"/>
              </p:cNvPicPr>
              <p:nvPr/>
            </p:nvPicPr>
            <p:blipFill>
              <a:blip r:embed="rId5"/>
              <a:stretch>
                <a:fillRect/>
              </a:stretch>
            </p:blipFill>
            <p:spPr>
              <a:xfrm>
                <a:off x="4389120" y="1691640"/>
                <a:ext cx="365760" cy="365760"/>
              </a:xfrm>
              <a:prstGeom prst="rect">
                <a:avLst/>
              </a:prstGeom>
            </p:spPr>
          </p:pic>
        </p:grpSp>
      </p:grpSp>
      <p:cxnSp>
        <p:nvCxnSpPr>
          <p:cNvPr id="25" name="Connector: Elbow 24">
            <a:extLst>
              <a:ext uri="{FF2B5EF4-FFF2-40B4-BE49-F238E27FC236}">
                <a16:creationId xmlns:a16="http://schemas.microsoft.com/office/drawing/2014/main" id="{C631213C-F701-2366-FF54-DF26D81CDA16}"/>
              </a:ext>
            </a:extLst>
          </p:cNvPr>
          <p:cNvCxnSpPr>
            <a:stCxn id="4" idx="3"/>
            <a:endCxn id="20" idx="1"/>
          </p:cNvCxnSpPr>
          <p:nvPr/>
        </p:nvCxnSpPr>
        <p:spPr>
          <a:xfrm flipV="1">
            <a:off x="2926080" y="1527539"/>
            <a:ext cx="2638696" cy="1402079"/>
          </a:xfrm>
          <a:prstGeom prst="bentConnector3">
            <a:avLst>
              <a:gd name="adj1" fmla="val 50496"/>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67A299EC-80D7-2C5C-1217-B43547EF1DBB}"/>
              </a:ext>
            </a:extLst>
          </p:cNvPr>
          <p:cNvCxnSpPr>
            <a:stCxn id="4" idx="3"/>
            <a:endCxn id="14" idx="1"/>
          </p:cNvCxnSpPr>
          <p:nvPr/>
        </p:nvCxnSpPr>
        <p:spPr>
          <a:xfrm>
            <a:off x="2926080" y="2929618"/>
            <a:ext cx="2661558" cy="1287509"/>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Text 14">
            <a:extLst>
              <a:ext uri="{FF2B5EF4-FFF2-40B4-BE49-F238E27FC236}">
                <a16:creationId xmlns:a16="http://schemas.microsoft.com/office/drawing/2014/main" id="{75E5AA81-4F77-C09C-71B9-4A6CBD70A8CE}"/>
              </a:ext>
            </a:extLst>
          </p:cNvPr>
          <p:cNvSpPr txBox="1"/>
          <p:nvPr/>
        </p:nvSpPr>
        <p:spPr>
          <a:xfrm>
            <a:off x="5460275" y="612187"/>
            <a:ext cx="2671354" cy="228600"/>
          </a:xfrm>
          <a:prstGeom prst="rect">
            <a:avLst/>
          </a:prstGeom>
          <a:noFill/>
          <a:ln/>
        </p:spPr>
        <p:txBody>
          <a:bodyPr wrap="square" lIns="0" tIns="0" rIns="0" bIns="0" rtlCol="0" anchor="t"/>
          <a:lstStyle/>
          <a:p>
            <a:pPr marL="0" indent="0" algn="ctr">
              <a:buNone/>
            </a:pPr>
            <a:r>
              <a:rPr lang="en-US" sz="1200" dirty="0">
                <a:solidFill>
                  <a:srgbClr val="4A5A63"/>
                </a:solidFill>
                <a:latin typeface="Calibri" pitchFamily="34" charset="0"/>
                <a:ea typeface="Calibri" pitchFamily="34" charset="-122"/>
                <a:cs typeface="Calibri" pitchFamily="34" charset="-120"/>
              </a:rPr>
              <a:t>Documents with diagrams, flowcharts</a:t>
            </a:r>
            <a:endParaRPr lang="en-US" sz="1200" dirty="0"/>
          </a:p>
        </p:txBody>
      </p:sp>
    </p:spTree>
    <p:extLst>
      <p:ext uri="{BB962C8B-B14F-4D97-AF65-F5344CB8AC3E}">
        <p14:creationId xmlns:p14="http://schemas.microsoft.com/office/powerpoint/2010/main" val="3075890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0">
            <a:extLst>
              <a:ext uri="{FF2B5EF4-FFF2-40B4-BE49-F238E27FC236}">
                <a16:creationId xmlns:a16="http://schemas.microsoft.com/office/drawing/2014/main" id="{FE740EEF-E4BA-5F71-B870-60DFEEF36D49}"/>
              </a:ext>
            </a:extLst>
          </p:cNvPr>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Works with whatever we build in</a:t>
            </a:r>
            <a:endParaRPr lang="en-US" sz="3000" dirty="0"/>
          </a:p>
        </p:txBody>
      </p:sp>
      <p:sp>
        <p:nvSpPr>
          <p:cNvPr id="29" name="Text 1">
            <a:extLst>
              <a:ext uri="{FF2B5EF4-FFF2-40B4-BE49-F238E27FC236}">
                <a16:creationId xmlns:a16="http://schemas.microsoft.com/office/drawing/2014/main" id="{3E28D922-CA9D-B1BD-D533-A14CDC52B537}"/>
              </a:ext>
            </a:extLst>
          </p:cNvPr>
          <p:cNvSpPr txBox="1"/>
          <p:nvPr/>
        </p:nvSpPr>
        <p:spPr>
          <a:xfrm>
            <a:off x="457200" y="1743891"/>
            <a:ext cx="1828800" cy="256032"/>
          </a:xfrm>
          <a:prstGeom prst="rect">
            <a:avLst/>
          </a:prstGeom>
          <a:noFill/>
          <a:ln/>
        </p:spPr>
        <p:txBody>
          <a:bodyPr wrap="square" lIns="0" tIns="0" rIns="0" bIns="0" rtlCol="0" anchor="t"/>
          <a:lstStyle/>
          <a:p>
            <a:pPr marL="0" indent="0">
              <a:buNone/>
            </a:pPr>
            <a:r>
              <a:rPr lang="en-US" sz="1000" b="1" kern="0" spc="300" dirty="0">
                <a:solidFill>
                  <a:srgbClr val="7A8A92"/>
                </a:solidFill>
                <a:latin typeface="Calibri" pitchFamily="34" charset="0"/>
                <a:ea typeface="Calibri" pitchFamily="34" charset="-122"/>
                <a:cs typeface="Calibri" pitchFamily="34" charset="-120"/>
              </a:rPr>
              <a:t>BACKEND</a:t>
            </a:r>
            <a:endParaRPr lang="en-US" sz="1000" dirty="0"/>
          </a:p>
        </p:txBody>
      </p:sp>
      <p:sp>
        <p:nvSpPr>
          <p:cNvPr id="30" name="Shape 2">
            <a:extLst>
              <a:ext uri="{FF2B5EF4-FFF2-40B4-BE49-F238E27FC236}">
                <a16:creationId xmlns:a16="http://schemas.microsoft.com/office/drawing/2014/main" id="{50A88BE4-3008-030B-09A9-D178D026368E}"/>
              </a:ext>
            </a:extLst>
          </p:cNvPr>
          <p:cNvSpPr/>
          <p:nvPr/>
        </p:nvSpPr>
        <p:spPr>
          <a:xfrm>
            <a:off x="457200" y="2045643"/>
            <a:ext cx="86868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31" name="Text 3">
            <a:extLst>
              <a:ext uri="{FF2B5EF4-FFF2-40B4-BE49-F238E27FC236}">
                <a16:creationId xmlns:a16="http://schemas.microsoft.com/office/drawing/2014/main" id="{BDBB002F-650C-DA63-BF30-08012F869756}"/>
              </a:ext>
            </a:extLst>
          </p:cNvPr>
          <p:cNvSpPr txBox="1"/>
          <p:nvPr/>
        </p:nvSpPr>
        <p:spPr>
          <a:xfrm>
            <a:off x="457200" y="2045643"/>
            <a:ext cx="86868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.NET</a:t>
            </a:r>
            <a:endParaRPr lang="en-US" sz="1200" dirty="0"/>
          </a:p>
        </p:txBody>
      </p:sp>
      <p:sp>
        <p:nvSpPr>
          <p:cNvPr id="32" name="Shape 4">
            <a:extLst>
              <a:ext uri="{FF2B5EF4-FFF2-40B4-BE49-F238E27FC236}">
                <a16:creationId xmlns:a16="http://schemas.microsoft.com/office/drawing/2014/main" id="{71F0C0CE-ADF6-6613-7C34-4D0A8DC68942}"/>
              </a:ext>
            </a:extLst>
          </p:cNvPr>
          <p:cNvSpPr/>
          <p:nvPr/>
        </p:nvSpPr>
        <p:spPr>
          <a:xfrm>
            <a:off x="1463040" y="2045643"/>
            <a:ext cx="86868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33" name="Text 5">
            <a:extLst>
              <a:ext uri="{FF2B5EF4-FFF2-40B4-BE49-F238E27FC236}">
                <a16:creationId xmlns:a16="http://schemas.microsoft.com/office/drawing/2014/main" id="{39B03E7F-A50B-E8B7-2E69-BC9F68A16D05}"/>
              </a:ext>
            </a:extLst>
          </p:cNvPr>
          <p:cNvSpPr txBox="1"/>
          <p:nvPr/>
        </p:nvSpPr>
        <p:spPr>
          <a:xfrm>
            <a:off x="1463040" y="2045643"/>
            <a:ext cx="86868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Java</a:t>
            </a:r>
            <a:endParaRPr lang="en-US" sz="1200" dirty="0"/>
          </a:p>
        </p:txBody>
      </p:sp>
      <p:sp>
        <p:nvSpPr>
          <p:cNvPr id="34" name="Shape 6">
            <a:extLst>
              <a:ext uri="{FF2B5EF4-FFF2-40B4-BE49-F238E27FC236}">
                <a16:creationId xmlns:a16="http://schemas.microsoft.com/office/drawing/2014/main" id="{0E9AFFC5-DB4B-6184-40C8-AE8340742A4C}"/>
              </a:ext>
            </a:extLst>
          </p:cNvPr>
          <p:cNvSpPr/>
          <p:nvPr/>
        </p:nvSpPr>
        <p:spPr>
          <a:xfrm>
            <a:off x="2468880" y="2045643"/>
            <a:ext cx="96012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35" name="Text 7">
            <a:extLst>
              <a:ext uri="{FF2B5EF4-FFF2-40B4-BE49-F238E27FC236}">
                <a16:creationId xmlns:a16="http://schemas.microsoft.com/office/drawing/2014/main" id="{87A51890-9729-216E-C775-FAB6D2804E7A}"/>
              </a:ext>
            </a:extLst>
          </p:cNvPr>
          <p:cNvSpPr txBox="1"/>
          <p:nvPr/>
        </p:nvSpPr>
        <p:spPr>
          <a:xfrm>
            <a:off x="2468880" y="2045643"/>
            <a:ext cx="96012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Python</a:t>
            </a:r>
            <a:endParaRPr lang="en-US" sz="1200" dirty="0"/>
          </a:p>
        </p:txBody>
      </p:sp>
      <p:sp>
        <p:nvSpPr>
          <p:cNvPr id="36" name="Shape 8">
            <a:extLst>
              <a:ext uri="{FF2B5EF4-FFF2-40B4-BE49-F238E27FC236}">
                <a16:creationId xmlns:a16="http://schemas.microsoft.com/office/drawing/2014/main" id="{8363CEFE-D218-B215-6192-4C0263F6C827}"/>
              </a:ext>
            </a:extLst>
          </p:cNvPr>
          <p:cNvSpPr/>
          <p:nvPr/>
        </p:nvSpPr>
        <p:spPr>
          <a:xfrm>
            <a:off x="3566160" y="2045643"/>
            <a:ext cx="105156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37" name="Text 9">
            <a:extLst>
              <a:ext uri="{FF2B5EF4-FFF2-40B4-BE49-F238E27FC236}">
                <a16:creationId xmlns:a16="http://schemas.microsoft.com/office/drawing/2014/main" id="{8D6CEAA1-EEAE-73A4-D479-386277F8D821}"/>
              </a:ext>
            </a:extLst>
          </p:cNvPr>
          <p:cNvSpPr txBox="1"/>
          <p:nvPr/>
        </p:nvSpPr>
        <p:spPr>
          <a:xfrm>
            <a:off x="3566160" y="2045643"/>
            <a:ext cx="105156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Node.js</a:t>
            </a:r>
            <a:endParaRPr lang="en-US" sz="1200" dirty="0"/>
          </a:p>
        </p:txBody>
      </p:sp>
      <p:sp>
        <p:nvSpPr>
          <p:cNvPr id="38" name="Text 10">
            <a:extLst>
              <a:ext uri="{FF2B5EF4-FFF2-40B4-BE49-F238E27FC236}">
                <a16:creationId xmlns:a16="http://schemas.microsoft.com/office/drawing/2014/main" id="{8543AE37-1460-96E3-9332-32FDBACEC182}"/>
              </a:ext>
            </a:extLst>
          </p:cNvPr>
          <p:cNvSpPr txBox="1"/>
          <p:nvPr/>
        </p:nvSpPr>
        <p:spPr>
          <a:xfrm>
            <a:off x="457200" y="2731443"/>
            <a:ext cx="1828800" cy="256032"/>
          </a:xfrm>
          <a:prstGeom prst="rect">
            <a:avLst/>
          </a:prstGeom>
          <a:noFill/>
          <a:ln/>
        </p:spPr>
        <p:txBody>
          <a:bodyPr wrap="square" lIns="0" tIns="0" rIns="0" bIns="0" rtlCol="0" anchor="t"/>
          <a:lstStyle/>
          <a:p>
            <a:pPr marL="0" indent="0">
              <a:buNone/>
            </a:pPr>
            <a:r>
              <a:rPr lang="en-US" sz="1000" b="1" kern="0" spc="300" dirty="0">
                <a:solidFill>
                  <a:srgbClr val="7A8A92"/>
                </a:solidFill>
                <a:latin typeface="Calibri" pitchFamily="34" charset="0"/>
                <a:ea typeface="Calibri" pitchFamily="34" charset="-122"/>
                <a:cs typeface="Calibri" pitchFamily="34" charset="-120"/>
              </a:rPr>
              <a:t>FRONTEND</a:t>
            </a:r>
            <a:endParaRPr lang="en-US" sz="1000" dirty="0"/>
          </a:p>
        </p:txBody>
      </p:sp>
      <p:sp>
        <p:nvSpPr>
          <p:cNvPr id="39" name="Shape 11">
            <a:extLst>
              <a:ext uri="{FF2B5EF4-FFF2-40B4-BE49-F238E27FC236}">
                <a16:creationId xmlns:a16="http://schemas.microsoft.com/office/drawing/2014/main" id="{577E25CD-379B-7E75-C978-07FC53889973}"/>
              </a:ext>
            </a:extLst>
          </p:cNvPr>
          <p:cNvSpPr/>
          <p:nvPr/>
        </p:nvSpPr>
        <p:spPr>
          <a:xfrm>
            <a:off x="457200" y="3033195"/>
            <a:ext cx="105156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40" name="Text 12">
            <a:extLst>
              <a:ext uri="{FF2B5EF4-FFF2-40B4-BE49-F238E27FC236}">
                <a16:creationId xmlns:a16="http://schemas.microsoft.com/office/drawing/2014/main" id="{D0231DE8-3DCB-9856-075E-AFA5C7651687}"/>
              </a:ext>
            </a:extLst>
          </p:cNvPr>
          <p:cNvSpPr txBox="1"/>
          <p:nvPr/>
        </p:nvSpPr>
        <p:spPr>
          <a:xfrm>
            <a:off x="457200" y="3033195"/>
            <a:ext cx="105156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Angular</a:t>
            </a:r>
            <a:endParaRPr lang="en-US" sz="1200" dirty="0"/>
          </a:p>
        </p:txBody>
      </p:sp>
      <p:sp>
        <p:nvSpPr>
          <p:cNvPr id="41" name="Shape 13">
            <a:extLst>
              <a:ext uri="{FF2B5EF4-FFF2-40B4-BE49-F238E27FC236}">
                <a16:creationId xmlns:a16="http://schemas.microsoft.com/office/drawing/2014/main" id="{301CA658-FCF6-4EB8-730B-0096C20F0C7D}"/>
              </a:ext>
            </a:extLst>
          </p:cNvPr>
          <p:cNvSpPr/>
          <p:nvPr/>
        </p:nvSpPr>
        <p:spPr>
          <a:xfrm>
            <a:off x="1645920" y="3033195"/>
            <a:ext cx="86868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42" name="Text 14">
            <a:extLst>
              <a:ext uri="{FF2B5EF4-FFF2-40B4-BE49-F238E27FC236}">
                <a16:creationId xmlns:a16="http://schemas.microsoft.com/office/drawing/2014/main" id="{28F7261C-2C28-EBDD-96D3-296CAAA66354}"/>
              </a:ext>
            </a:extLst>
          </p:cNvPr>
          <p:cNvSpPr txBox="1"/>
          <p:nvPr/>
        </p:nvSpPr>
        <p:spPr>
          <a:xfrm>
            <a:off x="1645920" y="3033195"/>
            <a:ext cx="86868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React</a:t>
            </a:r>
            <a:endParaRPr lang="en-US" sz="1200" dirty="0"/>
          </a:p>
        </p:txBody>
      </p:sp>
      <p:sp>
        <p:nvSpPr>
          <p:cNvPr id="43" name="Text 15">
            <a:extLst>
              <a:ext uri="{FF2B5EF4-FFF2-40B4-BE49-F238E27FC236}">
                <a16:creationId xmlns:a16="http://schemas.microsoft.com/office/drawing/2014/main" id="{D5DB3D66-46B7-2F95-75AB-37E6950DDF4F}"/>
              </a:ext>
            </a:extLst>
          </p:cNvPr>
          <p:cNvSpPr txBox="1"/>
          <p:nvPr/>
        </p:nvSpPr>
        <p:spPr>
          <a:xfrm>
            <a:off x="457200" y="3718995"/>
            <a:ext cx="1828800" cy="256032"/>
          </a:xfrm>
          <a:prstGeom prst="rect">
            <a:avLst/>
          </a:prstGeom>
          <a:noFill/>
          <a:ln/>
        </p:spPr>
        <p:txBody>
          <a:bodyPr wrap="square" lIns="0" tIns="0" rIns="0" bIns="0" rtlCol="0" anchor="t"/>
          <a:lstStyle/>
          <a:p>
            <a:pPr marL="0" indent="0">
              <a:buNone/>
            </a:pPr>
            <a:r>
              <a:rPr lang="en-US" sz="1000" b="1" kern="0" spc="300" dirty="0">
                <a:solidFill>
                  <a:srgbClr val="7A8A92"/>
                </a:solidFill>
                <a:latin typeface="Calibri" pitchFamily="34" charset="0"/>
                <a:ea typeface="Calibri" pitchFamily="34" charset="-122"/>
                <a:cs typeface="Calibri" pitchFamily="34" charset="-120"/>
              </a:rPr>
              <a:t>PIPELINES</a:t>
            </a:r>
            <a:endParaRPr lang="en-US" sz="1000" dirty="0"/>
          </a:p>
        </p:txBody>
      </p:sp>
      <p:sp>
        <p:nvSpPr>
          <p:cNvPr id="44" name="Shape 16">
            <a:extLst>
              <a:ext uri="{FF2B5EF4-FFF2-40B4-BE49-F238E27FC236}">
                <a16:creationId xmlns:a16="http://schemas.microsoft.com/office/drawing/2014/main" id="{061758F2-0032-44B5-763B-C88D469524D9}"/>
              </a:ext>
            </a:extLst>
          </p:cNvPr>
          <p:cNvSpPr/>
          <p:nvPr/>
        </p:nvSpPr>
        <p:spPr>
          <a:xfrm>
            <a:off x="457200" y="4020747"/>
            <a:ext cx="150876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45" name="Text 17">
            <a:extLst>
              <a:ext uri="{FF2B5EF4-FFF2-40B4-BE49-F238E27FC236}">
                <a16:creationId xmlns:a16="http://schemas.microsoft.com/office/drawing/2014/main" id="{8820E165-6446-7DEA-F857-BFC20D8CAE8E}"/>
              </a:ext>
            </a:extLst>
          </p:cNvPr>
          <p:cNvSpPr txBox="1"/>
          <p:nvPr/>
        </p:nvSpPr>
        <p:spPr>
          <a:xfrm>
            <a:off x="457200" y="4020747"/>
            <a:ext cx="150876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Azure DevOps</a:t>
            </a:r>
            <a:endParaRPr lang="en-US" sz="1200" dirty="0"/>
          </a:p>
        </p:txBody>
      </p:sp>
      <p:sp>
        <p:nvSpPr>
          <p:cNvPr id="46" name="Shape 18">
            <a:extLst>
              <a:ext uri="{FF2B5EF4-FFF2-40B4-BE49-F238E27FC236}">
                <a16:creationId xmlns:a16="http://schemas.microsoft.com/office/drawing/2014/main" id="{314DD375-E765-0374-F191-EE3EADAB4E6A}"/>
              </a:ext>
            </a:extLst>
          </p:cNvPr>
          <p:cNvSpPr/>
          <p:nvPr/>
        </p:nvSpPr>
        <p:spPr>
          <a:xfrm>
            <a:off x="2103120" y="4020747"/>
            <a:ext cx="96012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47" name="Text 19">
            <a:extLst>
              <a:ext uri="{FF2B5EF4-FFF2-40B4-BE49-F238E27FC236}">
                <a16:creationId xmlns:a16="http://schemas.microsoft.com/office/drawing/2014/main" id="{77EDD999-BD8C-F4DE-AD45-A6A70E83B76E}"/>
              </a:ext>
            </a:extLst>
          </p:cNvPr>
          <p:cNvSpPr txBox="1"/>
          <p:nvPr/>
        </p:nvSpPr>
        <p:spPr>
          <a:xfrm>
            <a:off x="2103120" y="4020747"/>
            <a:ext cx="96012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GitHub</a:t>
            </a:r>
            <a:endParaRPr lang="en-US" sz="1200" dirty="0"/>
          </a:p>
        </p:txBody>
      </p:sp>
      <p:sp>
        <p:nvSpPr>
          <p:cNvPr id="48" name="Shape 20">
            <a:extLst>
              <a:ext uri="{FF2B5EF4-FFF2-40B4-BE49-F238E27FC236}">
                <a16:creationId xmlns:a16="http://schemas.microsoft.com/office/drawing/2014/main" id="{C7F46739-13D4-ADB3-A4F6-A62FB0AAD99B}"/>
              </a:ext>
            </a:extLst>
          </p:cNvPr>
          <p:cNvSpPr/>
          <p:nvPr/>
        </p:nvSpPr>
        <p:spPr>
          <a:xfrm>
            <a:off x="4663440" y="2237667"/>
            <a:ext cx="868680" cy="1014984"/>
          </a:xfrm>
          <a:prstGeom prst="line">
            <a:avLst/>
          </a:prstGeom>
          <a:noFill/>
          <a:ln w="22225">
            <a:solidFill>
              <a:srgbClr val="B8C4C9"/>
            </a:solidFill>
            <a:prstDash val="solid"/>
            <a:tailEnd type="triangle"/>
          </a:ln>
        </p:spPr>
        <p:txBody>
          <a:bodyPr/>
          <a:lstStyle/>
          <a:p>
            <a:endParaRPr lang="en-US"/>
          </a:p>
        </p:txBody>
      </p:sp>
      <p:sp>
        <p:nvSpPr>
          <p:cNvPr id="49" name="Shape 21">
            <a:extLst>
              <a:ext uri="{FF2B5EF4-FFF2-40B4-BE49-F238E27FC236}">
                <a16:creationId xmlns:a16="http://schemas.microsoft.com/office/drawing/2014/main" id="{8B2DBFD9-6ED0-4DB6-3134-626347CB270F}"/>
              </a:ext>
            </a:extLst>
          </p:cNvPr>
          <p:cNvSpPr/>
          <p:nvPr/>
        </p:nvSpPr>
        <p:spPr>
          <a:xfrm>
            <a:off x="2606040" y="3225219"/>
            <a:ext cx="2926080" cy="27432"/>
          </a:xfrm>
          <a:prstGeom prst="line">
            <a:avLst/>
          </a:prstGeom>
          <a:noFill/>
          <a:ln w="22225">
            <a:solidFill>
              <a:srgbClr val="B8C4C9"/>
            </a:solidFill>
            <a:prstDash val="solid"/>
            <a:tailEnd type="triangle"/>
          </a:ln>
        </p:spPr>
        <p:txBody>
          <a:bodyPr/>
          <a:lstStyle/>
          <a:p>
            <a:endParaRPr lang="en-US"/>
          </a:p>
        </p:txBody>
      </p:sp>
      <p:sp>
        <p:nvSpPr>
          <p:cNvPr id="50" name="Shape 22">
            <a:extLst>
              <a:ext uri="{FF2B5EF4-FFF2-40B4-BE49-F238E27FC236}">
                <a16:creationId xmlns:a16="http://schemas.microsoft.com/office/drawing/2014/main" id="{F7C27CD8-A3A3-D1F5-66F3-338555E996E7}"/>
              </a:ext>
            </a:extLst>
          </p:cNvPr>
          <p:cNvSpPr/>
          <p:nvPr/>
        </p:nvSpPr>
        <p:spPr>
          <a:xfrm flipV="1">
            <a:off x="3154680" y="3252651"/>
            <a:ext cx="2377440" cy="960120"/>
          </a:xfrm>
          <a:prstGeom prst="line">
            <a:avLst/>
          </a:prstGeom>
          <a:noFill/>
          <a:ln w="22225">
            <a:solidFill>
              <a:srgbClr val="B8C4C9"/>
            </a:solidFill>
            <a:prstDash val="solid"/>
            <a:tailEnd type="triangle"/>
          </a:ln>
        </p:spPr>
        <p:txBody>
          <a:bodyPr/>
          <a:lstStyle/>
          <a:p>
            <a:endParaRPr lang="en-US"/>
          </a:p>
        </p:txBody>
      </p:sp>
      <p:sp>
        <p:nvSpPr>
          <p:cNvPr id="51" name="Shape 23">
            <a:extLst>
              <a:ext uri="{FF2B5EF4-FFF2-40B4-BE49-F238E27FC236}">
                <a16:creationId xmlns:a16="http://schemas.microsoft.com/office/drawing/2014/main" id="{2BE349D1-D6C8-F7FB-C16C-2CDF92BC3773}"/>
              </a:ext>
            </a:extLst>
          </p:cNvPr>
          <p:cNvSpPr/>
          <p:nvPr/>
        </p:nvSpPr>
        <p:spPr>
          <a:xfrm>
            <a:off x="5623560" y="2246811"/>
            <a:ext cx="3063240" cy="2011680"/>
          </a:xfrm>
          <a:prstGeom prst="roundRect">
            <a:avLst>
              <a:gd name="adj" fmla="val 5455"/>
            </a:avLst>
          </a:prstGeom>
          <a:solidFill>
            <a:srgbClr val="1F2A30"/>
          </a:solidFill>
          <a:ln w="12700">
            <a:solidFill>
              <a:srgbClr val="1F2A30"/>
            </a:solidFill>
            <a:prstDash val="solid"/>
          </a:ln>
        </p:spPr>
        <p:txBody>
          <a:bodyPr/>
          <a:lstStyle/>
          <a:p>
            <a:endParaRPr lang="en-US"/>
          </a:p>
        </p:txBody>
      </p:sp>
      <p:sp>
        <p:nvSpPr>
          <p:cNvPr id="52" name="Text 24">
            <a:extLst>
              <a:ext uri="{FF2B5EF4-FFF2-40B4-BE49-F238E27FC236}">
                <a16:creationId xmlns:a16="http://schemas.microsoft.com/office/drawing/2014/main" id="{F072F2C8-28D1-97D1-7A2A-FBA1E5FB88A8}"/>
              </a:ext>
            </a:extLst>
          </p:cNvPr>
          <p:cNvSpPr txBox="1"/>
          <p:nvPr/>
        </p:nvSpPr>
        <p:spPr>
          <a:xfrm>
            <a:off x="5852160" y="2429691"/>
            <a:ext cx="2743200" cy="274320"/>
          </a:xfrm>
          <a:prstGeom prst="rect">
            <a:avLst/>
          </a:prstGeom>
          <a:noFill/>
          <a:ln/>
        </p:spPr>
        <p:txBody>
          <a:bodyPr wrap="square" lIns="0" tIns="0" rIns="0" bIns="0" rtlCol="0" anchor="t"/>
          <a:lstStyle/>
          <a:p>
            <a:pPr marL="0" indent="0">
              <a:buNone/>
            </a:pPr>
            <a:r>
              <a:rPr lang="en-US" sz="1000" b="1" kern="0" spc="300" dirty="0">
                <a:solidFill>
                  <a:srgbClr val="E9A23B"/>
                </a:solidFill>
                <a:latin typeface="Calibri" pitchFamily="34" charset="0"/>
                <a:ea typeface="Calibri" pitchFamily="34" charset="-122"/>
                <a:cs typeface="Calibri" pitchFamily="34" charset="-120"/>
              </a:rPr>
              <a:t>DETECTED AT SETUP</a:t>
            </a:r>
            <a:endParaRPr lang="en-US" sz="1000" dirty="0"/>
          </a:p>
        </p:txBody>
      </p:sp>
      <p:sp>
        <p:nvSpPr>
          <p:cNvPr id="53" name="Text 25">
            <a:extLst>
              <a:ext uri="{FF2B5EF4-FFF2-40B4-BE49-F238E27FC236}">
                <a16:creationId xmlns:a16="http://schemas.microsoft.com/office/drawing/2014/main" id="{9C2292F0-D885-F936-DB20-FBDA347F8A38}"/>
              </a:ext>
            </a:extLst>
          </p:cNvPr>
          <p:cNvSpPr txBox="1"/>
          <p:nvPr/>
        </p:nvSpPr>
        <p:spPr>
          <a:xfrm>
            <a:off x="5852160" y="2795451"/>
            <a:ext cx="2743200" cy="128016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Same commands.</a:t>
            </a:r>
            <a:endParaRPr lang="en-US" sz="1800" dirty="0"/>
          </a:p>
          <a:p>
            <a:pPr marL="0" indent="0">
              <a:buNone/>
            </a:pPr>
            <a:r>
              <a:rPr lang="en-US" sz="1800" b="1" dirty="0">
                <a:solidFill>
                  <a:srgbClr val="FFFFFF"/>
                </a:solidFill>
                <a:latin typeface="Cambria" pitchFamily="34" charset="0"/>
                <a:ea typeface="Cambria" pitchFamily="34" charset="-122"/>
                <a:cs typeface="Cambria" pitchFamily="34" charset="-120"/>
              </a:rPr>
              <a:t>Same workflow.</a:t>
            </a:r>
            <a:endParaRPr lang="en-US" sz="1800" dirty="0"/>
          </a:p>
          <a:p>
            <a:pPr marL="0" indent="0">
              <a:buNone/>
            </a:pPr>
            <a:r>
              <a:rPr lang="en-US" sz="1800" b="1" dirty="0">
                <a:solidFill>
                  <a:srgbClr val="FFFFFF"/>
                </a:solidFill>
                <a:latin typeface="Cambria" pitchFamily="34" charset="0"/>
                <a:ea typeface="Cambria" pitchFamily="34" charset="-122"/>
                <a:cs typeface="Cambria" pitchFamily="34" charset="-120"/>
              </a:rPr>
              <a:t>Same governance.</a:t>
            </a:r>
            <a:endParaRPr lang="en-US" sz="1800" dirty="0"/>
          </a:p>
        </p:txBody>
      </p:sp>
      <p:sp>
        <p:nvSpPr>
          <p:cNvPr id="54" name="Text 17">
            <a:extLst>
              <a:ext uri="{FF2B5EF4-FFF2-40B4-BE49-F238E27FC236}">
                <a16:creationId xmlns:a16="http://schemas.microsoft.com/office/drawing/2014/main" id="{37D3FC2B-4C02-6AD0-4A95-8F771F8D0FA3}"/>
              </a:ext>
            </a:extLst>
          </p:cNvPr>
          <p:cNvSpPr txBox="1"/>
          <p:nvPr/>
        </p:nvSpPr>
        <p:spPr>
          <a:xfrm>
            <a:off x="574765" y="839285"/>
            <a:ext cx="3513909" cy="256032"/>
          </a:xfrm>
          <a:prstGeom prst="rect">
            <a:avLst/>
          </a:prstGeom>
          <a:noFill/>
          <a:ln/>
        </p:spPr>
        <p:txBody>
          <a:bodyPr wrap="square" lIns="0" tIns="0" rIns="0" bIns="0" rtlCol="0" anchor="t"/>
          <a:lstStyle>
            <a:lvl1pPr indent="0">
              <a:buNone/>
              <a:defRPr sz="1300" i="1">
                <a:solidFill>
                  <a:srgbClr val="2A9D8F"/>
                </a:solidFill>
                <a:latin typeface="Calibri" pitchFamily="34" charset="0"/>
                <a:ea typeface="Calibri" pitchFamily="34" charset="-122"/>
                <a:cs typeface="Calibri" pitchFamily="34" charset="-120"/>
              </a:defRPr>
            </a:lvl1pPr>
          </a:lstStyle>
          <a:p>
            <a:r>
              <a:rPr lang="en-US" dirty="0"/>
              <a:t>Tech agnostic by nature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4. It follows our code across repos</a:t>
            </a:r>
            <a:endParaRPr lang="en-US" sz="3000" dirty="0"/>
          </a:p>
        </p:txBody>
      </p:sp>
      <p:sp>
        <p:nvSpPr>
          <p:cNvPr id="3" name="Shape 1"/>
          <p:cNvSpPr/>
          <p:nvPr/>
        </p:nvSpPr>
        <p:spPr>
          <a:xfrm>
            <a:off x="457200" y="1325880"/>
            <a:ext cx="2194560" cy="1417320"/>
          </a:xfrm>
          <a:prstGeom prst="roundRect">
            <a:avLst>
              <a:gd name="adj" fmla="val 7742"/>
            </a:avLst>
          </a:prstGeom>
          <a:solidFill>
            <a:srgbClr val="EEF3F4"/>
          </a:solidFill>
          <a:ln w="12700">
            <a:solidFill>
              <a:srgbClr val="EEF3F4"/>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85800" y="1554480"/>
            <a:ext cx="320040" cy="320040"/>
          </a:xfrm>
          <a:prstGeom prst="rect">
            <a:avLst/>
          </a:prstGeom>
        </p:spPr>
      </p:pic>
      <p:sp>
        <p:nvSpPr>
          <p:cNvPr id="5" name="Text 2"/>
          <p:cNvSpPr txBox="1"/>
          <p:nvPr/>
        </p:nvSpPr>
        <p:spPr>
          <a:xfrm>
            <a:off x="1143000" y="1527048"/>
            <a:ext cx="1645920" cy="365760"/>
          </a:xfrm>
          <a:prstGeom prst="rect">
            <a:avLst/>
          </a:prstGeom>
          <a:noFill/>
          <a:ln/>
        </p:spPr>
        <p:txBody>
          <a:bodyPr wrap="square" lIns="0" tIns="0" rIns="0" bIns="0" rtlCol="0" anchor="ctr"/>
          <a:lstStyle/>
          <a:p>
            <a:pPr marL="0" indent="0">
              <a:buNone/>
            </a:pPr>
            <a:r>
              <a:rPr lang="en-US" sz="1500" b="1" dirty="0">
                <a:solidFill>
                  <a:srgbClr val="1F2A30"/>
                </a:solidFill>
                <a:latin typeface="Calibri" pitchFamily="34" charset="0"/>
                <a:ea typeface="Calibri" pitchFamily="34" charset="-122"/>
                <a:cs typeface="Calibri" pitchFamily="34" charset="-120"/>
              </a:rPr>
              <a:t>Web app</a:t>
            </a:r>
            <a:endParaRPr lang="en-US" sz="1500" dirty="0"/>
          </a:p>
        </p:txBody>
      </p:sp>
      <p:sp>
        <p:nvSpPr>
          <p:cNvPr id="6" name="Shape 3"/>
          <p:cNvSpPr/>
          <p:nvPr/>
        </p:nvSpPr>
        <p:spPr>
          <a:xfrm>
            <a:off x="685800" y="2103120"/>
            <a:ext cx="1463040" cy="329184"/>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7" name="Text 4"/>
          <p:cNvSpPr txBox="1"/>
          <p:nvPr/>
        </p:nvSpPr>
        <p:spPr>
          <a:xfrm>
            <a:off x="685800" y="2103120"/>
            <a:ext cx="1463040" cy="329184"/>
          </a:xfrm>
          <a:prstGeom prst="rect">
            <a:avLst/>
          </a:prstGeom>
          <a:noFill/>
          <a:ln/>
        </p:spPr>
        <p:txBody>
          <a:bodyPr wrap="square" lIns="0" tIns="0" rIns="0" bIns="0" rtlCol="0" anchor="ctr"/>
          <a:lstStyle/>
          <a:p>
            <a:pPr marL="0" indent="0" algn="ctr">
              <a:buNone/>
            </a:pPr>
            <a:r>
              <a:rPr lang="en-US" sz="1100" dirty="0">
                <a:solidFill>
                  <a:srgbClr val="4A5A63"/>
                </a:solidFill>
                <a:latin typeface="Calibri" pitchFamily="34" charset="0"/>
                <a:ea typeface="Calibri" pitchFamily="34" charset="-122"/>
                <a:cs typeface="Calibri" pitchFamily="34" charset="-120"/>
              </a:rPr>
              <a:t>angular.json</a:t>
            </a:r>
            <a:endParaRPr lang="en-US" sz="1100" dirty="0"/>
          </a:p>
        </p:txBody>
      </p:sp>
      <p:sp>
        <p:nvSpPr>
          <p:cNvPr id="8" name="Shape 5"/>
          <p:cNvSpPr/>
          <p:nvPr/>
        </p:nvSpPr>
        <p:spPr>
          <a:xfrm>
            <a:off x="3474720" y="1325880"/>
            <a:ext cx="2194560" cy="1417320"/>
          </a:xfrm>
          <a:prstGeom prst="roundRect">
            <a:avLst>
              <a:gd name="adj" fmla="val 7742"/>
            </a:avLst>
          </a:prstGeom>
          <a:solidFill>
            <a:srgbClr val="EEF3F4"/>
          </a:solidFill>
          <a:ln w="12700">
            <a:solidFill>
              <a:srgbClr val="EEF3F4"/>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3703320" y="1554480"/>
            <a:ext cx="320040" cy="320040"/>
          </a:xfrm>
          <a:prstGeom prst="rect">
            <a:avLst/>
          </a:prstGeom>
        </p:spPr>
      </p:pic>
      <p:sp>
        <p:nvSpPr>
          <p:cNvPr id="10" name="Text 6"/>
          <p:cNvSpPr txBox="1"/>
          <p:nvPr/>
        </p:nvSpPr>
        <p:spPr>
          <a:xfrm>
            <a:off x="4160520" y="1527048"/>
            <a:ext cx="1645920" cy="365760"/>
          </a:xfrm>
          <a:prstGeom prst="rect">
            <a:avLst/>
          </a:prstGeom>
          <a:noFill/>
          <a:ln/>
        </p:spPr>
        <p:txBody>
          <a:bodyPr wrap="square" lIns="0" tIns="0" rIns="0" bIns="0" rtlCol="0" anchor="ctr"/>
          <a:lstStyle/>
          <a:p>
            <a:pPr marL="0" indent="0">
              <a:buNone/>
            </a:pPr>
            <a:r>
              <a:rPr lang="en-US" sz="1500" b="1" dirty="0">
                <a:solidFill>
                  <a:srgbClr val="1F2A30"/>
                </a:solidFill>
                <a:latin typeface="Calibri" pitchFamily="34" charset="0"/>
                <a:ea typeface="Calibri" pitchFamily="34" charset="-122"/>
                <a:cs typeface="Calibri" pitchFamily="34" charset="-120"/>
              </a:rPr>
              <a:t>Order service</a:t>
            </a:r>
            <a:endParaRPr lang="en-US" sz="1500" dirty="0"/>
          </a:p>
        </p:txBody>
      </p:sp>
      <p:sp>
        <p:nvSpPr>
          <p:cNvPr id="11" name="Shape 7"/>
          <p:cNvSpPr/>
          <p:nvPr/>
        </p:nvSpPr>
        <p:spPr>
          <a:xfrm>
            <a:off x="3703320" y="2103120"/>
            <a:ext cx="1463040" cy="329184"/>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2" name="Text 8"/>
          <p:cNvSpPr txBox="1"/>
          <p:nvPr/>
        </p:nvSpPr>
        <p:spPr>
          <a:xfrm>
            <a:off x="3703320" y="2103120"/>
            <a:ext cx="1463040" cy="329184"/>
          </a:xfrm>
          <a:prstGeom prst="rect">
            <a:avLst/>
          </a:prstGeom>
          <a:noFill/>
          <a:ln/>
        </p:spPr>
        <p:txBody>
          <a:bodyPr wrap="square" lIns="0" tIns="0" rIns="0" bIns="0" rtlCol="0" anchor="ctr"/>
          <a:lstStyle/>
          <a:p>
            <a:pPr marL="0" indent="0" algn="ctr">
              <a:buNone/>
            </a:pPr>
            <a:r>
              <a:rPr lang="en-US" sz="1100" dirty="0">
                <a:solidFill>
                  <a:srgbClr val="4A5A63"/>
                </a:solidFill>
                <a:latin typeface="Calibri" pitchFamily="34" charset="0"/>
                <a:ea typeface="Calibri" pitchFamily="34" charset="-122"/>
                <a:cs typeface="Calibri" pitchFamily="34" charset="-120"/>
              </a:rPr>
              <a:t>pom.xml</a:t>
            </a:r>
            <a:endParaRPr lang="en-US" sz="1100" dirty="0"/>
          </a:p>
        </p:txBody>
      </p:sp>
      <p:sp>
        <p:nvSpPr>
          <p:cNvPr id="13" name="Shape 9"/>
          <p:cNvSpPr/>
          <p:nvPr/>
        </p:nvSpPr>
        <p:spPr>
          <a:xfrm>
            <a:off x="6492240" y="1325880"/>
            <a:ext cx="2194560" cy="1417320"/>
          </a:xfrm>
          <a:prstGeom prst="roundRect">
            <a:avLst>
              <a:gd name="adj" fmla="val 7742"/>
            </a:avLst>
          </a:prstGeom>
          <a:solidFill>
            <a:srgbClr val="FBEBD2"/>
          </a:solidFill>
          <a:ln w="12700">
            <a:solidFill>
              <a:srgbClr val="FBEBD2"/>
            </a:solidFill>
            <a:prstDash val="solid"/>
          </a:ln>
        </p:spPr>
        <p:txBody>
          <a:bodyPr/>
          <a:lstStyle/>
          <a:p>
            <a:endParaRPr lang="en-US"/>
          </a:p>
        </p:txBody>
      </p:sp>
      <p:pic>
        <p:nvPicPr>
          <p:cNvPr id="14" name="Image 2" descr="preencoded.png"/>
          <p:cNvPicPr>
            <a:picLocks noChangeAspect="1"/>
          </p:cNvPicPr>
          <p:nvPr/>
        </p:nvPicPr>
        <p:blipFill>
          <a:blip r:embed="rId4"/>
          <a:stretch>
            <a:fillRect/>
          </a:stretch>
        </p:blipFill>
        <p:spPr>
          <a:xfrm>
            <a:off x="6720840" y="1554480"/>
            <a:ext cx="320040" cy="320040"/>
          </a:xfrm>
          <a:prstGeom prst="rect">
            <a:avLst/>
          </a:prstGeom>
        </p:spPr>
      </p:pic>
      <p:sp>
        <p:nvSpPr>
          <p:cNvPr id="15" name="Text 10"/>
          <p:cNvSpPr txBox="1"/>
          <p:nvPr/>
        </p:nvSpPr>
        <p:spPr>
          <a:xfrm>
            <a:off x="7178040" y="1527048"/>
            <a:ext cx="1645920" cy="365760"/>
          </a:xfrm>
          <a:prstGeom prst="rect">
            <a:avLst/>
          </a:prstGeom>
          <a:noFill/>
          <a:ln/>
        </p:spPr>
        <p:txBody>
          <a:bodyPr wrap="square" lIns="0" tIns="0" rIns="0" bIns="0" rtlCol="0" anchor="ctr"/>
          <a:lstStyle/>
          <a:p>
            <a:pPr marL="0" indent="0">
              <a:buNone/>
            </a:pPr>
            <a:r>
              <a:rPr lang="en-US" sz="1500" b="1" dirty="0">
                <a:solidFill>
                  <a:srgbClr val="1F2A30"/>
                </a:solidFill>
                <a:latin typeface="Calibri" pitchFamily="34" charset="0"/>
                <a:ea typeface="Calibri" pitchFamily="34" charset="-122"/>
                <a:cs typeface="Calibri" pitchFamily="34" charset="-120"/>
              </a:rPr>
              <a:t>Shared library</a:t>
            </a:r>
            <a:endParaRPr lang="en-US" sz="1500" dirty="0"/>
          </a:p>
        </p:txBody>
      </p:sp>
      <p:sp>
        <p:nvSpPr>
          <p:cNvPr id="16" name="Shape 11"/>
          <p:cNvSpPr/>
          <p:nvPr/>
        </p:nvSpPr>
        <p:spPr>
          <a:xfrm>
            <a:off x="6720840" y="2103120"/>
            <a:ext cx="1463040" cy="329184"/>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7" name="Text 12"/>
          <p:cNvSpPr txBox="1"/>
          <p:nvPr/>
        </p:nvSpPr>
        <p:spPr>
          <a:xfrm>
            <a:off x="6720840" y="2103120"/>
            <a:ext cx="1463040" cy="329184"/>
          </a:xfrm>
          <a:prstGeom prst="rect">
            <a:avLst/>
          </a:prstGeom>
          <a:noFill/>
          <a:ln/>
        </p:spPr>
        <p:txBody>
          <a:bodyPr wrap="square" lIns="0" tIns="0" rIns="0" bIns="0" rtlCol="0" anchor="ctr"/>
          <a:lstStyle/>
          <a:p>
            <a:pPr marL="0" indent="0" algn="ctr">
              <a:buNone/>
            </a:pPr>
            <a:r>
              <a:rPr lang="en-US" sz="1100" dirty="0">
                <a:solidFill>
                  <a:srgbClr val="4A5A63"/>
                </a:solidFill>
                <a:latin typeface="Calibri" pitchFamily="34" charset="0"/>
                <a:ea typeface="Calibri" pitchFamily="34" charset="-122"/>
                <a:cs typeface="Calibri" pitchFamily="34" charset="-120"/>
              </a:rPr>
              <a:t>Solution.sln</a:t>
            </a:r>
            <a:endParaRPr lang="en-US" sz="1100" dirty="0"/>
          </a:p>
        </p:txBody>
      </p:sp>
      <p:sp>
        <p:nvSpPr>
          <p:cNvPr id="18" name="Shape 13"/>
          <p:cNvSpPr/>
          <p:nvPr/>
        </p:nvSpPr>
        <p:spPr>
          <a:xfrm>
            <a:off x="2743200" y="2148840"/>
            <a:ext cx="640080" cy="914"/>
          </a:xfrm>
          <a:prstGeom prst="line">
            <a:avLst/>
          </a:prstGeom>
          <a:noFill/>
          <a:ln w="22225">
            <a:solidFill>
              <a:srgbClr val="4A5A63"/>
            </a:solidFill>
            <a:prstDash val="solid"/>
            <a:tailEnd type="triangle"/>
          </a:ln>
        </p:spPr>
        <p:txBody>
          <a:bodyPr/>
          <a:lstStyle/>
          <a:p>
            <a:endParaRPr lang="en-US"/>
          </a:p>
        </p:txBody>
      </p:sp>
      <p:sp>
        <p:nvSpPr>
          <p:cNvPr id="19" name="Text 14"/>
          <p:cNvSpPr txBox="1"/>
          <p:nvPr/>
        </p:nvSpPr>
        <p:spPr>
          <a:xfrm>
            <a:off x="2651760" y="1783080"/>
            <a:ext cx="822960" cy="274320"/>
          </a:xfrm>
          <a:prstGeom prst="rect">
            <a:avLst/>
          </a:prstGeom>
          <a:noFill/>
          <a:ln/>
        </p:spPr>
        <p:txBody>
          <a:bodyPr wrap="square" lIns="0" tIns="0" rIns="0" bIns="0" rtlCol="0" anchor="t"/>
          <a:lstStyle/>
          <a:p>
            <a:pPr marL="0" indent="0" algn="ctr">
              <a:buNone/>
            </a:pPr>
            <a:r>
              <a:rPr lang="en-US" sz="1000" dirty="0">
                <a:solidFill>
                  <a:srgbClr val="7A8A92"/>
                </a:solidFill>
                <a:latin typeface="Calibri" pitchFamily="34" charset="0"/>
                <a:ea typeface="Calibri" pitchFamily="34" charset="-122"/>
                <a:cs typeface="Calibri" pitchFamily="34" charset="-120"/>
              </a:rPr>
              <a:t>depends on</a:t>
            </a:r>
            <a:endParaRPr lang="en-US" sz="1000" dirty="0"/>
          </a:p>
        </p:txBody>
      </p:sp>
      <p:sp>
        <p:nvSpPr>
          <p:cNvPr id="20" name="Shape 15"/>
          <p:cNvSpPr/>
          <p:nvPr/>
        </p:nvSpPr>
        <p:spPr>
          <a:xfrm>
            <a:off x="5760720" y="2148840"/>
            <a:ext cx="640080" cy="914"/>
          </a:xfrm>
          <a:prstGeom prst="line">
            <a:avLst/>
          </a:prstGeom>
          <a:noFill/>
          <a:ln w="22225">
            <a:solidFill>
              <a:srgbClr val="4A5A63"/>
            </a:solidFill>
            <a:prstDash val="solid"/>
            <a:tailEnd type="triangle"/>
          </a:ln>
        </p:spPr>
        <p:txBody>
          <a:bodyPr/>
          <a:lstStyle/>
          <a:p>
            <a:endParaRPr lang="en-US"/>
          </a:p>
        </p:txBody>
      </p:sp>
      <p:sp>
        <p:nvSpPr>
          <p:cNvPr id="21" name="Text 16"/>
          <p:cNvSpPr txBox="1"/>
          <p:nvPr/>
        </p:nvSpPr>
        <p:spPr>
          <a:xfrm>
            <a:off x="5669280" y="1783080"/>
            <a:ext cx="822960" cy="274320"/>
          </a:xfrm>
          <a:prstGeom prst="rect">
            <a:avLst/>
          </a:prstGeom>
          <a:noFill/>
          <a:ln/>
        </p:spPr>
        <p:txBody>
          <a:bodyPr wrap="square" lIns="0" tIns="0" rIns="0" bIns="0" rtlCol="0" anchor="t"/>
          <a:lstStyle/>
          <a:p>
            <a:pPr marL="0" indent="0" algn="ctr">
              <a:buNone/>
            </a:pPr>
            <a:r>
              <a:rPr lang="en-US" sz="1000" dirty="0">
                <a:solidFill>
                  <a:srgbClr val="7A8A92"/>
                </a:solidFill>
                <a:latin typeface="Calibri" pitchFamily="34" charset="0"/>
                <a:ea typeface="Calibri" pitchFamily="34" charset="-122"/>
                <a:cs typeface="Calibri" pitchFamily="34" charset="-120"/>
              </a:rPr>
              <a:t>depends on</a:t>
            </a:r>
            <a:endParaRPr lang="en-US" sz="1000" dirty="0"/>
          </a:p>
        </p:txBody>
      </p:sp>
      <p:sp>
        <p:nvSpPr>
          <p:cNvPr id="22" name="Shape 17"/>
          <p:cNvSpPr/>
          <p:nvPr/>
        </p:nvSpPr>
        <p:spPr>
          <a:xfrm>
            <a:off x="457200" y="3200400"/>
            <a:ext cx="8229600" cy="1188720"/>
          </a:xfrm>
          <a:prstGeom prst="roundRect">
            <a:avLst>
              <a:gd name="adj" fmla="val 9231"/>
            </a:avLst>
          </a:prstGeom>
          <a:solidFill>
            <a:srgbClr val="1F2A30"/>
          </a:solidFill>
          <a:ln w="12700">
            <a:solidFill>
              <a:srgbClr val="1F2A30"/>
            </a:solidFill>
            <a:prstDash val="solid"/>
          </a:ln>
        </p:spPr>
        <p:txBody>
          <a:bodyPr/>
          <a:lstStyle/>
          <a:p>
            <a:endParaRPr lang="en-US"/>
          </a:p>
        </p:txBody>
      </p:sp>
      <p:sp>
        <p:nvSpPr>
          <p:cNvPr id="23" name="Shape 18"/>
          <p:cNvSpPr/>
          <p:nvPr/>
        </p:nvSpPr>
        <p:spPr>
          <a:xfrm>
            <a:off x="731520" y="3474720"/>
            <a:ext cx="640080" cy="640080"/>
          </a:xfrm>
          <a:prstGeom prst="ellipse">
            <a:avLst/>
          </a:prstGeom>
          <a:solidFill>
            <a:srgbClr val="E9A23B"/>
          </a:solidFill>
          <a:ln w="12700">
            <a:solidFill>
              <a:srgbClr val="E9A23B"/>
            </a:solidFill>
            <a:prstDash val="solid"/>
          </a:ln>
        </p:spPr>
        <p:txBody>
          <a:bodyPr/>
          <a:lstStyle/>
          <a:p>
            <a:endParaRPr lang="en-US"/>
          </a:p>
        </p:txBody>
      </p:sp>
      <p:pic>
        <p:nvPicPr>
          <p:cNvPr id="24" name="Image 3" descr="preencoded.png"/>
          <p:cNvPicPr>
            <a:picLocks noChangeAspect="1"/>
          </p:cNvPicPr>
          <p:nvPr/>
        </p:nvPicPr>
        <p:blipFill>
          <a:blip r:embed="rId5"/>
          <a:stretch>
            <a:fillRect/>
          </a:stretch>
        </p:blipFill>
        <p:spPr>
          <a:xfrm>
            <a:off x="891540" y="3634740"/>
            <a:ext cx="320040" cy="320040"/>
          </a:xfrm>
          <a:prstGeom prst="rect">
            <a:avLst/>
          </a:prstGeom>
        </p:spPr>
      </p:pic>
      <p:sp>
        <p:nvSpPr>
          <p:cNvPr id="25" name="Text 19"/>
          <p:cNvSpPr txBox="1"/>
          <p:nvPr/>
        </p:nvSpPr>
        <p:spPr>
          <a:xfrm>
            <a:off x="1600200" y="3383280"/>
            <a:ext cx="685800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About to change code in another repo?</a:t>
            </a:r>
            <a:endParaRPr lang="en-US" sz="1700" dirty="0"/>
          </a:p>
        </p:txBody>
      </p:sp>
      <p:sp>
        <p:nvSpPr>
          <p:cNvPr id="26" name="Text 20"/>
          <p:cNvSpPr txBox="1"/>
          <p:nvPr/>
        </p:nvSpPr>
        <p:spPr>
          <a:xfrm>
            <a:off x="1600200" y="3767328"/>
            <a:ext cx="6858000" cy="365760"/>
          </a:xfrm>
          <a:prstGeom prst="rect">
            <a:avLst/>
          </a:prstGeom>
          <a:noFill/>
          <a:ln/>
        </p:spPr>
        <p:txBody>
          <a:bodyPr wrap="square" lIns="0" tIns="0" rIns="0" bIns="0" rtlCol="0" anchor="t"/>
          <a:lstStyle/>
          <a:p>
            <a:pPr marL="0" indent="0">
              <a:buNone/>
            </a:pPr>
            <a:r>
              <a:rPr lang="en-US" sz="1400" dirty="0">
                <a:solidFill>
                  <a:srgbClr val="B8C4C9"/>
                </a:solidFill>
                <a:latin typeface="Calibri" pitchFamily="34" charset="0"/>
                <a:ea typeface="Calibri" pitchFamily="34" charset="-122"/>
                <a:cs typeface="Calibri" pitchFamily="34" charset="-120"/>
              </a:rPr>
              <a:t>It stops and tells you first, before touching anything.</a:t>
            </a:r>
            <a:endParaRPr lang="en-US" sz="1400" dirty="0"/>
          </a:p>
        </p:txBody>
      </p:sp>
      <p:sp>
        <p:nvSpPr>
          <p:cNvPr id="27" name="Text 17">
            <a:extLst>
              <a:ext uri="{FF2B5EF4-FFF2-40B4-BE49-F238E27FC236}">
                <a16:creationId xmlns:a16="http://schemas.microsoft.com/office/drawing/2014/main" id="{367320D7-480B-1141-4C92-5DADB4612D19}"/>
              </a:ext>
            </a:extLst>
          </p:cNvPr>
          <p:cNvSpPr txBox="1"/>
          <p:nvPr/>
        </p:nvSpPr>
        <p:spPr>
          <a:xfrm>
            <a:off x="574765" y="813159"/>
            <a:ext cx="5590904" cy="297180"/>
          </a:xfrm>
          <a:prstGeom prst="rect">
            <a:avLst/>
          </a:prstGeom>
          <a:noFill/>
          <a:ln/>
        </p:spPr>
        <p:txBody>
          <a:bodyPr wrap="square" lIns="0" tIns="0" rIns="0" bIns="0" rtlCol="0" anchor="t"/>
          <a:lstStyle>
            <a:lvl1pPr indent="0">
              <a:buNone/>
              <a:defRPr sz="1300" i="1">
                <a:solidFill>
                  <a:srgbClr val="2A9D8F"/>
                </a:solidFill>
                <a:latin typeface="Calibri" pitchFamily="34" charset="0"/>
                <a:ea typeface="Calibri" pitchFamily="34" charset="-122"/>
                <a:cs typeface="Calibri" pitchFamily="34" charset="-120"/>
              </a:defRPr>
            </a:lvl1pPr>
          </a:lstStyle>
          <a:p>
            <a:r>
              <a:rPr lang="en-US" dirty="0"/>
              <a:t>Allow us to have end-end visibility of the application landscape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5. Dream: memory that keeps up</a:t>
            </a:r>
            <a:endParaRPr lang="en-US" sz="3000" dirty="0"/>
          </a:p>
        </p:txBody>
      </p:sp>
      <p:sp>
        <p:nvSpPr>
          <p:cNvPr id="3" name="Shape 1"/>
          <p:cNvSpPr/>
          <p:nvPr/>
        </p:nvSpPr>
        <p:spPr>
          <a:xfrm>
            <a:off x="457200" y="1624965"/>
            <a:ext cx="1874520" cy="2057400"/>
          </a:xfrm>
          <a:prstGeom prst="roundRect">
            <a:avLst>
              <a:gd name="adj" fmla="val 5854"/>
            </a:avLst>
          </a:prstGeom>
          <a:solidFill>
            <a:srgbClr val="EEF3F4"/>
          </a:solidFill>
          <a:ln w="12700">
            <a:solidFill>
              <a:srgbClr val="EEF3F4"/>
            </a:solidFill>
            <a:prstDash val="solid"/>
          </a:ln>
        </p:spPr>
        <p:txBody>
          <a:bodyPr/>
          <a:lstStyle/>
          <a:p>
            <a:endParaRPr lang="en-US"/>
          </a:p>
        </p:txBody>
      </p:sp>
      <p:sp>
        <p:nvSpPr>
          <p:cNvPr id="4" name="Shape 2"/>
          <p:cNvSpPr/>
          <p:nvPr/>
        </p:nvSpPr>
        <p:spPr>
          <a:xfrm>
            <a:off x="1097280" y="1807845"/>
            <a:ext cx="594360" cy="594360"/>
          </a:xfrm>
          <a:prstGeom prst="ellipse">
            <a:avLst/>
          </a:prstGeom>
          <a:solidFill>
            <a:srgbClr val="4A5A63"/>
          </a:solidFill>
          <a:ln w="12700">
            <a:solidFill>
              <a:srgbClr val="4A5A63"/>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245870" y="1956435"/>
            <a:ext cx="297180" cy="297180"/>
          </a:xfrm>
          <a:prstGeom prst="rect">
            <a:avLst/>
          </a:prstGeom>
        </p:spPr>
      </p:pic>
      <p:sp>
        <p:nvSpPr>
          <p:cNvPr id="6" name="Text 3"/>
          <p:cNvSpPr txBox="1"/>
          <p:nvPr/>
        </p:nvSpPr>
        <p:spPr>
          <a:xfrm>
            <a:off x="594360" y="2539365"/>
            <a:ext cx="1600200" cy="365760"/>
          </a:xfrm>
          <a:prstGeom prst="rect">
            <a:avLst/>
          </a:prstGeom>
          <a:noFill/>
          <a:ln/>
        </p:spPr>
        <p:txBody>
          <a:bodyPr wrap="square" lIns="0" tIns="0" rIns="0" bIns="0" rtlCol="0" anchor="t"/>
          <a:lstStyle/>
          <a:p>
            <a:pPr marL="0" indent="0" algn="ctr">
              <a:buNone/>
            </a:pPr>
            <a:r>
              <a:rPr lang="en-US" sz="1400" b="1" dirty="0">
                <a:solidFill>
                  <a:srgbClr val="1F2A30"/>
                </a:solidFill>
                <a:latin typeface="Calibri" pitchFamily="34" charset="0"/>
                <a:ea typeface="Calibri" pitchFamily="34" charset="-122"/>
                <a:cs typeface="Calibri" pitchFamily="34" charset="-120"/>
              </a:rPr>
              <a:t>Something happens</a:t>
            </a:r>
            <a:endParaRPr lang="en-US" sz="1400" dirty="0"/>
          </a:p>
        </p:txBody>
      </p:sp>
      <p:sp>
        <p:nvSpPr>
          <p:cNvPr id="7" name="Text 4"/>
          <p:cNvSpPr txBox="1"/>
          <p:nvPr/>
        </p:nvSpPr>
        <p:spPr>
          <a:xfrm>
            <a:off x="594360" y="2905125"/>
            <a:ext cx="1600200" cy="685800"/>
          </a:xfrm>
          <a:prstGeom prst="rect">
            <a:avLst/>
          </a:prstGeom>
          <a:noFill/>
          <a:ln/>
        </p:spPr>
        <p:txBody>
          <a:bodyPr wrap="square" lIns="0" tIns="0" rIns="0" bIns="0" rtlCol="0" anchor="t"/>
          <a:lstStyle/>
          <a:p>
            <a:pPr marL="0" indent="0" algn="ctr">
              <a:buNone/>
            </a:pPr>
            <a:r>
              <a:rPr lang="en-US" sz="1100" dirty="0">
                <a:solidFill>
                  <a:srgbClr val="4A5A63"/>
                </a:solidFill>
                <a:latin typeface="Calibri" pitchFamily="34" charset="0"/>
                <a:ea typeface="Calibri" pitchFamily="34" charset="-122"/>
                <a:cs typeface="Calibri" pitchFamily="34" charset="-120"/>
              </a:rPr>
              <a:t>A decision, an error, or a choice of approach</a:t>
            </a:r>
            <a:endParaRPr lang="en-US" sz="1100" dirty="0"/>
          </a:p>
        </p:txBody>
      </p:sp>
      <p:sp>
        <p:nvSpPr>
          <p:cNvPr id="8" name="Shape 5"/>
          <p:cNvSpPr/>
          <p:nvPr/>
        </p:nvSpPr>
        <p:spPr>
          <a:xfrm>
            <a:off x="2359152" y="2649093"/>
            <a:ext cx="219456" cy="914"/>
          </a:xfrm>
          <a:prstGeom prst="line">
            <a:avLst/>
          </a:prstGeom>
          <a:noFill/>
          <a:ln w="22225">
            <a:solidFill>
              <a:srgbClr val="4A5A63"/>
            </a:solidFill>
            <a:prstDash val="solid"/>
            <a:tailEnd type="triangle"/>
          </a:ln>
        </p:spPr>
        <p:txBody>
          <a:bodyPr/>
          <a:lstStyle/>
          <a:p>
            <a:endParaRPr lang="en-US"/>
          </a:p>
        </p:txBody>
      </p:sp>
      <p:sp>
        <p:nvSpPr>
          <p:cNvPr id="9" name="Shape 6"/>
          <p:cNvSpPr/>
          <p:nvPr/>
        </p:nvSpPr>
        <p:spPr>
          <a:xfrm>
            <a:off x="2606040" y="1624965"/>
            <a:ext cx="1874520" cy="2057400"/>
          </a:xfrm>
          <a:prstGeom prst="roundRect">
            <a:avLst>
              <a:gd name="adj" fmla="val 5854"/>
            </a:avLst>
          </a:prstGeom>
          <a:solidFill>
            <a:srgbClr val="EEF3F4"/>
          </a:solidFill>
          <a:ln w="12700">
            <a:solidFill>
              <a:srgbClr val="EEF3F4"/>
            </a:solidFill>
            <a:prstDash val="solid"/>
          </a:ln>
        </p:spPr>
        <p:txBody>
          <a:bodyPr/>
          <a:lstStyle/>
          <a:p>
            <a:endParaRPr lang="en-US"/>
          </a:p>
        </p:txBody>
      </p:sp>
      <p:sp>
        <p:nvSpPr>
          <p:cNvPr id="10" name="Shape 7"/>
          <p:cNvSpPr/>
          <p:nvPr/>
        </p:nvSpPr>
        <p:spPr>
          <a:xfrm>
            <a:off x="3246120" y="1807845"/>
            <a:ext cx="594360" cy="594360"/>
          </a:xfrm>
          <a:prstGeom prst="ellipse">
            <a:avLst/>
          </a:prstGeom>
          <a:solidFill>
            <a:srgbClr val="4A5A63"/>
          </a:solidFill>
          <a:ln w="12700">
            <a:solidFill>
              <a:srgbClr val="4A5A6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394710" y="1956435"/>
            <a:ext cx="297180" cy="297180"/>
          </a:xfrm>
          <a:prstGeom prst="rect">
            <a:avLst/>
          </a:prstGeom>
        </p:spPr>
      </p:pic>
      <p:sp>
        <p:nvSpPr>
          <p:cNvPr id="12" name="Text 8"/>
          <p:cNvSpPr txBox="1"/>
          <p:nvPr/>
        </p:nvSpPr>
        <p:spPr>
          <a:xfrm>
            <a:off x="2743200" y="2539365"/>
            <a:ext cx="1600200" cy="365760"/>
          </a:xfrm>
          <a:prstGeom prst="rect">
            <a:avLst/>
          </a:prstGeom>
          <a:noFill/>
          <a:ln/>
        </p:spPr>
        <p:txBody>
          <a:bodyPr wrap="square" lIns="0" tIns="0" rIns="0" bIns="0" rtlCol="0" anchor="t"/>
          <a:lstStyle/>
          <a:p>
            <a:pPr marL="0" indent="0" algn="ctr">
              <a:buNone/>
            </a:pPr>
            <a:r>
              <a:rPr lang="en-US" sz="1400" b="1" dirty="0">
                <a:solidFill>
                  <a:srgbClr val="1F2A30"/>
                </a:solidFill>
                <a:latin typeface="Calibri" pitchFamily="34" charset="0"/>
                <a:ea typeface="Calibri" pitchFamily="34" charset="-122"/>
                <a:cs typeface="Calibri" pitchFamily="34" charset="-120"/>
              </a:rPr>
              <a:t>It's written down</a:t>
            </a:r>
            <a:endParaRPr lang="en-US" sz="1400" dirty="0"/>
          </a:p>
        </p:txBody>
      </p:sp>
      <p:sp>
        <p:nvSpPr>
          <p:cNvPr id="13" name="Text 9"/>
          <p:cNvSpPr txBox="1"/>
          <p:nvPr/>
        </p:nvSpPr>
        <p:spPr>
          <a:xfrm>
            <a:off x="2743200" y="2905125"/>
            <a:ext cx="1600200" cy="685800"/>
          </a:xfrm>
          <a:prstGeom prst="rect">
            <a:avLst/>
          </a:prstGeom>
          <a:noFill/>
          <a:ln/>
        </p:spPr>
        <p:txBody>
          <a:bodyPr wrap="square" lIns="0" tIns="0" rIns="0" bIns="0" rtlCol="0" anchor="t"/>
          <a:lstStyle/>
          <a:p>
            <a:pPr marL="0" indent="0" algn="ctr">
              <a:buNone/>
            </a:pPr>
            <a:r>
              <a:rPr lang="en-US" sz="1100" dirty="0">
                <a:solidFill>
                  <a:srgbClr val="4A5A63"/>
                </a:solidFill>
                <a:latin typeface="Calibri" pitchFamily="34" charset="0"/>
                <a:ea typeface="Calibri" pitchFamily="34" charset="-122"/>
                <a:cs typeface="Calibri" pitchFamily="34" charset="-120"/>
              </a:rPr>
              <a:t>Appended to MEMORY.md automatically</a:t>
            </a:r>
            <a:endParaRPr lang="en-US" sz="1100" dirty="0"/>
          </a:p>
        </p:txBody>
      </p:sp>
      <p:sp>
        <p:nvSpPr>
          <p:cNvPr id="14" name="Shape 10"/>
          <p:cNvSpPr/>
          <p:nvPr/>
        </p:nvSpPr>
        <p:spPr>
          <a:xfrm>
            <a:off x="4507992" y="2649093"/>
            <a:ext cx="219456" cy="914"/>
          </a:xfrm>
          <a:prstGeom prst="line">
            <a:avLst/>
          </a:prstGeom>
          <a:noFill/>
          <a:ln w="22225">
            <a:solidFill>
              <a:srgbClr val="4A5A63"/>
            </a:solidFill>
            <a:prstDash val="solid"/>
            <a:tailEnd type="triangle"/>
          </a:ln>
        </p:spPr>
        <p:txBody>
          <a:bodyPr/>
          <a:lstStyle/>
          <a:p>
            <a:endParaRPr lang="en-US"/>
          </a:p>
        </p:txBody>
      </p:sp>
      <p:sp>
        <p:nvSpPr>
          <p:cNvPr id="15" name="Shape 11"/>
          <p:cNvSpPr/>
          <p:nvPr/>
        </p:nvSpPr>
        <p:spPr>
          <a:xfrm>
            <a:off x="4754880" y="1624965"/>
            <a:ext cx="1874520" cy="2057400"/>
          </a:xfrm>
          <a:prstGeom prst="roundRect">
            <a:avLst>
              <a:gd name="adj" fmla="val 5854"/>
            </a:avLst>
          </a:prstGeom>
          <a:solidFill>
            <a:srgbClr val="D5EEEB"/>
          </a:solidFill>
          <a:ln w="12700">
            <a:solidFill>
              <a:srgbClr val="D5EEEB"/>
            </a:solidFill>
            <a:prstDash val="solid"/>
          </a:ln>
        </p:spPr>
        <p:txBody>
          <a:bodyPr/>
          <a:lstStyle/>
          <a:p>
            <a:endParaRPr lang="en-US"/>
          </a:p>
        </p:txBody>
      </p:sp>
      <p:sp>
        <p:nvSpPr>
          <p:cNvPr id="16" name="Shape 12"/>
          <p:cNvSpPr/>
          <p:nvPr/>
        </p:nvSpPr>
        <p:spPr>
          <a:xfrm>
            <a:off x="5394960" y="1807845"/>
            <a:ext cx="594360" cy="594360"/>
          </a:xfrm>
          <a:prstGeom prst="ellipse">
            <a:avLst/>
          </a:prstGeom>
          <a:solidFill>
            <a:srgbClr val="2A9D8F"/>
          </a:solidFill>
          <a:ln w="12700">
            <a:solidFill>
              <a:srgbClr val="2A9D8F"/>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5543550" y="1956435"/>
            <a:ext cx="297180" cy="297180"/>
          </a:xfrm>
          <a:prstGeom prst="rect">
            <a:avLst/>
          </a:prstGeom>
        </p:spPr>
      </p:pic>
      <p:sp>
        <p:nvSpPr>
          <p:cNvPr id="18" name="Text 13"/>
          <p:cNvSpPr txBox="1"/>
          <p:nvPr/>
        </p:nvSpPr>
        <p:spPr>
          <a:xfrm>
            <a:off x="4892040" y="2539365"/>
            <a:ext cx="1600200" cy="365760"/>
          </a:xfrm>
          <a:prstGeom prst="rect">
            <a:avLst/>
          </a:prstGeom>
          <a:noFill/>
          <a:ln/>
        </p:spPr>
        <p:txBody>
          <a:bodyPr wrap="square" lIns="0" tIns="0" rIns="0" bIns="0" rtlCol="0" anchor="t"/>
          <a:lstStyle/>
          <a:p>
            <a:pPr marL="0" indent="0" algn="ctr">
              <a:buNone/>
            </a:pPr>
            <a:r>
              <a:rPr lang="en-US" sz="1400" b="1" dirty="0">
                <a:solidFill>
                  <a:srgbClr val="1F2A30"/>
                </a:solidFill>
                <a:latin typeface="Calibri" pitchFamily="34" charset="0"/>
                <a:ea typeface="Calibri" pitchFamily="34" charset="-122"/>
                <a:cs typeface="Calibri" pitchFamily="34" charset="-120"/>
              </a:rPr>
              <a:t>Every 5–8 sessions</a:t>
            </a:r>
            <a:endParaRPr lang="en-US" sz="1400" dirty="0"/>
          </a:p>
        </p:txBody>
      </p:sp>
      <p:sp>
        <p:nvSpPr>
          <p:cNvPr id="19" name="Text 14"/>
          <p:cNvSpPr txBox="1"/>
          <p:nvPr/>
        </p:nvSpPr>
        <p:spPr>
          <a:xfrm>
            <a:off x="4892040" y="2905125"/>
            <a:ext cx="1600200" cy="685800"/>
          </a:xfrm>
          <a:prstGeom prst="rect">
            <a:avLst/>
          </a:prstGeom>
          <a:noFill/>
          <a:ln/>
        </p:spPr>
        <p:txBody>
          <a:bodyPr wrap="square" lIns="0" tIns="0" rIns="0" bIns="0" rtlCol="0" anchor="t"/>
          <a:lstStyle/>
          <a:p>
            <a:pPr marL="0" indent="0" algn="ctr">
              <a:buNone/>
            </a:pPr>
            <a:r>
              <a:rPr lang="en-US" sz="1100" dirty="0">
                <a:solidFill>
                  <a:srgbClr val="4A5A63"/>
                </a:solidFill>
                <a:latin typeface="Calibri" pitchFamily="34" charset="0"/>
                <a:ea typeface="Calibri" pitchFamily="34" charset="-122"/>
                <a:cs typeface="Calibri" pitchFamily="34" charset="-120"/>
              </a:rPr>
              <a:t>One person runs /dream to tidy up</a:t>
            </a:r>
            <a:endParaRPr lang="en-US" sz="1100" dirty="0"/>
          </a:p>
        </p:txBody>
      </p:sp>
      <p:sp>
        <p:nvSpPr>
          <p:cNvPr id="20" name="Shape 15"/>
          <p:cNvSpPr/>
          <p:nvPr/>
        </p:nvSpPr>
        <p:spPr>
          <a:xfrm>
            <a:off x="6656832" y="2649093"/>
            <a:ext cx="219456" cy="914"/>
          </a:xfrm>
          <a:prstGeom prst="line">
            <a:avLst/>
          </a:prstGeom>
          <a:noFill/>
          <a:ln w="22225">
            <a:solidFill>
              <a:srgbClr val="4A5A63"/>
            </a:solidFill>
            <a:prstDash val="solid"/>
            <a:tailEnd type="triangle"/>
          </a:ln>
        </p:spPr>
        <p:txBody>
          <a:bodyPr/>
          <a:lstStyle/>
          <a:p>
            <a:endParaRPr lang="en-US"/>
          </a:p>
        </p:txBody>
      </p:sp>
      <p:sp>
        <p:nvSpPr>
          <p:cNvPr id="21" name="Shape 16"/>
          <p:cNvSpPr/>
          <p:nvPr/>
        </p:nvSpPr>
        <p:spPr>
          <a:xfrm>
            <a:off x="6903720" y="1624965"/>
            <a:ext cx="1874520" cy="2057400"/>
          </a:xfrm>
          <a:prstGeom prst="roundRect">
            <a:avLst>
              <a:gd name="adj" fmla="val 5854"/>
            </a:avLst>
          </a:prstGeom>
          <a:solidFill>
            <a:srgbClr val="EEF3F4"/>
          </a:solidFill>
          <a:ln w="12700">
            <a:solidFill>
              <a:srgbClr val="EEF3F4"/>
            </a:solidFill>
            <a:prstDash val="solid"/>
          </a:ln>
        </p:spPr>
        <p:txBody>
          <a:bodyPr/>
          <a:lstStyle/>
          <a:p>
            <a:endParaRPr lang="en-US"/>
          </a:p>
        </p:txBody>
      </p:sp>
      <p:sp>
        <p:nvSpPr>
          <p:cNvPr id="22" name="Shape 17"/>
          <p:cNvSpPr/>
          <p:nvPr/>
        </p:nvSpPr>
        <p:spPr>
          <a:xfrm>
            <a:off x="7543800" y="1807845"/>
            <a:ext cx="594360" cy="594360"/>
          </a:xfrm>
          <a:prstGeom prst="ellipse">
            <a:avLst/>
          </a:prstGeom>
          <a:solidFill>
            <a:srgbClr val="4A5A63"/>
          </a:solidFill>
          <a:ln w="12700">
            <a:solidFill>
              <a:srgbClr val="4A5A63"/>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7692390" y="1956435"/>
            <a:ext cx="297180" cy="297180"/>
          </a:xfrm>
          <a:prstGeom prst="rect">
            <a:avLst/>
          </a:prstGeom>
        </p:spPr>
      </p:pic>
      <p:sp>
        <p:nvSpPr>
          <p:cNvPr id="24" name="Text 18"/>
          <p:cNvSpPr txBox="1"/>
          <p:nvPr/>
        </p:nvSpPr>
        <p:spPr>
          <a:xfrm>
            <a:off x="7040880" y="2539365"/>
            <a:ext cx="1600200" cy="365760"/>
          </a:xfrm>
          <a:prstGeom prst="rect">
            <a:avLst/>
          </a:prstGeom>
          <a:noFill/>
          <a:ln/>
        </p:spPr>
        <p:txBody>
          <a:bodyPr wrap="square" lIns="0" tIns="0" rIns="0" bIns="0" rtlCol="0" anchor="t"/>
          <a:lstStyle/>
          <a:p>
            <a:pPr marL="0" indent="0" algn="ctr">
              <a:buNone/>
            </a:pPr>
            <a:r>
              <a:rPr lang="en-US" sz="1400" b="1" dirty="0">
                <a:solidFill>
                  <a:srgbClr val="1F2A30"/>
                </a:solidFill>
                <a:latin typeface="Calibri" pitchFamily="34" charset="0"/>
                <a:ea typeface="Calibri" pitchFamily="34" charset="-122"/>
                <a:cs typeface="Calibri" pitchFamily="34" charset="-120"/>
              </a:rPr>
              <a:t>Keeps what's useful</a:t>
            </a:r>
            <a:endParaRPr lang="en-US" sz="1400" dirty="0"/>
          </a:p>
        </p:txBody>
      </p:sp>
      <p:sp>
        <p:nvSpPr>
          <p:cNvPr id="25" name="Text 19"/>
          <p:cNvSpPr txBox="1"/>
          <p:nvPr/>
        </p:nvSpPr>
        <p:spPr>
          <a:xfrm>
            <a:off x="7040880" y="2905125"/>
            <a:ext cx="1600200" cy="685800"/>
          </a:xfrm>
          <a:prstGeom prst="rect">
            <a:avLst/>
          </a:prstGeom>
          <a:noFill/>
          <a:ln/>
        </p:spPr>
        <p:txBody>
          <a:bodyPr wrap="square" lIns="0" tIns="0" rIns="0" bIns="0" rtlCol="0" anchor="t"/>
          <a:lstStyle/>
          <a:p>
            <a:pPr marL="0" indent="0" algn="ctr">
              <a:buNone/>
            </a:pPr>
            <a:r>
              <a:rPr lang="en-US" sz="1100" dirty="0">
                <a:solidFill>
                  <a:srgbClr val="4A5A63"/>
                </a:solidFill>
                <a:latin typeface="Calibri" pitchFamily="34" charset="0"/>
                <a:ea typeface="Calibri" pitchFamily="34" charset="-122"/>
                <a:cs typeface="Calibri" pitchFamily="34" charset="-120"/>
              </a:rPr>
              <a:t>Proven entries rise, stale ones fade</a:t>
            </a:r>
            <a:endParaRPr lang="en-US" sz="1100" dirty="0"/>
          </a:p>
        </p:txBody>
      </p:sp>
      <p:sp>
        <p:nvSpPr>
          <p:cNvPr id="26" name="Shape 20"/>
          <p:cNvSpPr/>
          <p:nvPr/>
        </p:nvSpPr>
        <p:spPr>
          <a:xfrm>
            <a:off x="7840980" y="3728085"/>
            <a:ext cx="914" cy="457200"/>
          </a:xfrm>
          <a:prstGeom prst="line">
            <a:avLst/>
          </a:prstGeom>
          <a:noFill/>
          <a:ln w="22225">
            <a:solidFill>
              <a:srgbClr val="2A9D8F"/>
            </a:solidFill>
            <a:prstDash val="solid"/>
          </a:ln>
        </p:spPr>
        <p:txBody>
          <a:bodyPr/>
          <a:lstStyle/>
          <a:p>
            <a:endParaRPr lang="en-US"/>
          </a:p>
        </p:txBody>
      </p:sp>
      <p:sp>
        <p:nvSpPr>
          <p:cNvPr id="27" name="Shape 21"/>
          <p:cNvSpPr/>
          <p:nvPr/>
        </p:nvSpPr>
        <p:spPr>
          <a:xfrm>
            <a:off x="1394460" y="4185285"/>
            <a:ext cx="6446520" cy="914"/>
          </a:xfrm>
          <a:prstGeom prst="line">
            <a:avLst/>
          </a:prstGeom>
          <a:noFill/>
          <a:ln w="22225">
            <a:solidFill>
              <a:srgbClr val="2A9D8F"/>
            </a:solidFill>
            <a:prstDash val="solid"/>
          </a:ln>
        </p:spPr>
        <p:txBody>
          <a:bodyPr/>
          <a:lstStyle/>
          <a:p>
            <a:endParaRPr lang="en-US"/>
          </a:p>
        </p:txBody>
      </p:sp>
      <p:sp>
        <p:nvSpPr>
          <p:cNvPr id="28" name="Shape 22"/>
          <p:cNvSpPr/>
          <p:nvPr/>
        </p:nvSpPr>
        <p:spPr>
          <a:xfrm flipV="1">
            <a:off x="1394460" y="3755517"/>
            <a:ext cx="914" cy="429768"/>
          </a:xfrm>
          <a:prstGeom prst="line">
            <a:avLst/>
          </a:prstGeom>
          <a:noFill/>
          <a:ln w="22225">
            <a:solidFill>
              <a:srgbClr val="2A9D8F"/>
            </a:solidFill>
            <a:prstDash val="solid"/>
            <a:tailEnd type="triangle"/>
          </a:ln>
        </p:spPr>
        <p:txBody>
          <a:bodyPr/>
          <a:lstStyle/>
          <a:p>
            <a:endParaRPr lang="en-US"/>
          </a:p>
        </p:txBody>
      </p:sp>
      <p:sp>
        <p:nvSpPr>
          <p:cNvPr id="29" name="Shape 23"/>
          <p:cNvSpPr/>
          <p:nvPr/>
        </p:nvSpPr>
        <p:spPr>
          <a:xfrm>
            <a:off x="2971800" y="4029837"/>
            <a:ext cx="3291840" cy="310896"/>
          </a:xfrm>
          <a:prstGeom prst="rect">
            <a:avLst/>
          </a:prstGeom>
          <a:solidFill>
            <a:srgbClr val="FFFFFF"/>
          </a:solidFill>
          <a:ln w="12700">
            <a:solidFill>
              <a:srgbClr val="FFFFFF"/>
            </a:solidFill>
            <a:prstDash val="solid"/>
          </a:ln>
        </p:spPr>
        <p:txBody>
          <a:bodyPr/>
          <a:lstStyle/>
          <a:p>
            <a:endParaRPr lang="en-US"/>
          </a:p>
        </p:txBody>
      </p:sp>
      <p:sp>
        <p:nvSpPr>
          <p:cNvPr id="30" name="Text 24"/>
          <p:cNvSpPr txBox="1"/>
          <p:nvPr/>
        </p:nvSpPr>
        <p:spPr>
          <a:xfrm>
            <a:off x="2971800" y="4029837"/>
            <a:ext cx="3291840" cy="310896"/>
          </a:xfrm>
          <a:prstGeom prst="rect">
            <a:avLst/>
          </a:prstGeom>
          <a:noFill/>
          <a:ln/>
        </p:spPr>
        <p:txBody>
          <a:bodyPr wrap="square" lIns="0" tIns="0" rIns="0" bIns="0" rtlCol="0" anchor="ctr"/>
          <a:lstStyle/>
          <a:p>
            <a:pPr marL="0" indent="0" algn="ctr">
              <a:buNone/>
            </a:pPr>
            <a:r>
              <a:rPr lang="en-US" sz="1300" b="1" dirty="0">
                <a:solidFill>
                  <a:srgbClr val="2A9D8F"/>
                </a:solidFill>
                <a:latin typeface="Calibri" pitchFamily="34" charset="0"/>
                <a:ea typeface="Calibri" pitchFamily="34" charset="-122"/>
                <a:cs typeface="Calibri" pitchFamily="34" charset="-120"/>
              </a:rPr>
              <a:t>Back in context next session</a:t>
            </a:r>
            <a:endParaRPr lang="en-US" sz="1300" dirty="0"/>
          </a:p>
        </p:txBody>
      </p:sp>
      <p:sp>
        <p:nvSpPr>
          <p:cNvPr id="32" name="Text 17">
            <a:extLst>
              <a:ext uri="{FF2B5EF4-FFF2-40B4-BE49-F238E27FC236}">
                <a16:creationId xmlns:a16="http://schemas.microsoft.com/office/drawing/2014/main" id="{B2D8FFF4-461E-440E-12DE-C59592EA5353}"/>
              </a:ext>
            </a:extLst>
          </p:cNvPr>
          <p:cNvSpPr txBox="1"/>
          <p:nvPr/>
        </p:nvSpPr>
        <p:spPr>
          <a:xfrm>
            <a:off x="574765" y="832752"/>
            <a:ext cx="6301523" cy="204826"/>
          </a:xfrm>
          <a:prstGeom prst="rect">
            <a:avLst/>
          </a:prstGeom>
          <a:noFill/>
          <a:ln/>
        </p:spPr>
        <p:txBody>
          <a:bodyPr wrap="square" lIns="0" tIns="0" rIns="0" bIns="0" rtlCol="0" anchor="t"/>
          <a:lstStyle>
            <a:lvl1pPr indent="0">
              <a:buNone/>
              <a:defRPr sz="1300" i="1">
                <a:solidFill>
                  <a:srgbClr val="2A9D8F"/>
                </a:solidFill>
                <a:latin typeface="Calibri" pitchFamily="34" charset="0"/>
                <a:ea typeface="Calibri" pitchFamily="34" charset="-122"/>
                <a:cs typeface="Calibri" pitchFamily="34" charset="-120"/>
              </a:defRPr>
            </a:lvl1pPr>
          </a:lstStyle>
          <a:p>
            <a:r>
              <a:rPr lang="en-US" dirty="0"/>
              <a:t>What you decided on Monday is still there on Friday.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6. It knows our industry</a:t>
            </a:r>
            <a:endParaRPr lang="en-US" sz="3000" dirty="0"/>
          </a:p>
        </p:txBody>
      </p:sp>
      <p:sp>
        <p:nvSpPr>
          <p:cNvPr id="3" name="Shape 1"/>
          <p:cNvSpPr/>
          <p:nvPr/>
        </p:nvSpPr>
        <p:spPr>
          <a:xfrm>
            <a:off x="457200" y="1464945"/>
            <a:ext cx="1417320" cy="1828800"/>
          </a:xfrm>
          <a:prstGeom prst="roundRect">
            <a:avLst>
              <a:gd name="adj" fmla="val 7742"/>
            </a:avLst>
          </a:prstGeom>
          <a:solidFill>
            <a:srgbClr val="1F2A30"/>
          </a:solidFill>
          <a:ln w="12700">
            <a:solidFill>
              <a:srgbClr val="1F2A30"/>
            </a:solidFill>
            <a:prstDash val="solid"/>
          </a:ln>
        </p:spPr>
        <p:txBody>
          <a:bodyPr/>
          <a:lstStyle/>
          <a:p>
            <a:endParaRPr lang="en-US"/>
          </a:p>
        </p:txBody>
      </p:sp>
      <p:sp>
        <p:nvSpPr>
          <p:cNvPr id="4" name="Text 2"/>
          <p:cNvSpPr txBox="1"/>
          <p:nvPr/>
        </p:nvSpPr>
        <p:spPr>
          <a:xfrm>
            <a:off x="594360" y="1693545"/>
            <a:ext cx="1188720" cy="3200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SET DOMAIN</a:t>
            </a:r>
            <a:endParaRPr lang="en-US" sz="1300" dirty="0"/>
          </a:p>
        </p:txBody>
      </p:sp>
      <p:sp>
        <p:nvSpPr>
          <p:cNvPr id="5" name="Text 3"/>
          <p:cNvSpPr txBox="1"/>
          <p:nvPr/>
        </p:nvSpPr>
        <p:spPr>
          <a:xfrm>
            <a:off x="594360" y="2105025"/>
            <a:ext cx="1188720" cy="822960"/>
          </a:xfrm>
          <a:prstGeom prst="rect">
            <a:avLst/>
          </a:prstGeom>
          <a:noFill/>
          <a:ln/>
        </p:spPr>
        <p:txBody>
          <a:bodyPr wrap="square" lIns="0" tIns="0" rIns="0" bIns="0" rtlCol="0" anchor="t"/>
          <a:lstStyle/>
          <a:p>
            <a:pPr marL="0" indent="0">
              <a:buNone/>
            </a:pPr>
            <a:r>
              <a:rPr lang="en-US" sz="1200" dirty="0">
                <a:solidFill>
                  <a:srgbClr val="B8C4C9"/>
                </a:solidFill>
                <a:latin typeface="Calibri" pitchFamily="34" charset="0"/>
                <a:ea typeface="Calibri" pitchFamily="34" charset="-122"/>
                <a:cs typeface="Calibri" pitchFamily="34" charset="-120"/>
              </a:rPr>
              <a:t>Domain and</a:t>
            </a:r>
            <a:endParaRPr lang="en-US" sz="1200" dirty="0"/>
          </a:p>
          <a:p>
            <a:pPr marL="0" indent="0">
              <a:buNone/>
            </a:pPr>
            <a:r>
              <a:rPr lang="en-US" sz="1200" dirty="0">
                <a:solidFill>
                  <a:srgbClr val="B8C4C9"/>
                </a:solidFill>
                <a:latin typeface="Calibri" pitchFamily="34" charset="0"/>
                <a:ea typeface="Calibri" pitchFamily="34" charset="-122"/>
                <a:cs typeface="Calibri" pitchFamily="34" charset="-120"/>
              </a:rPr>
              <a:t>sub-domain,</a:t>
            </a:r>
            <a:endParaRPr lang="en-US" sz="1200" dirty="0"/>
          </a:p>
          <a:p>
            <a:pPr marL="0" indent="0">
              <a:buNone/>
            </a:pPr>
            <a:r>
              <a:rPr lang="en-US" sz="1200" dirty="0">
                <a:solidFill>
                  <a:srgbClr val="B8C4C9"/>
                </a:solidFill>
                <a:latin typeface="Calibri" pitchFamily="34" charset="0"/>
                <a:ea typeface="Calibri" pitchFamily="34" charset="-122"/>
                <a:cs typeface="Calibri" pitchFamily="34" charset="-120"/>
              </a:rPr>
              <a:t>set once</a:t>
            </a:r>
            <a:endParaRPr lang="en-US" sz="1200" dirty="0"/>
          </a:p>
        </p:txBody>
      </p:sp>
      <p:sp>
        <p:nvSpPr>
          <p:cNvPr id="6" name="Shape 4"/>
          <p:cNvSpPr/>
          <p:nvPr/>
        </p:nvSpPr>
        <p:spPr>
          <a:xfrm>
            <a:off x="1901952" y="2379345"/>
            <a:ext cx="246888" cy="914"/>
          </a:xfrm>
          <a:prstGeom prst="line">
            <a:avLst/>
          </a:prstGeom>
          <a:noFill/>
          <a:ln w="22225">
            <a:solidFill>
              <a:srgbClr val="4A5A63"/>
            </a:solidFill>
            <a:prstDash val="solid"/>
            <a:tailEnd type="triangle"/>
          </a:ln>
        </p:spPr>
        <p:txBody>
          <a:bodyPr/>
          <a:lstStyle/>
          <a:p>
            <a:endParaRPr lang="en-US"/>
          </a:p>
        </p:txBody>
      </p:sp>
      <p:sp>
        <p:nvSpPr>
          <p:cNvPr id="7" name="Shape 5"/>
          <p:cNvSpPr/>
          <p:nvPr/>
        </p:nvSpPr>
        <p:spPr>
          <a:xfrm>
            <a:off x="2194560" y="1464945"/>
            <a:ext cx="2560320" cy="1828800"/>
          </a:xfrm>
          <a:prstGeom prst="roundRect">
            <a:avLst>
              <a:gd name="adj" fmla="val 6000"/>
            </a:avLst>
          </a:prstGeom>
          <a:solidFill>
            <a:srgbClr val="EEF3F4"/>
          </a:solidFill>
          <a:ln w="12700">
            <a:solidFill>
              <a:srgbClr val="EEF3F4"/>
            </a:solidFill>
            <a:prstDash val="solid"/>
          </a:ln>
        </p:spPr>
        <p:txBody>
          <a:bodyPr/>
          <a:lstStyle/>
          <a:p>
            <a:endParaRPr lang="en-US"/>
          </a:p>
        </p:txBody>
      </p:sp>
      <p:sp>
        <p:nvSpPr>
          <p:cNvPr id="8" name="Shape 6"/>
          <p:cNvSpPr/>
          <p:nvPr/>
        </p:nvSpPr>
        <p:spPr>
          <a:xfrm>
            <a:off x="2377440" y="1647825"/>
            <a:ext cx="457200" cy="457200"/>
          </a:xfrm>
          <a:prstGeom prst="ellipse">
            <a:avLst/>
          </a:prstGeom>
          <a:solidFill>
            <a:srgbClr val="4A5A63"/>
          </a:solidFill>
          <a:ln w="12700">
            <a:solidFill>
              <a:srgbClr val="4A5A63"/>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2491740" y="1762125"/>
            <a:ext cx="228600" cy="228600"/>
          </a:xfrm>
          <a:prstGeom prst="rect">
            <a:avLst/>
          </a:prstGeom>
        </p:spPr>
      </p:pic>
      <p:sp>
        <p:nvSpPr>
          <p:cNvPr id="10" name="Text 7"/>
          <p:cNvSpPr txBox="1"/>
          <p:nvPr/>
        </p:nvSpPr>
        <p:spPr>
          <a:xfrm>
            <a:off x="2971800" y="1647825"/>
            <a:ext cx="1645920" cy="457200"/>
          </a:xfrm>
          <a:prstGeom prst="rect">
            <a:avLst/>
          </a:prstGeom>
          <a:noFill/>
          <a:ln/>
        </p:spPr>
        <p:txBody>
          <a:bodyPr wrap="square" lIns="0" tIns="0" rIns="0" bIns="0" rtlCol="0" anchor="ctr"/>
          <a:lstStyle/>
          <a:p>
            <a:pPr marL="0" indent="0">
              <a:buNone/>
            </a:pPr>
            <a:r>
              <a:rPr lang="en-US" sz="1400" b="1" dirty="0">
                <a:solidFill>
                  <a:srgbClr val="1F2A30"/>
                </a:solidFill>
                <a:latin typeface="Courier New" pitchFamily="34" charset="0"/>
                <a:ea typeface="Courier New" pitchFamily="34" charset="-122"/>
                <a:cs typeface="Courier New" pitchFamily="34" charset="-120"/>
              </a:rPr>
              <a:t>bc-searcher</a:t>
            </a:r>
            <a:endParaRPr lang="en-US" sz="1400" dirty="0"/>
          </a:p>
        </p:txBody>
      </p:sp>
      <p:sp>
        <p:nvSpPr>
          <p:cNvPr id="11" name="Text 8"/>
          <p:cNvSpPr txBox="1"/>
          <p:nvPr/>
        </p:nvSpPr>
        <p:spPr>
          <a:xfrm>
            <a:off x="2377440" y="2196465"/>
            <a:ext cx="2194560" cy="274320"/>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Searches public regulations</a:t>
            </a:r>
            <a:endParaRPr lang="en-US" sz="1200" dirty="0"/>
          </a:p>
        </p:txBody>
      </p:sp>
      <p:sp>
        <p:nvSpPr>
          <p:cNvPr id="12" name="Text 9"/>
          <p:cNvSpPr txBox="1"/>
          <p:nvPr/>
        </p:nvSpPr>
        <p:spPr>
          <a:xfrm>
            <a:off x="2377440" y="2452497"/>
            <a:ext cx="2194560" cy="365760"/>
          </a:xfrm>
          <a:prstGeom prst="rect">
            <a:avLst/>
          </a:prstGeom>
          <a:noFill/>
          <a:ln/>
        </p:spPr>
        <p:txBody>
          <a:bodyPr wrap="square" lIns="0" tIns="0" rIns="0" bIns="0" rtlCol="0" anchor="t"/>
          <a:lstStyle/>
          <a:p>
            <a:pPr marL="0" indent="0">
              <a:buNone/>
            </a:pPr>
            <a:r>
              <a:rPr lang="en-US" sz="1050" dirty="0">
                <a:solidFill>
                  <a:srgbClr val="4A5A63"/>
                </a:solidFill>
                <a:latin typeface="Calibri" pitchFamily="34" charset="0"/>
                <a:ea typeface="Calibri" pitchFamily="34" charset="-122"/>
                <a:cs typeface="Calibri" pitchFamily="34" charset="-120"/>
              </a:rPr>
              <a:t>Returns cited data-sensitivity and breach-notification categories</a:t>
            </a:r>
            <a:endParaRPr lang="en-US" sz="1050" dirty="0"/>
          </a:p>
        </p:txBody>
      </p:sp>
      <p:sp>
        <p:nvSpPr>
          <p:cNvPr id="13" name="Shape 10"/>
          <p:cNvSpPr/>
          <p:nvPr/>
        </p:nvSpPr>
        <p:spPr>
          <a:xfrm>
            <a:off x="2377440" y="2909697"/>
            <a:ext cx="2011680" cy="274320"/>
          </a:xfrm>
          <a:prstGeom prst="roundRect">
            <a:avLst>
              <a:gd name="adj" fmla="val 50000"/>
            </a:avLst>
          </a:prstGeom>
          <a:solidFill>
            <a:srgbClr val="FBEBD2"/>
          </a:solidFill>
          <a:ln w="12700">
            <a:solidFill>
              <a:srgbClr val="FBEBD2"/>
            </a:solidFill>
            <a:prstDash val="solid"/>
          </a:ln>
        </p:spPr>
        <p:txBody>
          <a:bodyPr/>
          <a:lstStyle/>
          <a:p>
            <a:endParaRPr lang="en-US"/>
          </a:p>
        </p:txBody>
      </p:sp>
      <p:sp>
        <p:nvSpPr>
          <p:cNvPr id="14" name="Text 11"/>
          <p:cNvSpPr txBox="1"/>
          <p:nvPr/>
        </p:nvSpPr>
        <p:spPr>
          <a:xfrm>
            <a:off x="2377440" y="2909697"/>
            <a:ext cx="2011680" cy="274320"/>
          </a:xfrm>
          <a:prstGeom prst="rect">
            <a:avLst/>
          </a:prstGeom>
          <a:noFill/>
          <a:ln/>
        </p:spPr>
        <p:txBody>
          <a:bodyPr wrap="square" lIns="0" tIns="0" rIns="0" bIns="0" rtlCol="0" anchor="ctr"/>
          <a:lstStyle/>
          <a:p>
            <a:pPr marL="0" indent="0" algn="ctr">
              <a:buNone/>
            </a:pPr>
            <a:r>
              <a:rPr lang="en-US" sz="1000" b="1" dirty="0">
                <a:solidFill>
                  <a:srgbClr val="1F2A30"/>
                </a:solidFill>
                <a:latin typeface="Calibri" pitchFamily="34" charset="0"/>
                <a:ea typeface="Calibri" pitchFamily="34" charset="-122"/>
                <a:cs typeface="Calibri" pitchFamily="34" charset="-120"/>
              </a:rPr>
              <a:t>No access to project files</a:t>
            </a:r>
            <a:endParaRPr lang="en-US" sz="1000" dirty="0"/>
          </a:p>
        </p:txBody>
      </p:sp>
      <p:sp>
        <p:nvSpPr>
          <p:cNvPr id="15" name="Shape 12"/>
          <p:cNvSpPr/>
          <p:nvPr/>
        </p:nvSpPr>
        <p:spPr>
          <a:xfrm>
            <a:off x="5212080" y="1464945"/>
            <a:ext cx="3474720" cy="1828800"/>
          </a:xfrm>
          <a:prstGeom prst="roundRect">
            <a:avLst>
              <a:gd name="adj" fmla="val 6000"/>
            </a:avLst>
          </a:prstGeom>
          <a:solidFill>
            <a:srgbClr val="EEF3F4"/>
          </a:solidFill>
          <a:ln w="12700">
            <a:solidFill>
              <a:srgbClr val="EEF3F4"/>
            </a:solidFill>
            <a:prstDash val="solid"/>
          </a:ln>
        </p:spPr>
        <p:txBody>
          <a:bodyPr/>
          <a:lstStyle/>
          <a:p>
            <a:endParaRPr lang="en-US"/>
          </a:p>
        </p:txBody>
      </p:sp>
      <p:sp>
        <p:nvSpPr>
          <p:cNvPr id="16" name="Shape 13"/>
          <p:cNvSpPr/>
          <p:nvPr/>
        </p:nvSpPr>
        <p:spPr>
          <a:xfrm>
            <a:off x="5394960" y="1647825"/>
            <a:ext cx="457200" cy="457200"/>
          </a:xfrm>
          <a:prstGeom prst="ellipse">
            <a:avLst/>
          </a:prstGeom>
          <a:solidFill>
            <a:srgbClr val="4A5A63"/>
          </a:solidFill>
          <a:ln w="12700">
            <a:solidFill>
              <a:srgbClr val="4A5A63"/>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5509260" y="1762125"/>
            <a:ext cx="228600" cy="228600"/>
          </a:xfrm>
          <a:prstGeom prst="rect">
            <a:avLst/>
          </a:prstGeom>
        </p:spPr>
      </p:pic>
      <p:sp>
        <p:nvSpPr>
          <p:cNvPr id="18" name="Text 14"/>
          <p:cNvSpPr txBox="1"/>
          <p:nvPr/>
        </p:nvSpPr>
        <p:spPr>
          <a:xfrm>
            <a:off x="5989320" y="1647825"/>
            <a:ext cx="2560320" cy="457200"/>
          </a:xfrm>
          <a:prstGeom prst="rect">
            <a:avLst/>
          </a:prstGeom>
          <a:noFill/>
          <a:ln/>
        </p:spPr>
        <p:txBody>
          <a:bodyPr wrap="square" lIns="0" tIns="0" rIns="0" bIns="0" rtlCol="0" anchor="ctr"/>
          <a:lstStyle/>
          <a:p>
            <a:pPr marL="0" indent="0">
              <a:buNone/>
            </a:pPr>
            <a:r>
              <a:rPr lang="en-US" sz="1400" b="1" dirty="0">
                <a:solidFill>
                  <a:srgbClr val="1F2A30"/>
                </a:solidFill>
                <a:latin typeface="Courier New" pitchFamily="34" charset="0"/>
                <a:ea typeface="Courier New" pitchFamily="34" charset="-122"/>
                <a:cs typeface="Courier New" pitchFamily="34" charset="-120"/>
              </a:rPr>
              <a:t>bc-synthesizer</a:t>
            </a:r>
            <a:endParaRPr lang="en-US" sz="1400" dirty="0"/>
          </a:p>
        </p:txBody>
      </p:sp>
      <p:sp>
        <p:nvSpPr>
          <p:cNvPr id="19" name="Text 15"/>
          <p:cNvSpPr txBox="1"/>
          <p:nvPr/>
        </p:nvSpPr>
        <p:spPr>
          <a:xfrm>
            <a:off x="5394960" y="2196465"/>
            <a:ext cx="3108960" cy="274320"/>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Combines those categories with our architecture</a:t>
            </a:r>
            <a:endParaRPr lang="en-US" sz="1200" dirty="0"/>
          </a:p>
        </p:txBody>
      </p:sp>
      <p:sp>
        <p:nvSpPr>
          <p:cNvPr id="20" name="Text 16"/>
          <p:cNvSpPr txBox="1"/>
          <p:nvPr/>
        </p:nvSpPr>
        <p:spPr>
          <a:xfrm>
            <a:off x="5394960" y="2452497"/>
            <a:ext cx="3108960" cy="365760"/>
          </a:xfrm>
          <a:prstGeom prst="rect">
            <a:avLst/>
          </a:prstGeom>
          <a:noFill/>
          <a:ln/>
        </p:spPr>
        <p:txBody>
          <a:bodyPr wrap="square" lIns="0" tIns="0" rIns="0" bIns="0" rtlCol="0" anchor="t"/>
          <a:lstStyle/>
          <a:p>
            <a:pPr marL="0" indent="0">
              <a:buNone/>
            </a:pPr>
            <a:r>
              <a:rPr lang="en-US" sz="1050" dirty="0">
                <a:solidFill>
                  <a:srgbClr val="4A5A63"/>
                </a:solidFill>
                <a:latin typeface="Calibri" pitchFamily="34" charset="0"/>
                <a:ea typeface="Calibri" pitchFamily="34" charset="-122"/>
                <a:cs typeface="Calibri" pitchFamily="34" charset="-120"/>
              </a:rPr>
              <a:t>Drafts the review triggers for our domain (B-series)</a:t>
            </a:r>
            <a:endParaRPr lang="en-US" sz="1050" dirty="0"/>
          </a:p>
        </p:txBody>
      </p:sp>
      <p:grpSp>
        <p:nvGrpSpPr>
          <p:cNvPr id="39" name="Group 38">
            <a:extLst>
              <a:ext uri="{FF2B5EF4-FFF2-40B4-BE49-F238E27FC236}">
                <a16:creationId xmlns:a16="http://schemas.microsoft.com/office/drawing/2014/main" id="{730612D4-72A8-2399-EFD5-E317A0FF0B75}"/>
              </a:ext>
            </a:extLst>
          </p:cNvPr>
          <p:cNvGrpSpPr/>
          <p:nvPr/>
        </p:nvGrpSpPr>
        <p:grpSpPr>
          <a:xfrm>
            <a:off x="5897880" y="2899791"/>
            <a:ext cx="2011680" cy="274320"/>
            <a:chOff x="5394960" y="2633472"/>
            <a:chExt cx="2011680" cy="274320"/>
          </a:xfrm>
        </p:grpSpPr>
        <p:sp>
          <p:nvSpPr>
            <p:cNvPr id="21" name="Shape 17"/>
            <p:cNvSpPr/>
            <p:nvPr/>
          </p:nvSpPr>
          <p:spPr>
            <a:xfrm>
              <a:off x="5394960" y="2633472"/>
              <a:ext cx="2011680" cy="274320"/>
            </a:xfrm>
            <a:prstGeom prst="roundRect">
              <a:avLst>
                <a:gd name="adj" fmla="val 50000"/>
              </a:avLst>
            </a:prstGeom>
            <a:solidFill>
              <a:srgbClr val="FBEBD2"/>
            </a:solidFill>
            <a:ln w="12700">
              <a:solidFill>
                <a:srgbClr val="FBEBD2"/>
              </a:solidFill>
              <a:prstDash val="solid"/>
            </a:ln>
          </p:spPr>
          <p:txBody>
            <a:bodyPr/>
            <a:lstStyle/>
            <a:p>
              <a:endParaRPr lang="en-US"/>
            </a:p>
          </p:txBody>
        </p:sp>
        <p:sp>
          <p:nvSpPr>
            <p:cNvPr id="22" name="Text 18"/>
            <p:cNvSpPr txBox="1"/>
            <p:nvPr/>
          </p:nvSpPr>
          <p:spPr>
            <a:xfrm>
              <a:off x="5394960" y="2633472"/>
              <a:ext cx="2011680" cy="274320"/>
            </a:xfrm>
            <a:prstGeom prst="rect">
              <a:avLst/>
            </a:prstGeom>
            <a:noFill/>
            <a:ln/>
          </p:spPr>
          <p:txBody>
            <a:bodyPr wrap="square" lIns="0" tIns="0" rIns="0" bIns="0" rtlCol="0" anchor="ctr"/>
            <a:lstStyle/>
            <a:p>
              <a:pPr marL="0" indent="0" algn="ctr">
                <a:buNone/>
              </a:pPr>
              <a:r>
                <a:rPr lang="en-US" sz="1000" b="1" dirty="0">
                  <a:solidFill>
                    <a:srgbClr val="1F2A30"/>
                  </a:solidFill>
                  <a:latin typeface="Calibri" pitchFamily="34" charset="0"/>
                  <a:ea typeface="Calibri" pitchFamily="34" charset="-122"/>
                  <a:cs typeface="Calibri" pitchFamily="34" charset="-120"/>
                </a:rPr>
                <a:t>No web access</a:t>
              </a:r>
              <a:endParaRPr lang="en-US" sz="1000" dirty="0"/>
            </a:p>
          </p:txBody>
        </p:sp>
      </p:grpSp>
      <p:sp>
        <p:nvSpPr>
          <p:cNvPr id="23" name="Shape 19"/>
          <p:cNvSpPr/>
          <p:nvPr/>
        </p:nvSpPr>
        <p:spPr>
          <a:xfrm>
            <a:off x="4800600" y="2379345"/>
            <a:ext cx="365760" cy="914"/>
          </a:xfrm>
          <a:prstGeom prst="line">
            <a:avLst/>
          </a:prstGeom>
          <a:noFill/>
          <a:ln w="22225">
            <a:solidFill>
              <a:srgbClr val="4A5A63"/>
            </a:solidFill>
            <a:prstDash val="solid"/>
            <a:tailEnd type="triangle"/>
          </a:ln>
        </p:spPr>
        <p:txBody>
          <a:bodyPr/>
          <a:lstStyle/>
          <a:p>
            <a:endParaRPr lang="en-US"/>
          </a:p>
        </p:txBody>
      </p:sp>
      <p:sp>
        <p:nvSpPr>
          <p:cNvPr id="24" name="Shape 20"/>
          <p:cNvSpPr/>
          <p:nvPr/>
        </p:nvSpPr>
        <p:spPr>
          <a:xfrm>
            <a:off x="5212080" y="3613785"/>
            <a:ext cx="1508760" cy="868680"/>
          </a:xfrm>
          <a:prstGeom prst="roundRect">
            <a:avLst>
              <a:gd name="adj" fmla="val 12632"/>
            </a:avLst>
          </a:prstGeom>
          <a:solidFill>
            <a:srgbClr val="EEF3F4"/>
          </a:solidFill>
          <a:ln w="12700">
            <a:solidFill>
              <a:srgbClr val="EEF3F4"/>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5321808" y="3888105"/>
            <a:ext cx="292608" cy="292608"/>
          </a:xfrm>
          <a:prstGeom prst="rect">
            <a:avLst/>
          </a:prstGeom>
        </p:spPr>
      </p:pic>
      <p:sp>
        <p:nvSpPr>
          <p:cNvPr id="26" name="Text 21"/>
          <p:cNvSpPr txBox="1"/>
          <p:nvPr/>
        </p:nvSpPr>
        <p:spPr>
          <a:xfrm>
            <a:off x="5687568" y="3750945"/>
            <a:ext cx="1024128" cy="320040"/>
          </a:xfrm>
          <a:prstGeom prst="rect">
            <a:avLst/>
          </a:prstGeom>
          <a:noFill/>
          <a:ln/>
        </p:spPr>
        <p:txBody>
          <a:bodyPr wrap="square" lIns="0" tIns="0" rIns="0" bIns="0" rtlCol="0" anchor="t"/>
          <a:lstStyle/>
          <a:p>
            <a:pPr marL="0" indent="0">
              <a:buNone/>
            </a:pPr>
            <a:r>
              <a:rPr lang="en-US" sz="1100" b="1" dirty="0">
                <a:solidFill>
                  <a:srgbClr val="1F2A30"/>
                </a:solidFill>
                <a:latin typeface="Calibri" pitchFamily="34" charset="0"/>
                <a:ea typeface="Calibri" pitchFamily="34" charset="-122"/>
                <a:cs typeface="Calibri" pitchFamily="34" charset="-120"/>
              </a:rPr>
              <a:t>Our architecture</a:t>
            </a:r>
            <a:endParaRPr lang="en-US" sz="1100" dirty="0"/>
          </a:p>
        </p:txBody>
      </p:sp>
      <p:sp>
        <p:nvSpPr>
          <p:cNvPr id="27" name="Text 22"/>
          <p:cNvSpPr txBox="1"/>
          <p:nvPr/>
        </p:nvSpPr>
        <p:spPr>
          <a:xfrm>
            <a:off x="5687568" y="4116705"/>
            <a:ext cx="960120" cy="274320"/>
          </a:xfrm>
          <a:prstGeom prst="rect">
            <a:avLst/>
          </a:prstGeom>
          <a:noFill/>
          <a:ln/>
        </p:spPr>
        <p:txBody>
          <a:bodyPr wrap="square" lIns="0" tIns="0" rIns="0" bIns="0" rtlCol="0" anchor="t"/>
          <a:lstStyle/>
          <a:p>
            <a:pPr marL="0" indent="0">
              <a:buNone/>
            </a:pPr>
            <a:r>
              <a:rPr lang="en-US" sz="1050" dirty="0">
                <a:solidFill>
                  <a:srgbClr val="4A5A63"/>
                </a:solidFill>
                <a:latin typeface="Calibri" pitchFamily="34" charset="0"/>
                <a:ea typeface="Calibri" pitchFamily="34" charset="-122"/>
                <a:cs typeface="Calibri" pitchFamily="34" charset="-120"/>
              </a:rPr>
              <a:t>Local files</a:t>
            </a:r>
            <a:endParaRPr lang="en-US" sz="1050" dirty="0"/>
          </a:p>
        </p:txBody>
      </p:sp>
      <p:sp>
        <p:nvSpPr>
          <p:cNvPr id="28" name="Shape 23"/>
          <p:cNvSpPr/>
          <p:nvPr/>
        </p:nvSpPr>
        <p:spPr>
          <a:xfrm flipV="1">
            <a:off x="6035040" y="3321177"/>
            <a:ext cx="914" cy="265176"/>
          </a:xfrm>
          <a:prstGeom prst="line">
            <a:avLst/>
          </a:prstGeom>
          <a:noFill/>
          <a:ln w="22225">
            <a:solidFill>
              <a:srgbClr val="4A5A63"/>
            </a:solidFill>
            <a:prstDash val="solid"/>
            <a:tailEnd type="triangle"/>
          </a:ln>
        </p:spPr>
        <p:txBody>
          <a:bodyPr/>
          <a:lstStyle/>
          <a:p>
            <a:endParaRPr lang="en-US"/>
          </a:p>
        </p:txBody>
      </p:sp>
      <p:sp>
        <p:nvSpPr>
          <p:cNvPr id="29" name="Shape 24"/>
          <p:cNvSpPr/>
          <p:nvPr/>
        </p:nvSpPr>
        <p:spPr>
          <a:xfrm>
            <a:off x="6903720" y="3613785"/>
            <a:ext cx="1783080" cy="868680"/>
          </a:xfrm>
          <a:prstGeom prst="roundRect">
            <a:avLst>
              <a:gd name="adj" fmla="val 12632"/>
            </a:avLst>
          </a:prstGeom>
          <a:solidFill>
            <a:srgbClr val="D5EEEB"/>
          </a:solidFill>
          <a:ln w="12700">
            <a:solidFill>
              <a:srgbClr val="D5EEEB"/>
            </a:solidFill>
            <a:prstDash val="solid"/>
          </a:ln>
        </p:spPr>
        <p:txBody>
          <a:bodyPr/>
          <a:lstStyle/>
          <a:p>
            <a:endParaRPr lang="en-US"/>
          </a:p>
        </p:txBody>
      </p:sp>
      <p:pic>
        <p:nvPicPr>
          <p:cNvPr id="30" name="Image 3" descr="preencoded.png"/>
          <p:cNvPicPr>
            <a:picLocks noChangeAspect="1"/>
          </p:cNvPicPr>
          <p:nvPr/>
        </p:nvPicPr>
        <p:blipFill>
          <a:blip r:embed="rId6"/>
          <a:stretch>
            <a:fillRect/>
          </a:stretch>
        </p:blipFill>
        <p:spPr>
          <a:xfrm>
            <a:off x="7022592" y="3888105"/>
            <a:ext cx="274320" cy="320040"/>
          </a:xfrm>
          <a:prstGeom prst="rect">
            <a:avLst/>
          </a:prstGeom>
        </p:spPr>
      </p:pic>
      <p:sp>
        <p:nvSpPr>
          <p:cNvPr id="31" name="Text 25"/>
          <p:cNvSpPr txBox="1"/>
          <p:nvPr/>
        </p:nvSpPr>
        <p:spPr>
          <a:xfrm>
            <a:off x="7360920" y="3750945"/>
            <a:ext cx="1298448" cy="320040"/>
          </a:xfrm>
          <a:prstGeom prst="rect">
            <a:avLst/>
          </a:prstGeom>
          <a:noFill/>
          <a:ln/>
        </p:spPr>
        <p:txBody>
          <a:bodyPr wrap="square" lIns="0" tIns="0" rIns="0" bIns="0" rtlCol="0" anchor="ctr"/>
          <a:lstStyle/>
          <a:p>
            <a:pPr marL="0" indent="0">
              <a:buNone/>
            </a:pPr>
            <a:r>
              <a:rPr lang="en-US" sz="1100" b="1" dirty="0">
                <a:solidFill>
                  <a:srgbClr val="1F2A30"/>
                </a:solidFill>
                <a:latin typeface="Calibri" pitchFamily="34" charset="0"/>
                <a:ea typeface="Calibri" pitchFamily="34" charset="-122"/>
                <a:cs typeface="Calibri" pitchFamily="34" charset="-120"/>
              </a:rPr>
              <a:t>business-context.md</a:t>
            </a:r>
            <a:endParaRPr lang="en-US" sz="1100" dirty="0"/>
          </a:p>
        </p:txBody>
      </p:sp>
      <p:sp>
        <p:nvSpPr>
          <p:cNvPr id="32" name="Text 26"/>
          <p:cNvSpPr txBox="1"/>
          <p:nvPr/>
        </p:nvSpPr>
        <p:spPr>
          <a:xfrm>
            <a:off x="7360920" y="4116705"/>
            <a:ext cx="1298448" cy="274320"/>
          </a:xfrm>
          <a:prstGeom prst="rect">
            <a:avLst/>
          </a:prstGeom>
          <a:noFill/>
          <a:ln/>
        </p:spPr>
        <p:txBody>
          <a:bodyPr wrap="square" lIns="0" tIns="0" rIns="0" bIns="0" rtlCol="0" anchor="t"/>
          <a:lstStyle/>
          <a:p>
            <a:pPr marL="0" indent="0">
              <a:buNone/>
            </a:pPr>
            <a:r>
              <a:rPr lang="en-US" sz="1050" dirty="0">
                <a:solidFill>
                  <a:srgbClr val="4A5A63"/>
                </a:solidFill>
                <a:latin typeface="Calibri" pitchFamily="34" charset="0"/>
                <a:ea typeface="Calibri" pitchFamily="34" charset="-122"/>
                <a:cs typeface="Calibri" pitchFamily="34" charset="-120"/>
              </a:rPr>
              <a:t>Saved with the app</a:t>
            </a:r>
            <a:endParaRPr lang="en-US" sz="1050" dirty="0"/>
          </a:p>
        </p:txBody>
      </p:sp>
      <p:sp>
        <p:nvSpPr>
          <p:cNvPr id="33" name="Shape 27"/>
          <p:cNvSpPr/>
          <p:nvPr/>
        </p:nvSpPr>
        <p:spPr>
          <a:xfrm>
            <a:off x="7772400" y="3321177"/>
            <a:ext cx="914" cy="265176"/>
          </a:xfrm>
          <a:prstGeom prst="line">
            <a:avLst/>
          </a:prstGeom>
          <a:noFill/>
          <a:ln w="22225">
            <a:solidFill>
              <a:srgbClr val="2A9D8F"/>
            </a:solidFill>
            <a:prstDash val="solid"/>
            <a:tailEnd type="triangle"/>
          </a:ln>
        </p:spPr>
        <p:txBody>
          <a:bodyPr/>
          <a:lstStyle/>
          <a:p>
            <a:endParaRPr lang="en-US"/>
          </a:p>
        </p:txBody>
      </p:sp>
      <p:sp>
        <p:nvSpPr>
          <p:cNvPr id="34" name="Shape 28"/>
          <p:cNvSpPr/>
          <p:nvPr/>
        </p:nvSpPr>
        <p:spPr>
          <a:xfrm>
            <a:off x="457200" y="3613785"/>
            <a:ext cx="4297680" cy="868680"/>
          </a:xfrm>
          <a:prstGeom prst="roundRect">
            <a:avLst>
              <a:gd name="adj" fmla="val 12632"/>
            </a:avLst>
          </a:prstGeom>
          <a:solidFill>
            <a:srgbClr val="1F2A30"/>
          </a:solidFill>
          <a:ln w="12700">
            <a:solidFill>
              <a:srgbClr val="1F2A30"/>
            </a:solidFill>
            <a:prstDash val="solid"/>
          </a:ln>
        </p:spPr>
        <p:txBody>
          <a:bodyPr/>
          <a:lstStyle/>
          <a:p>
            <a:endParaRPr lang="en-US"/>
          </a:p>
        </p:txBody>
      </p:sp>
      <p:sp>
        <p:nvSpPr>
          <p:cNvPr id="35" name="Shape 29"/>
          <p:cNvSpPr/>
          <p:nvPr/>
        </p:nvSpPr>
        <p:spPr>
          <a:xfrm>
            <a:off x="640080" y="3796665"/>
            <a:ext cx="502920" cy="502920"/>
          </a:xfrm>
          <a:prstGeom prst="ellipse">
            <a:avLst/>
          </a:prstGeom>
          <a:solidFill>
            <a:srgbClr val="E9A23B"/>
          </a:solidFill>
          <a:ln w="12700">
            <a:solidFill>
              <a:srgbClr val="E9A23B"/>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765810" y="3922395"/>
            <a:ext cx="251460" cy="251460"/>
          </a:xfrm>
          <a:prstGeom prst="rect">
            <a:avLst/>
          </a:prstGeom>
        </p:spPr>
      </p:pic>
      <p:sp>
        <p:nvSpPr>
          <p:cNvPr id="37" name="Text 30"/>
          <p:cNvSpPr txBox="1"/>
          <p:nvPr/>
        </p:nvSpPr>
        <p:spPr>
          <a:xfrm>
            <a:off x="1325880" y="3705225"/>
            <a:ext cx="3291840" cy="6858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agent that goes online can't see our code. The agent that sees our code can't go online.</a:t>
            </a:r>
            <a:endParaRPr lang="en-US" sz="1200" dirty="0"/>
          </a:p>
        </p:txBody>
      </p:sp>
      <p:sp>
        <p:nvSpPr>
          <p:cNvPr id="40" name="Text 17">
            <a:extLst>
              <a:ext uri="{FF2B5EF4-FFF2-40B4-BE49-F238E27FC236}">
                <a16:creationId xmlns:a16="http://schemas.microsoft.com/office/drawing/2014/main" id="{8AAEF661-21A2-FA64-D9E8-09611B3794D3}"/>
              </a:ext>
            </a:extLst>
          </p:cNvPr>
          <p:cNvSpPr txBox="1"/>
          <p:nvPr/>
        </p:nvSpPr>
        <p:spPr>
          <a:xfrm>
            <a:off x="574765" y="813159"/>
            <a:ext cx="8438606" cy="250546"/>
          </a:xfrm>
          <a:prstGeom prst="rect">
            <a:avLst/>
          </a:prstGeom>
          <a:noFill/>
          <a:ln/>
        </p:spPr>
        <p:txBody>
          <a:bodyPr wrap="square" lIns="0" tIns="0" rIns="0" bIns="0" rtlCol="0" anchor="t"/>
          <a:lstStyle>
            <a:lvl1pPr indent="0">
              <a:buNone/>
              <a:defRPr sz="1300" i="1">
                <a:solidFill>
                  <a:srgbClr val="2A9D8F"/>
                </a:solidFill>
                <a:latin typeface="Calibri" pitchFamily="34" charset="0"/>
                <a:ea typeface="Calibri" pitchFamily="34" charset="-122"/>
                <a:cs typeface="Calibri" pitchFamily="34" charset="-120"/>
              </a:defRPr>
            </a:lvl1pPr>
          </a:lstStyle>
          <a:p>
            <a:r>
              <a:rPr lang="en-US" dirty="0"/>
              <a:t>Every code and security review checks against these triggers. It supports our compliance team; it doesn't replace them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1F4AD19-0051-9688-B830-47F973BF054F}"/>
              </a:ext>
            </a:extLst>
          </p:cNvPr>
          <p:cNvSpPr txBox="1"/>
          <p:nvPr/>
        </p:nvSpPr>
        <p:spPr>
          <a:xfrm>
            <a:off x="210911" y="22188"/>
            <a:ext cx="4572000" cy="369332"/>
          </a:xfrm>
          <a:prstGeom prst="rect">
            <a:avLst/>
          </a:prstGeom>
          <a:noFill/>
        </p:spPr>
        <p:txBody>
          <a:bodyPr wrap="square">
            <a:spAutoFit/>
          </a:bodyPr>
          <a:lstStyle/>
          <a:p>
            <a:pPr algn="l">
              <a:spcAft>
                <a:spcPts val="1200"/>
              </a:spcAft>
              <a:buNone/>
            </a:pPr>
            <a:r>
              <a:rPr lang="en-US" b="1" i="0" dirty="0">
                <a:solidFill>
                  <a:srgbClr val="BBBEBF"/>
                </a:solidFill>
                <a:effectLst/>
                <a:latin typeface="-apple-system"/>
              </a:rPr>
              <a:t>Business Context — Legal (US)</a:t>
            </a:r>
          </a:p>
        </p:txBody>
      </p:sp>
      <p:graphicFrame>
        <p:nvGraphicFramePr>
          <p:cNvPr id="7" name="Table 6">
            <a:extLst>
              <a:ext uri="{FF2B5EF4-FFF2-40B4-BE49-F238E27FC236}">
                <a16:creationId xmlns:a16="http://schemas.microsoft.com/office/drawing/2014/main" id="{FFAA2E76-D4C0-80BC-0E5B-649F7B84F5DC}"/>
              </a:ext>
            </a:extLst>
          </p:cNvPr>
          <p:cNvGraphicFramePr>
            <a:graphicFrameLocks noGrp="1"/>
          </p:cNvGraphicFramePr>
          <p:nvPr/>
        </p:nvGraphicFramePr>
        <p:xfrm>
          <a:off x="333102" y="662566"/>
          <a:ext cx="8127724" cy="2184154"/>
        </p:xfrm>
        <a:graphic>
          <a:graphicData uri="http://schemas.openxmlformats.org/drawingml/2006/table">
            <a:tbl>
              <a:tblPr>
                <a:tableStyleId>{D27102A9-8310-4765-A935-A1911B00CA55}</a:tableStyleId>
              </a:tblPr>
              <a:tblGrid>
                <a:gridCol w="244290">
                  <a:extLst>
                    <a:ext uri="{9D8B030D-6E8A-4147-A177-3AD203B41FA5}">
                      <a16:colId xmlns:a16="http://schemas.microsoft.com/office/drawing/2014/main" val="1353919644"/>
                    </a:ext>
                  </a:extLst>
                </a:gridCol>
                <a:gridCol w="3485725">
                  <a:extLst>
                    <a:ext uri="{9D8B030D-6E8A-4147-A177-3AD203B41FA5}">
                      <a16:colId xmlns:a16="http://schemas.microsoft.com/office/drawing/2014/main" val="839850588"/>
                    </a:ext>
                  </a:extLst>
                </a:gridCol>
                <a:gridCol w="3888257">
                  <a:extLst>
                    <a:ext uri="{9D8B030D-6E8A-4147-A177-3AD203B41FA5}">
                      <a16:colId xmlns:a16="http://schemas.microsoft.com/office/drawing/2014/main" val="787602853"/>
                    </a:ext>
                  </a:extLst>
                </a:gridCol>
                <a:gridCol w="509452">
                  <a:extLst>
                    <a:ext uri="{9D8B030D-6E8A-4147-A177-3AD203B41FA5}">
                      <a16:colId xmlns:a16="http://schemas.microsoft.com/office/drawing/2014/main" val="2801154483"/>
                    </a:ext>
                  </a:extLst>
                </a:gridCol>
              </a:tblGrid>
              <a:tr h="79560">
                <a:tc>
                  <a:txBody>
                    <a:bodyPr/>
                    <a:lstStyle/>
                    <a:p>
                      <a:pPr algn="l">
                        <a:buNone/>
                      </a:pPr>
                      <a:r>
                        <a:rPr lang="en-US" sz="800" b="1" dirty="0">
                          <a:effectLst/>
                        </a:rPr>
                        <a:t>#</a:t>
                      </a:r>
                    </a:p>
                  </a:txBody>
                  <a:tcPr marL="11296" marR="11296" marT="5648" marB="5648" anchor="ctr"/>
                </a:tc>
                <a:tc>
                  <a:txBody>
                    <a:bodyPr/>
                    <a:lstStyle/>
                    <a:p>
                      <a:pPr algn="l">
                        <a:buNone/>
                      </a:pPr>
                      <a:r>
                        <a:rPr lang="en-US" sz="800" b="1">
                          <a:effectLst/>
                        </a:rPr>
                        <a:t>Trigger</a:t>
                      </a:r>
                    </a:p>
                  </a:txBody>
                  <a:tcPr marL="11296" marR="11296" marT="5648" marB="5648" anchor="ctr"/>
                </a:tc>
                <a:tc>
                  <a:txBody>
                    <a:bodyPr/>
                    <a:lstStyle/>
                    <a:p>
                      <a:pPr algn="l">
                        <a:buNone/>
                      </a:pPr>
                      <a:r>
                        <a:rPr lang="en-US" sz="800" b="1">
                          <a:effectLst/>
                        </a:rPr>
                        <a:t>Why Critical</a:t>
                      </a:r>
                    </a:p>
                  </a:txBody>
                  <a:tcPr marL="11296" marR="11296" marT="5648" marB="5648" anchor="ctr"/>
                </a:tc>
                <a:tc>
                  <a:txBody>
                    <a:bodyPr/>
                    <a:lstStyle/>
                    <a:p>
                      <a:pPr algn="l">
                        <a:buNone/>
                      </a:pPr>
                      <a:r>
                        <a:rPr lang="en-US" sz="800" b="1" dirty="0">
                          <a:effectLst/>
                        </a:rPr>
                        <a:t>Source</a:t>
                      </a:r>
                    </a:p>
                  </a:txBody>
                  <a:tcPr marL="11296" marR="11296" marT="5648" marB="5648" anchor="ctr"/>
                </a:tc>
                <a:extLst>
                  <a:ext uri="{0D108BD9-81ED-4DB2-BD59-A6C34878D82A}">
                    <a16:rowId xmlns:a16="http://schemas.microsoft.com/office/drawing/2014/main" val="3385906209"/>
                  </a:ext>
                </a:extLst>
              </a:tr>
              <a:tr h="239900">
                <a:tc>
                  <a:txBody>
                    <a:bodyPr/>
                    <a:lstStyle/>
                    <a:p>
                      <a:pPr>
                        <a:buNone/>
                      </a:pPr>
                      <a:r>
                        <a:rPr lang="en-US" sz="800">
                          <a:effectLst/>
                        </a:rPr>
                        <a:t>B1</a:t>
                      </a:r>
                    </a:p>
                  </a:txBody>
                  <a:tcPr marL="11296" marR="11296" marT="5648" marB="5648" anchor="ctr"/>
                </a:tc>
                <a:tc>
                  <a:txBody>
                    <a:bodyPr/>
                    <a:lstStyle/>
                    <a:p>
                      <a:pPr>
                        <a:buNone/>
                      </a:pPr>
                      <a:r>
                        <a:rPr lang="en-US" sz="800" dirty="0">
                          <a:effectLst/>
                        </a:rPr>
                        <a:t>Finding involves </a:t>
                      </a:r>
                      <a:r>
                        <a:rPr lang="en-US" sz="800" b="1" dirty="0">
                          <a:effectLst/>
                        </a:rPr>
                        <a:t>attorney-client privileged data</a:t>
                      </a:r>
                      <a:r>
                        <a:rPr lang="en-US" sz="800" dirty="0">
                          <a:effectLst/>
                        </a:rPr>
                        <a:t> (matter descriptions, communications, legal strategy, case notes)</a:t>
                      </a:r>
                    </a:p>
                  </a:txBody>
                  <a:tcPr marL="11296" marR="11296" marT="5648" marB="5648" anchor="ctr"/>
                </a:tc>
                <a:tc>
                  <a:txBody>
                    <a:bodyPr/>
                    <a:lstStyle/>
                    <a:p>
                      <a:pPr>
                        <a:buNone/>
                      </a:pPr>
                      <a:r>
                        <a:rPr lang="en-US" sz="800">
                          <a:effectLst/>
                        </a:rPr>
                        <a:t>Bar ethics rules. Exposure is a professional conduct violation. Privilege cannot be restored once breached.</a:t>
                      </a:r>
                    </a:p>
                  </a:txBody>
                  <a:tcPr marL="11296" marR="11296" marT="5648" marB="5648" anchor="ctr"/>
                </a:tc>
                <a:tc>
                  <a:txBody>
                    <a:bodyPr/>
                    <a:lstStyle/>
                    <a:p>
                      <a:pPr>
                        <a:buNone/>
                      </a:pPr>
                      <a:r>
                        <a:rPr lang="en-US" sz="800" dirty="0">
                          <a:effectLst/>
                        </a:rPr>
                        <a:t>preset</a:t>
                      </a:r>
                    </a:p>
                  </a:txBody>
                  <a:tcPr marL="11296" marR="11296" marT="5648" marB="5648" anchor="ctr"/>
                </a:tc>
                <a:extLst>
                  <a:ext uri="{0D108BD9-81ED-4DB2-BD59-A6C34878D82A}">
                    <a16:rowId xmlns:a16="http://schemas.microsoft.com/office/drawing/2014/main" val="4044209546"/>
                  </a:ext>
                </a:extLst>
              </a:tr>
              <a:tr h="269044">
                <a:tc>
                  <a:txBody>
                    <a:bodyPr/>
                    <a:lstStyle/>
                    <a:p>
                      <a:pPr>
                        <a:buNone/>
                      </a:pPr>
                      <a:r>
                        <a:rPr lang="en-US" sz="800">
                          <a:effectLst/>
                        </a:rPr>
                        <a:t>B2</a:t>
                      </a:r>
                    </a:p>
                  </a:txBody>
                  <a:tcPr marL="11296" marR="11296" marT="5648" marB="5648" anchor="ctr"/>
                </a:tc>
                <a:tc>
                  <a:txBody>
                    <a:bodyPr/>
                    <a:lstStyle/>
                    <a:p>
                      <a:pPr>
                        <a:buNone/>
                      </a:pPr>
                      <a:r>
                        <a:rPr lang="en-US" sz="800">
                          <a:effectLst/>
                        </a:rPr>
                        <a:t>Finding involves </a:t>
                      </a:r>
                      <a:r>
                        <a:rPr lang="en-US" sz="800" b="1">
                          <a:effectLst/>
                        </a:rPr>
                        <a:t>immigration identifiers</a:t>
                      </a:r>
                      <a:r>
                        <a:rPr lang="en-US" sz="800">
                          <a:effectLst/>
                        </a:rPr>
                        <a:t> (A-Numbers, visa numbers, USCIS case IDs, receipt numbers)</a:t>
                      </a:r>
                    </a:p>
                  </a:txBody>
                  <a:tcPr marL="11296" marR="11296" marT="5648" marB="5648" anchor="ctr"/>
                </a:tc>
                <a:tc>
                  <a:txBody>
                    <a:bodyPr/>
                    <a:lstStyle/>
                    <a:p>
                      <a:pPr>
                        <a:buNone/>
                      </a:pPr>
                      <a:r>
                        <a:rPr lang="en-US" sz="800">
                          <a:effectLst/>
                        </a:rPr>
                        <a:t>Government identifiers tied to active proceedings. Exposure can compromise cases, enable identity fraud, and endanger individuals.</a:t>
                      </a:r>
                    </a:p>
                  </a:txBody>
                  <a:tcPr marL="11296" marR="11296" marT="5648" marB="5648" anchor="ctr"/>
                </a:tc>
                <a:tc>
                  <a:txBody>
                    <a:bodyPr/>
                    <a:lstStyle/>
                    <a:p>
                      <a:pPr>
                        <a:buNone/>
                      </a:pPr>
                      <a:r>
                        <a:rPr lang="en-US" sz="800">
                          <a:effectLst/>
                        </a:rPr>
                        <a:t>preset</a:t>
                      </a:r>
                    </a:p>
                  </a:txBody>
                  <a:tcPr marL="11296" marR="11296" marT="5648" marB="5648" anchor="ctr"/>
                </a:tc>
                <a:extLst>
                  <a:ext uri="{0D108BD9-81ED-4DB2-BD59-A6C34878D82A}">
                    <a16:rowId xmlns:a16="http://schemas.microsoft.com/office/drawing/2014/main" val="145281592"/>
                  </a:ext>
                </a:extLst>
              </a:tr>
              <a:tr h="269044">
                <a:tc>
                  <a:txBody>
                    <a:bodyPr/>
                    <a:lstStyle/>
                    <a:p>
                      <a:pPr>
                        <a:buNone/>
                      </a:pPr>
                      <a:r>
                        <a:rPr lang="en-US" sz="800">
                          <a:effectLst/>
                        </a:rPr>
                        <a:t>B3</a:t>
                      </a:r>
                    </a:p>
                  </a:txBody>
                  <a:tcPr marL="11296" marR="11296" marT="5648" marB="5648" anchor="ctr"/>
                </a:tc>
                <a:tc>
                  <a:txBody>
                    <a:bodyPr/>
                    <a:lstStyle/>
                    <a:p>
                      <a:pPr>
                        <a:buNone/>
                      </a:pPr>
                      <a:r>
                        <a:rPr lang="en-US" sz="800">
                          <a:effectLst/>
                        </a:rPr>
                        <a:t>Finding involves </a:t>
                      </a:r>
                      <a:r>
                        <a:rPr lang="en-US" sz="800" b="1">
                          <a:effectLst/>
                        </a:rPr>
                        <a:t>active case timelines</a:t>
                      </a:r>
                      <a:r>
                        <a:rPr lang="en-US" sz="800">
                          <a:effectLst/>
                        </a:rPr>
                        <a:t> (hearing dates, filing deadlines, case status, scheduled appointments)</a:t>
                      </a:r>
                    </a:p>
                  </a:txBody>
                  <a:tcPr marL="11296" marR="11296" marT="5648" marB="5648" anchor="ctr"/>
                </a:tc>
                <a:tc>
                  <a:txBody>
                    <a:bodyPr/>
                    <a:lstStyle/>
                    <a:p>
                      <a:pPr>
                        <a:buNone/>
                      </a:pPr>
                      <a:r>
                        <a:rPr lang="en-US" sz="800">
                          <a:effectLst/>
                        </a:rPr>
                        <a:t>Leaking or corrupting active deadlines can directly cause a missed deadline — an irreversible harm in immigration proceedings.</a:t>
                      </a:r>
                    </a:p>
                  </a:txBody>
                  <a:tcPr marL="11296" marR="11296" marT="5648" marB="5648" anchor="ctr"/>
                </a:tc>
                <a:tc>
                  <a:txBody>
                    <a:bodyPr/>
                    <a:lstStyle/>
                    <a:p>
                      <a:pPr>
                        <a:buNone/>
                      </a:pPr>
                      <a:r>
                        <a:rPr lang="en-US" sz="800">
                          <a:effectLst/>
                        </a:rPr>
                        <a:t>preset</a:t>
                      </a:r>
                    </a:p>
                  </a:txBody>
                  <a:tcPr marL="11296" marR="11296" marT="5648" marB="5648" anchor="ctr"/>
                </a:tc>
                <a:extLst>
                  <a:ext uri="{0D108BD9-81ED-4DB2-BD59-A6C34878D82A}">
                    <a16:rowId xmlns:a16="http://schemas.microsoft.com/office/drawing/2014/main" val="2871354157"/>
                  </a:ext>
                </a:extLst>
              </a:tr>
              <a:tr h="327333">
                <a:tc>
                  <a:txBody>
                    <a:bodyPr/>
                    <a:lstStyle/>
                    <a:p>
                      <a:pPr>
                        <a:buNone/>
                      </a:pPr>
                      <a:r>
                        <a:rPr lang="en-US" sz="800">
                          <a:effectLst/>
                        </a:rPr>
                        <a:t>B4</a:t>
                      </a:r>
                    </a:p>
                  </a:txBody>
                  <a:tcPr marL="11296" marR="11296" marT="5648" marB="5648" anchor="ctr"/>
                </a:tc>
                <a:tc>
                  <a:txBody>
                    <a:bodyPr/>
                    <a:lstStyle/>
                    <a:p>
                      <a:pPr>
                        <a:buNone/>
                      </a:pPr>
                      <a:r>
                        <a:rPr lang="en-US" sz="800">
                          <a:effectLst/>
                        </a:rPr>
                        <a:t>Finding involves </a:t>
                      </a:r>
                      <a:r>
                        <a:rPr lang="en-US" sz="800" b="1">
                          <a:effectLst/>
                        </a:rPr>
                        <a:t>data for pro bono or vulnerable clients</a:t>
                      </a:r>
                      <a:r>
                        <a:rPr lang="en-US" sz="800">
                          <a:effectLst/>
                        </a:rPr>
                        <a:t> where exposure could affect immigration status, employment, housing, or physical safety</a:t>
                      </a:r>
                    </a:p>
                  </a:txBody>
                  <a:tcPr marL="11296" marR="11296" marT="5648" marB="5648" anchor="ctr"/>
                </a:tc>
                <a:tc>
                  <a:txBody>
                    <a:bodyPr/>
                    <a:lstStyle/>
                    <a:p>
                      <a:pPr>
                        <a:buNone/>
                      </a:pPr>
                      <a:r>
                        <a:rPr lang="en-US" sz="800" dirty="0">
                          <a:effectLst/>
                        </a:rPr>
                        <a:t>These individuals have no recourse and face disproportionate consequences. The harm is not theoretical.</a:t>
                      </a:r>
                    </a:p>
                  </a:txBody>
                  <a:tcPr marL="11296" marR="11296" marT="5648" marB="5648" anchor="ctr"/>
                </a:tc>
                <a:tc>
                  <a:txBody>
                    <a:bodyPr/>
                    <a:lstStyle/>
                    <a:p>
                      <a:pPr>
                        <a:buNone/>
                      </a:pPr>
                      <a:r>
                        <a:rPr lang="en-US" sz="800">
                          <a:effectLst/>
                        </a:rPr>
                        <a:t>preset</a:t>
                      </a:r>
                    </a:p>
                  </a:txBody>
                  <a:tcPr marL="11296" marR="11296" marT="5648" marB="5648" anchor="ctr"/>
                </a:tc>
                <a:extLst>
                  <a:ext uri="{0D108BD9-81ED-4DB2-BD59-A6C34878D82A}">
                    <a16:rowId xmlns:a16="http://schemas.microsoft.com/office/drawing/2014/main" val="958947008"/>
                  </a:ext>
                </a:extLst>
              </a:tr>
              <a:tr h="298189">
                <a:tc>
                  <a:txBody>
                    <a:bodyPr/>
                    <a:lstStyle/>
                    <a:p>
                      <a:pPr>
                        <a:buNone/>
                      </a:pPr>
                      <a:r>
                        <a:rPr lang="en-US" sz="800">
                          <a:effectLst/>
                        </a:rPr>
                        <a:t>B5</a:t>
                      </a:r>
                    </a:p>
                  </a:txBody>
                  <a:tcPr marL="11296" marR="11296" marT="5648" marB="5648" anchor="ctr"/>
                </a:tc>
                <a:tc>
                  <a:txBody>
                    <a:bodyPr/>
                    <a:lstStyle/>
                    <a:p>
                      <a:pPr>
                        <a:buNone/>
                      </a:pPr>
                      <a:r>
                        <a:rPr lang="en-US" sz="800">
                          <a:effectLst/>
                        </a:rPr>
                        <a:t>Finding would trigger </a:t>
                      </a:r>
                      <a:r>
                        <a:rPr lang="en-US" sz="800" b="1">
                          <a:effectLst/>
                        </a:rPr>
                        <a:t>mandatory breach notification</a:t>
                      </a:r>
                      <a:r>
                        <a:rPr lang="en-US" sz="800">
                          <a:effectLst/>
                        </a:rPr>
                        <a:t> under applicable law (state privacy statutes, bar ethics reporting obligations, HIPAA-adjacent rules)</a:t>
                      </a:r>
                    </a:p>
                  </a:txBody>
                  <a:tcPr marL="11296" marR="11296" marT="5648" marB="5648" anchor="ctr"/>
                </a:tc>
                <a:tc>
                  <a:txBody>
                    <a:bodyPr/>
                    <a:lstStyle/>
                    <a:p>
                      <a:pPr>
                        <a:buNone/>
                      </a:pPr>
                      <a:r>
                        <a:rPr lang="en-US" sz="800">
                          <a:effectLst/>
                        </a:rPr>
                        <a:t>The notification and remediation cost alone, plus the reputational and bar discipline exposure, warrants Critical.</a:t>
                      </a:r>
                    </a:p>
                  </a:txBody>
                  <a:tcPr marL="11296" marR="11296" marT="5648" marB="5648" anchor="ctr"/>
                </a:tc>
                <a:tc>
                  <a:txBody>
                    <a:bodyPr/>
                    <a:lstStyle/>
                    <a:p>
                      <a:pPr>
                        <a:buNone/>
                      </a:pPr>
                      <a:r>
                        <a:rPr lang="en-US" sz="800">
                          <a:effectLst/>
                        </a:rPr>
                        <a:t>preset</a:t>
                      </a:r>
                    </a:p>
                  </a:txBody>
                  <a:tcPr marL="11296" marR="11296" marT="5648" marB="5648" anchor="ctr"/>
                </a:tc>
                <a:extLst>
                  <a:ext uri="{0D108BD9-81ED-4DB2-BD59-A6C34878D82A}">
                    <a16:rowId xmlns:a16="http://schemas.microsoft.com/office/drawing/2014/main" val="2318147870"/>
                  </a:ext>
                </a:extLst>
              </a:tr>
              <a:tr h="327333">
                <a:tc>
                  <a:txBody>
                    <a:bodyPr/>
                    <a:lstStyle/>
                    <a:p>
                      <a:pPr>
                        <a:buNone/>
                      </a:pPr>
                      <a:r>
                        <a:rPr lang="en-US" sz="800">
                          <a:effectLst/>
                        </a:rPr>
                        <a:t>B6</a:t>
                      </a:r>
                    </a:p>
                  </a:txBody>
                  <a:tcPr marL="11296" marR="11296" marT="5648" marB="5648" anchor="ctr"/>
                </a:tc>
                <a:tc>
                  <a:txBody>
                    <a:bodyPr/>
                    <a:lstStyle/>
                    <a:p>
                      <a:pPr>
                        <a:buNone/>
                      </a:pPr>
                      <a:r>
                        <a:rPr lang="en-US" sz="800">
                          <a:effectLst/>
                        </a:rPr>
                        <a:t>Finding involves </a:t>
                      </a:r>
                      <a:r>
                        <a:rPr lang="en-US" sz="800" b="1">
                          <a:effectLst/>
                        </a:rPr>
                        <a:t>data that could endanger physical safety</a:t>
                      </a:r>
                      <a:r>
                        <a:rPr lang="en-US" sz="800">
                          <a:effectLst/>
                        </a:rPr>
                        <a:t> — identity, location, or status information for individuals whose safety depends on that information staying confidential</a:t>
                      </a:r>
                    </a:p>
                  </a:txBody>
                  <a:tcPr marL="11296" marR="11296" marT="5648" marB="5648" anchor="ctr"/>
                </a:tc>
                <a:tc>
                  <a:txBody>
                    <a:bodyPr/>
                    <a:lstStyle/>
                    <a:p>
                      <a:pPr>
                        <a:buNone/>
                      </a:pPr>
                      <a:r>
                        <a:rPr lang="en-US" sz="800">
                          <a:effectLst/>
                        </a:rPr>
                        <a:t>Exposure risk to vulnerable individuals is a Critical harm regardless of how it is accessed.</a:t>
                      </a:r>
                    </a:p>
                  </a:txBody>
                  <a:tcPr marL="11296" marR="11296" marT="5648" marB="5648" anchor="ctr"/>
                </a:tc>
                <a:tc>
                  <a:txBody>
                    <a:bodyPr/>
                    <a:lstStyle/>
                    <a:p>
                      <a:pPr>
                        <a:buNone/>
                      </a:pPr>
                      <a:r>
                        <a:rPr lang="en-US" sz="800">
                          <a:effectLst/>
                        </a:rPr>
                        <a:t>preset</a:t>
                      </a:r>
                    </a:p>
                  </a:txBody>
                  <a:tcPr marL="11296" marR="11296" marT="5648" marB="5648" anchor="ctr"/>
                </a:tc>
                <a:extLst>
                  <a:ext uri="{0D108BD9-81ED-4DB2-BD59-A6C34878D82A}">
                    <a16:rowId xmlns:a16="http://schemas.microsoft.com/office/drawing/2014/main" val="1783590207"/>
                  </a:ext>
                </a:extLst>
              </a:tr>
              <a:tr h="181612">
                <a:tc>
                  <a:txBody>
                    <a:bodyPr/>
                    <a:lstStyle/>
                    <a:p>
                      <a:pPr>
                        <a:buNone/>
                      </a:pPr>
                      <a:r>
                        <a:rPr lang="en-US" sz="800">
                          <a:effectLst/>
                        </a:rPr>
                        <a:t>B7</a:t>
                      </a:r>
                    </a:p>
                  </a:txBody>
                  <a:tcPr marL="11296" marR="11296" marT="5648" marB="5648" anchor="ctr"/>
                </a:tc>
                <a:tc>
                  <a:txBody>
                    <a:bodyPr/>
                    <a:lstStyle/>
                    <a:p>
                      <a:pPr>
                        <a:buNone/>
                      </a:pPr>
                      <a:r>
                        <a:rPr lang="en-US" sz="800" dirty="0">
                          <a:effectLst/>
                        </a:rPr>
                        <a:t>Finding exposes </a:t>
                      </a:r>
                      <a:r>
                        <a:rPr lang="en-US" sz="800" b="1" dirty="0">
                          <a:effectLst/>
                        </a:rPr>
                        <a:t>any real PII committed to a static-serving directory</a:t>
                      </a:r>
                      <a:r>
                        <a:rPr lang="en-US" sz="800" dirty="0">
                          <a:effectLst/>
                        </a:rPr>
                        <a:t> (public/, </a:t>
                      </a:r>
                      <a:r>
                        <a:rPr lang="en-US" sz="800" dirty="0" err="1">
                          <a:effectLst/>
                        </a:rPr>
                        <a:t>wwwroot</a:t>
                      </a:r>
                      <a:r>
                        <a:rPr lang="en-US" sz="800" dirty="0">
                          <a:effectLst/>
                        </a:rPr>
                        <a:t>/, assets/)</a:t>
                      </a:r>
                    </a:p>
                  </a:txBody>
                  <a:tcPr marL="11296" marR="11296" marT="5648" marB="5648" anchor="ctr"/>
                </a:tc>
                <a:tc>
                  <a:txBody>
                    <a:bodyPr/>
                    <a:lstStyle/>
                    <a:p>
                      <a:pPr>
                        <a:buNone/>
                      </a:pPr>
                      <a:r>
                        <a:rPr lang="en-US" sz="800" dirty="0">
                          <a:effectLst/>
                        </a:rPr>
                        <a:t>No authentication required. Data is accessible immediately to anyone who can reach the server.</a:t>
                      </a:r>
                    </a:p>
                  </a:txBody>
                  <a:tcPr marL="11296" marR="11296" marT="5648" marB="5648" anchor="ctr"/>
                </a:tc>
                <a:tc>
                  <a:txBody>
                    <a:bodyPr/>
                    <a:lstStyle/>
                    <a:p>
                      <a:pPr>
                        <a:buNone/>
                      </a:pPr>
                      <a:r>
                        <a:rPr lang="en-US" sz="800" dirty="0">
                          <a:effectLst/>
                        </a:rPr>
                        <a:t>preset</a:t>
                      </a:r>
                    </a:p>
                  </a:txBody>
                  <a:tcPr marL="11296" marR="11296" marT="5648" marB="5648" anchor="ctr"/>
                </a:tc>
                <a:extLst>
                  <a:ext uri="{0D108BD9-81ED-4DB2-BD59-A6C34878D82A}">
                    <a16:rowId xmlns:a16="http://schemas.microsoft.com/office/drawing/2014/main" val="328183042"/>
                  </a:ext>
                </a:extLst>
              </a:tr>
            </a:tbl>
          </a:graphicData>
        </a:graphic>
      </p:graphicFrame>
      <p:sp>
        <p:nvSpPr>
          <p:cNvPr id="10" name="TextBox 9">
            <a:extLst>
              <a:ext uri="{FF2B5EF4-FFF2-40B4-BE49-F238E27FC236}">
                <a16:creationId xmlns:a16="http://schemas.microsoft.com/office/drawing/2014/main" id="{AA961F60-4383-4553-04B0-3FDF0954D0D5}"/>
              </a:ext>
            </a:extLst>
          </p:cNvPr>
          <p:cNvSpPr txBox="1"/>
          <p:nvPr/>
        </p:nvSpPr>
        <p:spPr>
          <a:xfrm>
            <a:off x="224694" y="352697"/>
            <a:ext cx="4572000" cy="307777"/>
          </a:xfrm>
          <a:prstGeom prst="rect">
            <a:avLst/>
          </a:prstGeom>
          <a:noFill/>
        </p:spPr>
        <p:txBody>
          <a:bodyPr wrap="square">
            <a:spAutoFit/>
          </a:bodyPr>
          <a:lstStyle/>
          <a:p>
            <a:pPr algn="l">
              <a:spcBef>
                <a:spcPts val="1800"/>
              </a:spcBef>
              <a:spcAft>
                <a:spcPts val="1200"/>
              </a:spcAft>
              <a:buNone/>
            </a:pPr>
            <a:r>
              <a:rPr lang="en-US" sz="1400" b="1" i="0" dirty="0">
                <a:solidFill>
                  <a:schemeClr val="accent4">
                    <a:lumMod val="75000"/>
                  </a:schemeClr>
                </a:solidFill>
                <a:effectLst/>
                <a:latin typeface="-apple-system"/>
              </a:rPr>
              <a:t>B-series triggers (Domain specific)</a:t>
            </a:r>
          </a:p>
        </p:txBody>
      </p:sp>
      <p:sp>
        <p:nvSpPr>
          <p:cNvPr id="12" name="TextBox 11">
            <a:extLst>
              <a:ext uri="{FF2B5EF4-FFF2-40B4-BE49-F238E27FC236}">
                <a16:creationId xmlns:a16="http://schemas.microsoft.com/office/drawing/2014/main" id="{FAA6DD1B-0FFC-AD6A-4597-F88B5798DFDF}"/>
              </a:ext>
            </a:extLst>
          </p:cNvPr>
          <p:cNvSpPr txBox="1"/>
          <p:nvPr/>
        </p:nvSpPr>
        <p:spPr>
          <a:xfrm>
            <a:off x="210911" y="2964086"/>
            <a:ext cx="4572000" cy="369332"/>
          </a:xfrm>
          <a:prstGeom prst="rect">
            <a:avLst/>
          </a:prstGeom>
          <a:noFill/>
        </p:spPr>
        <p:txBody>
          <a:bodyPr wrap="square">
            <a:spAutoFit/>
          </a:bodyPr>
          <a:lstStyle>
            <a:lvl1pPr>
              <a:spcBef>
                <a:spcPts val="1800"/>
              </a:spcBef>
              <a:spcAft>
                <a:spcPts val="1200"/>
              </a:spcAft>
              <a:buNone/>
              <a:defRPr sz="1400" b="1" i="0">
                <a:solidFill>
                  <a:schemeClr val="accent4">
                    <a:lumMod val="75000"/>
                  </a:schemeClr>
                </a:solidFill>
                <a:effectLst/>
                <a:latin typeface="-apple-system"/>
              </a:defRPr>
            </a:lvl1pPr>
          </a:lstStyle>
          <a:p>
            <a:r>
              <a:rPr lang="en-US" dirty="0">
                <a:solidFill>
                  <a:schemeClr val="accent1">
                    <a:lumMod val="75000"/>
                  </a:schemeClr>
                </a:solidFill>
              </a:rPr>
              <a:t>Secondary / project-specific</a:t>
            </a:r>
          </a:p>
        </p:txBody>
      </p:sp>
      <p:graphicFrame>
        <p:nvGraphicFramePr>
          <p:cNvPr id="13" name="Table 12">
            <a:extLst>
              <a:ext uri="{FF2B5EF4-FFF2-40B4-BE49-F238E27FC236}">
                <a16:creationId xmlns:a16="http://schemas.microsoft.com/office/drawing/2014/main" id="{13CE6FBC-FB78-F0D9-1285-0943CF39C05D}"/>
              </a:ext>
            </a:extLst>
          </p:cNvPr>
          <p:cNvGraphicFramePr>
            <a:graphicFrameLocks noGrp="1"/>
          </p:cNvGraphicFramePr>
          <p:nvPr/>
        </p:nvGraphicFramePr>
        <p:xfrm>
          <a:off x="278898" y="3263818"/>
          <a:ext cx="8236132" cy="1450346"/>
        </p:xfrm>
        <a:graphic>
          <a:graphicData uri="http://schemas.openxmlformats.org/drawingml/2006/table">
            <a:tbl>
              <a:tblPr>
                <a:tableStyleId>{5FD0F851-EC5A-4D38-B0AD-8093EC10F338}</a:tableStyleId>
              </a:tblPr>
              <a:tblGrid>
                <a:gridCol w="247343">
                  <a:extLst>
                    <a:ext uri="{9D8B030D-6E8A-4147-A177-3AD203B41FA5}">
                      <a16:colId xmlns:a16="http://schemas.microsoft.com/office/drawing/2014/main" val="839554736"/>
                    </a:ext>
                  </a:extLst>
                </a:gridCol>
                <a:gridCol w="3870723">
                  <a:extLst>
                    <a:ext uri="{9D8B030D-6E8A-4147-A177-3AD203B41FA5}">
                      <a16:colId xmlns:a16="http://schemas.microsoft.com/office/drawing/2014/main" val="2843338409"/>
                    </a:ext>
                  </a:extLst>
                </a:gridCol>
                <a:gridCol w="3492185">
                  <a:extLst>
                    <a:ext uri="{9D8B030D-6E8A-4147-A177-3AD203B41FA5}">
                      <a16:colId xmlns:a16="http://schemas.microsoft.com/office/drawing/2014/main" val="1925026625"/>
                    </a:ext>
                  </a:extLst>
                </a:gridCol>
                <a:gridCol w="625881">
                  <a:extLst>
                    <a:ext uri="{9D8B030D-6E8A-4147-A177-3AD203B41FA5}">
                      <a16:colId xmlns:a16="http://schemas.microsoft.com/office/drawing/2014/main" val="2026222140"/>
                    </a:ext>
                  </a:extLst>
                </a:gridCol>
              </a:tblGrid>
              <a:tr h="0">
                <a:tc>
                  <a:txBody>
                    <a:bodyPr/>
                    <a:lstStyle/>
                    <a:p>
                      <a:pPr algn="l">
                        <a:buNone/>
                      </a:pPr>
                      <a:r>
                        <a:rPr lang="en-US" sz="800" b="1">
                          <a:effectLst/>
                        </a:rPr>
                        <a:t>#</a:t>
                      </a:r>
                    </a:p>
                  </a:txBody>
                  <a:tcPr marL="21480" marR="21480" marT="10740" marB="10740" anchor="ctr"/>
                </a:tc>
                <a:tc>
                  <a:txBody>
                    <a:bodyPr/>
                    <a:lstStyle/>
                    <a:p>
                      <a:pPr marL="0" algn="l" defTabSz="914400" rtl="0" eaLnBrk="1" latinLnBrk="0" hangingPunct="1">
                        <a:buNone/>
                      </a:pPr>
                      <a:r>
                        <a:rPr lang="en-US" sz="800" b="1" kern="1200">
                          <a:solidFill>
                            <a:schemeClr val="tx1"/>
                          </a:solidFill>
                          <a:effectLst/>
                        </a:rPr>
                        <a:t>Trigger</a:t>
                      </a:r>
                      <a:endParaRPr lang="en-US" sz="800" b="1" kern="1200">
                        <a:solidFill>
                          <a:schemeClr val="tx1"/>
                        </a:solidFill>
                        <a:effectLst/>
                        <a:latin typeface="+mn-lt"/>
                        <a:ea typeface="+mn-ea"/>
                        <a:cs typeface="+mn-cs"/>
                      </a:endParaRPr>
                    </a:p>
                  </a:txBody>
                  <a:tcPr marL="21480" marR="21480" marT="10740" marB="10740" anchor="ctr"/>
                </a:tc>
                <a:tc>
                  <a:txBody>
                    <a:bodyPr/>
                    <a:lstStyle/>
                    <a:p>
                      <a:pPr algn="l">
                        <a:buNone/>
                      </a:pPr>
                      <a:r>
                        <a:rPr lang="en-US" sz="800" b="1">
                          <a:effectLst/>
                        </a:rPr>
                        <a:t>Why Critical</a:t>
                      </a:r>
                    </a:p>
                  </a:txBody>
                  <a:tcPr marL="21480" marR="21480" marT="10740" marB="10740" anchor="ctr"/>
                </a:tc>
                <a:tc>
                  <a:txBody>
                    <a:bodyPr/>
                    <a:lstStyle/>
                    <a:p>
                      <a:pPr algn="l">
                        <a:buNone/>
                      </a:pPr>
                      <a:r>
                        <a:rPr lang="en-US" sz="800" b="1" dirty="0">
                          <a:effectLst/>
                        </a:rPr>
                        <a:t>Source</a:t>
                      </a:r>
                    </a:p>
                  </a:txBody>
                  <a:tcPr marL="21480" marR="21480" marT="10740" marB="10740" anchor="ctr"/>
                </a:tc>
                <a:extLst>
                  <a:ext uri="{0D108BD9-81ED-4DB2-BD59-A6C34878D82A}">
                    <a16:rowId xmlns:a16="http://schemas.microsoft.com/office/drawing/2014/main" val="3147527361"/>
                  </a:ext>
                </a:extLst>
              </a:tr>
              <a:tr h="261559">
                <a:tc>
                  <a:txBody>
                    <a:bodyPr/>
                    <a:lstStyle/>
                    <a:p>
                      <a:pPr>
                        <a:buNone/>
                      </a:pPr>
                      <a:r>
                        <a:rPr lang="en-US" sz="800">
                          <a:effectLst/>
                        </a:rPr>
                        <a:t>B8</a:t>
                      </a:r>
                    </a:p>
                  </a:txBody>
                  <a:tcPr marL="21480" marR="21480" marT="10740" marB="10740" anchor="ctr"/>
                </a:tc>
                <a:tc>
                  <a:txBody>
                    <a:bodyPr/>
                    <a:lstStyle/>
                    <a:p>
                      <a:pPr marL="0" algn="l" defTabSz="914400" rtl="0" eaLnBrk="1" latinLnBrk="0" hangingPunct="1">
                        <a:buNone/>
                      </a:pPr>
                      <a:r>
                        <a:rPr lang="en-US" sz="800" kern="1200" dirty="0">
                          <a:solidFill>
                            <a:schemeClr val="tx1"/>
                          </a:solidFill>
                          <a:effectLst/>
                        </a:rPr>
                        <a:t>Finding exposes data flagged ITAR-restricted (</a:t>
                      </a:r>
                      <a:r>
                        <a:rPr lang="en-US" sz="800" kern="1200" dirty="0" err="1">
                          <a:solidFill>
                            <a:schemeClr val="tx1"/>
                          </a:solidFill>
                          <a:effectLst/>
                        </a:rPr>
                        <a:t>AIRestrictions</a:t>
                      </a:r>
                      <a:r>
                        <a:rPr lang="en-US" sz="800" kern="1200" dirty="0">
                          <a:solidFill>
                            <a:schemeClr val="tx1"/>
                          </a:solidFill>
                          <a:effectLst/>
                        </a:rPr>
                        <a:t> or ITAR flags in </a:t>
                      </a:r>
                      <a:r>
                        <a:rPr lang="en-US" sz="800" kern="1200" dirty="0" err="1">
                          <a:solidFill>
                            <a:schemeClr val="tx1"/>
                          </a:solidFill>
                          <a:effectLst/>
                        </a:rPr>
                        <a:t>vwIntegration</a:t>
                      </a:r>
                      <a:r>
                        <a:rPr lang="en-US" sz="800" kern="1200" dirty="0">
                          <a:solidFill>
                            <a:schemeClr val="tx1"/>
                          </a:solidFill>
                          <a:effectLst/>
                        </a:rPr>
                        <a:t>_* CRM views)</a:t>
                      </a:r>
                      <a:endParaRPr lang="en-US" sz="800" kern="1200" dirty="0">
                        <a:solidFill>
                          <a:schemeClr val="tx1"/>
                        </a:solidFill>
                        <a:effectLst/>
                        <a:latin typeface="+mn-lt"/>
                        <a:ea typeface="+mn-ea"/>
                        <a:cs typeface="+mn-cs"/>
                      </a:endParaRPr>
                    </a:p>
                  </a:txBody>
                  <a:tcPr marL="21480" marR="21480" marT="10740" marB="10740" anchor="ctr"/>
                </a:tc>
                <a:tc>
                  <a:txBody>
                    <a:bodyPr/>
                    <a:lstStyle/>
                    <a:p>
                      <a:pPr>
                        <a:buNone/>
                      </a:pPr>
                      <a:r>
                        <a:rPr lang="en-US" sz="800">
                          <a:effectLst/>
                        </a:rPr>
                        <a:t>International Traffic in Arms Regulations — export-controlled data. Violations carry criminal penalties.</a:t>
                      </a:r>
                    </a:p>
                  </a:txBody>
                  <a:tcPr marL="21480" marR="21480" marT="10740" marB="10740" anchor="ctr"/>
                </a:tc>
                <a:tc>
                  <a:txBody>
                    <a:bodyPr/>
                    <a:lstStyle/>
                    <a:p>
                      <a:pPr>
                        <a:buNone/>
                      </a:pPr>
                      <a:r>
                        <a:rPr lang="en-US" sz="800" dirty="0">
                          <a:effectLst/>
                        </a:rPr>
                        <a:t>project-specific</a:t>
                      </a:r>
                    </a:p>
                  </a:txBody>
                  <a:tcPr marL="21480" marR="21480" marT="10740" marB="10740" anchor="ctr"/>
                </a:tc>
                <a:extLst>
                  <a:ext uri="{0D108BD9-81ED-4DB2-BD59-A6C34878D82A}">
                    <a16:rowId xmlns:a16="http://schemas.microsoft.com/office/drawing/2014/main" val="1033098780"/>
                  </a:ext>
                </a:extLst>
              </a:tr>
              <a:tr h="406238">
                <a:tc>
                  <a:txBody>
                    <a:bodyPr/>
                    <a:lstStyle/>
                    <a:p>
                      <a:pPr>
                        <a:buNone/>
                      </a:pPr>
                      <a:r>
                        <a:rPr lang="en-US" sz="800">
                          <a:effectLst/>
                        </a:rPr>
                        <a:t>B9</a:t>
                      </a:r>
                    </a:p>
                  </a:txBody>
                  <a:tcPr marL="21480" marR="21480" marT="10740" marB="10740" anchor="ctr"/>
                </a:tc>
                <a:tc>
                  <a:txBody>
                    <a:bodyPr/>
                    <a:lstStyle/>
                    <a:p>
                      <a:pPr marL="0" algn="l" defTabSz="914400" rtl="0" eaLnBrk="1" latinLnBrk="0" hangingPunct="1">
                        <a:buNone/>
                      </a:pPr>
                      <a:r>
                        <a:rPr lang="en-US" sz="800" kern="1200" dirty="0">
                          <a:solidFill>
                            <a:schemeClr val="tx1"/>
                          </a:solidFill>
                          <a:effectLst/>
                        </a:rPr>
                        <a:t>Finding exposes data subject to PIPL (Personal Information Protection Law — China) for matters involving PRC-connected clients or entities (PIPL flag in CRM views)</a:t>
                      </a:r>
                      <a:endParaRPr lang="en-US" sz="800" kern="1200" dirty="0">
                        <a:solidFill>
                          <a:schemeClr val="tx1"/>
                        </a:solidFill>
                        <a:effectLst/>
                        <a:latin typeface="+mn-lt"/>
                        <a:ea typeface="+mn-ea"/>
                        <a:cs typeface="+mn-cs"/>
                      </a:endParaRPr>
                    </a:p>
                  </a:txBody>
                  <a:tcPr marL="21480" marR="21480" marT="10740" marB="10740" anchor="ctr"/>
                </a:tc>
                <a:tc>
                  <a:txBody>
                    <a:bodyPr/>
                    <a:lstStyle/>
                    <a:p>
                      <a:pPr>
                        <a:buNone/>
                      </a:pPr>
                      <a:r>
                        <a:rPr lang="en-US" sz="800">
                          <a:effectLst/>
                        </a:rPr>
                        <a:t>Chinese data-sovereignty statute with extraterritorial reach and significant penalties for cross-border transfers.</a:t>
                      </a:r>
                    </a:p>
                  </a:txBody>
                  <a:tcPr marL="21480" marR="21480" marT="10740" marB="10740" anchor="ctr"/>
                </a:tc>
                <a:tc>
                  <a:txBody>
                    <a:bodyPr/>
                    <a:lstStyle/>
                    <a:p>
                      <a:pPr>
                        <a:buNone/>
                      </a:pPr>
                      <a:r>
                        <a:rPr lang="en-US" sz="800">
                          <a:effectLst/>
                        </a:rPr>
                        <a:t>project-specific</a:t>
                      </a:r>
                    </a:p>
                  </a:txBody>
                  <a:tcPr marL="21480" marR="21480" marT="10740" marB="10740" anchor="ctr"/>
                </a:tc>
                <a:extLst>
                  <a:ext uri="{0D108BD9-81ED-4DB2-BD59-A6C34878D82A}">
                    <a16:rowId xmlns:a16="http://schemas.microsoft.com/office/drawing/2014/main" val="3380616418"/>
                  </a:ext>
                </a:extLst>
              </a:tr>
              <a:tr h="189220">
                <a:tc>
                  <a:txBody>
                    <a:bodyPr/>
                    <a:lstStyle/>
                    <a:p>
                      <a:pPr>
                        <a:buNone/>
                      </a:pPr>
                      <a:r>
                        <a:rPr lang="en-US" sz="800">
                          <a:effectLst/>
                        </a:rPr>
                        <a:t>B10</a:t>
                      </a:r>
                    </a:p>
                  </a:txBody>
                  <a:tcPr marL="21480" marR="21480" marT="10740" marB="10740" anchor="ctr"/>
                </a:tc>
                <a:tc>
                  <a:txBody>
                    <a:bodyPr/>
                    <a:lstStyle/>
                    <a:p>
                      <a:pPr marL="0" algn="l" defTabSz="914400" rtl="0" eaLnBrk="1" latinLnBrk="0" hangingPunct="1">
                        <a:buNone/>
                      </a:pPr>
                      <a:r>
                        <a:rPr lang="en-US" sz="800" kern="1200" dirty="0">
                          <a:solidFill>
                            <a:schemeClr val="tx1"/>
                          </a:solidFill>
                          <a:effectLst/>
                        </a:rPr>
                        <a:t>Finding exposes Protected Health Information (PHI) (PHI flag in CRM views)</a:t>
                      </a:r>
                      <a:endParaRPr lang="en-US" sz="800" kern="1200" dirty="0">
                        <a:solidFill>
                          <a:schemeClr val="tx1"/>
                        </a:solidFill>
                        <a:effectLst/>
                        <a:latin typeface="+mn-lt"/>
                        <a:ea typeface="+mn-ea"/>
                        <a:cs typeface="+mn-cs"/>
                      </a:endParaRPr>
                    </a:p>
                  </a:txBody>
                  <a:tcPr marL="21480" marR="21480" marT="10740" marB="10740" anchor="ctr"/>
                </a:tc>
                <a:tc>
                  <a:txBody>
                    <a:bodyPr/>
                    <a:lstStyle/>
                    <a:p>
                      <a:pPr>
                        <a:buNone/>
                      </a:pPr>
                      <a:r>
                        <a:rPr lang="en-US" sz="800" dirty="0">
                          <a:effectLst/>
                        </a:rPr>
                        <a:t>HIPAA-adjacent — health information for individuals; breach notification obligations apply.</a:t>
                      </a:r>
                    </a:p>
                  </a:txBody>
                  <a:tcPr marL="21480" marR="21480" marT="10740" marB="10740" anchor="ctr"/>
                </a:tc>
                <a:tc>
                  <a:txBody>
                    <a:bodyPr/>
                    <a:lstStyle/>
                    <a:p>
                      <a:pPr>
                        <a:buNone/>
                      </a:pPr>
                      <a:r>
                        <a:rPr lang="en-US" sz="800">
                          <a:effectLst/>
                        </a:rPr>
                        <a:t>project-specific</a:t>
                      </a:r>
                    </a:p>
                  </a:txBody>
                  <a:tcPr marL="21480" marR="21480" marT="10740" marB="10740" anchor="ctr"/>
                </a:tc>
                <a:extLst>
                  <a:ext uri="{0D108BD9-81ED-4DB2-BD59-A6C34878D82A}">
                    <a16:rowId xmlns:a16="http://schemas.microsoft.com/office/drawing/2014/main" val="4228593442"/>
                  </a:ext>
                </a:extLst>
              </a:tr>
              <a:tr h="370068">
                <a:tc>
                  <a:txBody>
                    <a:bodyPr/>
                    <a:lstStyle/>
                    <a:p>
                      <a:pPr>
                        <a:buNone/>
                      </a:pPr>
                      <a:r>
                        <a:rPr lang="en-US" sz="800">
                          <a:effectLst/>
                        </a:rPr>
                        <a:t>B11</a:t>
                      </a:r>
                    </a:p>
                  </a:txBody>
                  <a:tcPr marL="21480" marR="21480" marT="10740" marB="10740" anchor="ctr"/>
                </a:tc>
                <a:tc>
                  <a:txBody>
                    <a:bodyPr/>
                    <a:lstStyle/>
                    <a:p>
                      <a:pPr marL="0" algn="l" defTabSz="914400" rtl="0" eaLnBrk="1" latinLnBrk="0" hangingPunct="1">
                        <a:buNone/>
                      </a:pPr>
                      <a:r>
                        <a:rPr lang="en-US" sz="800" kern="1200" dirty="0">
                          <a:solidFill>
                            <a:schemeClr val="tx1"/>
                          </a:solidFill>
                          <a:effectLst/>
                        </a:rPr>
                        <a:t>Finding exposes data flagged </a:t>
                      </a:r>
                      <a:r>
                        <a:rPr lang="en-US" sz="800" kern="1200" dirty="0" err="1">
                          <a:solidFill>
                            <a:schemeClr val="tx1"/>
                          </a:solidFill>
                          <a:effectLst/>
                        </a:rPr>
                        <a:t>AIRestrictions</a:t>
                      </a:r>
                      <a:r>
                        <a:rPr lang="en-US" sz="800" kern="1200" dirty="0">
                          <a:solidFill>
                            <a:schemeClr val="tx1"/>
                          </a:solidFill>
                          <a:effectLst/>
                        </a:rPr>
                        <a:t> or </a:t>
                      </a:r>
                      <a:r>
                        <a:rPr lang="en-US" sz="800" kern="1200" dirty="0" err="1">
                          <a:solidFill>
                            <a:schemeClr val="tx1"/>
                          </a:solidFill>
                          <a:effectLst/>
                        </a:rPr>
                        <a:t>CloudDataRestrictions</a:t>
                      </a:r>
                      <a:r>
                        <a:rPr lang="en-US" sz="800" kern="1200" dirty="0">
                          <a:solidFill>
                            <a:schemeClr val="tx1"/>
                          </a:solidFill>
                          <a:effectLst/>
                        </a:rPr>
                        <a:t> in CRM views — client-matter data the client has restricted from AI processing or cloud storage</a:t>
                      </a:r>
                      <a:endParaRPr lang="en-US" sz="800" kern="1200" dirty="0">
                        <a:solidFill>
                          <a:schemeClr val="tx1"/>
                        </a:solidFill>
                        <a:effectLst/>
                        <a:latin typeface="+mn-lt"/>
                        <a:ea typeface="+mn-ea"/>
                        <a:cs typeface="+mn-cs"/>
                      </a:endParaRPr>
                    </a:p>
                  </a:txBody>
                  <a:tcPr marL="21480" marR="21480" marT="10740" marB="10740" anchor="ctr"/>
                </a:tc>
                <a:tc>
                  <a:txBody>
                    <a:bodyPr/>
                    <a:lstStyle/>
                    <a:p>
                      <a:pPr>
                        <a:buNone/>
                      </a:pPr>
                      <a:r>
                        <a:rPr lang="en-US" sz="800">
                          <a:effectLst/>
                        </a:rPr>
                        <a:t>Client-instructed data-use restrictions; violation is a breach of engagement terms and bar professional obligations.</a:t>
                      </a:r>
                    </a:p>
                  </a:txBody>
                  <a:tcPr marL="21480" marR="21480" marT="10740" marB="10740" anchor="ctr"/>
                </a:tc>
                <a:tc>
                  <a:txBody>
                    <a:bodyPr/>
                    <a:lstStyle/>
                    <a:p>
                      <a:pPr>
                        <a:buNone/>
                      </a:pPr>
                      <a:r>
                        <a:rPr lang="en-US" sz="800" dirty="0">
                          <a:effectLst/>
                        </a:rPr>
                        <a:t>project-specific</a:t>
                      </a:r>
                    </a:p>
                  </a:txBody>
                  <a:tcPr marL="21480" marR="21480" marT="10740" marB="10740" anchor="ctr"/>
                </a:tc>
                <a:extLst>
                  <a:ext uri="{0D108BD9-81ED-4DB2-BD59-A6C34878D82A}">
                    <a16:rowId xmlns:a16="http://schemas.microsoft.com/office/drawing/2014/main" val="777697244"/>
                  </a:ext>
                </a:extLst>
              </a:tr>
            </a:tbl>
          </a:graphicData>
        </a:graphic>
      </p:graphicFrame>
    </p:spTree>
    <p:extLst>
      <p:ext uri="{BB962C8B-B14F-4D97-AF65-F5344CB8AC3E}">
        <p14:creationId xmlns:p14="http://schemas.microsoft.com/office/powerpoint/2010/main" val="3267187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Governance on top</a:t>
            </a:r>
            <a:endParaRPr lang="en-US" sz="3000" dirty="0"/>
          </a:p>
        </p:txBody>
      </p:sp>
      <p:sp>
        <p:nvSpPr>
          <p:cNvPr id="3" name="Shape 1"/>
          <p:cNvSpPr/>
          <p:nvPr/>
        </p:nvSpPr>
        <p:spPr>
          <a:xfrm>
            <a:off x="457200" y="1097280"/>
            <a:ext cx="2377440" cy="1783080"/>
          </a:xfrm>
          <a:prstGeom prst="roundRect">
            <a:avLst>
              <a:gd name="adj" fmla="val 6154"/>
            </a:avLst>
          </a:prstGeom>
          <a:solidFill>
            <a:srgbClr val="EEF3F4"/>
          </a:solidFill>
          <a:ln w="12700">
            <a:solidFill>
              <a:srgbClr val="EEF3F4"/>
            </a:solidFill>
            <a:prstDash val="solid"/>
          </a:ln>
        </p:spPr>
        <p:txBody>
          <a:bodyPr/>
          <a:lstStyle/>
          <a:p>
            <a:endParaRPr lang="en-US"/>
          </a:p>
        </p:txBody>
      </p:sp>
      <p:sp>
        <p:nvSpPr>
          <p:cNvPr id="4" name="Text 2"/>
          <p:cNvSpPr txBox="1"/>
          <p:nvPr/>
        </p:nvSpPr>
        <p:spPr>
          <a:xfrm>
            <a:off x="640080" y="1188720"/>
            <a:ext cx="2011680" cy="320040"/>
          </a:xfrm>
          <a:prstGeom prst="rect">
            <a:avLst/>
          </a:prstGeom>
          <a:noFill/>
          <a:ln/>
        </p:spPr>
        <p:txBody>
          <a:bodyPr wrap="square" lIns="0" tIns="0" rIns="0" bIns="0" rtlCol="0" anchor="t"/>
          <a:lstStyle/>
          <a:p>
            <a:pPr marL="0" indent="0">
              <a:buNone/>
            </a:pPr>
            <a:r>
              <a:rPr lang="en-US" sz="1700" b="1" dirty="0">
                <a:solidFill>
                  <a:srgbClr val="1F2A30"/>
                </a:solidFill>
                <a:latin typeface="Cambria" pitchFamily="34" charset="0"/>
                <a:ea typeface="Cambria" pitchFamily="34" charset="-122"/>
                <a:cs typeface="Cambria" pitchFamily="34" charset="-120"/>
              </a:rPr>
              <a:t>ICEA</a:t>
            </a:r>
            <a:endParaRPr lang="en-US" sz="1700" dirty="0"/>
          </a:p>
        </p:txBody>
      </p:sp>
      <p:sp>
        <p:nvSpPr>
          <p:cNvPr id="5" name="Shape 3"/>
          <p:cNvSpPr/>
          <p:nvPr/>
        </p:nvSpPr>
        <p:spPr>
          <a:xfrm>
            <a:off x="640080" y="1554480"/>
            <a:ext cx="274320" cy="274320"/>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6" name="Text 4"/>
          <p:cNvSpPr txBox="1"/>
          <p:nvPr/>
        </p:nvSpPr>
        <p:spPr>
          <a:xfrm>
            <a:off x="640080" y="155448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a:t>
            </a:r>
            <a:endParaRPr lang="en-US" sz="1100" dirty="0"/>
          </a:p>
        </p:txBody>
      </p:sp>
      <p:sp>
        <p:nvSpPr>
          <p:cNvPr id="7" name="Text 5"/>
          <p:cNvSpPr txBox="1"/>
          <p:nvPr/>
        </p:nvSpPr>
        <p:spPr>
          <a:xfrm>
            <a:off x="1005840" y="1554480"/>
            <a:ext cx="1783080" cy="274320"/>
          </a:xfrm>
          <a:prstGeom prst="rect">
            <a:avLst/>
          </a:prstGeom>
          <a:noFill/>
          <a:ln/>
        </p:spPr>
        <p:txBody>
          <a:bodyPr wrap="square" lIns="0" tIns="0" rIns="0" bIns="0" rtlCol="0" anchor="ctr"/>
          <a:lstStyle/>
          <a:p>
            <a:pPr marL="0" indent="0">
              <a:buNone/>
            </a:pPr>
            <a:r>
              <a:rPr lang="en-US" sz="1200" dirty="0">
                <a:solidFill>
                  <a:srgbClr val="1F2A30"/>
                </a:solidFill>
                <a:latin typeface="Calibri" pitchFamily="34" charset="0"/>
                <a:ea typeface="Calibri" pitchFamily="34" charset="-122"/>
                <a:cs typeface="Calibri" pitchFamily="34" charset="-120"/>
              </a:rPr>
              <a:t>Intent</a:t>
            </a:r>
            <a:endParaRPr lang="en-US" sz="1200" dirty="0"/>
          </a:p>
        </p:txBody>
      </p:sp>
      <p:sp>
        <p:nvSpPr>
          <p:cNvPr id="8" name="Shape 6"/>
          <p:cNvSpPr/>
          <p:nvPr/>
        </p:nvSpPr>
        <p:spPr>
          <a:xfrm>
            <a:off x="640080" y="1883664"/>
            <a:ext cx="274320" cy="274320"/>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9" name="Text 7"/>
          <p:cNvSpPr txBox="1"/>
          <p:nvPr/>
        </p:nvSpPr>
        <p:spPr>
          <a:xfrm>
            <a:off x="640080" y="188366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0" name="Text 8"/>
          <p:cNvSpPr txBox="1"/>
          <p:nvPr/>
        </p:nvSpPr>
        <p:spPr>
          <a:xfrm>
            <a:off x="1005840" y="1883664"/>
            <a:ext cx="1783080" cy="274320"/>
          </a:xfrm>
          <a:prstGeom prst="rect">
            <a:avLst/>
          </a:prstGeom>
          <a:noFill/>
          <a:ln/>
        </p:spPr>
        <p:txBody>
          <a:bodyPr wrap="square" lIns="0" tIns="0" rIns="0" bIns="0" rtlCol="0" anchor="ctr"/>
          <a:lstStyle/>
          <a:p>
            <a:pPr marL="0" indent="0">
              <a:buNone/>
            </a:pPr>
            <a:r>
              <a:rPr lang="en-US" sz="1200" dirty="0">
                <a:solidFill>
                  <a:srgbClr val="1F2A30"/>
                </a:solidFill>
                <a:latin typeface="Calibri" pitchFamily="34" charset="0"/>
                <a:ea typeface="Calibri" pitchFamily="34" charset="-122"/>
                <a:cs typeface="Calibri" pitchFamily="34" charset="-120"/>
              </a:rPr>
              <a:t>Context</a:t>
            </a:r>
            <a:endParaRPr lang="en-US" sz="1200" dirty="0"/>
          </a:p>
        </p:txBody>
      </p:sp>
      <p:sp>
        <p:nvSpPr>
          <p:cNvPr id="11" name="Shape 9"/>
          <p:cNvSpPr/>
          <p:nvPr/>
        </p:nvSpPr>
        <p:spPr>
          <a:xfrm>
            <a:off x="640080" y="2212848"/>
            <a:ext cx="274320" cy="274320"/>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12" name="Text 10"/>
          <p:cNvSpPr txBox="1"/>
          <p:nvPr/>
        </p:nvSpPr>
        <p:spPr>
          <a:xfrm>
            <a:off x="640080" y="221284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a:t>
            </a:r>
            <a:endParaRPr lang="en-US" sz="1100" dirty="0"/>
          </a:p>
        </p:txBody>
      </p:sp>
      <p:sp>
        <p:nvSpPr>
          <p:cNvPr id="13" name="Text 11"/>
          <p:cNvSpPr txBox="1"/>
          <p:nvPr/>
        </p:nvSpPr>
        <p:spPr>
          <a:xfrm>
            <a:off x="1005840" y="2212848"/>
            <a:ext cx="1783080" cy="274320"/>
          </a:xfrm>
          <a:prstGeom prst="rect">
            <a:avLst/>
          </a:prstGeom>
          <a:noFill/>
          <a:ln/>
        </p:spPr>
        <p:txBody>
          <a:bodyPr wrap="square" lIns="0" tIns="0" rIns="0" bIns="0" rtlCol="0" anchor="ctr"/>
          <a:lstStyle/>
          <a:p>
            <a:pPr marL="0" indent="0">
              <a:buNone/>
            </a:pPr>
            <a:r>
              <a:rPr lang="en-US" sz="1200" dirty="0">
                <a:solidFill>
                  <a:srgbClr val="1F2A30"/>
                </a:solidFill>
                <a:latin typeface="Calibri" pitchFamily="34" charset="0"/>
                <a:ea typeface="Calibri" pitchFamily="34" charset="-122"/>
                <a:cs typeface="Calibri" pitchFamily="34" charset="-120"/>
              </a:rPr>
              <a:t>Examples</a:t>
            </a:r>
            <a:endParaRPr lang="en-US" sz="1200" dirty="0"/>
          </a:p>
        </p:txBody>
      </p:sp>
      <p:sp>
        <p:nvSpPr>
          <p:cNvPr id="14" name="Shape 12"/>
          <p:cNvSpPr/>
          <p:nvPr/>
        </p:nvSpPr>
        <p:spPr>
          <a:xfrm>
            <a:off x="640080" y="2542032"/>
            <a:ext cx="274320" cy="274320"/>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15" name="Text 13"/>
          <p:cNvSpPr txBox="1"/>
          <p:nvPr/>
        </p:nvSpPr>
        <p:spPr>
          <a:xfrm>
            <a:off x="640080" y="254203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6" name="Text 14"/>
          <p:cNvSpPr txBox="1"/>
          <p:nvPr/>
        </p:nvSpPr>
        <p:spPr>
          <a:xfrm>
            <a:off x="1005840" y="2542032"/>
            <a:ext cx="1783080" cy="274320"/>
          </a:xfrm>
          <a:prstGeom prst="rect">
            <a:avLst/>
          </a:prstGeom>
          <a:noFill/>
          <a:ln/>
        </p:spPr>
        <p:txBody>
          <a:bodyPr wrap="square" lIns="0" tIns="0" rIns="0" bIns="0" rtlCol="0" anchor="ctr"/>
          <a:lstStyle/>
          <a:p>
            <a:pPr marL="0" indent="0">
              <a:buNone/>
            </a:pPr>
            <a:r>
              <a:rPr lang="en-US" sz="1200" dirty="0">
                <a:solidFill>
                  <a:srgbClr val="1F2A30"/>
                </a:solidFill>
                <a:latin typeface="Calibri" pitchFamily="34" charset="0"/>
                <a:ea typeface="Calibri" pitchFamily="34" charset="-122"/>
                <a:cs typeface="Calibri" pitchFamily="34" charset="-120"/>
              </a:rPr>
              <a:t>Acceptance criteria</a:t>
            </a:r>
            <a:endParaRPr lang="en-US" sz="1200" dirty="0"/>
          </a:p>
        </p:txBody>
      </p:sp>
      <p:sp>
        <p:nvSpPr>
          <p:cNvPr id="17" name="Shape 15"/>
          <p:cNvSpPr/>
          <p:nvPr/>
        </p:nvSpPr>
        <p:spPr>
          <a:xfrm>
            <a:off x="2880360" y="1988820"/>
            <a:ext cx="365760" cy="914"/>
          </a:xfrm>
          <a:prstGeom prst="line">
            <a:avLst/>
          </a:prstGeom>
          <a:noFill/>
          <a:ln w="22225">
            <a:solidFill>
              <a:srgbClr val="4A5A63"/>
            </a:solidFill>
            <a:prstDash val="solid"/>
            <a:tailEnd type="triangle"/>
          </a:ln>
        </p:spPr>
        <p:txBody>
          <a:bodyPr/>
          <a:lstStyle/>
          <a:p>
            <a:endParaRPr lang="en-US"/>
          </a:p>
        </p:txBody>
      </p:sp>
      <p:sp>
        <p:nvSpPr>
          <p:cNvPr id="18" name="Shape 16"/>
          <p:cNvSpPr/>
          <p:nvPr/>
        </p:nvSpPr>
        <p:spPr>
          <a:xfrm>
            <a:off x="3291840" y="1097280"/>
            <a:ext cx="2103120" cy="1783080"/>
          </a:xfrm>
          <a:prstGeom prst="roundRect">
            <a:avLst>
              <a:gd name="adj" fmla="val 6154"/>
            </a:avLst>
          </a:prstGeom>
          <a:solidFill>
            <a:srgbClr val="FBEBD2"/>
          </a:solidFill>
          <a:ln w="12700">
            <a:solidFill>
              <a:srgbClr val="FBEBD2"/>
            </a:solidFill>
            <a:prstDash val="solid"/>
          </a:ln>
        </p:spPr>
        <p:txBody>
          <a:bodyPr/>
          <a:lstStyle/>
          <a:p>
            <a:endParaRPr lang="en-US"/>
          </a:p>
        </p:txBody>
      </p:sp>
      <p:sp>
        <p:nvSpPr>
          <p:cNvPr id="19" name="Shape 17"/>
          <p:cNvSpPr/>
          <p:nvPr/>
        </p:nvSpPr>
        <p:spPr>
          <a:xfrm>
            <a:off x="4050792" y="1261872"/>
            <a:ext cx="566928" cy="566928"/>
          </a:xfrm>
          <a:prstGeom prst="ellipse">
            <a:avLst/>
          </a:prstGeom>
          <a:solidFill>
            <a:srgbClr val="E9A23B"/>
          </a:solidFill>
          <a:ln w="12700">
            <a:solidFill>
              <a:srgbClr val="E9A23B"/>
            </a:solidFill>
            <a:prstDash val="solid"/>
          </a:ln>
        </p:spPr>
        <p:txBody>
          <a:bodyPr/>
          <a:lstStyle/>
          <a:p>
            <a:endParaRPr lang="en-US"/>
          </a:p>
        </p:txBody>
      </p:sp>
      <p:pic>
        <p:nvPicPr>
          <p:cNvPr id="20" name="Image 0" descr="preencoded.png"/>
          <p:cNvPicPr>
            <a:picLocks noChangeAspect="1"/>
          </p:cNvPicPr>
          <p:nvPr/>
        </p:nvPicPr>
        <p:blipFill>
          <a:blip r:embed="rId3"/>
          <a:stretch>
            <a:fillRect/>
          </a:stretch>
        </p:blipFill>
        <p:spPr>
          <a:xfrm>
            <a:off x="4192524" y="1403604"/>
            <a:ext cx="283464" cy="283464"/>
          </a:xfrm>
          <a:prstGeom prst="rect">
            <a:avLst/>
          </a:prstGeom>
        </p:spPr>
      </p:pic>
      <p:sp>
        <p:nvSpPr>
          <p:cNvPr id="21" name="Text 18"/>
          <p:cNvSpPr txBox="1"/>
          <p:nvPr/>
        </p:nvSpPr>
        <p:spPr>
          <a:xfrm>
            <a:off x="3383280" y="1920240"/>
            <a:ext cx="1920240" cy="320040"/>
          </a:xfrm>
          <a:prstGeom prst="rect">
            <a:avLst/>
          </a:prstGeom>
          <a:noFill/>
          <a:ln/>
        </p:spPr>
        <p:txBody>
          <a:bodyPr wrap="square" lIns="0" tIns="0" rIns="0" bIns="0" rtlCol="0" anchor="t"/>
          <a:lstStyle/>
          <a:p>
            <a:pPr marL="0" indent="0" algn="ctr">
              <a:buNone/>
            </a:pPr>
            <a:r>
              <a:rPr lang="en-US" sz="1500" b="1" dirty="0">
                <a:solidFill>
                  <a:srgbClr val="1F2A30"/>
                </a:solidFill>
                <a:latin typeface="Calibri" pitchFamily="34" charset="0"/>
                <a:ea typeface="Calibri" pitchFamily="34" charset="-122"/>
                <a:cs typeface="Calibri" pitchFamily="34" charset="-120"/>
              </a:rPr>
              <a:t>Write Gate</a:t>
            </a:r>
            <a:endParaRPr lang="en-US" sz="1500" dirty="0"/>
          </a:p>
        </p:txBody>
      </p:sp>
      <p:sp>
        <p:nvSpPr>
          <p:cNvPr id="22" name="Text 19"/>
          <p:cNvSpPr txBox="1"/>
          <p:nvPr/>
        </p:nvSpPr>
        <p:spPr>
          <a:xfrm>
            <a:off x="3291840" y="2240280"/>
            <a:ext cx="2057400" cy="502920"/>
          </a:xfrm>
          <a:prstGeom prst="rect">
            <a:avLst/>
          </a:prstGeom>
          <a:noFill/>
          <a:ln/>
        </p:spPr>
        <p:txBody>
          <a:bodyPr wrap="square" lIns="0" tIns="0" rIns="0" bIns="0" rtlCol="0" anchor="t"/>
          <a:lstStyle/>
          <a:p>
            <a:pPr marL="0" indent="0" algn="ctr">
              <a:buNone/>
            </a:pPr>
            <a:r>
              <a:rPr lang="en-US" sz="1100" b="1" dirty="0">
                <a:latin typeface="Calibri" pitchFamily="34" charset="0"/>
                <a:ea typeface="Calibri" pitchFamily="34" charset="-122"/>
                <a:cs typeface="Calibri" pitchFamily="34" charset="-120"/>
              </a:rPr>
              <a:t>Human In Loop</a:t>
            </a:r>
          </a:p>
          <a:p>
            <a:pPr marL="0" indent="0" algn="ctr">
              <a:buNone/>
            </a:pPr>
            <a:r>
              <a:rPr lang="en-US" sz="1100" dirty="0">
                <a:solidFill>
                  <a:srgbClr val="4A5A63"/>
                </a:solidFill>
                <a:latin typeface="Calibri" pitchFamily="34" charset="0"/>
                <a:ea typeface="Calibri" pitchFamily="34" charset="-122"/>
                <a:cs typeface="Calibri" pitchFamily="34" charset="-120"/>
              </a:rPr>
              <a:t>Holds everything until someone approves</a:t>
            </a:r>
            <a:endParaRPr lang="en-US" sz="1100" dirty="0"/>
          </a:p>
        </p:txBody>
      </p:sp>
      <p:sp>
        <p:nvSpPr>
          <p:cNvPr id="23" name="Shape 20"/>
          <p:cNvSpPr/>
          <p:nvPr/>
        </p:nvSpPr>
        <p:spPr>
          <a:xfrm>
            <a:off x="5440680" y="1988820"/>
            <a:ext cx="365760" cy="914"/>
          </a:xfrm>
          <a:prstGeom prst="line">
            <a:avLst/>
          </a:prstGeom>
          <a:noFill/>
          <a:ln w="22225">
            <a:solidFill>
              <a:srgbClr val="4A5A63"/>
            </a:solidFill>
            <a:prstDash val="solid"/>
            <a:tailEnd type="triangle"/>
          </a:ln>
        </p:spPr>
        <p:txBody>
          <a:bodyPr/>
          <a:lstStyle/>
          <a:p>
            <a:endParaRPr lang="en-US"/>
          </a:p>
        </p:txBody>
      </p:sp>
      <p:sp>
        <p:nvSpPr>
          <p:cNvPr id="24" name="Shape 21"/>
          <p:cNvSpPr/>
          <p:nvPr/>
        </p:nvSpPr>
        <p:spPr>
          <a:xfrm>
            <a:off x="5852160" y="1097280"/>
            <a:ext cx="2834640" cy="1783080"/>
          </a:xfrm>
          <a:prstGeom prst="roundRect">
            <a:avLst>
              <a:gd name="adj" fmla="val 6154"/>
            </a:avLst>
          </a:prstGeom>
          <a:solidFill>
            <a:srgbClr val="EEF3F4"/>
          </a:solidFill>
          <a:ln w="12700">
            <a:solidFill>
              <a:srgbClr val="EEF3F4"/>
            </a:solidFill>
            <a:prstDash val="solid"/>
          </a:ln>
        </p:spPr>
        <p:txBody>
          <a:bodyPr/>
          <a:lstStyle/>
          <a:p>
            <a:endParaRPr lang="en-US"/>
          </a:p>
        </p:txBody>
      </p:sp>
      <p:sp>
        <p:nvSpPr>
          <p:cNvPr id="25" name="Shape 22"/>
          <p:cNvSpPr/>
          <p:nvPr/>
        </p:nvSpPr>
        <p:spPr>
          <a:xfrm>
            <a:off x="6080760" y="1371600"/>
            <a:ext cx="457200" cy="457200"/>
          </a:xfrm>
          <a:prstGeom prst="ellipse">
            <a:avLst/>
          </a:prstGeom>
          <a:solidFill>
            <a:srgbClr val="2A9D8F"/>
          </a:solidFill>
          <a:ln w="12700">
            <a:solidFill>
              <a:srgbClr val="2A9D8F"/>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6195060" y="1485900"/>
            <a:ext cx="228600" cy="228600"/>
          </a:xfrm>
          <a:prstGeom prst="rect">
            <a:avLst/>
          </a:prstGeom>
        </p:spPr>
      </p:pic>
      <p:sp>
        <p:nvSpPr>
          <p:cNvPr id="27" name="Text 23"/>
          <p:cNvSpPr txBox="1"/>
          <p:nvPr/>
        </p:nvSpPr>
        <p:spPr>
          <a:xfrm>
            <a:off x="6675120" y="1371600"/>
            <a:ext cx="1920240" cy="45720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Every commit checked</a:t>
            </a:r>
            <a:endParaRPr lang="en-US" sz="1300" dirty="0"/>
          </a:p>
        </p:txBody>
      </p:sp>
      <p:sp>
        <p:nvSpPr>
          <p:cNvPr id="28" name="Shape 24"/>
          <p:cNvSpPr/>
          <p:nvPr/>
        </p:nvSpPr>
        <p:spPr>
          <a:xfrm>
            <a:off x="6080760" y="2103120"/>
            <a:ext cx="457200" cy="457200"/>
          </a:xfrm>
          <a:prstGeom prst="ellipse">
            <a:avLst/>
          </a:prstGeom>
          <a:solidFill>
            <a:srgbClr val="2A9D8F"/>
          </a:solidFill>
          <a:ln w="12700">
            <a:solidFill>
              <a:srgbClr val="2A9D8F"/>
            </a:solidFill>
            <a:prstDash val="solid"/>
          </a:ln>
        </p:spPr>
        <p:txBody>
          <a:bodyPr/>
          <a:lstStyle/>
          <a:p>
            <a:endParaRPr lang="en-US"/>
          </a:p>
        </p:txBody>
      </p:sp>
      <p:pic>
        <p:nvPicPr>
          <p:cNvPr id="29" name="Image 2" descr="preencoded.png"/>
          <p:cNvPicPr>
            <a:picLocks noChangeAspect="1"/>
          </p:cNvPicPr>
          <p:nvPr/>
        </p:nvPicPr>
        <p:blipFill>
          <a:blip r:embed="rId5"/>
          <a:stretch>
            <a:fillRect/>
          </a:stretch>
        </p:blipFill>
        <p:spPr>
          <a:xfrm>
            <a:off x="6195060" y="2217420"/>
            <a:ext cx="228600" cy="228600"/>
          </a:xfrm>
          <a:prstGeom prst="rect">
            <a:avLst/>
          </a:prstGeom>
        </p:spPr>
      </p:pic>
      <p:sp>
        <p:nvSpPr>
          <p:cNvPr id="30" name="Text 25"/>
          <p:cNvSpPr txBox="1"/>
          <p:nvPr/>
        </p:nvSpPr>
        <p:spPr>
          <a:xfrm>
            <a:off x="6675120" y="2103120"/>
            <a:ext cx="1920240" cy="45720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See where tokens go</a:t>
            </a:r>
            <a:endParaRPr lang="en-US" sz="1300" dirty="0"/>
          </a:p>
        </p:txBody>
      </p:sp>
      <p:sp>
        <p:nvSpPr>
          <p:cNvPr id="31" name="Shape 26"/>
          <p:cNvSpPr/>
          <p:nvPr/>
        </p:nvSpPr>
        <p:spPr>
          <a:xfrm>
            <a:off x="457200" y="3035808"/>
            <a:ext cx="1920240" cy="932688"/>
          </a:xfrm>
          <a:prstGeom prst="roundRect">
            <a:avLst>
              <a:gd name="adj" fmla="val 11765"/>
            </a:avLst>
          </a:prstGeom>
          <a:solidFill>
            <a:srgbClr val="D5EEEB"/>
          </a:solidFill>
          <a:ln w="12700">
            <a:solidFill>
              <a:srgbClr val="D5EEEB"/>
            </a:solidFill>
            <a:prstDash val="solid"/>
          </a:ln>
        </p:spPr>
        <p:txBody>
          <a:bodyPr/>
          <a:lstStyle/>
          <a:p>
            <a:endParaRPr lang="en-US"/>
          </a:p>
        </p:txBody>
      </p:sp>
      <p:pic>
        <p:nvPicPr>
          <p:cNvPr id="32" name="Image 3" descr="preencoded.png"/>
          <p:cNvPicPr>
            <a:picLocks noChangeAspect="1"/>
          </p:cNvPicPr>
          <p:nvPr/>
        </p:nvPicPr>
        <p:blipFill>
          <a:blip r:embed="rId6"/>
          <a:stretch>
            <a:fillRect/>
          </a:stretch>
        </p:blipFill>
        <p:spPr>
          <a:xfrm>
            <a:off x="594360" y="3172968"/>
            <a:ext cx="274320" cy="274320"/>
          </a:xfrm>
          <a:prstGeom prst="rect">
            <a:avLst/>
          </a:prstGeom>
        </p:spPr>
      </p:pic>
      <p:sp>
        <p:nvSpPr>
          <p:cNvPr id="33" name="Text 27"/>
          <p:cNvSpPr txBox="1"/>
          <p:nvPr/>
        </p:nvSpPr>
        <p:spPr>
          <a:xfrm>
            <a:off x="960120" y="3127248"/>
            <a:ext cx="1371600" cy="384048"/>
          </a:xfrm>
          <a:prstGeom prst="rect">
            <a:avLst/>
          </a:prstGeom>
          <a:noFill/>
          <a:ln/>
        </p:spPr>
        <p:txBody>
          <a:bodyPr wrap="square" lIns="0" tIns="0" rIns="0" bIns="0" rtlCol="0" anchor="ctr"/>
          <a:lstStyle/>
          <a:p>
            <a:pPr marL="0" indent="0">
              <a:buNone/>
            </a:pPr>
            <a:r>
              <a:rPr lang="en-US" sz="1150" b="1" dirty="0">
                <a:solidFill>
                  <a:srgbClr val="1F2A30"/>
                </a:solidFill>
                <a:latin typeface="Calibri" pitchFamily="34" charset="0"/>
                <a:ea typeface="Calibri" pitchFamily="34" charset="-122"/>
                <a:cs typeface="Calibri" pitchFamily="34" charset="-120"/>
              </a:rPr>
              <a:t>Observability</a:t>
            </a:r>
            <a:endParaRPr lang="en-US" sz="1150" dirty="0"/>
          </a:p>
        </p:txBody>
      </p:sp>
      <p:sp>
        <p:nvSpPr>
          <p:cNvPr id="34" name="Text 28"/>
          <p:cNvSpPr txBox="1"/>
          <p:nvPr/>
        </p:nvSpPr>
        <p:spPr>
          <a:xfrm>
            <a:off x="594360" y="3538728"/>
            <a:ext cx="1691640" cy="384048"/>
          </a:xfrm>
          <a:prstGeom prst="rect">
            <a:avLst/>
          </a:prstGeom>
          <a:noFill/>
          <a:ln/>
        </p:spPr>
        <p:txBody>
          <a:bodyPr wrap="square" lIns="0" tIns="0" rIns="0" bIns="0" rtlCol="0" anchor="t"/>
          <a:lstStyle/>
          <a:p>
            <a:pPr marL="0" indent="0">
              <a:buNone/>
            </a:pPr>
            <a:r>
              <a:rPr lang="en-US" sz="950" dirty="0">
                <a:solidFill>
                  <a:srgbClr val="4A5A63"/>
                </a:solidFill>
                <a:latin typeface="Calibri" pitchFamily="34" charset="0"/>
                <a:ea typeface="Calibri" pitchFamily="34" charset="-122"/>
                <a:cs typeface="Calibri" pitchFamily="34" charset="-120"/>
              </a:rPr>
              <a:t>Token and session reports</a:t>
            </a:r>
            <a:endParaRPr lang="en-US" sz="950" dirty="0"/>
          </a:p>
        </p:txBody>
      </p:sp>
      <p:sp>
        <p:nvSpPr>
          <p:cNvPr id="35" name="Shape 29"/>
          <p:cNvSpPr/>
          <p:nvPr/>
        </p:nvSpPr>
        <p:spPr>
          <a:xfrm>
            <a:off x="2560320" y="3035808"/>
            <a:ext cx="1920240" cy="932688"/>
          </a:xfrm>
          <a:prstGeom prst="roundRect">
            <a:avLst>
              <a:gd name="adj" fmla="val 11765"/>
            </a:avLst>
          </a:prstGeom>
          <a:solidFill>
            <a:srgbClr val="D5EEEB"/>
          </a:solidFill>
          <a:ln w="12700">
            <a:solidFill>
              <a:srgbClr val="D5EEEB"/>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2697480" y="3172968"/>
            <a:ext cx="274320" cy="274320"/>
          </a:xfrm>
          <a:prstGeom prst="rect">
            <a:avLst/>
          </a:prstGeom>
        </p:spPr>
      </p:pic>
      <p:sp>
        <p:nvSpPr>
          <p:cNvPr id="37" name="Text 30"/>
          <p:cNvSpPr txBox="1"/>
          <p:nvPr/>
        </p:nvSpPr>
        <p:spPr>
          <a:xfrm>
            <a:off x="3063240" y="3127248"/>
            <a:ext cx="1371600" cy="384048"/>
          </a:xfrm>
          <a:prstGeom prst="rect">
            <a:avLst/>
          </a:prstGeom>
          <a:noFill/>
          <a:ln/>
        </p:spPr>
        <p:txBody>
          <a:bodyPr wrap="square" lIns="0" tIns="0" rIns="0" bIns="0" rtlCol="0" anchor="ctr"/>
          <a:lstStyle/>
          <a:p>
            <a:pPr marL="0" indent="0">
              <a:buNone/>
            </a:pPr>
            <a:r>
              <a:rPr lang="en-US" sz="1150" b="1" dirty="0">
                <a:solidFill>
                  <a:srgbClr val="1F2A30"/>
                </a:solidFill>
                <a:latin typeface="Calibri" pitchFamily="34" charset="0"/>
                <a:ea typeface="Calibri" pitchFamily="34" charset="-122"/>
                <a:cs typeface="Calibri" pitchFamily="34" charset="-120"/>
              </a:rPr>
              <a:t>Auditability</a:t>
            </a:r>
            <a:endParaRPr lang="en-US" sz="1150" dirty="0"/>
          </a:p>
        </p:txBody>
      </p:sp>
      <p:sp>
        <p:nvSpPr>
          <p:cNvPr id="38" name="Text 31"/>
          <p:cNvSpPr txBox="1"/>
          <p:nvPr/>
        </p:nvSpPr>
        <p:spPr>
          <a:xfrm>
            <a:off x="2697480" y="3538728"/>
            <a:ext cx="1691640" cy="384048"/>
          </a:xfrm>
          <a:prstGeom prst="rect">
            <a:avLst/>
          </a:prstGeom>
          <a:noFill/>
          <a:ln/>
        </p:spPr>
        <p:txBody>
          <a:bodyPr wrap="square" lIns="0" tIns="0" rIns="0" bIns="0" rtlCol="0" anchor="t"/>
          <a:lstStyle/>
          <a:p>
            <a:pPr marL="0" indent="0">
              <a:buNone/>
            </a:pPr>
            <a:r>
              <a:rPr lang="en-US" sz="950" dirty="0">
                <a:solidFill>
                  <a:srgbClr val="4A5A63"/>
                </a:solidFill>
                <a:latin typeface="Calibri" pitchFamily="34" charset="0"/>
                <a:ea typeface="Calibri" pitchFamily="34" charset="-122"/>
                <a:cs typeface="Calibri" pitchFamily="34" charset="-120"/>
              </a:rPr>
              <a:t>Every action, approval, and design decision logged</a:t>
            </a:r>
            <a:endParaRPr lang="en-US" sz="950" dirty="0"/>
          </a:p>
        </p:txBody>
      </p:sp>
      <p:sp>
        <p:nvSpPr>
          <p:cNvPr id="39" name="Shape 32"/>
          <p:cNvSpPr/>
          <p:nvPr/>
        </p:nvSpPr>
        <p:spPr>
          <a:xfrm>
            <a:off x="4663440" y="3035808"/>
            <a:ext cx="1920240" cy="932688"/>
          </a:xfrm>
          <a:prstGeom prst="roundRect">
            <a:avLst>
              <a:gd name="adj" fmla="val 11765"/>
            </a:avLst>
          </a:prstGeom>
          <a:solidFill>
            <a:srgbClr val="D5EEEB"/>
          </a:solidFill>
          <a:ln w="12700">
            <a:solidFill>
              <a:srgbClr val="D5EEEB"/>
            </a:solidFill>
            <a:prstDash val="solid"/>
          </a:ln>
        </p:spPr>
        <p:txBody>
          <a:bodyPr/>
          <a:lstStyle/>
          <a:p>
            <a:endParaRPr lang="en-US"/>
          </a:p>
        </p:txBody>
      </p:sp>
      <p:pic>
        <p:nvPicPr>
          <p:cNvPr id="40" name="Image 5" descr="preencoded.png"/>
          <p:cNvPicPr>
            <a:picLocks noChangeAspect="1"/>
          </p:cNvPicPr>
          <p:nvPr/>
        </p:nvPicPr>
        <p:blipFill>
          <a:blip r:embed="rId8"/>
          <a:stretch>
            <a:fillRect/>
          </a:stretch>
        </p:blipFill>
        <p:spPr>
          <a:xfrm>
            <a:off x="4800600" y="3172968"/>
            <a:ext cx="274320" cy="274320"/>
          </a:xfrm>
          <a:prstGeom prst="rect">
            <a:avLst/>
          </a:prstGeom>
        </p:spPr>
      </p:pic>
      <p:sp>
        <p:nvSpPr>
          <p:cNvPr id="41" name="Text 33"/>
          <p:cNvSpPr txBox="1"/>
          <p:nvPr/>
        </p:nvSpPr>
        <p:spPr>
          <a:xfrm>
            <a:off x="5166360" y="3127248"/>
            <a:ext cx="1371600" cy="384048"/>
          </a:xfrm>
          <a:prstGeom prst="rect">
            <a:avLst/>
          </a:prstGeom>
          <a:noFill/>
          <a:ln/>
        </p:spPr>
        <p:txBody>
          <a:bodyPr wrap="square" lIns="0" tIns="0" rIns="0" bIns="0" rtlCol="0" anchor="ctr"/>
          <a:lstStyle/>
          <a:p>
            <a:pPr marL="0" indent="0">
              <a:buNone/>
            </a:pPr>
            <a:r>
              <a:rPr lang="en-US" sz="1150" b="1" dirty="0">
                <a:solidFill>
                  <a:srgbClr val="1F2A30"/>
                </a:solidFill>
                <a:latin typeface="Calibri" pitchFamily="34" charset="0"/>
                <a:ea typeface="Calibri" pitchFamily="34" charset="-122"/>
                <a:cs typeface="Calibri" pitchFamily="34" charset="-120"/>
              </a:rPr>
              <a:t>Responsible AI</a:t>
            </a:r>
            <a:endParaRPr lang="en-US" sz="1150" dirty="0"/>
          </a:p>
        </p:txBody>
      </p:sp>
      <p:sp>
        <p:nvSpPr>
          <p:cNvPr id="42" name="Text 34"/>
          <p:cNvSpPr txBox="1"/>
          <p:nvPr/>
        </p:nvSpPr>
        <p:spPr>
          <a:xfrm>
            <a:off x="4800600" y="3538728"/>
            <a:ext cx="1691640" cy="384048"/>
          </a:xfrm>
          <a:prstGeom prst="rect">
            <a:avLst/>
          </a:prstGeom>
          <a:noFill/>
          <a:ln/>
        </p:spPr>
        <p:txBody>
          <a:bodyPr wrap="square" lIns="0" tIns="0" rIns="0" bIns="0" rtlCol="0" anchor="t"/>
          <a:lstStyle/>
          <a:p>
            <a:pPr marL="0" indent="0">
              <a:buNone/>
            </a:pPr>
            <a:r>
              <a:rPr lang="en-US" sz="950" dirty="0">
                <a:solidFill>
                  <a:srgbClr val="4A5A63"/>
                </a:solidFill>
                <a:latin typeface="Calibri" pitchFamily="34" charset="0"/>
                <a:ea typeface="Calibri" pitchFamily="34" charset="-122"/>
                <a:cs typeface="Calibri" pitchFamily="34" charset="-120"/>
              </a:rPr>
              <a:t>A person approves before any code is written</a:t>
            </a:r>
            <a:endParaRPr lang="en-US" sz="950" dirty="0"/>
          </a:p>
        </p:txBody>
      </p:sp>
      <p:sp>
        <p:nvSpPr>
          <p:cNvPr id="43" name="Shape 35"/>
          <p:cNvSpPr/>
          <p:nvPr/>
        </p:nvSpPr>
        <p:spPr>
          <a:xfrm>
            <a:off x="6766560" y="3035808"/>
            <a:ext cx="1920240" cy="932688"/>
          </a:xfrm>
          <a:prstGeom prst="roundRect">
            <a:avLst>
              <a:gd name="adj" fmla="val 11765"/>
            </a:avLst>
          </a:prstGeom>
          <a:solidFill>
            <a:srgbClr val="D5EEEB"/>
          </a:solidFill>
          <a:ln w="12700">
            <a:solidFill>
              <a:srgbClr val="D5EEEB"/>
            </a:solidFill>
            <a:prstDash val="solid"/>
          </a:ln>
        </p:spPr>
        <p:txBody>
          <a:bodyPr/>
          <a:lstStyle/>
          <a:p>
            <a:endParaRPr lang="en-US"/>
          </a:p>
        </p:txBody>
      </p:sp>
      <p:pic>
        <p:nvPicPr>
          <p:cNvPr id="44" name="Image 6" descr="preencoded.png"/>
          <p:cNvPicPr>
            <a:picLocks noChangeAspect="1"/>
          </p:cNvPicPr>
          <p:nvPr/>
        </p:nvPicPr>
        <p:blipFill>
          <a:blip r:embed="rId9"/>
          <a:stretch>
            <a:fillRect/>
          </a:stretch>
        </p:blipFill>
        <p:spPr>
          <a:xfrm>
            <a:off x="6903720" y="3172968"/>
            <a:ext cx="274320" cy="274320"/>
          </a:xfrm>
          <a:prstGeom prst="rect">
            <a:avLst/>
          </a:prstGeom>
        </p:spPr>
      </p:pic>
      <p:sp>
        <p:nvSpPr>
          <p:cNvPr id="45" name="Text 36"/>
          <p:cNvSpPr txBox="1"/>
          <p:nvPr/>
        </p:nvSpPr>
        <p:spPr>
          <a:xfrm>
            <a:off x="7269480" y="3127248"/>
            <a:ext cx="1371600" cy="384048"/>
          </a:xfrm>
          <a:prstGeom prst="rect">
            <a:avLst/>
          </a:prstGeom>
          <a:noFill/>
          <a:ln/>
        </p:spPr>
        <p:txBody>
          <a:bodyPr wrap="square" lIns="0" tIns="0" rIns="0" bIns="0" rtlCol="0" anchor="ctr"/>
          <a:lstStyle/>
          <a:p>
            <a:pPr marL="0" indent="0">
              <a:buNone/>
            </a:pPr>
            <a:r>
              <a:rPr lang="en-US" sz="1150" b="1" dirty="0">
                <a:solidFill>
                  <a:srgbClr val="1F2A30"/>
                </a:solidFill>
                <a:latin typeface="Calibri" pitchFamily="34" charset="0"/>
                <a:ea typeface="Calibri" pitchFamily="34" charset="-122"/>
                <a:cs typeface="Calibri" pitchFamily="34" charset="-120"/>
              </a:rPr>
              <a:t>Self-learning, auto-optimizing memory</a:t>
            </a:r>
            <a:endParaRPr lang="en-US" sz="1150" dirty="0"/>
          </a:p>
        </p:txBody>
      </p:sp>
      <p:sp>
        <p:nvSpPr>
          <p:cNvPr id="46" name="Text 37"/>
          <p:cNvSpPr txBox="1"/>
          <p:nvPr/>
        </p:nvSpPr>
        <p:spPr>
          <a:xfrm>
            <a:off x="6903720" y="3538728"/>
            <a:ext cx="1691640" cy="384048"/>
          </a:xfrm>
          <a:prstGeom prst="rect">
            <a:avLst/>
          </a:prstGeom>
          <a:noFill/>
          <a:ln/>
        </p:spPr>
        <p:txBody>
          <a:bodyPr wrap="square" lIns="0" tIns="0" rIns="0" bIns="0" rtlCol="0" anchor="t"/>
          <a:lstStyle/>
          <a:p>
            <a:pPr marL="0" indent="0">
              <a:buNone/>
            </a:pPr>
            <a:r>
              <a:rPr lang="en-US" sz="950" dirty="0">
                <a:solidFill>
                  <a:srgbClr val="4A5A63"/>
                </a:solidFill>
                <a:latin typeface="Calibri" pitchFamily="34" charset="0"/>
                <a:ea typeface="Calibri" pitchFamily="34" charset="-122"/>
                <a:cs typeface="Calibri" pitchFamily="34" charset="-120"/>
              </a:rPr>
              <a:t>Keeps what works, fades what's stale</a:t>
            </a:r>
            <a:endParaRPr lang="en-US" sz="950" dirty="0"/>
          </a:p>
        </p:txBody>
      </p:sp>
      <p:sp>
        <p:nvSpPr>
          <p:cNvPr id="47" name="Shape 38"/>
          <p:cNvSpPr/>
          <p:nvPr/>
        </p:nvSpPr>
        <p:spPr>
          <a:xfrm>
            <a:off x="457200" y="4114800"/>
            <a:ext cx="8229600" cy="548640"/>
          </a:xfrm>
          <a:prstGeom prst="roundRect">
            <a:avLst>
              <a:gd name="adj" fmla="val 20000"/>
            </a:avLst>
          </a:prstGeom>
          <a:solidFill>
            <a:srgbClr val="1F2A30"/>
          </a:solidFill>
          <a:ln w="12700">
            <a:solidFill>
              <a:srgbClr val="1F2A30"/>
            </a:solidFill>
            <a:prstDash val="solid"/>
          </a:ln>
        </p:spPr>
        <p:txBody>
          <a:bodyPr/>
          <a:lstStyle/>
          <a:p>
            <a:endParaRPr lang="en-US"/>
          </a:p>
        </p:txBody>
      </p:sp>
      <p:sp>
        <p:nvSpPr>
          <p:cNvPr id="48" name="Text 39"/>
          <p:cNvSpPr txBox="1"/>
          <p:nvPr/>
        </p:nvSpPr>
        <p:spPr>
          <a:xfrm>
            <a:off x="685800" y="4114800"/>
            <a:ext cx="1280160" cy="548640"/>
          </a:xfrm>
          <a:prstGeom prst="rect">
            <a:avLst/>
          </a:prstGeom>
          <a:noFill/>
          <a:ln/>
        </p:spPr>
        <p:txBody>
          <a:bodyPr wrap="square" lIns="0" tIns="0" rIns="0" bIns="0" rtlCol="0" anchor="ctr"/>
          <a:lstStyle/>
          <a:p>
            <a:pPr marL="0" indent="0">
              <a:buNone/>
            </a:pPr>
            <a:r>
              <a:rPr lang="en-US" sz="1000" b="1" kern="0" spc="300" dirty="0">
                <a:solidFill>
                  <a:srgbClr val="E9A23B"/>
                </a:solidFill>
                <a:latin typeface="Calibri" pitchFamily="34" charset="0"/>
                <a:ea typeface="Calibri" pitchFamily="34" charset="-122"/>
                <a:cs typeface="Calibri" pitchFamily="34" charset="-120"/>
              </a:rPr>
              <a:t>UNDERNEATH</a:t>
            </a:r>
            <a:endParaRPr lang="en-US" sz="1000" dirty="0"/>
          </a:p>
        </p:txBody>
      </p:sp>
      <p:sp>
        <p:nvSpPr>
          <p:cNvPr id="49" name="Text 40"/>
          <p:cNvSpPr txBox="1"/>
          <p:nvPr/>
        </p:nvSpPr>
        <p:spPr>
          <a:xfrm>
            <a:off x="2011680" y="4114800"/>
            <a:ext cx="649224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Code map  ·  Architecture docs  ·  Multi-repo  ·  Memory  ·  Industry rules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AI-assisted delivery</a:t>
            </a:r>
            <a:endParaRPr lang="en-US" sz="3000" dirty="0"/>
          </a:p>
        </p:txBody>
      </p:sp>
      <p:sp>
        <p:nvSpPr>
          <p:cNvPr id="3" name="Text 1"/>
          <p:cNvSpPr txBox="1"/>
          <p:nvPr/>
        </p:nvSpPr>
        <p:spPr>
          <a:xfrm>
            <a:off x="457200" y="896112"/>
            <a:ext cx="8229600" cy="274320"/>
          </a:xfrm>
          <a:prstGeom prst="rect">
            <a:avLst/>
          </a:prstGeom>
          <a:noFill/>
          <a:ln/>
        </p:spPr>
        <p:txBody>
          <a:bodyPr wrap="square" lIns="0" tIns="0" rIns="0" bIns="0" rtlCol="0" anchor="t"/>
          <a:lstStyle/>
          <a:p>
            <a:pPr marL="0" indent="0">
              <a:buNone/>
            </a:pPr>
            <a:r>
              <a:rPr lang="en-US" sz="1300" i="1" dirty="0">
                <a:solidFill>
                  <a:srgbClr val="2A9D8F"/>
                </a:solidFill>
                <a:latin typeface="Calibri" pitchFamily="34" charset="0"/>
                <a:ea typeface="Calibri" pitchFamily="34" charset="-122"/>
                <a:cs typeface="Calibri" pitchFamily="34" charset="-120"/>
              </a:rPr>
              <a:t>Skills trigger automatically. We write the ICEA, and Guardrail handles the rest.</a:t>
            </a:r>
            <a:endParaRPr lang="en-US" sz="1300" dirty="0"/>
          </a:p>
        </p:txBody>
      </p:sp>
      <p:sp>
        <p:nvSpPr>
          <p:cNvPr id="4" name="Shape 2"/>
          <p:cNvSpPr/>
          <p:nvPr/>
        </p:nvSpPr>
        <p:spPr>
          <a:xfrm>
            <a:off x="685800" y="1527048"/>
            <a:ext cx="914" cy="3127248"/>
          </a:xfrm>
          <a:prstGeom prst="line">
            <a:avLst/>
          </a:prstGeom>
          <a:noFill/>
          <a:ln w="25400">
            <a:solidFill>
              <a:srgbClr val="C9D3D7"/>
            </a:solidFill>
            <a:prstDash val="solid"/>
          </a:ln>
        </p:spPr>
        <p:txBody>
          <a:bodyPr/>
          <a:lstStyle/>
          <a:p>
            <a:endParaRPr lang="en-US"/>
          </a:p>
        </p:txBody>
      </p:sp>
      <p:sp>
        <p:nvSpPr>
          <p:cNvPr id="5" name="Shape 3"/>
          <p:cNvSpPr/>
          <p:nvPr/>
        </p:nvSpPr>
        <p:spPr>
          <a:xfrm>
            <a:off x="960120" y="1298448"/>
            <a:ext cx="7726680" cy="457200"/>
          </a:xfrm>
          <a:prstGeom prst="roundRect">
            <a:avLst>
              <a:gd name="adj" fmla="val 24000"/>
            </a:avLst>
          </a:prstGeom>
          <a:solidFill>
            <a:srgbClr val="FBEBD2"/>
          </a:solidFill>
          <a:ln w="12700">
            <a:solidFill>
              <a:srgbClr val="FBEBD2"/>
            </a:solidFill>
            <a:prstDash val="solid"/>
          </a:ln>
        </p:spPr>
        <p:txBody>
          <a:bodyPr/>
          <a:lstStyle/>
          <a:p>
            <a:endParaRPr lang="en-US"/>
          </a:p>
        </p:txBody>
      </p:sp>
      <p:sp>
        <p:nvSpPr>
          <p:cNvPr id="6" name="Shape 4"/>
          <p:cNvSpPr/>
          <p:nvPr/>
        </p:nvSpPr>
        <p:spPr>
          <a:xfrm>
            <a:off x="502920" y="1344168"/>
            <a:ext cx="365760" cy="365760"/>
          </a:xfrm>
          <a:prstGeom prst="ellipse">
            <a:avLst/>
          </a:prstGeom>
          <a:solidFill>
            <a:srgbClr val="E9A23B"/>
          </a:solidFill>
          <a:ln w="12700">
            <a:solidFill>
              <a:srgbClr val="E9A23B"/>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94360" y="1435608"/>
            <a:ext cx="182880" cy="182880"/>
          </a:xfrm>
          <a:prstGeom prst="rect">
            <a:avLst/>
          </a:prstGeom>
        </p:spPr>
      </p:pic>
      <p:sp>
        <p:nvSpPr>
          <p:cNvPr id="8" name="Text 5"/>
          <p:cNvSpPr txBox="1"/>
          <p:nvPr/>
        </p:nvSpPr>
        <p:spPr>
          <a:xfrm>
            <a:off x="1143000" y="1298448"/>
            <a:ext cx="1737360" cy="45720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Feature described</a:t>
            </a:r>
            <a:endParaRPr lang="en-US" sz="1300" dirty="0"/>
          </a:p>
        </p:txBody>
      </p:sp>
      <p:sp>
        <p:nvSpPr>
          <p:cNvPr id="9" name="Shape 6"/>
          <p:cNvSpPr/>
          <p:nvPr/>
        </p:nvSpPr>
        <p:spPr>
          <a:xfrm>
            <a:off x="2926080" y="1380744"/>
            <a:ext cx="1600200" cy="292608"/>
          </a:xfrm>
          <a:prstGeom prst="roundRect">
            <a:avLst>
              <a:gd name="adj" fmla="val 18750"/>
            </a:avLst>
          </a:prstGeom>
          <a:solidFill>
            <a:srgbClr val="E9A23B"/>
          </a:solidFill>
          <a:ln w="12700">
            <a:solidFill>
              <a:srgbClr val="E9A23B"/>
            </a:solidFill>
            <a:prstDash val="solid"/>
          </a:ln>
        </p:spPr>
        <p:txBody>
          <a:bodyPr/>
          <a:lstStyle/>
          <a:p>
            <a:endParaRPr lang="en-US"/>
          </a:p>
        </p:txBody>
      </p:sp>
      <p:sp>
        <p:nvSpPr>
          <p:cNvPr id="10" name="Text 7"/>
          <p:cNvSpPr txBox="1"/>
          <p:nvPr/>
        </p:nvSpPr>
        <p:spPr>
          <a:xfrm>
            <a:off x="2926080" y="1380744"/>
            <a:ext cx="1600200" cy="292608"/>
          </a:xfrm>
          <a:prstGeom prst="rect">
            <a:avLst/>
          </a:prstGeom>
          <a:noFill/>
          <a:ln/>
        </p:spPr>
        <p:txBody>
          <a:bodyPr wrap="square" lIns="0" tIns="0" rIns="0" bIns="0" rtlCol="0" anchor="ctr"/>
          <a:lstStyle/>
          <a:p>
            <a:pPr marL="0" indent="0" algn="ctr">
              <a:buNone/>
            </a:pPr>
            <a:r>
              <a:rPr lang="en-US" sz="1100" b="1" dirty="0">
                <a:solidFill>
                  <a:srgbClr val="1F2A30"/>
                </a:solidFill>
                <a:latin typeface="Courier New" pitchFamily="34" charset="0"/>
                <a:ea typeface="Courier New" pitchFamily="34" charset="-122"/>
                <a:cs typeface="Courier New" pitchFamily="34" charset="-120"/>
              </a:rPr>
              <a:t>icea-feature</a:t>
            </a:r>
            <a:endParaRPr lang="en-US" sz="1100" dirty="0"/>
          </a:p>
        </p:txBody>
      </p:sp>
      <p:sp>
        <p:nvSpPr>
          <p:cNvPr id="11" name="Text 8"/>
          <p:cNvSpPr txBox="1"/>
          <p:nvPr/>
        </p:nvSpPr>
        <p:spPr>
          <a:xfrm>
            <a:off x="4709160" y="1298448"/>
            <a:ext cx="3886200" cy="457200"/>
          </a:xfrm>
          <a:prstGeom prst="rect">
            <a:avLst/>
          </a:prstGeom>
          <a:noFill/>
          <a:ln/>
        </p:spPr>
        <p:txBody>
          <a:bodyPr wrap="square" lIns="0" tIns="0" rIns="0" bIns="0" rtlCol="0" anchor="ctr"/>
          <a:lstStyle/>
          <a:p>
            <a:pPr marL="0" indent="0">
              <a:buNone/>
            </a:pPr>
            <a:r>
              <a:rPr lang="en-US" sz="1150" dirty="0">
                <a:solidFill>
                  <a:srgbClr val="4A5A63"/>
                </a:solidFill>
                <a:latin typeface="Calibri" pitchFamily="34" charset="0"/>
                <a:ea typeface="Calibri" pitchFamily="34" charset="-122"/>
                <a:cs typeface="Calibri" pitchFamily="34" charset="-120"/>
              </a:rPr>
              <a:t>ICEA drafted, gaps flagged, then approved by the developer</a:t>
            </a:r>
            <a:endParaRPr lang="en-US" sz="1150" dirty="0"/>
          </a:p>
        </p:txBody>
      </p:sp>
      <p:sp>
        <p:nvSpPr>
          <p:cNvPr id="12" name="Shape 9"/>
          <p:cNvSpPr/>
          <p:nvPr/>
        </p:nvSpPr>
        <p:spPr>
          <a:xfrm>
            <a:off x="960120" y="1819656"/>
            <a:ext cx="7726680" cy="457200"/>
          </a:xfrm>
          <a:prstGeom prst="roundRect">
            <a:avLst>
              <a:gd name="adj" fmla="val 24000"/>
            </a:avLst>
          </a:prstGeom>
          <a:solidFill>
            <a:srgbClr val="EEF3F4"/>
          </a:solidFill>
          <a:ln w="12700">
            <a:solidFill>
              <a:srgbClr val="EEF3F4"/>
            </a:solidFill>
            <a:prstDash val="solid"/>
          </a:ln>
        </p:spPr>
        <p:txBody>
          <a:bodyPr/>
          <a:lstStyle/>
          <a:p>
            <a:endParaRPr lang="en-US"/>
          </a:p>
        </p:txBody>
      </p:sp>
      <p:sp>
        <p:nvSpPr>
          <p:cNvPr id="13" name="Shape 10"/>
          <p:cNvSpPr/>
          <p:nvPr/>
        </p:nvSpPr>
        <p:spPr>
          <a:xfrm>
            <a:off x="502920" y="1865376"/>
            <a:ext cx="365760" cy="365760"/>
          </a:xfrm>
          <a:prstGeom prst="ellipse">
            <a:avLst/>
          </a:prstGeom>
          <a:solidFill>
            <a:srgbClr val="2A9D8F"/>
          </a:solidFill>
          <a:ln w="12700">
            <a:solidFill>
              <a:srgbClr val="2A9D8F"/>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594360" y="1956816"/>
            <a:ext cx="182880" cy="182880"/>
          </a:xfrm>
          <a:prstGeom prst="rect">
            <a:avLst/>
          </a:prstGeom>
        </p:spPr>
      </p:pic>
      <p:sp>
        <p:nvSpPr>
          <p:cNvPr id="15" name="Text 11"/>
          <p:cNvSpPr txBox="1"/>
          <p:nvPr/>
        </p:nvSpPr>
        <p:spPr>
          <a:xfrm>
            <a:off x="1143000" y="1819656"/>
            <a:ext cx="1737360" cy="45720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Story broken down</a:t>
            </a:r>
            <a:endParaRPr lang="en-US" sz="1300" dirty="0"/>
          </a:p>
        </p:txBody>
      </p:sp>
      <p:sp>
        <p:nvSpPr>
          <p:cNvPr id="16" name="Shape 12"/>
          <p:cNvSpPr/>
          <p:nvPr/>
        </p:nvSpPr>
        <p:spPr>
          <a:xfrm>
            <a:off x="2926080" y="1901952"/>
            <a:ext cx="1600200" cy="292608"/>
          </a:xfrm>
          <a:prstGeom prst="roundRect">
            <a:avLst>
              <a:gd name="adj" fmla="val 18750"/>
            </a:avLst>
          </a:prstGeom>
          <a:solidFill>
            <a:srgbClr val="2A9D8F"/>
          </a:solidFill>
          <a:ln w="12700">
            <a:solidFill>
              <a:srgbClr val="2A9D8F"/>
            </a:solidFill>
            <a:prstDash val="solid"/>
          </a:ln>
        </p:spPr>
        <p:txBody>
          <a:bodyPr/>
          <a:lstStyle/>
          <a:p>
            <a:endParaRPr lang="en-US"/>
          </a:p>
        </p:txBody>
      </p:sp>
      <p:sp>
        <p:nvSpPr>
          <p:cNvPr id="17" name="Text 13"/>
          <p:cNvSpPr txBox="1"/>
          <p:nvPr/>
        </p:nvSpPr>
        <p:spPr>
          <a:xfrm>
            <a:off x="2926080" y="1901952"/>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ado-tasks</a:t>
            </a:r>
            <a:endParaRPr lang="en-US" sz="1100" dirty="0"/>
          </a:p>
        </p:txBody>
      </p:sp>
      <p:sp>
        <p:nvSpPr>
          <p:cNvPr id="18" name="Text 14"/>
          <p:cNvSpPr txBox="1"/>
          <p:nvPr/>
        </p:nvSpPr>
        <p:spPr>
          <a:xfrm>
            <a:off x="4709160" y="1819656"/>
            <a:ext cx="3886200" cy="457200"/>
          </a:xfrm>
          <a:prstGeom prst="rect">
            <a:avLst/>
          </a:prstGeom>
          <a:noFill/>
          <a:ln/>
        </p:spPr>
        <p:txBody>
          <a:bodyPr wrap="square" lIns="0" tIns="0" rIns="0" bIns="0" rtlCol="0" anchor="ctr"/>
          <a:lstStyle/>
          <a:p>
            <a:pPr marL="0" indent="0">
              <a:buNone/>
            </a:pPr>
            <a:r>
              <a:rPr lang="en-US" sz="1150" dirty="0">
                <a:solidFill>
                  <a:srgbClr val="4A5A63"/>
                </a:solidFill>
                <a:latin typeface="Calibri" pitchFamily="34" charset="0"/>
                <a:ea typeface="Calibri" pitchFamily="34" charset="-122"/>
                <a:cs typeface="Calibri" pitchFamily="34" charset="-120"/>
              </a:rPr>
              <a:t>ADO tasks created for each layer, with estimates</a:t>
            </a:r>
            <a:endParaRPr lang="en-US" sz="1150" dirty="0"/>
          </a:p>
        </p:txBody>
      </p:sp>
      <p:sp>
        <p:nvSpPr>
          <p:cNvPr id="19" name="Shape 15"/>
          <p:cNvSpPr/>
          <p:nvPr/>
        </p:nvSpPr>
        <p:spPr>
          <a:xfrm>
            <a:off x="960120" y="2340864"/>
            <a:ext cx="7726680" cy="457200"/>
          </a:xfrm>
          <a:prstGeom prst="roundRect">
            <a:avLst>
              <a:gd name="adj" fmla="val 24000"/>
            </a:avLst>
          </a:prstGeom>
          <a:solidFill>
            <a:srgbClr val="EEF3F4"/>
          </a:solidFill>
          <a:ln w="12700">
            <a:solidFill>
              <a:srgbClr val="EEF3F4"/>
            </a:solidFill>
            <a:prstDash val="solid"/>
          </a:ln>
        </p:spPr>
        <p:txBody>
          <a:bodyPr/>
          <a:lstStyle/>
          <a:p>
            <a:endParaRPr lang="en-US"/>
          </a:p>
        </p:txBody>
      </p:sp>
      <p:sp>
        <p:nvSpPr>
          <p:cNvPr id="20" name="Shape 16"/>
          <p:cNvSpPr/>
          <p:nvPr/>
        </p:nvSpPr>
        <p:spPr>
          <a:xfrm>
            <a:off x="502920" y="2386584"/>
            <a:ext cx="365760" cy="365760"/>
          </a:xfrm>
          <a:prstGeom prst="ellipse">
            <a:avLst/>
          </a:prstGeom>
          <a:solidFill>
            <a:srgbClr val="4A5A63"/>
          </a:solidFill>
          <a:ln w="12700">
            <a:solidFill>
              <a:srgbClr val="4A5A63"/>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594360" y="2478024"/>
            <a:ext cx="182880" cy="182880"/>
          </a:xfrm>
          <a:prstGeom prst="rect">
            <a:avLst/>
          </a:prstGeom>
        </p:spPr>
      </p:pic>
      <p:sp>
        <p:nvSpPr>
          <p:cNvPr id="22" name="Text 17"/>
          <p:cNvSpPr txBox="1"/>
          <p:nvPr/>
        </p:nvSpPr>
        <p:spPr>
          <a:xfrm>
            <a:off x="1143000" y="2340864"/>
            <a:ext cx="1737360" cy="45720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Code written</a:t>
            </a:r>
            <a:endParaRPr lang="en-US" sz="1300" dirty="0"/>
          </a:p>
        </p:txBody>
      </p:sp>
      <p:sp>
        <p:nvSpPr>
          <p:cNvPr id="23" name="Shape 18"/>
          <p:cNvSpPr/>
          <p:nvPr/>
        </p:nvSpPr>
        <p:spPr>
          <a:xfrm>
            <a:off x="2926080" y="2423160"/>
            <a:ext cx="1600200" cy="292608"/>
          </a:xfrm>
          <a:prstGeom prst="roundRect">
            <a:avLst>
              <a:gd name="adj" fmla="val 18750"/>
            </a:avLst>
          </a:prstGeom>
          <a:solidFill>
            <a:srgbClr val="4A5A63"/>
          </a:solidFill>
          <a:ln w="12700">
            <a:solidFill>
              <a:srgbClr val="4A5A63"/>
            </a:solidFill>
            <a:prstDash val="solid"/>
          </a:ln>
        </p:spPr>
        <p:txBody>
          <a:bodyPr/>
          <a:lstStyle/>
          <a:p>
            <a:endParaRPr lang="en-US"/>
          </a:p>
        </p:txBody>
      </p:sp>
      <p:sp>
        <p:nvSpPr>
          <p:cNvPr id="24" name="Text 19"/>
          <p:cNvSpPr txBox="1"/>
          <p:nvPr/>
        </p:nvSpPr>
        <p:spPr>
          <a:xfrm>
            <a:off x="2926080" y="2423160"/>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(dev builds)</a:t>
            </a:r>
            <a:endParaRPr lang="en-US" sz="1100" dirty="0"/>
          </a:p>
        </p:txBody>
      </p:sp>
      <p:sp>
        <p:nvSpPr>
          <p:cNvPr id="25" name="Text 20"/>
          <p:cNvSpPr txBox="1"/>
          <p:nvPr/>
        </p:nvSpPr>
        <p:spPr>
          <a:xfrm>
            <a:off x="4709160" y="2340864"/>
            <a:ext cx="3886200" cy="457200"/>
          </a:xfrm>
          <a:prstGeom prst="rect">
            <a:avLst/>
          </a:prstGeom>
          <a:noFill/>
          <a:ln/>
        </p:spPr>
        <p:txBody>
          <a:bodyPr wrap="square" lIns="0" tIns="0" rIns="0" bIns="0" rtlCol="0" anchor="ctr"/>
          <a:lstStyle/>
          <a:p>
            <a:pPr marL="0" indent="0">
              <a:buNone/>
            </a:pPr>
            <a:r>
              <a:rPr lang="en-US" sz="1150" dirty="0">
                <a:solidFill>
                  <a:srgbClr val="4A5A63"/>
                </a:solidFill>
                <a:latin typeface="Calibri" pitchFamily="34" charset="0"/>
                <a:ea typeface="Calibri" pitchFamily="34" charset="-122"/>
                <a:cs typeface="Calibri" pitchFamily="34" charset="-120"/>
              </a:rPr>
              <a:t>Stack rules enforce conventions as files are touched</a:t>
            </a:r>
            <a:endParaRPr lang="en-US" sz="1150" dirty="0"/>
          </a:p>
        </p:txBody>
      </p:sp>
      <p:sp>
        <p:nvSpPr>
          <p:cNvPr id="26" name="Shape 21"/>
          <p:cNvSpPr/>
          <p:nvPr/>
        </p:nvSpPr>
        <p:spPr>
          <a:xfrm>
            <a:off x="960120" y="2862072"/>
            <a:ext cx="7726680" cy="457200"/>
          </a:xfrm>
          <a:prstGeom prst="roundRect">
            <a:avLst>
              <a:gd name="adj" fmla="val 24000"/>
            </a:avLst>
          </a:prstGeom>
          <a:solidFill>
            <a:srgbClr val="EEF3F4"/>
          </a:solidFill>
          <a:ln w="12700">
            <a:solidFill>
              <a:srgbClr val="EEF3F4"/>
            </a:solidFill>
            <a:prstDash val="solid"/>
          </a:ln>
        </p:spPr>
        <p:txBody>
          <a:bodyPr/>
          <a:lstStyle/>
          <a:p>
            <a:endParaRPr lang="en-US"/>
          </a:p>
        </p:txBody>
      </p:sp>
      <p:sp>
        <p:nvSpPr>
          <p:cNvPr id="27" name="Shape 22"/>
          <p:cNvSpPr/>
          <p:nvPr/>
        </p:nvSpPr>
        <p:spPr>
          <a:xfrm>
            <a:off x="502920" y="2907792"/>
            <a:ext cx="365760" cy="365760"/>
          </a:xfrm>
          <a:prstGeom prst="ellipse">
            <a:avLst/>
          </a:prstGeom>
          <a:solidFill>
            <a:srgbClr val="2A9D8F"/>
          </a:solidFill>
          <a:ln w="12700">
            <a:solidFill>
              <a:srgbClr val="2A9D8F"/>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594360" y="2999232"/>
            <a:ext cx="182880" cy="182880"/>
          </a:xfrm>
          <a:prstGeom prst="rect">
            <a:avLst/>
          </a:prstGeom>
        </p:spPr>
      </p:pic>
      <p:sp>
        <p:nvSpPr>
          <p:cNvPr id="29" name="Text 23"/>
          <p:cNvSpPr txBox="1"/>
          <p:nvPr/>
        </p:nvSpPr>
        <p:spPr>
          <a:xfrm>
            <a:off x="1143000" y="2862072"/>
            <a:ext cx="1737360" cy="45720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Self-review</a:t>
            </a:r>
            <a:endParaRPr lang="en-US" sz="1300" dirty="0"/>
          </a:p>
        </p:txBody>
      </p:sp>
      <p:sp>
        <p:nvSpPr>
          <p:cNvPr id="30" name="Shape 24"/>
          <p:cNvSpPr/>
          <p:nvPr/>
        </p:nvSpPr>
        <p:spPr>
          <a:xfrm>
            <a:off x="2926080" y="2944368"/>
            <a:ext cx="1600200" cy="292608"/>
          </a:xfrm>
          <a:prstGeom prst="roundRect">
            <a:avLst>
              <a:gd name="adj" fmla="val 18750"/>
            </a:avLst>
          </a:prstGeom>
          <a:solidFill>
            <a:srgbClr val="2A9D8F"/>
          </a:solidFill>
          <a:ln w="12700">
            <a:solidFill>
              <a:srgbClr val="2A9D8F"/>
            </a:solidFill>
            <a:prstDash val="solid"/>
          </a:ln>
        </p:spPr>
        <p:txBody>
          <a:bodyPr/>
          <a:lstStyle/>
          <a:p>
            <a:endParaRPr lang="en-US"/>
          </a:p>
        </p:txBody>
      </p:sp>
      <p:sp>
        <p:nvSpPr>
          <p:cNvPr id="31" name="Text 25"/>
          <p:cNvSpPr txBox="1"/>
          <p:nvPr/>
        </p:nvSpPr>
        <p:spPr>
          <a:xfrm>
            <a:off x="2926080" y="2944368"/>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icea-review</a:t>
            </a:r>
            <a:endParaRPr lang="en-US" sz="1100" dirty="0"/>
          </a:p>
        </p:txBody>
      </p:sp>
      <p:sp>
        <p:nvSpPr>
          <p:cNvPr id="32" name="Text 26"/>
          <p:cNvSpPr txBox="1"/>
          <p:nvPr/>
        </p:nvSpPr>
        <p:spPr>
          <a:xfrm>
            <a:off x="4709160" y="2862072"/>
            <a:ext cx="3886200" cy="457200"/>
          </a:xfrm>
          <a:prstGeom prst="rect">
            <a:avLst/>
          </a:prstGeom>
          <a:noFill/>
          <a:ln/>
        </p:spPr>
        <p:txBody>
          <a:bodyPr wrap="square" lIns="0" tIns="0" rIns="0" bIns="0" rtlCol="0" anchor="ctr"/>
          <a:lstStyle/>
          <a:p>
            <a:pPr marL="0" indent="0">
              <a:buNone/>
            </a:pPr>
            <a:r>
              <a:rPr lang="en-US" sz="1150" dirty="0">
                <a:solidFill>
                  <a:srgbClr val="4A5A63"/>
                </a:solidFill>
                <a:latin typeface="Calibri" pitchFamily="34" charset="0"/>
                <a:ea typeface="Calibri" pitchFamily="34" charset="-122"/>
                <a:cs typeface="Calibri" pitchFamily="34" charset="-120"/>
              </a:rPr>
              <a:t>7-check pass/fail report before asking for human review</a:t>
            </a:r>
            <a:endParaRPr lang="en-US" sz="1150" dirty="0"/>
          </a:p>
        </p:txBody>
      </p:sp>
      <p:sp>
        <p:nvSpPr>
          <p:cNvPr id="33" name="Shape 27"/>
          <p:cNvSpPr/>
          <p:nvPr/>
        </p:nvSpPr>
        <p:spPr>
          <a:xfrm>
            <a:off x="960120" y="3383280"/>
            <a:ext cx="7726680" cy="457200"/>
          </a:xfrm>
          <a:prstGeom prst="roundRect">
            <a:avLst>
              <a:gd name="adj" fmla="val 24000"/>
            </a:avLst>
          </a:prstGeom>
          <a:solidFill>
            <a:srgbClr val="EEF3F4"/>
          </a:solidFill>
          <a:ln w="12700">
            <a:solidFill>
              <a:srgbClr val="EEF3F4"/>
            </a:solidFill>
            <a:prstDash val="solid"/>
          </a:ln>
        </p:spPr>
        <p:txBody>
          <a:bodyPr/>
          <a:lstStyle/>
          <a:p>
            <a:endParaRPr lang="en-US"/>
          </a:p>
        </p:txBody>
      </p:sp>
      <p:sp>
        <p:nvSpPr>
          <p:cNvPr id="34" name="Shape 28"/>
          <p:cNvSpPr/>
          <p:nvPr/>
        </p:nvSpPr>
        <p:spPr>
          <a:xfrm>
            <a:off x="502920" y="3429000"/>
            <a:ext cx="365760" cy="365760"/>
          </a:xfrm>
          <a:prstGeom prst="ellipse">
            <a:avLst/>
          </a:prstGeom>
          <a:solidFill>
            <a:srgbClr val="2A9D8F"/>
          </a:solidFill>
          <a:ln w="12700">
            <a:solidFill>
              <a:srgbClr val="2A9D8F"/>
            </a:solidFill>
            <a:prstDash val="solid"/>
          </a:ln>
        </p:spPr>
        <p:txBody>
          <a:bodyPr/>
          <a:lstStyle/>
          <a:p>
            <a:endParaRPr lang="en-US"/>
          </a:p>
        </p:txBody>
      </p:sp>
      <p:pic>
        <p:nvPicPr>
          <p:cNvPr id="35" name="Image 4" descr="preencoded.png"/>
          <p:cNvPicPr>
            <a:picLocks noChangeAspect="1"/>
          </p:cNvPicPr>
          <p:nvPr/>
        </p:nvPicPr>
        <p:blipFill>
          <a:blip r:embed="rId7"/>
          <a:stretch>
            <a:fillRect/>
          </a:stretch>
        </p:blipFill>
        <p:spPr>
          <a:xfrm>
            <a:off x="594360" y="3520440"/>
            <a:ext cx="182880" cy="182880"/>
          </a:xfrm>
          <a:prstGeom prst="rect">
            <a:avLst/>
          </a:prstGeom>
        </p:spPr>
      </p:pic>
      <p:sp>
        <p:nvSpPr>
          <p:cNvPr id="36" name="Text 29"/>
          <p:cNvSpPr txBox="1"/>
          <p:nvPr/>
        </p:nvSpPr>
        <p:spPr>
          <a:xfrm>
            <a:off x="1143000" y="3383280"/>
            <a:ext cx="1737360" cy="45720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PR raised</a:t>
            </a:r>
            <a:endParaRPr lang="en-US" sz="1300" dirty="0"/>
          </a:p>
        </p:txBody>
      </p:sp>
      <p:sp>
        <p:nvSpPr>
          <p:cNvPr id="37" name="Shape 30"/>
          <p:cNvSpPr/>
          <p:nvPr/>
        </p:nvSpPr>
        <p:spPr>
          <a:xfrm>
            <a:off x="2926080" y="3465576"/>
            <a:ext cx="1600200" cy="292608"/>
          </a:xfrm>
          <a:prstGeom prst="roundRect">
            <a:avLst>
              <a:gd name="adj" fmla="val 18750"/>
            </a:avLst>
          </a:prstGeom>
          <a:solidFill>
            <a:srgbClr val="2A9D8F"/>
          </a:solidFill>
          <a:ln w="12700">
            <a:solidFill>
              <a:srgbClr val="2A9D8F"/>
            </a:solidFill>
            <a:prstDash val="solid"/>
          </a:ln>
        </p:spPr>
        <p:txBody>
          <a:bodyPr/>
          <a:lstStyle/>
          <a:p>
            <a:endParaRPr lang="en-US"/>
          </a:p>
        </p:txBody>
      </p:sp>
      <p:sp>
        <p:nvSpPr>
          <p:cNvPr id="38" name="Text 31"/>
          <p:cNvSpPr txBox="1"/>
          <p:nvPr/>
        </p:nvSpPr>
        <p:spPr>
          <a:xfrm>
            <a:off x="2926080" y="3465576"/>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pr-describe</a:t>
            </a:r>
            <a:endParaRPr lang="en-US" sz="1100" dirty="0"/>
          </a:p>
        </p:txBody>
      </p:sp>
      <p:sp>
        <p:nvSpPr>
          <p:cNvPr id="39" name="Text 32"/>
          <p:cNvSpPr txBox="1"/>
          <p:nvPr/>
        </p:nvSpPr>
        <p:spPr>
          <a:xfrm>
            <a:off x="4709160" y="3383280"/>
            <a:ext cx="3886200" cy="457200"/>
          </a:xfrm>
          <a:prstGeom prst="rect">
            <a:avLst/>
          </a:prstGeom>
          <a:noFill/>
          <a:ln/>
        </p:spPr>
        <p:txBody>
          <a:bodyPr wrap="square" lIns="0" tIns="0" rIns="0" bIns="0" rtlCol="0" anchor="ctr"/>
          <a:lstStyle/>
          <a:p>
            <a:pPr marL="0" indent="0">
              <a:buNone/>
            </a:pPr>
            <a:r>
              <a:rPr lang="en-US" sz="1150" dirty="0">
                <a:solidFill>
                  <a:srgbClr val="4A5A63"/>
                </a:solidFill>
                <a:latin typeface="Calibri" pitchFamily="34" charset="0"/>
                <a:ea typeface="Calibri" pitchFamily="34" charset="-122"/>
                <a:cs typeface="Calibri" pitchFamily="34" charset="-120"/>
              </a:rPr>
              <a:t>Git diff turned into a full ADO PR description with an AC checklist</a:t>
            </a:r>
            <a:endParaRPr lang="en-US" sz="1150" dirty="0"/>
          </a:p>
        </p:txBody>
      </p:sp>
      <p:sp>
        <p:nvSpPr>
          <p:cNvPr id="40" name="Shape 33"/>
          <p:cNvSpPr/>
          <p:nvPr/>
        </p:nvSpPr>
        <p:spPr>
          <a:xfrm>
            <a:off x="960120" y="3904488"/>
            <a:ext cx="7726680" cy="457200"/>
          </a:xfrm>
          <a:prstGeom prst="roundRect">
            <a:avLst>
              <a:gd name="adj" fmla="val 24000"/>
            </a:avLst>
          </a:prstGeom>
          <a:solidFill>
            <a:srgbClr val="EEF3F4"/>
          </a:solidFill>
          <a:ln w="12700">
            <a:solidFill>
              <a:srgbClr val="EEF3F4"/>
            </a:solidFill>
            <a:prstDash val="solid"/>
          </a:ln>
        </p:spPr>
        <p:txBody>
          <a:bodyPr/>
          <a:lstStyle/>
          <a:p>
            <a:endParaRPr lang="en-US"/>
          </a:p>
        </p:txBody>
      </p:sp>
      <p:sp>
        <p:nvSpPr>
          <p:cNvPr id="41" name="Shape 34"/>
          <p:cNvSpPr/>
          <p:nvPr/>
        </p:nvSpPr>
        <p:spPr>
          <a:xfrm>
            <a:off x="502920" y="3950208"/>
            <a:ext cx="365760" cy="365760"/>
          </a:xfrm>
          <a:prstGeom prst="ellipse">
            <a:avLst/>
          </a:prstGeom>
          <a:solidFill>
            <a:srgbClr val="2A9D8F"/>
          </a:solidFill>
          <a:ln w="12700">
            <a:solidFill>
              <a:srgbClr val="2A9D8F"/>
            </a:solidFill>
            <a:prstDash val="solid"/>
          </a:ln>
        </p:spPr>
        <p:txBody>
          <a:bodyPr/>
          <a:lstStyle/>
          <a:p>
            <a:endParaRPr lang="en-US"/>
          </a:p>
        </p:txBody>
      </p:sp>
      <p:pic>
        <p:nvPicPr>
          <p:cNvPr id="42" name="Image 5" descr="preencoded.png"/>
          <p:cNvPicPr>
            <a:picLocks noChangeAspect="1"/>
          </p:cNvPicPr>
          <p:nvPr/>
        </p:nvPicPr>
        <p:blipFill>
          <a:blip r:embed="rId8"/>
          <a:stretch>
            <a:fillRect/>
          </a:stretch>
        </p:blipFill>
        <p:spPr>
          <a:xfrm>
            <a:off x="594360" y="4041648"/>
            <a:ext cx="182880" cy="182880"/>
          </a:xfrm>
          <a:prstGeom prst="rect">
            <a:avLst/>
          </a:prstGeom>
        </p:spPr>
      </p:pic>
      <p:sp>
        <p:nvSpPr>
          <p:cNvPr id="43" name="Text 35"/>
          <p:cNvSpPr txBox="1"/>
          <p:nvPr/>
        </p:nvSpPr>
        <p:spPr>
          <a:xfrm>
            <a:off x="1143000" y="3904488"/>
            <a:ext cx="1737360" cy="45720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PR reviewed</a:t>
            </a:r>
            <a:endParaRPr lang="en-US" sz="1300" dirty="0"/>
          </a:p>
        </p:txBody>
      </p:sp>
      <p:sp>
        <p:nvSpPr>
          <p:cNvPr id="44" name="Shape 36"/>
          <p:cNvSpPr/>
          <p:nvPr/>
        </p:nvSpPr>
        <p:spPr>
          <a:xfrm>
            <a:off x="2926080" y="3986784"/>
            <a:ext cx="1600200" cy="292608"/>
          </a:xfrm>
          <a:prstGeom prst="roundRect">
            <a:avLst>
              <a:gd name="adj" fmla="val 18750"/>
            </a:avLst>
          </a:prstGeom>
          <a:solidFill>
            <a:srgbClr val="2A9D8F"/>
          </a:solidFill>
          <a:ln w="12700">
            <a:solidFill>
              <a:srgbClr val="2A9D8F"/>
            </a:solidFill>
            <a:prstDash val="solid"/>
          </a:ln>
        </p:spPr>
        <p:txBody>
          <a:bodyPr/>
          <a:lstStyle/>
          <a:p>
            <a:endParaRPr lang="en-US"/>
          </a:p>
        </p:txBody>
      </p:sp>
      <p:sp>
        <p:nvSpPr>
          <p:cNvPr id="45" name="Text 37"/>
          <p:cNvSpPr txBox="1"/>
          <p:nvPr/>
        </p:nvSpPr>
        <p:spPr>
          <a:xfrm>
            <a:off x="2926080" y="3986784"/>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pr-spec-review</a:t>
            </a:r>
            <a:endParaRPr lang="en-US" sz="1100" dirty="0"/>
          </a:p>
        </p:txBody>
      </p:sp>
      <p:sp>
        <p:nvSpPr>
          <p:cNvPr id="46" name="Text 38"/>
          <p:cNvSpPr txBox="1"/>
          <p:nvPr/>
        </p:nvSpPr>
        <p:spPr>
          <a:xfrm>
            <a:off x="4709160" y="3904488"/>
            <a:ext cx="3886200" cy="457200"/>
          </a:xfrm>
          <a:prstGeom prst="rect">
            <a:avLst/>
          </a:prstGeom>
          <a:noFill/>
          <a:ln/>
        </p:spPr>
        <p:txBody>
          <a:bodyPr wrap="square" lIns="0" tIns="0" rIns="0" bIns="0" rtlCol="0" anchor="ctr"/>
          <a:lstStyle/>
          <a:p>
            <a:pPr marL="0" indent="0">
              <a:buNone/>
            </a:pPr>
            <a:r>
              <a:rPr lang="en-US" sz="1150" dirty="0">
                <a:solidFill>
                  <a:srgbClr val="4A5A63"/>
                </a:solidFill>
                <a:latin typeface="Calibri" pitchFamily="34" charset="0"/>
                <a:ea typeface="Calibri" pitchFamily="34" charset="-122"/>
                <a:cs typeface="Calibri" pitchFamily="34" charset="-120"/>
              </a:rPr>
              <a:t>Spec compliance check, traceability matrix, and verdict</a:t>
            </a:r>
            <a:endParaRPr lang="en-US" sz="1150" dirty="0"/>
          </a:p>
        </p:txBody>
      </p:sp>
      <p:sp>
        <p:nvSpPr>
          <p:cNvPr id="47" name="Shape 39"/>
          <p:cNvSpPr/>
          <p:nvPr/>
        </p:nvSpPr>
        <p:spPr>
          <a:xfrm>
            <a:off x="960120" y="4425696"/>
            <a:ext cx="7726680" cy="457200"/>
          </a:xfrm>
          <a:prstGeom prst="roundRect">
            <a:avLst>
              <a:gd name="adj" fmla="val 24000"/>
            </a:avLst>
          </a:prstGeom>
          <a:solidFill>
            <a:srgbClr val="EEF3F4"/>
          </a:solidFill>
          <a:ln w="12700">
            <a:solidFill>
              <a:srgbClr val="EEF3F4"/>
            </a:solidFill>
            <a:prstDash val="solid"/>
          </a:ln>
        </p:spPr>
        <p:txBody>
          <a:bodyPr/>
          <a:lstStyle/>
          <a:p>
            <a:endParaRPr lang="en-US"/>
          </a:p>
        </p:txBody>
      </p:sp>
      <p:sp>
        <p:nvSpPr>
          <p:cNvPr id="48" name="Shape 40"/>
          <p:cNvSpPr/>
          <p:nvPr/>
        </p:nvSpPr>
        <p:spPr>
          <a:xfrm>
            <a:off x="502920" y="4471416"/>
            <a:ext cx="365760" cy="365760"/>
          </a:xfrm>
          <a:prstGeom prst="ellipse">
            <a:avLst/>
          </a:prstGeom>
          <a:solidFill>
            <a:srgbClr val="1F2A30"/>
          </a:solidFill>
          <a:ln w="12700">
            <a:solidFill>
              <a:srgbClr val="1F2A30"/>
            </a:solidFill>
            <a:prstDash val="solid"/>
          </a:ln>
        </p:spPr>
        <p:txBody>
          <a:bodyPr/>
          <a:lstStyle/>
          <a:p>
            <a:endParaRPr lang="en-US"/>
          </a:p>
        </p:txBody>
      </p:sp>
      <p:pic>
        <p:nvPicPr>
          <p:cNvPr id="49" name="Image 6" descr="preencoded.png"/>
          <p:cNvPicPr>
            <a:picLocks noChangeAspect="1"/>
          </p:cNvPicPr>
          <p:nvPr/>
        </p:nvPicPr>
        <p:blipFill>
          <a:blip r:embed="rId9"/>
          <a:stretch>
            <a:fillRect/>
          </a:stretch>
        </p:blipFill>
        <p:spPr>
          <a:xfrm>
            <a:off x="594360" y="4562856"/>
            <a:ext cx="182880" cy="182880"/>
          </a:xfrm>
          <a:prstGeom prst="rect">
            <a:avLst/>
          </a:prstGeom>
        </p:spPr>
      </p:pic>
      <p:sp>
        <p:nvSpPr>
          <p:cNvPr id="50" name="Text 41"/>
          <p:cNvSpPr txBox="1"/>
          <p:nvPr/>
        </p:nvSpPr>
        <p:spPr>
          <a:xfrm>
            <a:off x="1143000" y="4425696"/>
            <a:ext cx="1737360" cy="45720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End of sprint</a:t>
            </a:r>
            <a:endParaRPr lang="en-US" sz="1300" dirty="0"/>
          </a:p>
        </p:txBody>
      </p:sp>
      <p:sp>
        <p:nvSpPr>
          <p:cNvPr id="51" name="Shape 42"/>
          <p:cNvSpPr/>
          <p:nvPr/>
        </p:nvSpPr>
        <p:spPr>
          <a:xfrm>
            <a:off x="2926080" y="4507992"/>
            <a:ext cx="1600200" cy="292608"/>
          </a:xfrm>
          <a:prstGeom prst="roundRect">
            <a:avLst>
              <a:gd name="adj" fmla="val 18750"/>
            </a:avLst>
          </a:prstGeom>
          <a:solidFill>
            <a:srgbClr val="1F2A30"/>
          </a:solidFill>
          <a:ln w="12700">
            <a:solidFill>
              <a:srgbClr val="1F2A30"/>
            </a:solidFill>
            <a:prstDash val="solid"/>
          </a:ln>
        </p:spPr>
        <p:txBody>
          <a:bodyPr/>
          <a:lstStyle/>
          <a:p>
            <a:endParaRPr lang="en-US"/>
          </a:p>
        </p:txBody>
      </p:sp>
      <p:sp>
        <p:nvSpPr>
          <p:cNvPr id="52" name="Text 43"/>
          <p:cNvSpPr txBox="1"/>
          <p:nvPr/>
        </p:nvSpPr>
        <p:spPr>
          <a:xfrm>
            <a:off x="2926080" y="4507992"/>
            <a:ext cx="16002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/dream</a:t>
            </a:r>
            <a:endParaRPr lang="en-US" sz="1100" dirty="0"/>
          </a:p>
        </p:txBody>
      </p:sp>
      <p:sp>
        <p:nvSpPr>
          <p:cNvPr id="53" name="Text 44"/>
          <p:cNvSpPr txBox="1"/>
          <p:nvPr/>
        </p:nvSpPr>
        <p:spPr>
          <a:xfrm>
            <a:off x="4709160" y="4425696"/>
            <a:ext cx="3886200" cy="457200"/>
          </a:xfrm>
          <a:prstGeom prst="rect">
            <a:avLst/>
          </a:prstGeom>
          <a:noFill/>
          <a:ln/>
        </p:spPr>
        <p:txBody>
          <a:bodyPr wrap="square" lIns="0" tIns="0" rIns="0" bIns="0" rtlCol="0" anchor="ctr"/>
          <a:lstStyle/>
          <a:p>
            <a:pPr marL="0" indent="0">
              <a:buNone/>
            </a:pPr>
            <a:r>
              <a:rPr lang="en-US" sz="1150" dirty="0">
                <a:solidFill>
                  <a:srgbClr val="4A5A63"/>
                </a:solidFill>
                <a:latin typeface="Calibri" pitchFamily="34" charset="0"/>
                <a:ea typeface="Calibri" pitchFamily="34" charset="-122"/>
                <a:cs typeface="Calibri" pitchFamily="34" charset="-120"/>
              </a:rPr>
              <a:t>Session knowledge consolidated, so CLAUDE.md stays lean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Shape 2">
            <a:extLst>
              <a:ext uri="{FF2B5EF4-FFF2-40B4-BE49-F238E27FC236}">
                <a16:creationId xmlns:a16="http://schemas.microsoft.com/office/drawing/2014/main" id="{ACD96A67-BA66-233A-5512-2D171079A784}"/>
              </a:ext>
            </a:extLst>
          </p:cNvPr>
          <p:cNvSpPr/>
          <p:nvPr/>
        </p:nvSpPr>
        <p:spPr>
          <a:xfrm>
            <a:off x="467868" y="3345028"/>
            <a:ext cx="4718304" cy="1055522"/>
          </a:xfrm>
          <a:prstGeom prst="roundRect">
            <a:avLst>
              <a:gd name="adj" fmla="val 3636"/>
            </a:avLst>
          </a:prstGeom>
          <a:solidFill>
            <a:schemeClr val="accent1">
              <a:lumMod val="20000"/>
              <a:lumOff val="80000"/>
            </a:schemeClr>
          </a:solidFill>
          <a:ln w="12700">
            <a:solidFill>
              <a:srgbClr val="F6F8F9"/>
            </a:solidFill>
            <a:prstDash val="solid"/>
          </a:ln>
        </p:spPr>
        <p:txBody>
          <a:bodyPr/>
          <a:lstStyle/>
          <a:p>
            <a:endParaRPr lang="en-US"/>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r>
              <a:rPr lang="en-US" sz="3000" b="1" dirty="0">
                <a:solidFill>
                  <a:srgbClr val="1F2A30"/>
                </a:solidFill>
                <a:latin typeface="Cambria" pitchFamily="34" charset="0"/>
                <a:ea typeface="Cambria" pitchFamily="34" charset="-122"/>
                <a:cs typeface="Cambria" pitchFamily="34" charset="-120"/>
              </a:rPr>
              <a:t>Today's gotcha, tomorrow's guardrail</a:t>
            </a:r>
            <a:endParaRPr lang="en-US" sz="3000" dirty="0"/>
          </a:p>
        </p:txBody>
      </p:sp>
      <p:sp>
        <p:nvSpPr>
          <p:cNvPr id="4" name="Shape 2"/>
          <p:cNvSpPr/>
          <p:nvPr/>
        </p:nvSpPr>
        <p:spPr>
          <a:xfrm>
            <a:off x="457200" y="1285875"/>
            <a:ext cx="4718304" cy="2039112"/>
          </a:xfrm>
          <a:prstGeom prst="roundRect">
            <a:avLst>
              <a:gd name="adj" fmla="val 3636"/>
            </a:avLst>
          </a:prstGeom>
          <a:solidFill>
            <a:srgbClr val="F6F8F9"/>
          </a:solidFill>
          <a:ln w="12700">
            <a:solidFill>
              <a:srgbClr val="F6F8F9"/>
            </a:solidFill>
            <a:prstDash val="solid"/>
          </a:ln>
        </p:spPr>
        <p:txBody>
          <a:bodyPr/>
          <a:lstStyle/>
          <a:p>
            <a:endParaRPr lang="en-US"/>
          </a:p>
        </p:txBody>
      </p:sp>
      <p:sp>
        <p:nvSpPr>
          <p:cNvPr id="5" name="Text 3"/>
          <p:cNvSpPr txBox="1"/>
          <p:nvPr/>
        </p:nvSpPr>
        <p:spPr>
          <a:xfrm>
            <a:off x="594360" y="1377315"/>
            <a:ext cx="2743200" cy="228600"/>
          </a:xfrm>
          <a:prstGeom prst="rect">
            <a:avLst/>
          </a:prstGeom>
          <a:noFill/>
          <a:ln/>
        </p:spPr>
        <p:txBody>
          <a:bodyPr wrap="square" lIns="0" tIns="0" rIns="0" bIns="0" rtlCol="0" anchor="t"/>
          <a:lstStyle/>
          <a:p>
            <a:pPr marL="0" indent="0">
              <a:buNone/>
            </a:pPr>
            <a:r>
              <a:rPr lang="en-US" sz="1000" b="1" kern="0" spc="200" dirty="0">
                <a:solidFill>
                  <a:srgbClr val="1F2A30"/>
                </a:solidFill>
                <a:latin typeface="Calibri" pitchFamily="34" charset="0"/>
                <a:ea typeface="Calibri" pitchFamily="34" charset="-122"/>
                <a:cs typeface="Calibri" pitchFamily="34" charset="-120"/>
              </a:rPr>
              <a:t>DEVELOPER A  ·  ADO-1234</a:t>
            </a:r>
            <a:endParaRPr lang="en-US" sz="1000" dirty="0"/>
          </a:p>
        </p:txBody>
      </p:sp>
      <p:sp>
        <p:nvSpPr>
          <p:cNvPr id="6" name="Text 4"/>
          <p:cNvSpPr txBox="1"/>
          <p:nvPr/>
        </p:nvSpPr>
        <p:spPr>
          <a:xfrm>
            <a:off x="4078224" y="1377315"/>
            <a:ext cx="960120" cy="228600"/>
          </a:xfrm>
          <a:prstGeom prst="rect">
            <a:avLst/>
          </a:prstGeom>
          <a:noFill/>
          <a:ln/>
        </p:spPr>
        <p:txBody>
          <a:bodyPr wrap="square" lIns="0" tIns="0" rIns="0" bIns="0" rtlCol="0" anchor="t"/>
          <a:lstStyle/>
          <a:p>
            <a:pPr marL="0" indent="0" algn="ctr">
              <a:buNone/>
            </a:pPr>
            <a:r>
              <a:rPr lang="en-US" sz="900" b="1" kern="0" spc="200" dirty="0">
                <a:solidFill>
                  <a:srgbClr val="E9A23B"/>
                </a:solidFill>
                <a:latin typeface="Calibri" pitchFamily="34" charset="0"/>
                <a:ea typeface="Calibri" pitchFamily="34" charset="-122"/>
                <a:cs typeface="Calibri" pitchFamily="34" charset="-120"/>
              </a:rPr>
              <a:t>SAYS YES</a:t>
            </a:r>
            <a:endParaRPr lang="en-US" sz="900" dirty="0"/>
          </a:p>
        </p:txBody>
      </p:sp>
      <p:grpSp>
        <p:nvGrpSpPr>
          <p:cNvPr id="68" name="Group 67">
            <a:extLst>
              <a:ext uri="{FF2B5EF4-FFF2-40B4-BE49-F238E27FC236}">
                <a16:creationId xmlns:a16="http://schemas.microsoft.com/office/drawing/2014/main" id="{53B445D2-6E68-DF8B-E10C-2A9D4F319AD0}"/>
              </a:ext>
            </a:extLst>
          </p:cNvPr>
          <p:cNvGrpSpPr/>
          <p:nvPr/>
        </p:nvGrpSpPr>
        <p:grpSpPr>
          <a:xfrm>
            <a:off x="569214" y="2539213"/>
            <a:ext cx="4809744" cy="713232"/>
            <a:chOff x="594360" y="1697355"/>
            <a:chExt cx="4809744" cy="713232"/>
          </a:xfrm>
        </p:grpSpPr>
        <p:sp>
          <p:nvSpPr>
            <p:cNvPr id="7" name="Shape 5"/>
            <p:cNvSpPr/>
            <p:nvPr/>
          </p:nvSpPr>
          <p:spPr>
            <a:xfrm>
              <a:off x="594360" y="1697355"/>
              <a:ext cx="960120" cy="713232"/>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8" name="Text 6"/>
            <p:cNvSpPr txBox="1"/>
            <p:nvPr/>
          </p:nvSpPr>
          <p:spPr>
            <a:xfrm>
              <a:off x="658368" y="1752219"/>
              <a:ext cx="832104" cy="256032"/>
            </a:xfrm>
            <a:prstGeom prst="rect">
              <a:avLst/>
            </a:prstGeom>
            <a:noFill/>
            <a:ln/>
          </p:spPr>
          <p:txBody>
            <a:bodyPr wrap="square" lIns="0" tIns="0" rIns="0" bIns="0" rtlCol="0" anchor="t"/>
            <a:lstStyle/>
            <a:p>
              <a:pPr marL="0" indent="0">
                <a:buNone/>
              </a:pPr>
              <a:r>
                <a:rPr lang="en-US" sz="1000" b="1" dirty="0">
                  <a:solidFill>
                    <a:srgbClr val="1F2A30"/>
                  </a:solidFill>
                  <a:latin typeface="Calibri" pitchFamily="34" charset="0"/>
                  <a:ea typeface="Calibri" pitchFamily="34" charset="-122"/>
                  <a:cs typeface="Calibri" pitchFamily="34" charset="-120"/>
                </a:rPr>
                <a:t>Adds by hand</a:t>
              </a:r>
              <a:endParaRPr lang="en-US" sz="1000" dirty="0"/>
            </a:p>
          </p:txBody>
        </p:sp>
        <p:sp>
          <p:nvSpPr>
            <p:cNvPr id="9" name="Text 7"/>
            <p:cNvSpPr txBox="1"/>
            <p:nvPr/>
          </p:nvSpPr>
          <p:spPr>
            <a:xfrm>
              <a:off x="658368" y="2008251"/>
              <a:ext cx="832104" cy="384048"/>
            </a:xfrm>
            <a:prstGeom prst="rect">
              <a:avLst/>
            </a:prstGeom>
            <a:noFill/>
            <a:ln/>
          </p:spPr>
          <p:txBody>
            <a:bodyPr wrap="square" lIns="0" tIns="0" rIns="0" bIns="0" rtlCol="0" anchor="t"/>
            <a:lstStyle/>
            <a:p>
              <a:pPr marL="0" indent="0">
                <a:buNone/>
              </a:pPr>
              <a:r>
                <a:rPr lang="en-US" sz="850" dirty="0">
                  <a:solidFill>
                    <a:srgbClr val="4A5A63"/>
                  </a:solidFill>
                  <a:latin typeface="Calibri" pitchFamily="34" charset="0"/>
                  <a:ea typeface="Calibri" pitchFamily="34" charset="-122"/>
                  <a:cs typeface="Calibri" pitchFamily="34" charset="-120"/>
                </a:rPr>
                <a:t>KNOWLEDGE ADD</a:t>
              </a:r>
              <a:endParaRPr lang="en-US" sz="850" dirty="0"/>
            </a:p>
          </p:txBody>
        </p:sp>
        <p:sp>
          <p:nvSpPr>
            <p:cNvPr id="10" name="Shape 8"/>
            <p:cNvSpPr/>
            <p:nvPr/>
          </p:nvSpPr>
          <p:spPr>
            <a:xfrm>
              <a:off x="4078224" y="1697355"/>
              <a:ext cx="960120" cy="713232"/>
            </a:xfrm>
            <a:prstGeom prst="roundRect">
              <a:avLst>
                <a:gd name="adj" fmla="val 15385"/>
              </a:avLst>
            </a:prstGeom>
            <a:solidFill>
              <a:srgbClr val="FBEBD2"/>
            </a:solidFill>
            <a:ln w="12700">
              <a:solidFill>
                <a:srgbClr val="FBEBD2"/>
              </a:solidFill>
              <a:prstDash val="solid"/>
            </a:ln>
          </p:spPr>
          <p:txBody>
            <a:bodyPr/>
            <a:lstStyle/>
            <a:p>
              <a:endParaRPr lang="en-US"/>
            </a:p>
          </p:txBody>
        </p:sp>
        <p:sp>
          <p:nvSpPr>
            <p:cNvPr id="11" name="Text 9"/>
            <p:cNvSpPr txBox="1"/>
            <p:nvPr/>
          </p:nvSpPr>
          <p:spPr>
            <a:xfrm>
              <a:off x="4142232" y="1752219"/>
              <a:ext cx="832104" cy="256032"/>
            </a:xfrm>
            <a:prstGeom prst="rect">
              <a:avLst/>
            </a:prstGeom>
            <a:noFill/>
            <a:ln/>
          </p:spPr>
          <p:txBody>
            <a:bodyPr wrap="square" lIns="0" tIns="0" rIns="0" bIns="0" rtlCol="0" anchor="t"/>
            <a:lstStyle/>
            <a:p>
              <a:pPr marL="0" indent="0">
                <a:buNone/>
              </a:pPr>
              <a:r>
                <a:rPr lang="en-US" sz="1000" b="1" dirty="0">
                  <a:solidFill>
                    <a:srgbClr val="1F2A30"/>
                  </a:solidFill>
                  <a:latin typeface="Calibri" pitchFamily="34" charset="0"/>
                  <a:ea typeface="Calibri" pitchFamily="34" charset="-122"/>
                  <a:cs typeface="Calibri" pitchFamily="34" charset="-120"/>
                </a:rPr>
                <a:t>Write Gate</a:t>
              </a:r>
              <a:endParaRPr lang="en-US" sz="1000" dirty="0"/>
            </a:p>
          </p:txBody>
        </p:sp>
        <p:sp>
          <p:nvSpPr>
            <p:cNvPr id="12" name="Text 10"/>
            <p:cNvSpPr txBox="1"/>
            <p:nvPr/>
          </p:nvSpPr>
          <p:spPr>
            <a:xfrm>
              <a:off x="4142232" y="2008251"/>
              <a:ext cx="832104" cy="384048"/>
            </a:xfrm>
            <a:prstGeom prst="rect">
              <a:avLst/>
            </a:prstGeom>
            <a:noFill/>
            <a:ln/>
          </p:spPr>
          <p:txBody>
            <a:bodyPr wrap="square" lIns="0" tIns="0" rIns="0" bIns="0" rtlCol="0" anchor="t"/>
            <a:lstStyle/>
            <a:p>
              <a:pPr marL="0" indent="0">
                <a:buNone/>
              </a:pPr>
              <a:r>
                <a:rPr lang="en-US" sz="850" dirty="0">
                  <a:solidFill>
                    <a:srgbClr val="4A5A63"/>
                  </a:solidFill>
                  <a:latin typeface="Calibri" pitchFamily="34" charset="0"/>
                  <a:ea typeface="Calibri" pitchFamily="34" charset="-122"/>
                  <a:cs typeface="Calibri" pitchFamily="34" charset="-120"/>
                </a:rPr>
                <a:t>No ADO needed</a:t>
              </a:r>
              <a:endParaRPr lang="en-US" sz="850" dirty="0"/>
            </a:p>
          </p:txBody>
        </p:sp>
        <p:sp>
          <p:nvSpPr>
            <p:cNvPr id="13" name="Shape 11"/>
            <p:cNvSpPr/>
            <p:nvPr/>
          </p:nvSpPr>
          <p:spPr>
            <a:xfrm>
              <a:off x="1572768" y="2053971"/>
              <a:ext cx="2487168" cy="914"/>
            </a:xfrm>
            <a:prstGeom prst="line">
              <a:avLst/>
            </a:prstGeom>
            <a:noFill/>
            <a:ln w="22225">
              <a:solidFill>
                <a:srgbClr val="4A5A63"/>
              </a:solidFill>
              <a:prstDash val="solid"/>
              <a:tailEnd type="triangle"/>
            </a:ln>
          </p:spPr>
          <p:txBody>
            <a:bodyPr/>
            <a:lstStyle/>
            <a:p>
              <a:endParaRPr lang="en-US"/>
            </a:p>
          </p:txBody>
        </p:sp>
        <p:sp>
          <p:nvSpPr>
            <p:cNvPr id="40" name="Shape 38"/>
            <p:cNvSpPr/>
            <p:nvPr/>
          </p:nvSpPr>
          <p:spPr>
            <a:xfrm>
              <a:off x="5056632" y="2053971"/>
              <a:ext cx="347472" cy="914"/>
            </a:xfrm>
            <a:prstGeom prst="line">
              <a:avLst/>
            </a:prstGeom>
            <a:noFill/>
            <a:ln w="22225">
              <a:solidFill>
                <a:srgbClr val="2A9D8F"/>
              </a:solidFill>
              <a:prstDash val="solid"/>
              <a:tailEnd type="triangle"/>
            </a:ln>
          </p:spPr>
          <p:txBody>
            <a:bodyPr/>
            <a:lstStyle/>
            <a:p>
              <a:endParaRPr lang="en-US"/>
            </a:p>
          </p:txBody>
        </p:sp>
      </p:grpSp>
      <p:grpSp>
        <p:nvGrpSpPr>
          <p:cNvPr id="67" name="Group 66">
            <a:extLst>
              <a:ext uri="{FF2B5EF4-FFF2-40B4-BE49-F238E27FC236}">
                <a16:creationId xmlns:a16="http://schemas.microsoft.com/office/drawing/2014/main" id="{DEDA703B-FEE6-5337-B12E-760BB30FF610}"/>
              </a:ext>
            </a:extLst>
          </p:cNvPr>
          <p:cNvGrpSpPr/>
          <p:nvPr/>
        </p:nvGrpSpPr>
        <p:grpSpPr>
          <a:xfrm>
            <a:off x="590550" y="3629711"/>
            <a:ext cx="4809744" cy="713232"/>
            <a:chOff x="594360" y="2547747"/>
            <a:chExt cx="4809744" cy="713232"/>
          </a:xfrm>
        </p:grpSpPr>
        <p:sp>
          <p:nvSpPr>
            <p:cNvPr id="14" name="Shape 12"/>
            <p:cNvSpPr/>
            <p:nvPr/>
          </p:nvSpPr>
          <p:spPr>
            <a:xfrm>
              <a:off x="594360" y="2547747"/>
              <a:ext cx="960120" cy="713232"/>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15" name="Text 13"/>
            <p:cNvSpPr txBox="1"/>
            <p:nvPr/>
          </p:nvSpPr>
          <p:spPr>
            <a:xfrm>
              <a:off x="658368" y="2602611"/>
              <a:ext cx="832104" cy="256032"/>
            </a:xfrm>
            <a:prstGeom prst="rect">
              <a:avLst/>
            </a:prstGeom>
            <a:noFill/>
            <a:ln/>
          </p:spPr>
          <p:txBody>
            <a:bodyPr wrap="square" lIns="0" tIns="0" rIns="0" bIns="0" rtlCol="0" anchor="t"/>
            <a:lstStyle/>
            <a:p>
              <a:pPr marL="0" indent="0">
                <a:buNone/>
              </a:pPr>
              <a:r>
                <a:rPr lang="en-US" sz="1000" b="1" dirty="0">
                  <a:solidFill>
                    <a:srgbClr val="1F2A30"/>
                  </a:solidFill>
                  <a:latin typeface="Calibri" pitchFamily="34" charset="0"/>
                  <a:ea typeface="Calibri" pitchFamily="34" charset="-122"/>
                  <a:cs typeface="Calibri" pitchFamily="34" charset="-120"/>
                </a:rPr>
                <a:t>Lessons review</a:t>
              </a:r>
              <a:endParaRPr lang="en-US" sz="1000" dirty="0"/>
            </a:p>
          </p:txBody>
        </p:sp>
        <p:sp>
          <p:nvSpPr>
            <p:cNvPr id="16" name="Text 14"/>
            <p:cNvSpPr txBox="1"/>
            <p:nvPr/>
          </p:nvSpPr>
          <p:spPr>
            <a:xfrm>
              <a:off x="658368" y="2858643"/>
              <a:ext cx="832104" cy="384048"/>
            </a:xfrm>
            <a:prstGeom prst="rect">
              <a:avLst/>
            </a:prstGeom>
            <a:noFill/>
            <a:ln/>
          </p:spPr>
          <p:txBody>
            <a:bodyPr wrap="square" lIns="0" tIns="0" rIns="0" bIns="0" rtlCol="0" anchor="t"/>
            <a:lstStyle/>
            <a:p>
              <a:pPr marL="0" indent="0">
                <a:buNone/>
              </a:pPr>
              <a:r>
                <a:rPr lang="en-US" sz="850" dirty="0">
                  <a:solidFill>
                    <a:srgbClr val="4A5A63"/>
                  </a:solidFill>
                  <a:latin typeface="Calibri" pitchFamily="34" charset="0"/>
                  <a:ea typeface="Calibri" pitchFamily="34" charset="-122"/>
                  <a:cs typeface="Calibri" pitchFamily="34" charset="-120"/>
                </a:rPr>
                <a:t>LESSONS ADO-1234</a:t>
              </a:r>
              <a:endParaRPr lang="en-US" sz="850" dirty="0"/>
            </a:p>
          </p:txBody>
        </p:sp>
        <p:sp>
          <p:nvSpPr>
            <p:cNvPr id="17" name="Shape 15"/>
            <p:cNvSpPr/>
            <p:nvPr/>
          </p:nvSpPr>
          <p:spPr>
            <a:xfrm>
              <a:off x="1755648" y="2547747"/>
              <a:ext cx="960120" cy="713232"/>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18" name="Text 16"/>
            <p:cNvSpPr txBox="1"/>
            <p:nvPr/>
          </p:nvSpPr>
          <p:spPr>
            <a:xfrm>
              <a:off x="1819656" y="2602611"/>
              <a:ext cx="832104" cy="256032"/>
            </a:xfrm>
            <a:prstGeom prst="rect">
              <a:avLst/>
            </a:prstGeom>
            <a:noFill/>
            <a:ln/>
          </p:spPr>
          <p:txBody>
            <a:bodyPr wrap="square" lIns="0" tIns="0" rIns="0" bIns="0" rtlCol="0" anchor="t"/>
            <a:lstStyle/>
            <a:p>
              <a:pPr marL="0" indent="0">
                <a:buNone/>
              </a:pPr>
              <a:r>
                <a:rPr lang="en-US" sz="1000" b="1" dirty="0">
                  <a:solidFill>
                    <a:srgbClr val="1F2A30"/>
                  </a:solidFill>
                  <a:latin typeface="Calibri" pitchFamily="34" charset="0"/>
                  <a:ea typeface="Calibri" pitchFamily="34" charset="-122"/>
                  <a:cs typeface="Calibri" pitchFamily="34" charset="-120"/>
                </a:rPr>
                <a:t>Claude asks</a:t>
              </a:r>
              <a:endParaRPr lang="en-US" sz="1000" dirty="0"/>
            </a:p>
          </p:txBody>
        </p:sp>
        <p:sp>
          <p:nvSpPr>
            <p:cNvPr id="19" name="Text 17"/>
            <p:cNvSpPr txBox="1"/>
            <p:nvPr/>
          </p:nvSpPr>
          <p:spPr>
            <a:xfrm>
              <a:off x="1819656" y="2858643"/>
              <a:ext cx="832104" cy="384048"/>
            </a:xfrm>
            <a:prstGeom prst="rect">
              <a:avLst/>
            </a:prstGeom>
            <a:noFill/>
            <a:ln/>
          </p:spPr>
          <p:txBody>
            <a:bodyPr wrap="square" lIns="0" tIns="0" rIns="0" bIns="0" rtlCol="0" anchor="t"/>
            <a:lstStyle/>
            <a:p>
              <a:pPr marL="0" indent="0">
                <a:buNone/>
              </a:pPr>
              <a:r>
                <a:rPr lang="en-US" sz="850" dirty="0">
                  <a:solidFill>
                    <a:srgbClr val="4A5A63"/>
                  </a:solidFill>
                  <a:latin typeface="Calibri" pitchFamily="34" charset="0"/>
                  <a:ea typeface="Calibri" pitchFamily="34" charset="-122"/>
                  <a:cs typeface="Calibri" pitchFamily="34" charset="-120"/>
                </a:rPr>
                <a:t>Does this belong here?</a:t>
              </a:r>
              <a:endParaRPr lang="en-US" sz="850" dirty="0"/>
            </a:p>
          </p:txBody>
        </p:sp>
        <p:sp>
          <p:nvSpPr>
            <p:cNvPr id="20" name="Shape 18"/>
            <p:cNvSpPr/>
            <p:nvPr/>
          </p:nvSpPr>
          <p:spPr>
            <a:xfrm>
              <a:off x="4078224" y="2547747"/>
              <a:ext cx="960120" cy="713232"/>
            </a:xfrm>
            <a:prstGeom prst="roundRect">
              <a:avLst>
                <a:gd name="adj" fmla="val 15385"/>
              </a:avLst>
            </a:prstGeom>
            <a:solidFill>
              <a:srgbClr val="FBEBD2"/>
            </a:solidFill>
            <a:ln w="12700">
              <a:solidFill>
                <a:srgbClr val="FBEBD2"/>
              </a:solidFill>
              <a:prstDash val="solid"/>
            </a:ln>
          </p:spPr>
          <p:txBody>
            <a:bodyPr/>
            <a:lstStyle/>
            <a:p>
              <a:endParaRPr lang="en-US"/>
            </a:p>
          </p:txBody>
        </p:sp>
        <p:sp>
          <p:nvSpPr>
            <p:cNvPr id="21" name="Text 19"/>
            <p:cNvSpPr txBox="1"/>
            <p:nvPr/>
          </p:nvSpPr>
          <p:spPr>
            <a:xfrm>
              <a:off x="4142232" y="2602611"/>
              <a:ext cx="832104" cy="256032"/>
            </a:xfrm>
            <a:prstGeom prst="rect">
              <a:avLst/>
            </a:prstGeom>
            <a:noFill/>
            <a:ln/>
          </p:spPr>
          <p:txBody>
            <a:bodyPr wrap="square" lIns="0" tIns="0" rIns="0" bIns="0" rtlCol="0" anchor="t"/>
            <a:lstStyle/>
            <a:p>
              <a:pPr marL="0" indent="0">
                <a:buNone/>
              </a:pPr>
              <a:r>
                <a:rPr lang="en-US" sz="1000" b="1" dirty="0">
                  <a:solidFill>
                    <a:srgbClr val="1F2A30"/>
                  </a:solidFill>
                  <a:latin typeface="Calibri" pitchFamily="34" charset="0"/>
                  <a:ea typeface="Calibri" pitchFamily="34" charset="-122"/>
                  <a:cs typeface="Calibri" pitchFamily="34" charset="-120"/>
                </a:rPr>
                <a:t>Confirms</a:t>
              </a:r>
              <a:endParaRPr lang="en-US" sz="1000" dirty="0"/>
            </a:p>
          </p:txBody>
        </p:sp>
        <p:sp>
          <p:nvSpPr>
            <p:cNvPr id="22" name="Text 20"/>
            <p:cNvSpPr txBox="1"/>
            <p:nvPr/>
          </p:nvSpPr>
          <p:spPr>
            <a:xfrm>
              <a:off x="4142232" y="2858643"/>
              <a:ext cx="832104" cy="384048"/>
            </a:xfrm>
            <a:prstGeom prst="rect">
              <a:avLst/>
            </a:prstGeom>
            <a:noFill/>
            <a:ln/>
          </p:spPr>
          <p:txBody>
            <a:bodyPr wrap="square" lIns="0" tIns="0" rIns="0" bIns="0" rtlCol="0" anchor="t"/>
            <a:lstStyle/>
            <a:p>
              <a:pPr marL="0" indent="0">
                <a:buNone/>
              </a:pPr>
              <a:r>
                <a:rPr lang="en-US" sz="850" dirty="0">
                  <a:solidFill>
                    <a:srgbClr val="4A5A63"/>
                  </a:solidFill>
                  <a:latin typeface="Calibri" pitchFamily="34" charset="0"/>
                  <a:ea typeface="Calibri" pitchFamily="34" charset="-122"/>
                  <a:cs typeface="Calibri" pitchFamily="34" charset="-120"/>
                </a:rPr>
                <a:t>Then the Write Gate</a:t>
              </a:r>
              <a:endParaRPr lang="en-US" sz="850" dirty="0"/>
            </a:p>
          </p:txBody>
        </p:sp>
        <p:sp>
          <p:nvSpPr>
            <p:cNvPr id="23" name="Shape 21"/>
            <p:cNvSpPr/>
            <p:nvPr/>
          </p:nvSpPr>
          <p:spPr>
            <a:xfrm>
              <a:off x="1572768" y="2904363"/>
              <a:ext cx="164592" cy="914"/>
            </a:xfrm>
            <a:prstGeom prst="line">
              <a:avLst/>
            </a:prstGeom>
            <a:noFill/>
            <a:ln w="22225">
              <a:solidFill>
                <a:srgbClr val="4A5A63"/>
              </a:solidFill>
              <a:prstDash val="solid"/>
              <a:tailEnd type="triangle"/>
            </a:ln>
          </p:spPr>
          <p:txBody>
            <a:bodyPr/>
            <a:lstStyle/>
            <a:p>
              <a:endParaRPr lang="en-US"/>
            </a:p>
          </p:txBody>
        </p:sp>
        <p:sp>
          <p:nvSpPr>
            <p:cNvPr id="24" name="Shape 22"/>
            <p:cNvSpPr/>
            <p:nvPr/>
          </p:nvSpPr>
          <p:spPr>
            <a:xfrm>
              <a:off x="2734056" y="2904363"/>
              <a:ext cx="1325880" cy="914"/>
            </a:xfrm>
            <a:prstGeom prst="line">
              <a:avLst/>
            </a:prstGeom>
            <a:noFill/>
            <a:ln w="22225">
              <a:solidFill>
                <a:srgbClr val="4A5A63"/>
              </a:solidFill>
              <a:prstDash val="solid"/>
              <a:tailEnd type="triangle"/>
            </a:ln>
          </p:spPr>
          <p:txBody>
            <a:bodyPr/>
            <a:lstStyle/>
            <a:p>
              <a:endParaRPr lang="en-US"/>
            </a:p>
          </p:txBody>
        </p:sp>
        <p:sp>
          <p:nvSpPr>
            <p:cNvPr id="41" name="Shape 39"/>
            <p:cNvSpPr/>
            <p:nvPr/>
          </p:nvSpPr>
          <p:spPr>
            <a:xfrm>
              <a:off x="5056632" y="2904363"/>
              <a:ext cx="347472" cy="914"/>
            </a:xfrm>
            <a:prstGeom prst="line">
              <a:avLst/>
            </a:prstGeom>
            <a:noFill/>
            <a:ln w="22225">
              <a:solidFill>
                <a:srgbClr val="2A9D8F"/>
              </a:solidFill>
              <a:prstDash val="solid"/>
              <a:tailEnd type="triangle"/>
            </a:ln>
          </p:spPr>
          <p:txBody>
            <a:bodyPr/>
            <a:lstStyle/>
            <a:p>
              <a:endParaRPr lang="en-US"/>
            </a:p>
          </p:txBody>
        </p:sp>
      </p:grpSp>
      <p:grpSp>
        <p:nvGrpSpPr>
          <p:cNvPr id="66" name="Group 65">
            <a:extLst>
              <a:ext uri="{FF2B5EF4-FFF2-40B4-BE49-F238E27FC236}">
                <a16:creationId xmlns:a16="http://schemas.microsoft.com/office/drawing/2014/main" id="{19ADB6C6-F76E-0649-8958-D2583FD038BD}"/>
              </a:ext>
            </a:extLst>
          </p:cNvPr>
          <p:cNvGrpSpPr/>
          <p:nvPr/>
        </p:nvGrpSpPr>
        <p:grpSpPr>
          <a:xfrm>
            <a:off x="594360" y="1693164"/>
            <a:ext cx="4809744" cy="713232"/>
            <a:chOff x="594360" y="3398139"/>
            <a:chExt cx="4809744" cy="713232"/>
          </a:xfrm>
        </p:grpSpPr>
        <p:sp>
          <p:nvSpPr>
            <p:cNvPr id="25" name="Shape 23"/>
            <p:cNvSpPr/>
            <p:nvPr/>
          </p:nvSpPr>
          <p:spPr>
            <a:xfrm>
              <a:off x="594360" y="3398139"/>
              <a:ext cx="960120" cy="713232"/>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26" name="Text 24"/>
            <p:cNvSpPr txBox="1"/>
            <p:nvPr/>
          </p:nvSpPr>
          <p:spPr>
            <a:xfrm>
              <a:off x="658368" y="3453003"/>
              <a:ext cx="832104" cy="256032"/>
            </a:xfrm>
            <a:prstGeom prst="rect">
              <a:avLst/>
            </a:prstGeom>
            <a:noFill/>
            <a:ln/>
          </p:spPr>
          <p:txBody>
            <a:bodyPr wrap="square" lIns="0" tIns="0" rIns="0" bIns="0" rtlCol="0" anchor="t"/>
            <a:lstStyle/>
            <a:p>
              <a:pPr marL="0" indent="0">
                <a:buNone/>
              </a:pPr>
              <a:r>
                <a:rPr lang="en-US" sz="1000" b="1" dirty="0">
                  <a:solidFill>
                    <a:srgbClr val="1F2A30"/>
                  </a:solidFill>
                  <a:latin typeface="Calibri" pitchFamily="34" charset="0"/>
                  <a:ea typeface="Calibri" pitchFamily="34" charset="-122"/>
                  <a:cs typeface="Calibri" pitchFamily="34" charset="-120"/>
                </a:rPr>
                <a:t>Implements</a:t>
              </a:r>
              <a:endParaRPr lang="en-US" sz="1000" dirty="0"/>
            </a:p>
          </p:txBody>
        </p:sp>
        <p:sp>
          <p:nvSpPr>
            <p:cNvPr id="27" name="Text 25"/>
            <p:cNvSpPr txBox="1"/>
            <p:nvPr/>
          </p:nvSpPr>
          <p:spPr>
            <a:xfrm>
              <a:off x="658368" y="3709035"/>
              <a:ext cx="832104" cy="384048"/>
            </a:xfrm>
            <a:prstGeom prst="rect">
              <a:avLst/>
            </a:prstGeom>
            <a:noFill/>
            <a:ln/>
          </p:spPr>
          <p:txBody>
            <a:bodyPr wrap="square" lIns="0" tIns="0" rIns="0" bIns="0" rtlCol="0" anchor="t"/>
            <a:lstStyle/>
            <a:p>
              <a:pPr marL="0" indent="0">
                <a:buNone/>
              </a:pPr>
              <a:r>
                <a:rPr lang="en-US" sz="850" dirty="0">
                  <a:solidFill>
                    <a:srgbClr val="4A5A63"/>
                  </a:solidFill>
                  <a:latin typeface="Calibri" pitchFamily="34" charset="0"/>
                  <a:ea typeface="Calibri" pitchFamily="34" charset="-122"/>
                  <a:cs typeface="Calibri" pitchFamily="34" charset="-120"/>
                </a:rPr>
                <a:t>icea-implement hits a gap</a:t>
              </a:r>
              <a:endParaRPr lang="en-US" sz="850" dirty="0"/>
            </a:p>
          </p:txBody>
        </p:sp>
        <p:sp>
          <p:nvSpPr>
            <p:cNvPr id="28" name="Shape 26"/>
            <p:cNvSpPr/>
            <p:nvPr/>
          </p:nvSpPr>
          <p:spPr>
            <a:xfrm>
              <a:off x="1755648" y="3398139"/>
              <a:ext cx="960120" cy="713232"/>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29" name="Text 27"/>
            <p:cNvSpPr txBox="1"/>
            <p:nvPr/>
          </p:nvSpPr>
          <p:spPr>
            <a:xfrm>
              <a:off x="1819656" y="3453003"/>
              <a:ext cx="832104" cy="256032"/>
            </a:xfrm>
            <a:prstGeom prst="rect">
              <a:avLst/>
            </a:prstGeom>
            <a:noFill/>
            <a:ln/>
          </p:spPr>
          <p:txBody>
            <a:bodyPr wrap="square" lIns="0" tIns="0" rIns="0" bIns="0" rtlCol="0" anchor="t"/>
            <a:lstStyle/>
            <a:p>
              <a:pPr marL="0" indent="0">
                <a:buNone/>
              </a:pPr>
              <a:r>
                <a:rPr lang="en-US" sz="1000" b="1" dirty="0">
                  <a:solidFill>
                    <a:srgbClr val="1F2A30"/>
                  </a:solidFill>
                  <a:latin typeface="Calibri" pitchFamily="34" charset="0"/>
                  <a:ea typeface="Calibri" pitchFamily="34" charset="-122"/>
                  <a:cs typeface="Calibri" pitchFamily="34" charset="-120"/>
                </a:rPr>
                <a:t>Signal saved</a:t>
              </a:r>
              <a:endParaRPr lang="en-US" sz="1000" dirty="0"/>
            </a:p>
          </p:txBody>
        </p:sp>
        <p:sp>
          <p:nvSpPr>
            <p:cNvPr id="30" name="Text 28"/>
            <p:cNvSpPr txBox="1"/>
            <p:nvPr/>
          </p:nvSpPr>
          <p:spPr>
            <a:xfrm>
              <a:off x="1819656" y="3709035"/>
              <a:ext cx="832104" cy="384048"/>
            </a:xfrm>
            <a:prstGeom prst="rect">
              <a:avLst/>
            </a:prstGeom>
            <a:noFill/>
            <a:ln/>
          </p:spPr>
          <p:txBody>
            <a:bodyPr wrap="square" lIns="0" tIns="0" rIns="0" bIns="0" rtlCol="0" anchor="t"/>
            <a:lstStyle/>
            <a:p>
              <a:pPr marL="0" indent="0">
                <a:buNone/>
              </a:pPr>
              <a:r>
                <a:rPr lang="en-US" sz="850" dirty="0">
                  <a:solidFill>
                    <a:srgbClr val="4A5A63"/>
                  </a:solidFill>
                  <a:latin typeface="Calibri" pitchFamily="34" charset="0"/>
                  <a:ea typeface="Calibri" pitchFamily="34" charset="-122"/>
                  <a:cs typeface="Calibri" pitchFamily="34" charset="-120"/>
                </a:rPr>
                <a:t>In .claude/signals/</a:t>
              </a:r>
              <a:endParaRPr lang="en-US" sz="850" dirty="0"/>
            </a:p>
          </p:txBody>
        </p:sp>
        <p:sp>
          <p:nvSpPr>
            <p:cNvPr id="31" name="Shape 29"/>
            <p:cNvSpPr/>
            <p:nvPr/>
          </p:nvSpPr>
          <p:spPr>
            <a:xfrm>
              <a:off x="2916936" y="3398139"/>
              <a:ext cx="960120" cy="713232"/>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32" name="Text 30"/>
            <p:cNvSpPr txBox="1"/>
            <p:nvPr/>
          </p:nvSpPr>
          <p:spPr>
            <a:xfrm>
              <a:off x="2980944" y="3453003"/>
              <a:ext cx="832104" cy="256032"/>
            </a:xfrm>
            <a:prstGeom prst="rect">
              <a:avLst/>
            </a:prstGeom>
            <a:noFill/>
            <a:ln/>
          </p:spPr>
          <p:txBody>
            <a:bodyPr wrap="square" lIns="0" tIns="0" rIns="0" bIns="0" rtlCol="0" anchor="t"/>
            <a:lstStyle/>
            <a:p>
              <a:pPr marL="0" indent="0">
                <a:buNone/>
              </a:pPr>
              <a:r>
                <a:rPr lang="en-US" sz="1000" b="1" dirty="0">
                  <a:solidFill>
                    <a:srgbClr val="1F2A30"/>
                  </a:solidFill>
                  <a:latin typeface="Calibri" pitchFamily="34" charset="0"/>
                  <a:ea typeface="Calibri" pitchFamily="34" charset="-122"/>
                  <a:cs typeface="Calibri" pitchFamily="34" charset="-120"/>
                </a:rPr>
                <a:t>Dream</a:t>
              </a:r>
              <a:endParaRPr lang="en-US" sz="1000" dirty="0"/>
            </a:p>
          </p:txBody>
        </p:sp>
        <p:sp>
          <p:nvSpPr>
            <p:cNvPr id="33" name="Text 31"/>
            <p:cNvSpPr txBox="1"/>
            <p:nvPr/>
          </p:nvSpPr>
          <p:spPr>
            <a:xfrm>
              <a:off x="2980944" y="3709035"/>
              <a:ext cx="832104" cy="384048"/>
            </a:xfrm>
            <a:prstGeom prst="rect">
              <a:avLst/>
            </a:prstGeom>
            <a:noFill/>
            <a:ln/>
          </p:spPr>
          <p:txBody>
            <a:bodyPr wrap="square" lIns="0" tIns="0" rIns="0" bIns="0" rtlCol="0" anchor="t"/>
            <a:lstStyle/>
            <a:p>
              <a:pPr marL="0" indent="0">
                <a:buNone/>
              </a:pPr>
              <a:r>
                <a:rPr lang="en-US" sz="850" dirty="0">
                  <a:solidFill>
                    <a:srgbClr val="4A5A63"/>
                  </a:solidFill>
                  <a:latin typeface="Calibri" pitchFamily="34" charset="0"/>
                  <a:ea typeface="Calibri" pitchFamily="34" charset="-122"/>
                  <a:cs typeface="Calibri" pitchFamily="34" charset="-120"/>
                </a:rPr>
                <a:t>Same gap on 2+ ADOs</a:t>
              </a:r>
              <a:endParaRPr lang="en-US" sz="850" dirty="0"/>
            </a:p>
          </p:txBody>
        </p:sp>
        <p:sp>
          <p:nvSpPr>
            <p:cNvPr id="34" name="Shape 32"/>
            <p:cNvSpPr/>
            <p:nvPr/>
          </p:nvSpPr>
          <p:spPr>
            <a:xfrm>
              <a:off x="4078224" y="3398139"/>
              <a:ext cx="960120" cy="713232"/>
            </a:xfrm>
            <a:prstGeom prst="roundRect">
              <a:avLst>
                <a:gd name="adj" fmla="val 15385"/>
              </a:avLst>
            </a:prstGeom>
            <a:solidFill>
              <a:srgbClr val="FBEBD2"/>
            </a:solidFill>
            <a:ln w="12700">
              <a:solidFill>
                <a:srgbClr val="FBEBD2"/>
              </a:solidFill>
              <a:prstDash val="solid"/>
            </a:ln>
          </p:spPr>
          <p:txBody>
            <a:bodyPr/>
            <a:lstStyle/>
            <a:p>
              <a:endParaRPr lang="en-US"/>
            </a:p>
          </p:txBody>
        </p:sp>
        <p:sp>
          <p:nvSpPr>
            <p:cNvPr id="35" name="Text 33"/>
            <p:cNvSpPr txBox="1"/>
            <p:nvPr/>
          </p:nvSpPr>
          <p:spPr>
            <a:xfrm>
              <a:off x="4142232" y="3453003"/>
              <a:ext cx="832104" cy="256032"/>
            </a:xfrm>
            <a:prstGeom prst="rect">
              <a:avLst/>
            </a:prstGeom>
            <a:noFill/>
            <a:ln/>
          </p:spPr>
          <p:txBody>
            <a:bodyPr wrap="square" lIns="0" tIns="0" rIns="0" bIns="0" rtlCol="0" anchor="t"/>
            <a:lstStyle/>
            <a:p>
              <a:pPr marL="0" indent="0">
                <a:buNone/>
              </a:pPr>
              <a:r>
                <a:rPr lang="en-US" sz="1000" b="1" dirty="0">
                  <a:solidFill>
                    <a:srgbClr val="1F2A30"/>
                  </a:solidFill>
                  <a:latin typeface="Calibri" pitchFamily="34" charset="0"/>
                  <a:ea typeface="Calibri" pitchFamily="34" charset="-122"/>
                  <a:cs typeface="Calibri" pitchFamily="34" charset="-120"/>
                </a:rPr>
                <a:t>PROMOTE</a:t>
              </a:r>
              <a:endParaRPr lang="en-US" sz="1000" dirty="0"/>
            </a:p>
          </p:txBody>
        </p:sp>
        <p:sp>
          <p:nvSpPr>
            <p:cNvPr id="36" name="Text 34"/>
            <p:cNvSpPr txBox="1"/>
            <p:nvPr/>
          </p:nvSpPr>
          <p:spPr>
            <a:xfrm>
              <a:off x="4142232" y="3709035"/>
              <a:ext cx="832104" cy="384048"/>
            </a:xfrm>
            <a:prstGeom prst="rect">
              <a:avLst/>
            </a:prstGeom>
            <a:noFill/>
            <a:ln/>
          </p:spPr>
          <p:txBody>
            <a:bodyPr wrap="square" lIns="0" tIns="0" rIns="0" bIns="0" rtlCol="0" anchor="t"/>
            <a:lstStyle/>
            <a:p>
              <a:pPr marL="0" indent="0">
                <a:buNone/>
              </a:pPr>
              <a:r>
                <a:rPr lang="en-US" sz="850" dirty="0">
                  <a:solidFill>
                    <a:srgbClr val="4A5A63"/>
                  </a:solidFill>
                  <a:latin typeface="Calibri" pitchFamily="34" charset="0"/>
                  <a:ea typeface="Calibri" pitchFamily="34" charset="-122"/>
                  <a:cs typeface="Calibri" pitchFamily="34" charset="-120"/>
                </a:rPr>
                <a:t>Dream approval</a:t>
              </a:r>
              <a:endParaRPr lang="en-US" sz="850" dirty="0"/>
            </a:p>
          </p:txBody>
        </p:sp>
        <p:sp>
          <p:nvSpPr>
            <p:cNvPr id="37" name="Shape 35"/>
            <p:cNvSpPr/>
            <p:nvPr/>
          </p:nvSpPr>
          <p:spPr>
            <a:xfrm>
              <a:off x="1572768" y="3754755"/>
              <a:ext cx="164592" cy="914"/>
            </a:xfrm>
            <a:prstGeom prst="line">
              <a:avLst/>
            </a:prstGeom>
            <a:noFill/>
            <a:ln w="22225">
              <a:solidFill>
                <a:srgbClr val="4A5A63"/>
              </a:solidFill>
              <a:prstDash val="solid"/>
              <a:tailEnd type="triangle"/>
            </a:ln>
          </p:spPr>
          <p:txBody>
            <a:bodyPr/>
            <a:lstStyle/>
            <a:p>
              <a:endParaRPr lang="en-US"/>
            </a:p>
          </p:txBody>
        </p:sp>
        <p:sp>
          <p:nvSpPr>
            <p:cNvPr id="38" name="Shape 36"/>
            <p:cNvSpPr/>
            <p:nvPr/>
          </p:nvSpPr>
          <p:spPr>
            <a:xfrm>
              <a:off x="2734056" y="3754755"/>
              <a:ext cx="164592" cy="914"/>
            </a:xfrm>
            <a:prstGeom prst="line">
              <a:avLst/>
            </a:prstGeom>
            <a:noFill/>
            <a:ln w="22225">
              <a:solidFill>
                <a:srgbClr val="4A5A63"/>
              </a:solidFill>
              <a:prstDash val="solid"/>
              <a:tailEnd type="triangle"/>
            </a:ln>
          </p:spPr>
          <p:txBody>
            <a:bodyPr/>
            <a:lstStyle/>
            <a:p>
              <a:endParaRPr lang="en-US"/>
            </a:p>
          </p:txBody>
        </p:sp>
        <p:sp>
          <p:nvSpPr>
            <p:cNvPr id="39" name="Shape 37"/>
            <p:cNvSpPr/>
            <p:nvPr/>
          </p:nvSpPr>
          <p:spPr>
            <a:xfrm>
              <a:off x="3895344" y="3754755"/>
              <a:ext cx="164592" cy="914"/>
            </a:xfrm>
            <a:prstGeom prst="line">
              <a:avLst/>
            </a:prstGeom>
            <a:noFill/>
            <a:ln w="22225">
              <a:solidFill>
                <a:srgbClr val="4A5A63"/>
              </a:solidFill>
              <a:prstDash val="solid"/>
              <a:tailEnd type="triangle"/>
            </a:ln>
          </p:spPr>
          <p:txBody>
            <a:bodyPr/>
            <a:lstStyle/>
            <a:p>
              <a:endParaRPr lang="en-US"/>
            </a:p>
          </p:txBody>
        </p:sp>
        <p:sp>
          <p:nvSpPr>
            <p:cNvPr id="42" name="Shape 40"/>
            <p:cNvSpPr/>
            <p:nvPr/>
          </p:nvSpPr>
          <p:spPr>
            <a:xfrm>
              <a:off x="5056632" y="3754755"/>
              <a:ext cx="347472" cy="914"/>
            </a:xfrm>
            <a:prstGeom prst="line">
              <a:avLst/>
            </a:prstGeom>
            <a:noFill/>
            <a:ln w="22225">
              <a:solidFill>
                <a:srgbClr val="2A9D8F"/>
              </a:solidFill>
              <a:prstDash val="solid"/>
              <a:tailEnd type="triangle"/>
            </a:ln>
          </p:spPr>
          <p:txBody>
            <a:bodyPr/>
            <a:lstStyle/>
            <a:p>
              <a:endParaRPr lang="en-US"/>
            </a:p>
          </p:txBody>
        </p:sp>
      </p:grpSp>
      <p:sp>
        <p:nvSpPr>
          <p:cNvPr id="43" name="Shape 41"/>
          <p:cNvSpPr/>
          <p:nvPr/>
        </p:nvSpPr>
        <p:spPr>
          <a:xfrm>
            <a:off x="5422392" y="1697355"/>
            <a:ext cx="1389888" cy="2414016"/>
          </a:xfrm>
          <a:prstGeom prst="roundRect">
            <a:avLst>
              <a:gd name="adj" fmla="val 7895"/>
            </a:avLst>
          </a:prstGeom>
          <a:solidFill>
            <a:srgbClr val="2A9D8F"/>
          </a:solidFill>
          <a:ln w="12700">
            <a:solidFill>
              <a:srgbClr val="2A9D8F"/>
            </a:solidFill>
            <a:prstDash val="solid"/>
          </a:ln>
        </p:spPr>
        <p:txBody>
          <a:bodyPr/>
          <a:lstStyle/>
          <a:p>
            <a:endParaRPr lang="en-US"/>
          </a:p>
        </p:txBody>
      </p:sp>
      <p:pic>
        <p:nvPicPr>
          <p:cNvPr id="44" name="Image 0" descr="preencoded.png"/>
          <p:cNvPicPr>
            <a:picLocks noChangeAspect="1"/>
          </p:cNvPicPr>
          <p:nvPr/>
        </p:nvPicPr>
        <p:blipFill>
          <a:blip r:embed="rId3"/>
          <a:stretch>
            <a:fillRect/>
          </a:stretch>
        </p:blipFill>
        <p:spPr>
          <a:xfrm>
            <a:off x="5961888" y="2108835"/>
            <a:ext cx="310896" cy="411480"/>
          </a:xfrm>
          <a:prstGeom prst="rect">
            <a:avLst/>
          </a:prstGeom>
        </p:spPr>
      </p:pic>
      <p:sp>
        <p:nvSpPr>
          <p:cNvPr id="45" name="Text 42"/>
          <p:cNvSpPr txBox="1"/>
          <p:nvPr/>
        </p:nvSpPr>
        <p:spPr>
          <a:xfrm>
            <a:off x="5458968" y="2657475"/>
            <a:ext cx="1316736" cy="274320"/>
          </a:xfrm>
          <a:prstGeom prst="rect">
            <a:avLst/>
          </a:prstGeom>
          <a:noFill/>
          <a:ln/>
        </p:spPr>
        <p:txBody>
          <a:bodyPr wrap="square" lIns="0" tIns="0" rIns="0" bIns="0"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project-knowledge.md</a:t>
            </a:r>
            <a:endParaRPr lang="en-US" sz="950" dirty="0"/>
          </a:p>
        </p:txBody>
      </p:sp>
      <p:sp>
        <p:nvSpPr>
          <p:cNvPr id="46" name="Text 43"/>
          <p:cNvSpPr txBox="1"/>
          <p:nvPr/>
        </p:nvSpPr>
        <p:spPr>
          <a:xfrm>
            <a:off x="5532120" y="2977515"/>
            <a:ext cx="1170432" cy="502920"/>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Saved once, for the whole team</a:t>
            </a:r>
            <a:endParaRPr lang="en-US" sz="1000" dirty="0"/>
          </a:p>
        </p:txBody>
      </p:sp>
      <p:sp>
        <p:nvSpPr>
          <p:cNvPr id="47" name="Shape 44"/>
          <p:cNvSpPr/>
          <p:nvPr/>
        </p:nvSpPr>
        <p:spPr>
          <a:xfrm>
            <a:off x="6830568" y="2904363"/>
            <a:ext cx="146304" cy="914"/>
          </a:xfrm>
          <a:prstGeom prst="line">
            <a:avLst/>
          </a:prstGeom>
          <a:noFill/>
          <a:ln w="22225">
            <a:solidFill>
              <a:srgbClr val="2A9D8F"/>
            </a:solidFill>
            <a:prstDash val="solid"/>
            <a:tailEnd type="triangle"/>
          </a:ln>
        </p:spPr>
        <p:txBody>
          <a:bodyPr/>
          <a:lstStyle/>
          <a:p>
            <a:endParaRPr lang="en-US"/>
          </a:p>
        </p:txBody>
      </p:sp>
      <p:sp>
        <p:nvSpPr>
          <p:cNvPr id="48" name="Shape 45"/>
          <p:cNvSpPr/>
          <p:nvPr/>
        </p:nvSpPr>
        <p:spPr>
          <a:xfrm>
            <a:off x="6995160" y="1285875"/>
            <a:ext cx="1691640" cy="3017520"/>
          </a:xfrm>
          <a:prstGeom prst="roundRect">
            <a:avLst>
              <a:gd name="adj" fmla="val 6486"/>
            </a:avLst>
          </a:prstGeom>
          <a:solidFill>
            <a:srgbClr val="FBEBD2"/>
          </a:solidFill>
          <a:ln w="12700">
            <a:solidFill>
              <a:srgbClr val="FBEBD2"/>
            </a:solidFill>
            <a:prstDash val="solid"/>
          </a:ln>
        </p:spPr>
        <p:txBody>
          <a:bodyPr/>
          <a:lstStyle/>
          <a:p>
            <a:endParaRPr lang="en-US"/>
          </a:p>
        </p:txBody>
      </p:sp>
      <p:sp>
        <p:nvSpPr>
          <p:cNvPr id="49" name="Text 46"/>
          <p:cNvSpPr txBox="1"/>
          <p:nvPr/>
        </p:nvSpPr>
        <p:spPr>
          <a:xfrm>
            <a:off x="7132320" y="1377315"/>
            <a:ext cx="1463040" cy="228600"/>
          </a:xfrm>
          <a:prstGeom prst="rect">
            <a:avLst/>
          </a:prstGeom>
          <a:noFill/>
          <a:ln/>
        </p:spPr>
        <p:txBody>
          <a:bodyPr wrap="square" lIns="0" tIns="0" rIns="0" bIns="0" rtlCol="0" anchor="t"/>
          <a:lstStyle/>
          <a:p>
            <a:pPr marL="0" indent="0">
              <a:buNone/>
            </a:pPr>
            <a:r>
              <a:rPr lang="en-US" sz="1000" b="1" kern="0" spc="200" dirty="0">
                <a:solidFill>
                  <a:srgbClr val="1F2A30"/>
                </a:solidFill>
                <a:latin typeface="Calibri" pitchFamily="34" charset="0"/>
                <a:ea typeface="Calibri" pitchFamily="34" charset="-122"/>
                <a:cs typeface="Calibri" pitchFamily="34" charset="-120"/>
              </a:rPr>
              <a:t>DEVELOPER B</a:t>
            </a:r>
            <a:endParaRPr lang="en-US" sz="1000" dirty="0"/>
          </a:p>
        </p:txBody>
      </p:sp>
      <p:sp>
        <p:nvSpPr>
          <p:cNvPr id="50" name="Text 47"/>
          <p:cNvSpPr txBox="1"/>
          <p:nvPr/>
        </p:nvSpPr>
        <p:spPr>
          <a:xfrm>
            <a:off x="7132320" y="1587627"/>
            <a:ext cx="1463040" cy="228600"/>
          </a:xfrm>
          <a:prstGeom prst="rect">
            <a:avLst/>
          </a:prstGeom>
          <a:noFill/>
          <a:ln/>
        </p:spPr>
        <p:txBody>
          <a:bodyPr wrap="square" lIns="0" tIns="0" rIns="0" bIns="0" rtlCol="0" anchor="t"/>
          <a:lstStyle/>
          <a:p>
            <a:pPr marL="0" indent="0">
              <a:buNone/>
            </a:pPr>
            <a:r>
              <a:rPr lang="en-US" sz="900" dirty="0">
                <a:solidFill>
                  <a:srgbClr val="4A5A63"/>
                </a:solidFill>
                <a:latin typeface="Calibri" pitchFamily="34" charset="0"/>
                <a:ea typeface="Calibri" pitchFamily="34" charset="-122"/>
                <a:cs typeface="Calibri" pitchFamily="34" charset="-120"/>
              </a:rPr>
              <a:t>ADO-5678, six months later</a:t>
            </a:r>
            <a:endParaRPr lang="en-US" sz="900" dirty="0"/>
          </a:p>
        </p:txBody>
      </p:sp>
      <p:sp>
        <p:nvSpPr>
          <p:cNvPr id="51" name="Shape 48"/>
          <p:cNvSpPr/>
          <p:nvPr/>
        </p:nvSpPr>
        <p:spPr>
          <a:xfrm>
            <a:off x="7132320" y="1880235"/>
            <a:ext cx="1417320" cy="640080"/>
          </a:xfrm>
          <a:prstGeom prst="roundRect">
            <a:avLst>
              <a:gd name="adj" fmla="val 17143"/>
            </a:avLst>
          </a:prstGeom>
          <a:solidFill>
            <a:srgbClr val="FFFFFF"/>
          </a:solidFill>
          <a:ln w="12700">
            <a:solidFill>
              <a:srgbClr val="FFFFFF"/>
            </a:solidFill>
            <a:prstDash val="solid"/>
          </a:ln>
        </p:spPr>
        <p:txBody>
          <a:bodyPr/>
          <a:lstStyle/>
          <a:p>
            <a:endParaRPr lang="en-US"/>
          </a:p>
        </p:txBody>
      </p:sp>
      <p:sp>
        <p:nvSpPr>
          <p:cNvPr id="52" name="Text 49"/>
          <p:cNvSpPr txBox="1"/>
          <p:nvPr/>
        </p:nvSpPr>
        <p:spPr>
          <a:xfrm>
            <a:off x="7223760" y="1935099"/>
            <a:ext cx="1234440" cy="256032"/>
          </a:xfrm>
          <a:prstGeom prst="rect">
            <a:avLst/>
          </a:prstGeom>
          <a:noFill/>
          <a:ln/>
        </p:spPr>
        <p:txBody>
          <a:bodyPr wrap="square" lIns="0" tIns="0" rIns="0" bIns="0" rtlCol="0" anchor="t"/>
          <a:lstStyle/>
          <a:p>
            <a:pPr marL="0" indent="0">
              <a:buNone/>
            </a:pPr>
            <a:r>
              <a:rPr lang="en-US" sz="1050" b="1" dirty="0">
                <a:solidFill>
                  <a:srgbClr val="1F2A30"/>
                </a:solidFill>
                <a:latin typeface="Courier New" pitchFamily="34" charset="0"/>
                <a:ea typeface="Courier New" pitchFamily="34" charset="-122"/>
                <a:cs typeface="Courier New" pitchFamily="34" charset="-120"/>
              </a:rPr>
              <a:t>icea-feature</a:t>
            </a:r>
            <a:endParaRPr lang="en-US" sz="1050" dirty="0"/>
          </a:p>
        </p:txBody>
      </p:sp>
      <p:sp>
        <p:nvSpPr>
          <p:cNvPr id="53" name="Text 50"/>
          <p:cNvSpPr txBox="1"/>
          <p:nvPr/>
        </p:nvSpPr>
        <p:spPr>
          <a:xfrm>
            <a:off x="7223760" y="2200275"/>
            <a:ext cx="1234440" cy="274320"/>
          </a:xfrm>
          <a:prstGeom prst="rect">
            <a:avLst/>
          </a:prstGeom>
          <a:noFill/>
          <a:ln/>
        </p:spPr>
        <p:txBody>
          <a:bodyPr wrap="square" lIns="0" tIns="0" rIns="0" bIns="0" rtlCol="0" anchor="t"/>
          <a:lstStyle/>
          <a:p>
            <a:pPr marL="0" indent="0">
              <a:buNone/>
            </a:pPr>
            <a:r>
              <a:rPr lang="en-US" sz="900" dirty="0">
                <a:solidFill>
                  <a:srgbClr val="4A5A63"/>
                </a:solidFill>
                <a:latin typeface="Calibri" pitchFamily="34" charset="0"/>
                <a:ea typeface="Calibri" pitchFamily="34" charset="-122"/>
                <a:cs typeface="Calibri" pitchFamily="34" charset="-120"/>
              </a:rPr>
              <a:t>Reads the file at Step 3b</a:t>
            </a:r>
            <a:endParaRPr lang="en-US" sz="900" dirty="0"/>
          </a:p>
        </p:txBody>
      </p:sp>
      <p:sp>
        <p:nvSpPr>
          <p:cNvPr id="54" name="Shape 51"/>
          <p:cNvSpPr/>
          <p:nvPr/>
        </p:nvSpPr>
        <p:spPr>
          <a:xfrm>
            <a:off x="7840980" y="2538603"/>
            <a:ext cx="914" cy="173736"/>
          </a:xfrm>
          <a:prstGeom prst="line">
            <a:avLst/>
          </a:prstGeom>
          <a:noFill/>
          <a:ln w="22225">
            <a:solidFill>
              <a:srgbClr val="4A5A63"/>
            </a:solidFill>
            <a:prstDash val="solid"/>
            <a:tailEnd type="triangle"/>
          </a:ln>
        </p:spPr>
        <p:txBody>
          <a:bodyPr/>
          <a:lstStyle/>
          <a:p>
            <a:endParaRPr lang="en-US"/>
          </a:p>
        </p:txBody>
      </p:sp>
      <p:sp>
        <p:nvSpPr>
          <p:cNvPr id="55" name="Shape 52"/>
          <p:cNvSpPr/>
          <p:nvPr/>
        </p:nvSpPr>
        <p:spPr>
          <a:xfrm>
            <a:off x="7132320" y="2730627"/>
            <a:ext cx="1417320" cy="640080"/>
          </a:xfrm>
          <a:prstGeom prst="roundRect">
            <a:avLst>
              <a:gd name="adj" fmla="val 17143"/>
            </a:avLst>
          </a:prstGeom>
          <a:solidFill>
            <a:srgbClr val="FFFFFF"/>
          </a:solidFill>
          <a:ln w="12700">
            <a:solidFill>
              <a:srgbClr val="FFFFFF"/>
            </a:solidFill>
            <a:prstDash val="solid"/>
          </a:ln>
        </p:spPr>
        <p:txBody>
          <a:bodyPr/>
          <a:lstStyle/>
          <a:p>
            <a:endParaRPr lang="en-US"/>
          </a:p>
        </p:txBody>
      </p:sp>
      <p:sp>
        <p:nvSpPr>
          <p:cNvPr id="56" name="Text 53"/>
          <p:cNvSpPr txBox="1"/>
          <p:nvPr/>
        </p:nvSpPr>
        <p:spPr>
          <a:xfrm>
            <a:off x="7223760" y="2785491"/>
            <a:ext cx="1234440" cy="256032"/>
          </a:xfrm>
          <a:prstGeom prst="rect">
            <a:avLst/>
          </a:prstGeom>
          <a:noFill/>
          <a:ln/>
        </p:spPr>
        <p:txBody>
          <a:bodyPr wrap="square" lIns="0" tIns="0" rIns="0" bIns="0" rtlCol="0" anchor="t"/>
          <a:lstStyle/>
          <a:p>
            <a:pPr marL="0" indent="0">
              <a:buNone/>
            </a:pPr>
            <a:r>
              <a:rPr lang="en-US" sz="1050" b="1" dirty="0">
                <a:solidFill>
                  <a:srgbClr val="1F2A30"/>
                </a:solidFill>
                <a:latin typeface="Calibri" pitchFamily="34" charset="0"/>
                <a:ea typeface="Calibri" pitchFamily="34" charset="-122"/>
                <a:cs typeface="Calibri" pitchFamily="34" charset="-120"/>
              </a:rPr>
              <a:t>ICEA draft</a:t>
            </a:r>
            <a:endParaRPr lang="en-US" sz="1050" dirty="0"/>
          </a:p>
        </p:txBody>
      </p:sp>
      <p:sp>
        <p:nvSpPr>
          <p:cNvPr id="57" name="Text 54"/>
          <p:cNvSpPr txBox="1"/>
          <p:nvPr/>
        </p:nvSpPr>
        <p:spPr>
          <a:xfrm>
            <a:off x="7223760" y="3050667"/>
            <a:ext cx="1234440" cy="274320"/>
          </a:xfrm>
          <a:prstGeom prst="rect">
            <a:avLst/>
          </a:prstGeom>
          <a:noFill/>
          <a:ln/>
        </p:spPr>
        <p:txBody>
          <a:bodyPr wrap="square" lIns="0" tIns="0" rIns="0" bIns="0" rtlCol="0" anchor="t"/>
          <a:lstStyle/>
          <a:p>
            <a:pPr marL="0" indent="0">
              <a:buNone/>
            </a:pPr>
            <a:r>
              <a:rPr lang="en-US" sz="900" dirty="0">
                <a:solidFill>
                  <a:srgbClr val="4A5A63"/>
                </a:solidFill>
                <a:latin typeface="Calibri" pitchFamily="34" charset="0"/>
                <a:ea typeface="Calibri" pitchFamily="34" charset="-122"/>
                <a:cs typeface="Calibri" pitchFamily="34" charset="-120"/>
              </a:rPr>
              <a:t>Pattern already applied</a:t>
            </a:r>
            <a:endParaRPr lang="en-US" sz="900" dirty="0"/>
          </a:p>
        </p:txBody>
      </p:sp>
      <p:sp>
        <p:nvSpPr>
          <p:cNvPr id="58" name="Shape 55"/>
          <p:cNvSpPr/>
          <p:nvPr/>
        </p:nvSpPr>
        <p:spPr>
          <a:xfrm>
            <a:off x="7840980" y="3388995"/>
            <a:ext cx="914" cy="173736"/>
          </a:xfrm>
          <a:prstGeom prst="line">
            <a:avLst/>
          </a:prstGeom>
          <a:noFill/>
          <a:ln w="22225">
            <a:solidFill>
              <a:srgbClr val="4A5A63"/>
            </a:solidFill>
            <a:prstDash val="solid"/>
            <a:tailEnd type="triangle"/>
          </a:ln>
        </p:spPr>
        <p:txBody>
          <a:bodyPr/>
          <a:lstStyle/>
          <a:p>
            <a:endParaRPr lang="en-US"/>
          </a:p>
        </p:txBody>
      </p:sp>
      <p:sp>
        <p:nvSpPr>
          <p:cNvPr id="59" name="Shape 56"/>
          <p:cNvSpPr/>
          <p:nvPr/>
        </p:nvSpPr>
        <p:spPr>
          <a:xfrm>
            <a:off x="7132320" y="3581019"/>
            <a:ext cx="1417320" cy="640080"/>
          </a:xfrm>
          <a:prstGeom prst="roundRect">
            <a:avLst>
              <a:gd name="adj" fmla="val 17143"/>
            </a:avLst>
          </a:prstGeom>
          <a:solidFill>
            <a:srgbClr val="2A9D8F"/>
          </a:solidFill>
          <a:ln w="12700">
            <a:solidFill>
              <a:srgbClr val="2A9D8F"/>
            </a:solidFill>
            <a:prstDash val="solid"/>
          </a:ln>
        </p:spPr>
        <p:txBody>
          <a:bodyPr/>
          <a:lstStyle/>
          <a:p>
            <a:endParaRPr lang="en-US"/>
          </a:p>
        </p:txBody>
      </p:sp>
      <p:sp>
        <p:nvSpPr>
          <p:cNvPr id="60" name="Text 57"/>
          <p:cNvSpPr txBox="1"/>
          <p:nvPr/>
        </p:nvSpPr>
        <p:spPr>
          <a:xfrm>
            <a:off x="7223760" y="3635883"/>
            <a:ext cx="1234440" cy="256032"/>
          </a:xfrm>
          <a:prstGeom prst="rect">
            <a:avLst/>
          </a:prstGeom>
          <a:noFill/>
          <a:ln/>
        </p:spPr>
        <p:txBody>
          <a:bodyPr wrap="square" lIns="0" tIns="0" rIns="0" bIns="0" rtlCol="0" anchor="t"/>
          <a:lstStyle/>
          <a:p>
            <a:pPr marL="0" indent="0">
              <a:buNone/>
            </a:pPr>
            <a:r>
              <a:rPr lang="en-US" sz="1050" b="1" dirty="0">
                <a:solidFill>
                  <a:srgbClr val="FFFFFF"/>
                </a:solidFill>
                <a:latin typeface="Calibri" pitchFamily="34" charset="0"/>
                <a:ea typeface="Calibri" pitchFamily="34" charset="-122"/>
                <a:cs typeface="Calibri" pitchFamily="34" charset="-120"/>
              </a:rPr>
              <a:t>First time right</a:t>
            </a:r>
            <a:endParaRPr lang="en-US" sz="1050" dirty="0"/>
          </a:p>
        </p:txBody>
      </p:sp>
      <p:sp>
        <p:nvSpPr>
          <p:cNvPr id="61" name="Text 58"/>
          <p:cNvSpPr txBox="1"/>
          <p:nvPr/>
        </p:nvSpPr>
        <p:spPr>
          <a:xfrm>
            <a:off x="7223760" y="3901059"/>
            <a:ext cx="1234440" cy="27432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No revision cycle</a:t>
            </a:r>
            <a:endParaRPr lang="en-US" sz="900" dirty="0"/>
          </a:p>
        </p:txBody>
      </p:sp>
      <p:sp>
        <p:nvSpPr>
          <p:cNvPr id="62" name="Text 59"/>
          <p:cNvSpPr txBox="1"/>
          <p:nvPr/>
        </p:nvSpPr>
        <p:spPr>
          <a:xfrm>
            <a:off x="457200" y="4486275"/>
            <a:ext cx="8229600" cy="365760"/>
          </a:xfrm>
          <a:prstGeom prst="rect">
            <a:avLst/>
          </a:prstGeom>
          <a:noFill/>
          <a:ln/>
        </p:spPr>
        <p:txBody>
          <a:bodyPr wrap="square" lIns="0" tIns="0" rIns="0" bIns="0" rtlCol="0" anchor="t"/>
          <a:lstStyle/>
          <a:p>
            <a:pPr marL="0" indent="0">
              <a:buNone/>
            </a:pPr>
            <a:r>
              <a:rPr lang="en-US" sz="1600" b="1" dirty="0">
                <a:solidFill>
                  <a:srgbClr val="1F2A30"/>
                </a:solidFill>
                <a:latin typeface="Cambria" pitchFamily="34" charset="0"/>
                <a:ea typeface="Cambria" pitchFamily="34" charset="-122"/>
                <a:cs typeface="Cambria" pitchFamily="34" charset="-120"/>
              </a:rPr>
              <a:t>Developer A said yes once. Developer B never had to ask.</a:t>
            </a:r>
            <a:endParaRPr lang="en-US" sz="1600" dirty="0"/>
          </a:p>
        </p:txBody>
      </p:sp>
      <p:sp>
        <p:nvSpPr>
          <p:cNvPr id="63" name="Text 1">
            <a:extLst>
              <a:ext uri="{FF2B5EF4-FFF2-40B4-BE49-F238E27FC236}">
                <a16:creationId xmlns:a16="http://schemas.microsoft.com/office/drawing/2014/main" id="{8A07E54E-F0DE-1167-27C6-6758E10542C1}"/>
              </a:ext>
            </a:extLst>
          </p:cNvPr>
          <p:cNvSpPr txBox="1"/>
          <p:nvPr/>
        </p:nvSpPr>
        <p:spPr>
          <a:xfrm>
            <a:off x="457200" y="896112"/>
            <a:ext cx="8229600" cy="274320"/>
          </a:xfrm>
          <a:prstGeom prst="rect">
            <a:avLst/>
          </a:prstGeom>
          <a:noFill/>
          <a:ln/>
        </p:spPr>
        <p:txBody>
          <a:bodyPr wrap="square" lIns="0" tIns="0" rIns="0" bIns="0" rtlCol="0" anchor="t"/>
          <a:lstStyle/>
          <a:p>
            <a:pPr marL="0" indent="0">
              <a:buNone/>
            </a:pPr>
            <a:r>
              <a:rPr lang="en-US" sz="1300" i="1" dirty="0">
                <a:solidFill>
                  <a:srgbClr val="2A9D8F"/>
                </a:solidFill>
                <a:latin typeface="Calibri" pitchFamily="34" charset="0"/>
                <a:ea typeface="Calibri" pitchFamily="34" charset="-122"/>
                <a:cs typeface="Calibri" pitchFamily="34" charset="-120"/>
              </a:rPr>
              <a:t>A pattern library that makes every future ICEA better. It's not the memory log, and it's not an audit trail.</a:t>
            </a:r>
            <a:endParaRPr lang="en-US" sz="1300" dirty="0"/>
          </a:p>
        </p:txBody>
      </p:sp>
      <p:sp>
        <p:nvSpPr>
          <p:cNvPr id="70" name="Text 3">
            <a:extLst>
              <a:ext uri="{FF2B5EF4-FFF2-40B4-BE49-F238E27FC236}">
                <a16:creationId xmlns:a16="http://schemas.microsoft.com/office/drawing/2014/main" id="{B6B44EDD-0997-3DD7-3A25-0B036EF8CF21}"/>
              </a:ext>
            </a:extLst>
          </p:cNvPr>
          <p:cNvSpPr txBox="1"/>
          <p:nvPr/>
        </p:nvSpPr>
        <p:spPr>
          <a:xfrm>
            <a:off x="601523" y="3417380"/>
            <a:ext cx="2743200" cy="228600"/>
          </a:xfrm>
          <a:prstGeom prst="rect">
            <a:avLst/>
          </a:prstGeom>
          <a:noFill/>
          <a:ln/>
        </p:spPr>
        <p:txBody>
          <a:bodyPr wrap="square" lIns="0" tIns="0" rIns="0" bIns="0" rtlCol="0" anchor="t"/>
          <a:lstStyle/>
          <a:p>
            <a:pPr marL="0" indent="0">
              <a:buNone/>
            </a:pPr>
            <a:r>
              <a:rPr lang="en-US" sz="1000" b="1" kern="0" spc="200" dirty="0">
                <a:solidFill>
                  <a:srgbClr val="1F2A30"/>
                </a:solidFill>
                <a:latin typeface="Calibri" pitchFamily="34" charset="0"/>
                <a:ea typeface="Calibri" pitchFamily="34" charset="-122"/>
                <a:cs typeface="Calibri" pitchFamily="34" charset="-120"/>
              </a:rPr>
              <a:t>Tech Lead (Sprint End)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Built-in spring cleaning</a:t>
            </a:r>
            <a:endParaRPr lang="en-US" sz="3000" dirty="0"/>
          </a:p>
        </p:txBody>
      </p:sp>
      <p:sp>
        <p:nvSpPr>
          <p:cNvPr id="4" name="Shape 2"/>
          <p:cNvSpPr/>
          <p:nvPr/>
        </p:nvSpPr>
        <p:spPr>
          <a:xfrm>
            <a:off x="457200" y="1097280"/>
            <a:ext cx="8229600" cy="1965960"/>
          </a:xfrm>
          <a:prstGeom prst="roundRect">
            <a:avLst>
              <a:gd name="adj" fmla="val 5581"/>
            </a:avLst>
          </a:prstGeom>
          <a:solidFill>
            <a:srgbClr val="F6F8F9"/>
          </a:solidFill>
          <a:ln w="12700">
            <a:solidFill>
              <a:srgbClr val="F6F8F9"/>
            </a:solidFill>
            <a:prstDash val="solid"/>
          </a:ln>
        </p:spPr>
        <p:txBody>
          <a:bodyPr/>
          <a:lstStyle/>
          <a:p>
            <a:endParaRPr lang="en-US"/>
          </a:p>
        </p:txBody>
      </p:sp>
      <p:sp>
        <p:nvSpPr>
          <p:cNvPr id="5" name="Text 3"/>
          <p:cNvSpPr txBox="1"/>
          <p:nvPr/>
        </p:nvSpPr>
        <p:spPr>
          <a:xfrm>
            <a:off x="640080" y="1188720"/>
            <a:ext cx="2011680" cy="228600"/>
          </a:xfrm>
          <a:prstGeom prst="rect">
            <a:avLst/>
          </a:prstGeom>
          <a:noFill/>
          <a:ln/>
        </p:spPr>
        <p:txBody>
          <a:bodyPr wrap="square" lIns="0" tIns="0" rIns="0" bIns="0" rtlCol="0" anchor="t"/>
          <a:lstStyle/>
          <a:p>
            <a:pPr marL="0" indent="0">
              <a:buNone/>
            </a:pPr>
            <a:r>
              <a:rPr lang="en-US" sz="1000" b="1" kern="0" spc="200" dirty="0">
                <a:solidFill>
                  <a:srgbClr val="1F2A30"/>
                </a:solidFill>
                <a:latin typeface="Calibri" pitchFamily="34" charset="0"/>
                <a:ea typeface="Calibri" pitchFamily="34" charset="-122"/>
                <a:cs typeface="Calibri" pitchFamily="34" charset="-120"/>
              </a:rPr>
              <a:t>EVERY /DREAM RUN</a:t>
            </a:r>
            <a:endParaRPr lang="en-US" sz="1000" dirty="0"/>
          </a:p>
        </p:txBody>
      </p:sp>
      <p:sp>
        <p:nvSpPr>
          <p:cNvPr id="6" name="Text 4"/>
          <p:cNvSpPr txBox="1"/>
          <p:nvPr/>
        </p:nvSpPr>
        <p:spPr>
          <a:xfrm>
            <a:off x="2606040" y="1188720"/>
            <a:ext cx="4572000" cy="228600"/>
          </a:xfrm>
          <a:prstGeom prst="rect">
            <a:avLst/>
          </a:prstGeom>
          <a:noFill/>
          <a:ln/>
        </p:spPr>
        <p:txBody>
          <a:bodyPr wrap="square" lIns="0" tIns="0" rIns="0" bIns="0" rtlCol="0" anchor="t"/>
          <a:lstStyle/>
          <a:p>
            <a:pPr marL="0" indent="0">
              <a:buNone/>
            </a:pPr>
            <a:r>
              <a:rPr lang="en-US" sz="1000" i="1" dirty="0">
                <a:solidFill>
                  <a:srgbClr val="4A5A63"/>
                </a:solidFill>
                <a:latin typeface="Calibri" pitchFamily="34" charset="0"/>
                <a:ea typeface="Calibri" pitchFamily="34" charset="-122"/>
                <a:cs typeface="Calibri" pitchFamily="34" charset="-120"/>
              </a:rPr>
              <a:t>Second pass, after MEMORY.md and before Phase 4</a:t>
            </a:r>
            <a:endParaRPr lang="en-US" sz="1000" dirty="0"/>
          </a:p>
        </p:txBody>
      </p:sp>
      <p:sp>
        <p:nvSpPr>
          <p:cNvPr id="7" name="Shape 5"/>
          <p:cNvSpPr/>
          <p:nvPr/>
        </p:nvSpPr>
        <p:spPr>
          <a:xfrm>
            <a:off x="640080" y="1536192"/>
            <a:ext cx="2331720" cy="1371600"/>
          </a:xfrm>
          <a:prstGeom prst="roundRect">
            <a:avLst>
              <a:gd name="adj" fmla="val 8000"/>
            </a:avLst>
          </a:prstGeom>
          <a:solidFill>
            <a:srgbClr val="FFFFFF"/>
          </a:solidFill>
          <a:ln w="12700">
            <a:solidFill>
              <a:srgbClr val="FFFFFF"/>
            </a:solidFill>
            <a:prstDash val="solid"/>
          </a:ln>
        </p:spPr>
        <p:txBody>
          <a:bodyPr/>
          <a:lstStyle/>
          <a:p>
            <a:endParaRPr lang="en-US"/>
          </a:p>
        </p:txBody>
      </p:sp>
      <p:sp>
        <p:nvSpPr>
          <p:cNvPr id="8" name="Shape 6"/>
          <p:cNvSpPr/>
          <p:nvPr/>
        </p:nvSpPr>
        <p:spPr>
          <a:xfrm>
            <a:off x="777240" y="1673352"/>
            <a:ext cx="292608" cy="292608"/>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9" name="Text 7"/>
          <p:cNvSpPr txBox="1"/>
          <p:nvPr/>
        </p:nvSpPr>
        <p:spPr>
          <a:xfrm>
            <a:off x="777240" y="16733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1170432" y="1655064"/>
            <a:ext cx="1737360" cy="32004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Code anchor</a:t>
            </a:r>
            <a:endParaRPr lang="en-US" sz="1300" dirty="0"/>
          </a:p>
        </p:txBody>
      </p:sp>
      <p:sp>
        <p:nvSpPr>
          <p:cNvPr id="11" name="Text 9"/>
          <p:cNvSpPr txBox="1"/>
          <p:nvPr/>
        </p:nvSpPr>
        <p:spPr>
          <a:xfrm>
            <a:off x="777240" y="2039112"/>
            <a:ext cx="2103120" cy="384048"/>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Looks for the entry's class or interface in src/</a:t>
            </a:r>
            <a:endParaRPr lang="en-US" sz="1000" dirty="0"/>
          </a:p>
        </p:txBody>
      </p:sp>
      <p:sp>
        <p:nvSpPr>
          <p:cNvPr id="12" name="Shape 10"/>
          <p:cNvSpPr/>
          <p:nvPr/>
        </p:nvSpPr>
        <p:spPr>
          <a:xfrm>
            <a:off x="777240" y="2496312"/>
            <a:ext cx="1188720" cy="274320"/>
          </a:xfrm>
          <a:prstGeom prst="roundRect">
            <a:avLst>
              <a:gd name="adj" fmla="val 50000"/>
            </a:avLst>
          </a:prstGeom>
          <a:solidFill>
            <a:srgbClr val="FBEBD2"/>
          </a:solidFill>
          <a:ln w="12700">
            <a:solidFill>
              <a:srgbClr val="FBEBD2"/>
            </a:solidFill>
            <a:prstDash val="solid"/>
          </a:ln>
        </p:spPr>
        <p:txBody>
          <a:bodyPr/>
          <a:lstStyle/>
          <a:p>
            <a:endParaRPr lang="en-US"/>
          </a:p>
        </p:txBody>
      </p:sp>
      <p:sp>
        <p:nvSpPr>
          <p:cNvPr id="13" name="Text 11"/>
          <p:cNvSpPr txBox="1"/>
          <p:nvPr/>
        </p:nvSpPr>
        <p:spPr>
          <a:xfrm>
            <a:off x="777240" y="2496312"/>
            <a:ext cx="1188720" cy="274320"/>
          </a:xfrm>
          <a:prstGeom prst="rect">
            <a:avLst/>
          </a:prstGeom>
          <a:noFill/>
          <a:ln/>
        </p:spPr>
        <p:txBody>
          <a:bodyPr wrap="square" lIns="0" tIns="0" rIns="0" bIns="0" rtlCol="0" anchor="ctr"/>
          <a:lstStyle/>
          <a:p>
            <a:pPr marL="0" indent="0" algn="ctr">
              <a:buNone/>
            </a:pPr>
            <a:r>
              <a:rPr lang="en-US" sz="850" b="1" dirty="0">
                <a:solidFill>
                  <a:srgbClr val="1F2A30"/>
                </a:solidFill>
                <a:latin typeface="Calibri" pitchFamily="34" charset="0"/>
                <a:ea typeface="Calibri" pitchFamily="34" charset="-122"/>
                <a:cs typeface="Calibri" pitchFamily="34" charset="-120"/>
              </a:rPr>
              <a:t>ANCHOR MISSING</a:t>
            </a:r>
            <a:endParaRPr lang="en-US" sz="850" dirty="0"/>
          </a:p>
        </p:txBody>
      </p:sp>
      <p:sp>
        <p:nvSpPr>
          <p:cNvPr id="14" name="Shape 12"/>
          <p:cNvSpPr/>
          <p:nvPr/>
        </p:nvSpPr>
        <p:spPr>
          <a:xfrm>
            <a:off x="2002536" y="2633472"/>
            <a:ext cx="173736" cy="914"/>
          </a:xfrm>
          <a:prstGeom prst="line">
            <a:avLst/>
          </a:prstGeom>
          <a:noFill/>
          <a:ln w="22225">
            <a:solidFill>
              <a:srgbClr val="4A5A63"/>
            </a:solidFill>
            <a:prstDash val="solid"/>
            <a:tailEnd type="triangle"/>
          </a:ln>
        </p:spPr>
        <p:txBody>
          <a:bodyPr/>
          <a:lstStyle/>
          <a:p>
            <a:endParaRPr lang="en-US"/>
          </a:p>
        </p:txBody>
      </p:sp>
      <p:sp>
        <p:nvSpPr>
          <p:cNvPr id="15" name="Shape 13"/>
          <p:cNvSpPr/>
          <p:nvPr/>
        </p:nvSpPr>
        <p:spPr>
          <a:xfrm>
            <a:off x="2212848" y="2496312"/>
            <a:ext cx="658368" cy="274320"/>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16" name="Text 14"/>
          <p:cNvSpPr txBox="1"/>
          <p:nvPr/>
        </p:nvSpPr>
        <p:spPr>
          <a:xfrm>
            <a:off x="2212848" y="2496312"/>
            <a:ext cx="6583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REMOVE</a:t>
            </a:r>
            <a:endParaRPr lang="en-US" sz="800" dirty="0"/>
          </a:p>
        </p:txBody>
      </p:sp>
      <p:sp>
        <p:nvSpPr>
          <p:cNvPr id="17" name="Shape 15"/>
          <p:cNvSpPr/>
          <p:nvPr/>
        </p:nvSpPr>
        <p:spPr>
          <a:xfrm>
            <a:off x="3154680" y="1536192"/>
            <a:ext cx="2331720" cy="1371600"/>
          </a:xfrm>
          <a:prstGeom prst="roundRect">
            <a:avLst>
              <a:gd name="adj" fmla="val 8000"/>
            </a:avLst>
          </a:prstGeom>
          <a:solidFill>
            <a:srgbClr val="FFFFFF"/>
          </a:solidFill>
          <a:ln w="12700">
            <a:solidFill>
              <a:srgbClr val="FFFFFF"/>
            </a:solidFill>
            <a:prstDash val="solid"/>
          </a:ln>
        </p:spPr>
        <p:txBody>
          <a:bodyPr/>
          <a:lstStyle/>
          <a:p>
            <a:endParaRPr lang="en-US"/>
          </a:p>
        </p:txBody>
      </p:sp>
      <p:sp>
        <p:nvSpPr>
          <p:cNvPr id="18" name="Shape 16"/>
          <p:cNvSpPr/>
          <p:nvPr/>
        </p:nvSpPr>
        <p:spPr>
          <a:xfrm>
            <a:off x="3291840" y="1673352"/>
            <a:ext cx="292608" cy="292608"/>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19" name="Text 17"/>
          <p:cNvSpPr txBox="1"/>
          <p:nvPr/>
        </p:nvSpPr>
        <p:spPr>
          <a:xfrm>
            <a:off x="3291840" y="16733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8"/>
          <p:cNvSpPr txBox="1"/>
          <p:nvPr/>
        </p:nvSpPr>
        <p:spPr>
          <a:xfrm>
            <a:off x="3685032" y="1655064"/>
            <a:ext cx="1737360" cy="32004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Age</a:t>
            </a:r>
            <a:endParaRPr lang="en-US" sz="1300" dirty="0"/>
          </a:p>
        </p:txBody>
      </p:sp>
      <p:sp>
        <p:nvSpPr>
          <p:cNvPr id="21" name="Text 19"/>
          <p:cNvSpPr txBox="1"/>
          <p:nvPr/>
        </p:nvSpPr>
        <p:spPr>
          <a:xfrm>
            <a:off x="3291840" y="2039112"/>
            <a:ext cx="2103120" cy="384048"/>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Older than 180 days or 2 releases, anchor or not</a:t>
            </a:r>
            <a:endParaRPr lang="en-US" sz="1000" dirty="0"/>
          </a:p>
        </p:txBody>
      </p:sp>
      <p:sp>
        <p:nvSpPr>
          <p:cNvPr id="22" name="Shape 20"/>
          <p:cNvSpPr/>
          <p:nvPr/>
        </p:nvSpPr>
        <p:spPr>
          <a:xfrm>
            <a:off x="3291840" y="2496312"/>
            <a:ext cx="1188720" cy="274320"/>
          </a:xfrm>
          <a:prstGeom prst="roundRect">
            <a:avLst>
              <a:gd name="adj" fmla="val 50000"/>
            </a:avLst>
          </a:prstGeom>
          <a:solidFill>
            <a:srgbClr val="FBEBD2"/>
          </a:solidFill>
          <a:ln w="12700">
            <a:solidFill>
              <a:srgbClr val="FBEBD2"/>
            </a:solidFill>
            <a:prstDash val="solid"/>
          </a:ln>
        </p:spPr>
        <p:txBody>
          <a:bodyPr/>
          <a:lstStyle/>
          <a:p>
            <a:endParaRPr lang="en-US"/>
          </a:p>
        </p:txBody>
      </p:sp>
      <p:sp>
        <p:nvSpPr>
          <p:cNvPr id="23" name="Text 21"/>
          <p:cNvSpPr txBox="1"/>
          <p:nvPr/>
        </p:nvSpPr>
        <p:spPr>
          <a:xfrm>
            <a:off x="3291840" y="2496312"/>
            <a:ext cx="1188720" cy="274320"/>
          </a:xfrm>
          <a:prstGeom prst="rect">
            <a:avLst/>
          </a:prstGeom>
          <a:noFill/>
          <a:ln/>
        </p:spPr>
        <p:txBody>
          <a:bodyPr wrap="square" lIns="0" tIns="0" rIns="0" bIns="0" rtlCol="0" anchor="ctr"/>
          <a:lstStyle/>
          <a:p>
            <a:pPr marL="0" indent="0" algn="ctr">
              <a:buNone/>
            </a:pPr>
            <a:r>
              <a:rPr lang="en-US" sz="850" b="1" dirty="0">
                <a:solidFill>
                  <a:srgbClr val="1F2A30"/>
                </a:solidFill>
                <a:latin typeface="Calibri" pitchFamily="34" charset="0"/>
                <a:ea typeface="Calibri" pitchFamily="34" charset="-122"/>
                <a:cs typeface="Calibri" pitchFamily="34" charset="-120"/>
              </a:rPr>
              <a:t>AGE THRESHOLD</a:t>
            </a:r>
            <a:endParaRPr lang="en-US" sz="850" dirty="0"/>
          </a:p>
        </p:txBody>
      </p:sp>
      <p:sp>
        <p:nvSpPr>
          <p:cNvPr id="24" name="Shape 22"/>
          <p:cNvSpPr/>
          <p:nvPr/>
        </p:nvSpPr>
        <p:spPr>
          <a:xfrm>
            <a:off x="4517136" y="2633472"/>
            <a:ext cx="173736" cy="914"/>
          </a:xfrm>
          <a:prstGeom prst="line">
            <a:avLst/>
          </a:prstGeom>
          <a:noFill/>
          <a:ln w="22225">
            <a:solidFill>
              <a:srgbClr val="4A5A63"/>
            </a:solidFill>
            <a:prstDash val="solid"/>
            <a:tailEnd type="triangle"/>
          </a:ln>
        </p:spPr>
        <p:txBody>
          <a:bodyPr/>
          <a:lstStyle/>
          <a:p>
            <a:endParaRPr lang="en-US"/>
          </a:p>
        </p:txBody>
      </p:sp>
      <p:sp>
        <p:nvSpPr>
          <p:cNvPr id="25" name="Shape 23"/>
          <p:cNvSpPr/>
          <p:nvPr/>
        </p:nvSpPr>
        <p:spPr>
          <a:xfrm>
            <a:off x="4727448" y="2496312"/>
            <a:ext cx="658368" cy="274320"/>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26" name="Text 24"/>
          <p:cNvSpPr txBox="1"/>
          <p:nvPr/>
        </p:nvSpPr>
        <p:spPr>
          <a:xfrm>
            <a:off x="4727448" y="2496312"/>
            <a:ext cx="6583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REVALIDATE</a:t>
            </a:r>
            <a:endParaRPr lang="en-US" sz="800" dirty="0"/>
          </a:p>
        </p:txBody>
      </p:sp>
      <p:sp>
        <p:nvSpPr>
          <p:cNvPr id="27" name="Shape 25"/>
          <p:cNvSpPr/>
          <p:nvPr/>
        </p:nvSpPr>
        <p:spPr>
          <a:xfrm>
            <a:off x="5513832" y="2221992"/>
            <a:ext cx="338328" cy="914"/>
          </a:xfrm>
          <a:prstGeom prst="line">
            <a:avLst/>
          </a:prstGeom>
          <a:noFill/>
          <a:ln w="22225">
            <a:solidFill>
              <a:srgbClr val="4A5A63"/>
            </a:solidFill>
            <a:prstDash val="solid"/>
            <a:tailEnd type="triangle"/>
          </a:ln>
        </p:spPr>
        <p:txBody>
          <a:bodyPr/>
          <a:lstStyle/>
          <a:p>
            <a:endParaRPr lang="en-US"/>
          </a:p>
        </p:txBody>
      </p:sp>
      <p:sp>
        <p:nvSpPr>
          <p:cNvPr id="28" name="Shape 26"/>
          <p:cNvSpPr/>
          <p:nvPr/>
        </p:nvSpPr>
        <p:spPr>
          <a:xfrm>
            <a:off x="5897880" y="1536192"/>
            <a:ext cx="2606040" cy="1371600"/>
          </a:xfrm>
          <a:prstGeom prst="roundRect">
            <a:avLst>
              <a:gd name="adj" fmla="val 8000"/>
            </a:avLst>
          </a:prstGeom>
          <a:solidFill>
            <a:srgbClr val="1F2A30"/>
          </a:solidFill>
          <a:ln w="12700">
            <a:solidFill>
              <a:srgbClr val="1F2A30"/>
            </a:solidFill>
            <a:prstDash val="solid"/>
          </a:ln>
        </p:spPr>
        <p:txBody>
          <a:bodyPr/>
          <a:lstStyle/>
          <a:p>
            <a:endParaRPr lang="en-US"/>
          </a:p>
        </p:txBody>
      </p:sp>
      <p:sp>
        <p:nvSpPr>
          <p:cNvPr id="29" name="Text 27"/>
          <p:cNvSpPr txBox="1"/>
          <p:nvPr/>
        </p:nvSpPr>
        <p:spPr>
          <a:xfrm>
            <a:off x="6053328" y="1609344"/>
            <a:ext cx="2286000" cy="274320"/>
          </a:xfrm>
          <a:prstGeom prst="rect">
            <a:avLst/>
          </a:prstGeom>
          <a:noFill/>
          <a:ln/>
        </p:spPr>
        <p:txBody>
          <a:bodyPr wrap="square" lIns="0" tIns="0" rIns="0" bIns="0" rtlCol="0" anchor="t"/>
          <a:lstStyle/>
          <a:p>
            <a:pPr marL="0" indent="0">
              <a:buNone/>
            </a:pPr>
            <a:r>
              <a:rPr lang="en-US" sz="1200" b="1" dirty="0">
                <a:solidFill>
                  <a:srgbClr val="E9A23B"/>
                </a:solidFill>
                <a:latin typeface="Calibri" pitchFamily="34" charset="0"/>
                <a:ea typeface="Calibri" pitchFamily="34" charset="-122"/>
                <a:cs typeface="Calibri" pitchFamily="34" charset="-120"/>
              </a:rPr>
              <a:t>Developer decides</a:t>
            </a:r>
            <a:endParaRPr lang="en-US" sz="1200" dirty="0"/>
          </a:p>
        </p:txBody>
      </p:sp>
      <p:sp>
        <p:nvSpPr>
          <p:cNvPr id="30" name="Text 28"/>
          <p:cNvSpPr txBox="1"/>
          <p:nvPr/>
        </p:nvSpPr>
        <p:spPr>
          <a:xfrm>
            <a:off x="6053328" y="1947672"/>
            <a:ext cx="1097280" cy="274320"/>
          </a:xfrm>
          <a:prstGeom prst="rect">
            <a:avLst/>
          </a:prstGeom>
          <a:noFill/>
          <a:ln/>
        </p:spPr>
        <p:txBody>
          <a:bodyPr wrap="square" lIns="0" tIns="0" rIns="0" bIns="0" rtlCol="0" anchor="ctr"/>
          <a:lstStyle/>
          <a:p>
            <a:pPr marL="0" indent="0">
              <a:buNone/>
            </a:pPr>
            <a:r>
              <a:rPr lang="en-US" sz="1050" b="1" dirty="0">
                <a:solidFill>
                  <a:srgbClr val="FFFFFF"/>
                </a:solidFill>
                <a:latin typeface="Courier New" pitchFamily="34" charset="0"/>
                <a:ea typeface="Courier New" pitchFamily="34" charset="-122"/>
                <a:cs typeface="Courier New" pitchFamily="34" charset="-120"/>
              </a:rPr>
              <a:t>KEEP-{N}</a:t>
            </a:r>
            <a:endParaRPr lang="en-US" sz="1050" dirty="0"/>
          </a:p>
        </p:txBody>
      </p:sp>
      <p:sp>
        <p:nvSpPr>
          <p:cNvPr id="31" name="Text 29"/>
          <p:cNvSpPr txBox="1"/>
          <p:nvPr/>
        </p:nvSpPr>
        <p:spPr>
          <a:xfrm>
            <a:off x="7178040" y="1947672"/>
            <a:ext cx="1280160" cy="274320"/>
          </a:xfrm>
          <a:prstGeom prst="rect">
            <a:avLst/>
          </a:prstGeom>
          <a:noFill/>
          <a:ln/>
        </p:spPr>
        <p:txBody>
          <a:bodyPr wrap="square" lIns="0" tIns="0" rIns="0" bIns="0" rtlCol="0" anchor="ctr"/>
          <a:lstStyle/>
          <a:p>
            <a:pPr marL="0" indent="0">
              <a:buNone/>
            </a:pPr>
            <a:r>
              <a:rPr lang="en-US" sz="1000" dirty="0">
                <a:solidFill>
                  <a:srgbClr val="B8C4C9"/>
                </a:solidFill>
                <a:latin typeface="Calibri" pitchFamily="34" charset="0"/>
                <a:ea typeface="Calibri" pitchFamily="34" charset="-122"/>
                <a:cs typeface="Calibri" pitchFamily="34" charset="-120"/>
              </a:rPr>
              <a:t>Accept as it is</a:t>
            </a:r>
            <a:endParaRPr lang="en-US" sz="1000" dirty="0"/>
          </a:p>
        </p:txBody>
      </p:sp>
      <p:sp>
        <p:nvSpPr>
          <p:cNvPr id="32" name="Text 30"/>
          <p:cNvSpPr txBox="1"/>
          <p:nvPr/>
        </p:nvSpPr>
        <p:spPr>
          <a:xfrm>
            <a:off x="6053328" y="2249424"/>
            <a:ext cx="1097280" cy="274320"/>
          </a:xfrm>
          <a:prstGeom prst="rect">
            <a:avLst/>
          </a:prstGeom>
          <a:noFill/>
          <a:ln/>
        </p:spPr>
        <p:txBody>
          <a:bodyPr wrap="square" lIns="0" tIns="0" rIns="0" bIns="0" rtlCol="0" anchor="ctr"/>
          <a:lstStyle/>
          <a:p>
            <a:pPr marL="0" indent="0">
              <a:buNone/>
            </a:pPr>
            <a:r>
              <a:rPr lang="en-US" sz="1050" b="1" dirty="0">
                <a:solidFill>
                  <a:srgbClr val="FFFFFF"/>
                </a:solidFill>
                <a:latin typeface="Courier New" pitchFamily="34" charset="0"/>
                <a:ea typeface="Courier New" pitchFamily="34" charset="-122"/>
                <a:cs typeface="Courier New" pitchFamily="34" charset="-120"/>
              </a:rPr>
              <a:t>REMOVE-{N}</a:t>
            </a:r>
            <a:endParaRPr lang="en-US" sz="1050" dirty="0"/>
          </a:p>
        </p:txBody>
      </p:sp>
      <p:sp>
        <p:nvSpPr>
          <p:cNvPr id="33" name="Text 31"/>
          <p:cNvSpPr txBox="1"/>
          <p:nvPr/>
        </p:nvSpPr>
        <p:spPr>
          <a:xfrm>
            <a:off x="7178040" y="2249424"/>
            <a:ext cx="1280160" cy="274320"/>
          </a:xfrm>
          <a:prstGeom prst="rect">
            <a:avLst/>
          </a:prstGeom>
          <a:noFill/>
          <a:ln/>
        </p:spPr>
        <p:txBody>
          <a:bodyPr wrap="square" lIns="0" tIns="0" rIns="0" bIns="0" rtlCol="0" anchor="ctr"/>
          <a:lstStyle/>
          <a:p>
            <a:pPr marL="0" indent="0">
              <a:buNone/>
            </a:pPr>
            <a:r>
              <a:rPr lang="en-US" sz="1000" dirty="0">
                <a:solidFill>
                  <a:srgbClr val="B8C4C9"/>
                </a:solidFill>
                <a:latin typeface="Calibri" pitchFamily="34" charset="0"/>
                <a:ea typeface="Calibri" pitchFamily="34" charset="-122"/>
                <a:cs typeface="Calibri" pitchFamily="34" charset="-120"/>
              </a:rPr>
              <a:t>Delete the entry</a:t>
            </a:r>
            <a:endParaRPr lang="en-US" sz="1000" dirty="0"/>
          </a:p>
        </p:txBody>
      </p:sp>
      <p:sp>
        <p:nvSpPr>
          <p:cNvPr id="34" name="Text 32"/>
          <p:cNvSpPr txBox="1"/>
          <p:nvPr/>
        </p:nvSpPr>
        <p:spPr>
          <a:xfrm>
            <a:off x="6053328" y="2551176"/>
            <a:ext cx="1097280" cy="274320"/>
          </a:xfrm>
          <a:prstGeom prst="rect">
            <a:avLst/>
          </a:prstGeom>
          <a:noFill/>
          <a:ln/>
        </p:spPr>
        <p:txBody>
          <a:bodyPr wrap="square" lIns="0" tIns="0" rIns="0" bIns="0" rtlCol="0" anchor="ctr"/>
          <a:lstStyle/>
          <a:p>
            <a:pPr marL="0" indent="0">
              <a:buNone/>
            </a:pPr>
            <a:r>
              <a:rPr lang="en-US" sz="1050" b="1" dirty="0">
                <a:solidFill>
                  <a:srgbClr val="FFFFFF"/>
                </a:solidFill>
                <a:latin typeface="Courier New" pitchFamily="34" charset="0"/>
                <a:ea typeface="Courier New" pitchFamily="34" charset="-122"/>
                <a:cs typeface="Courier New" pitchFamily="34" charset="-120"/>
              </a:rPr>
              <a:t>UPDATE-{N}</a:t>
            </a:r>
            <a:endParaRPr lang="en-US" sz="1050" dirty="0"/>
          </a:p>
        </p:txBody>
      </p:sp>
      <p:sp>
        <p:nvSpPr>
          <p:cNvPr id="35" name="Text 33"/>
          <p:cNvSpPr txBox="1"/>
          <p:nvPr/>
        </p:nvSpPr>
        <p:spPr>
          <a:xfrm>
            <a:off x="7178040" y="2551176"/>
            <a:ext cx="1280160" cy="274320"/>
          </a:xfrm>
          <a:prstGeom prst="rect">
            <a:avLst/>
          </a:prstGeom>
          <a:noFill/>
          <a:ln/>
        </p:spPr>
        <p:txBody>
          <a:bodyPr wrap="square" lIns="0" tIns="0" rIns="0" bIns="0" rtlCol="0" anchor="ctr"/>
          <a:lstStyle/>
          <a:p>
            <a:pPr marL="0" indent="0">
              <a:buNone/>
            </a:pPr>
            <a:r>
              <a:rPr lang="en-US" sz="1000" dirty="0">
                <a:solidFill>
                  <a:srgbClr val="B8C4C9"/>
                </a:solidFill>
                <a:latin typeface="Calibri" pitchFamily="34" charset="0"/>
                <a:ea typeface="Calibri" pitchFamily="34" charset="-122"/>
                <a:cs typeface="Calibri" pitchFamily="34" charset="-120"/>
              </a:rPr>
              <a:t>Write corrected text</a:t>
            </a:r>
            <a:endParaRPr lang="en-US" sz="1000" dirty="0"/>
          </a:p>
        </p:txBody>
      </p:sp>
      <p:sp>
        <p:nvSpPr>
          <p:cNvPr id="36" name="Shape 34"/>
          <p:cNvSpPr/>
          <p:nvPr/>
        </p:nvSpPr>
        <p:spPr>
          <a:xfrm>
            <a:off x="457200" y="3246120"/>
            <a:ext cx="4023360" cy="1051560"/>
          </a:xfrm>
          <a:prstGeom prst="roundRect">
            <a:avLst>
              <a:gd name="adj" fmla="val 10435"/>
            </a:avLst>
          </a:prstGeom>
          <a:solidFill>
            <a:srgbClr val="D5EEEB"/>
          </a:solidFill>
          <a:ln w="12700">
            <a:solidFill>
              <a:srgbClr val="D5EEEB"/>
            </a:solidFill>
            <a:prstDash val="solid"/>
          </a:ln>
        </p:spPr>
        <p:txBody>
          <a:bodyPr/>
          <a:lstStyle/>
          <a:p>
            <a:endParaRPr lang="en-US"/>
          </a:p>
        </p:txBody>
      </p:sp>
      <p:sp>
        <p:nvSpPr>
          <p:cNvPr id="37" name="Shape 35"/>
          <p:cNvSpPr/>
          <p:nvPr/>
        </p:nvSpPr>
        <p:spPr>
          <a:xfrm>
            <a:off x="621792" y="3383280"/>
            <a:ext cx="292608" cy="292608"/>
          </a:xfrm>
          <a:prstGeom prst="roundRect">
            <a:avLst>
              <a:gd name="adj" fmla="val 50000"/>
            </a:avLst>
          </a:prstGeom>
          <a:solidFill>
            <a:srgbClr val="2A9D8F"/>
          </a:solidFill>
          <a:ln w="12700">
            <a:solidFill>
              <a:srgbClr val="2A9D8F"/>
            </a:solidFill>
            <a:prstDash val="solid"/>
          </a:ln>
        </p:spPr>
        <p:txBody>
          <a:bodyPr/>
          <a:lstStyle/>
          <a:p>
            <a:endParaRPr lang="en-US"/>
          </a:p>
        </p:txBody>
      </p:sp>
      <p:sp>
        <p:nvSpPr>
          <p:cNvPr id="38" name="Text 36"/>
          <p:cNvSpPr txBox="1"/>
          <p:nvPr/>
        </p:nvSpPr>
        <p:spPr>
          <a:xfrm>
            <a:off x="621792" y="338328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9" name="Text 37"/>
          <p:cNvSpPr txBox="1"/>
          <p:nvPr/>
        </p:nvSpPr>
        <p:spPr>
          <a:xfrm>
            <a:off x="1024128" y="3364992"/>
            <a:ext cx="3383280" cy="32004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Every ICEA draft: framing check</a:t>
            </a:r>
            <a:endParaRPr lang="en-US" sz="1300" dirty="0"/>
          </a:p>
        </p:txBody>
      </p:sp>
      <p:sp>
        <p:nvSpPr>
          <p:cNvPr id="40" name="Text 38"/>
          <p:cNvSpPr txBox="1"/>
          <p:nvPr/>
        </p:nvSpPr>
        <p:spPr>
          <a:xfrm>
            <a:off x="621792" y="3721608"/>
            <a:ext cx="3749040" cy="548640"/>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icea-feature treats each entry as a point-in-time pattern, checks it against today's code, and flags conflicts instead of following a stale entry. No developer action needed.</a:t>
            </a:r>
            <a:endParaRPr lang="en-US" sz="1000" dirty="0"/>
          </a:p>
        </p:txBody>
      </p:sp>
      <p:sp>
        <p:nvSpPr>
          <p:cNvPr id="41" name="Shape 39"/>
          <p:cNvSpPr/>
          <p:nvPr/>
        </p:nvSpPr>
        <p:spPr>
          <a:xfrm>
            <a:off x="4663440" y="3246120"/>
            <a:ext cx="4023360" cy="1051560"/>
          </a:xfrm>
          <a:prstGeom prst="roundRect">
            <a:avLst>
              <a:gd name="adj" fmla="val 10435"/>
            </a:avLst>
          </a:prstGeom>
          <a:solidFill>
            <a:srgbClr val="EEF3F4"/>
          </a:solidFill>
          <a:ln w="12700">
            <a:solidFill>
              <a:srgbClr val="EEF3F4"/>
            </a:solidFill>
            <a:prstDash val="solid"/>
          </a:ln>
        </p:spPr>
        <p:txBody>
          <a:bodyPr/>
          <a:lstStyle/>
          <a:p>
            <a:endParaRPr lang="en-US"/>
          </a:p>
        </p:txBody>
      </p:sp>
      <p:pic>
        <p:nvPicPr>
          <p:cNvPr id="42" name="Image 0" descr="preencoded.png"/>
          <p:cNvPicPr>
            <a:picLocks noChangeAspect="1"/>
          </p:cNvPicPr>
          <p:nvPr/>
        </p:nvPicPr>
        <p:blipFill>
          <a:blip r:embed="rId3"/>
          <a:stretch>
            <a:fillRect/>
          </a:stretch>
        </p:blipFill>
        <p:spPr>
          <a:xfrm>
            <a:off x="4818888" y="3401568"/>
            <a:ext cx="256032" cy="256032"/>
          </a:xfrm>
          <a:prstGeom prst="rect">
            <a:avLst/>
          </a:prstGeom>
        </p:spPr>
      </p:pic>
      <p:sp>
        <p:nvSpPr>
          <p:cNvPr id="43" name="Text 40"/>
          <p:cNvSpPr txBox="1"/>
          <p:nvPr/>
        </p:nvSpPr>
        <p:spPr>
          <a:xfrm>
            <a:off x="5212080" y="3364992"/>
            <a:ext cx="3291840" cy="320040"/>
          </a:xfrm>
          <a:prstGeom prst="rect">
            <a:avLst/>
          </a:prstGeom>
          <a:noFill/>
          <a:ln/>
        </p:spPr>
        <p:txBody>
          <a:bodyPr wrap="square" lIns="0" tIns="0" rIns="0" bIns="0" rtlCol="0" anchor="ctr"/>
          <a:lstStyle/>
          <a:p>
            <a:pPr marL="0" indent="0">
              <a:buNone/>
            </a:pPr>
            <a:r>
              <a:rPr lang="en-US" sz="1300" b="1" dirty="0">
                <a:solidFill>
                  <a:srgbClr val="1F2A30"/>
                </a:solidFill>
                <a:latin typeface="Calibri" pitchFamily="34" charset="0"/>
                <a:ea typeface="Calibri" pitchFamily="34" charset="-122"/>
                <a:cs typeface="Calibri" pitchFamily="34" charset="-120"/>
              </a:rPr>
              <a:t>Stays lean</a:t>
            </a:r>
            <a:endParaRPr lang="en-US" sz="1300" dirty="0"/>
          </a:p>
        </p:txBody>
      </p:sp>
      <p:sp>
        <p:nvSpPr>
          <p:cNvPr id="44" name="Text 41"/>
          <p:cNvSpPr txBox="1"/>
          <p:nvPr/>
        </p:nvSpPr>
        <p:spPr>
          <a:xfrm>
            <a:off x="4818888" y="3721608"/>
            <a:ext cx="3749040" cy="548640"/>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Signal files are deleted once counted, and PROMOTE resets the tally. Nothing that belongs in rule files, architecture.md, or a sprint update gets in.</a:t>
            </a:r>
            <a:endParaRPr lang="en-US" sz="1000" dirty="0"/>
          </a:p>
        </p:txBody>
      </p:sp>
      <p:sp>
        <p:nvSpPr>
          <p:cNvPr id="45" name="Text 42"/>
          <p:cNvSpPr txBox="1"/>
          <p:nvPr/>
        </p:nvSpPr>
        <p:spPr>
          <a:xfrm>
            <a:off x="457200" y="4462272"/>
            <a:ext cx="8229600" cy="365760"/>
          </a:xfrm>
          <a:prstGeom prst="rect">
            <a:avLst/>
          </a:prstGeom>
          <a:noFill/>
          <a:ln/>
        </p:spPr>
        <p:txBody>
          <a:bodyPr wrap="square" lIns="0" tIns="0" rIns="0" bIns="0" rtlCol="0" anchor="t"/>
          <a:lstStyle/>
          <a:p>
            <a:pPr marL="0" indent="0">
              <a:buNone/>
            </a:pPr>
            <a:r>
              <a:rPr lang="en-US" sz="1600" b="1" dirty="0">
                <a:solidFill>
                  <a:srgbClr val="1F2A30"/>
                </a:solidFill>
                <a:latin typeface="Cambria" pitchFamily="34" charset="0"/>
                <a:ea typeface="Cambria" pitchFamily="34" charset="-122"/>
                <a:cs typeface="Cambria" pitchFamily="34" charset="-120"/>
              </a:rPr>
              <a:t>Old patterns don't quietly steer new work.</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2053590"/>
            <a:ext cx="9144000" cy="640080"/>
          </a:xfrm>
          <a:prstGeom prst="rect">
            <a:avLst/>
          </a:prstGeom>
          <a:noFill/>
          <a:ln/>
        </p:spPr>
        <p:txBody>
          <a:bodyPr wrap="square" lIns="0" tIns="0" rIns="0" bIns="0" rtlCol="0" anchor="ctr"/>
          <a:lstStyle/>
          <a:p>
            <a:pPr marL="0" indent="0" algn="ctr">
              <a:buNone/>
            </a:pPr>
            <a:r>
              <a:rPr lang="en-US" sz="4400" b="1" dirty="0">
                <a:solidFill>
                  <a:srgbClr val="1F2A30"/>
                </a:solidFill>
                <a:latin typeface="Cambria" pitchFamily="34" charset="0"/>
                <a:ea typeface="Cambria" pitchFamily="34" charset="-122"/>
                <a:cs typeface="Cambria" pitchFamily="34" charset="-120"/>
              </a:rPr>
              <a:t>Demo</a:t>
            </a:r>
            <a:endParaRPr lang="en-US" sz="4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F2A30"/>
        </a:solidFill>
        <a:effectLst/>
      </p:bgPr>
    </p:bg>
    <p:spTree>
      <p:nvGrpSpPr>
        <p:cNvPr id="1" name=""/>
        <p:cNvGrpSpPr/>
        <p:nvPr/>
      </p:nvGrpSpPr>
      <p:grpSpPr>
        <a:xfrm>
          <a:off x="0" y="0"/>
          <a:ext cx="0" cy="0"/>
          <a:chOff x="0" y="0"/>
          <a:chExt cx="0" cy="0"/>
        </a:xfrm>
      </p:grpSpPr>
      <p:sp>
        <p:nvSpPr>
          <p:cNvPr id="2" name="Text 0"/>
          <p:cNvSpPr txBox="1"/>
          <p:nvPr/>
        </p:nvSpPr>
        <p:spPr>
          <a:xfrm>
            <a:off x="457200" y="1737360"/>
            <a:ext cx="822960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3" name="Text 1"/>
          <p:cNvSpPr txBox="1"/>
          <p:nvPr/>
        </p:nvSpPr>
        <p:spPr>
          <a:xfrm>
            <a:off x="457200" y="2743200"/>
            <a:ext cx="8229600" cy="457200"/>
          </a:xfrm>
          <a:prstGeom prst="rect">
            <a:avLst/>
          </a:prstGeom>
          <a:noFill/>
          <a:ln/>
        </p:spPr>
        <p:txBody>
          <a:bodyPr wrap="square" lIns="0" tIns="0" rIns="0" bIns="0" rtlCol="0" anchor="t"/>
          <a:lstStyle/>
          <a:p>
            <a:pPr marL="0" indent="0" algn="ctr">
              <a:buNone/>
            </a:pPr>
            <a:r>
              <a:rPr lang="en-US" sz="1600" dirty="0">
                <a:solidFill>
                  <a:srgbClr val="B8C4C9"/>
                </a:solidFill>
                <a:latin typeface="Calibri" pitchFamily="34" charset="0"/>
                <a:ea typeface="Calibri" pitchFamily="34" charset="-122"/>
                <a:cs typeface="Calibri" pitchFamily="34" charset="-120"/>
              </a:rPr>
              <a:t>Memory  ·  Code map  ·  Industry rules  ·  Governance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82880"/>
            <a:ext cx="1828800" cy="228600"/>
          </a:xfrm>
          <a:prstGeom prst="rect">
            <a:avLst/>
          </a:prstGeom>
          <a:noFill/>
          <a:ln/>
        </p:spPr>
        <p:txBody>
          <a:bodyPr wrap="square" lIns="0" tIns="0" rIns="0" bIns="0" rtlCol="0" anchor="t"/>
          <a:lstStyle/>
          <a:p>
            <a:pPr marL="0" indent="0">
              <a:buNone/>
            </a:pPr>
            <a:r>
              <a:rPr lang="en-US" sz="1000" b="1" kern="0" spc="300" dirty="0">
                <a:solidFill>
                  <a:srgbClr val="7A8A92"/>
                </a:solidFill>
                <a:latin typeface="Calibri" pitchFamily="34" charset="0"/>
                <a:ea typeface="Calibri" pitchFamily="34" charset="-122"/>
                <a:cs typeface="Calibri" pitchFamily="34" charset="-120"/>
              </a:rPr>
              <a:t>BACKUP</a:t>
            </a:r>
            <a:endParaRPr lang="en-US" sz="10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Where our data stays</a:t>
            </a:r>
            <a:endParaRPr lang="en-US" sz="3000" dirty="0"/>
          </a:p>
        </p:txBody>
      </p:sp>
      <p:sp>
        <p:nvSpPr>
          <p:cNvPr id="4" name="Shape 2"/>
          <p:cNvSpPr/>
          <p:nvPr/>
        </p:nvSpPr>
        <p:spPr>
          <a:xfrm>
            <a:off x="457200" y="1234440"/>
            <a:ext cx="3931920" cy="3200400"/>
          </a:xfrm>
          <a:prstGeom prst="roundRect">
            <a:avLst>
              <a:gd name="adj" fmla="val 3429"/>
            </a:avLst>
          </a:prstGeom>
          <a:solidFill>
            <a:srgbClr val="EEF3F4"/>
          </a:solidFill>
          <a:ln w="12700">
            <a:solidFill>
              <a:srgbClr val="EEF3F4"/>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85800" y="1444752"/>
            <a:ext cx="365760" cy="365760"/>
          </a:xfrm>
          <a:prstGeom prst="rect">
            <a:avLst/>
          </a:prstGeom>
        </p:spPr>
      </p:pic>
      <p:sp>
        <p:nvSpPr>
          <p:cNvPr id="6" name="Text 3"/>
          <p:cNvSpPr txBox="1"/>
          <p:nvPr/>
        </p:nvSpPr>
        <p:spPr>
          <a:xfrm>
            <a:off x="1188720" y="1444752"/>
            <a:ext cx="2743200" cy="365760"/>
          </a:xfrm>
          <a:prstGeom prst="rect">
            <a:avLst/>
          </a:prstGeom>
          <a:noFill/>
          <a:ln/>
        </p:spPr>
        <p:txBody>
          <a:bodyPr wrap="square" lIns="0" tIns="0" rIns="0" bIns="0" rtlCol="0" anchor="ctr"/>
          <a:lstStyle/>
          <a:p>
            <a:pPr marL="0" indent="0">
              <a:buNone/>
            </a:pPr>
            <a:r>
              <a:rPr lang="en-US" sz="1700" b="1" dirty="0">
                <a:solidFill>
                  <a:srgbClr val="1F2A30"/>
                </a:solidFill>
                <a:latin typeface="Calibri" pitchFamily="34" charset="0"/>
                <a:ea typeface="Calibri" pitchFamily="34" charset="-122"/>
                <a:cs typeface="Calibri" pitchFamily="34" charset="-120"/>
              </a:rPr>
              <a:t>Our repo</a:t>
            </a:r>
            <a:endParaRPr lang="en-US" sz="1700" dirty="0"/>
          </a:p>
        </p:txBody>
      </p:sp>
      <p:sp>
        <p:nvSpPr>
          <p:cNvPr id="7" name="Shape 4"/>
          <p:cNvSpPr/>
          <p:nvPr/>
        </p:nvSpPr>
        <p:spPr>
          <a:xfrm>
            <a:off x="685800" y="2057400"/>
            <a:ext cx="3474720" cy="411480"/>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8" name="Text 5"/>
          <p:cNvSpPr txBox="1"/>
          <p:nvPr/>
        </p:nvSpPr>
        <p:spPr>
          <a:xfrm>
            <a:off x="685800" y="2057400"/>
            <a:ext cx="3474720" cy="411480"/>
          </a:xfrm>
          <a:prstGeom prst="rect">
            <a:avLst/>
          </a:prstGeom>
          <a:noFill/>
          <a:ln/>
        </p:spPr>
        <p:txBody>
          <a:bodyPr wrap="square" lIns="0" tIns="0" rIns="0" bIns="0" rtlCol="0" anchor="ctr"/>
          <a:lstStyle/>
          <a:p>
            <a:pPr marL="0" indent="0" algn="ctr">
              <a:buNone/>
            </a:pPr>
            <a:r>
              <a:rPr lang="en-US" sz="1200" dirty="0">
                <a:solidFill>
                  <a:srgbClr val="1F2A30"/>
                </a:solidFill>
                <a:latin typeface="Calibri" pitchFamily="34" charset="0"/>
                <a:ea typeface="Calibri" pitchFamily="34" charset="-122"/>
                <a:cs typeface="Calibri" pitchFamily="34" charset="-120"/>
              </a:rPr>
              <a:t>.claude/graph/</a:t>
            </a:r>
            <a:endParaRPr lang="en-US" sz="1200" dirty="0"/>
          </a:p>
        </p:txBody>
      </p:sp>
      <p:sp>
        <p:nvSpPr>
          <p:cNvPr id="9" name="Shape 6"/>
          <p:cNvSpPr/>
          <p:nvPr/>
        </p:nvSpPr>
        <p:spPr>
          <a:xfrm>
            <a:off x="685800" y="2606040"/>
            <a:ext cx="3474720" cy="411480"/>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0" name="Text 7"/>
          <p:cNvSpPr txBox="1"/>
          <p:nvPr/>
        </p:nvSpPr>
        <p:spPr>
          <a:xfrm>
            <a:off x="685800" y="2606040"/>
            <a:ext cx="3474720" cy="411480"/>
          </a:xfrm>
          <a:prstGeom prst="rect">
            <a:avLst/>
          </a:prstGeom>
          <a:noFill/>
          <a:ln/>
        </p:spPr>
        <p:txBody>
          <a:bodyPr wrap="square" lIns="0" tIns="0" rIns="0" bIns="0" rtlCol="0" anchor="ctr"/>
          <a:lstStyle/>
          <a:p>
            <a:pPr marL="0" indent="0" algn="ctr">
              <a:buNone/>
            </a:pPr>
            <a:r>
              <a:rPr lang="en-US" sz="1200" dirty="0">
                <a:solidFill>
                  <a:srgbClr val="1F2A30"/>
                </a:solidFill>
                <a:latin typeface="Calibri" pitchFamily="34" charset="0"/>
                <a:ea typeface="Calibri" pitchFamily="34" charset="-122"/>
                <a:cs typeface="Calibri" pitchFamily="34" charset="-120"/>
              </a:rPr>
              <a:t>memory/MEMORY.md</a:t>
            </a:r>
            <a:endParaRPr lang="en-US" sz="1200" dirty="0"/>
          </a:p>
        </p:txBody>
      </p:sp>
      <p:sp>
        <p:nvSpPr>
          <p:cNvPr id="11" name="Shape 8"/>
          <p:cNvSpPr/>
          <p:nvPr/>
        </p:nvSpPr>
        <p:spPr>
          <a:xfrm>
            <a:off x="685800" y="3154680"/>
            <a:ext cx="3474720" cy="411480"/>
          </a:xfrm>
          <a:prstGeom prst="roundRect">
            <a:avLst>
              <a:gd name="adj" fmla="val 50000"/>
            </a:avLst>
          </a:prstGeom>
          <a:solidFill>
            <a:srgbClr val="FFFFFF"/>
          </a:solidFill>
          <a:ln w="12700">
            <a:solidFill>
              <a:srgbClr val="FFFFFF"/>
            </a:solidFill>
            <a:prstDash val="solid"/>
          </a:ln>
        </p:spPr>
        <p:txBody>
          <a:bodyPr/>
          <a:lstStyle/>
          <a:p>
            <a:endParaRPr lang="en-US"/>
          </a:p>
        </p:txBody>
      </p:sp>
      <p:sp>
        <p:nvSpPr>
          <p:cNvPr id="12" name="Text 9"/>
          <p:cNvSpPr txBox="1"/>
          <p:nvPr/>
        </p:nvSpPr>
        <p:spPr>
          <a:xfrm>
            <a:off x="685800" y="3154680"/>
            <a:ext cx="3474720" cy="411480"/>
          </a:xfrm>
          <a:prstGeom prst="rect">
            <a:avLst/>
          </a:prstGeom>
          <a:noFill/>
          <a:ln/>
        </p:spPr>
        <p:txBody>
          <a:bodyPr wrap="square" lIns="0" tIns="0" rIns="0" bIns="0" rtlCol="0" anchor="ctr"/>
          <a:lstStyle/>
          <a:p>
            <a:pPr marL="0" indent="0" algn="ctr">
              <a:buNone/>
            </a:pPr>
            <a:r>
              <a:rPr lang="en-US" sz="1200" dirty="0">
                <a:solidFill>
                  <a:srgbClr val="1F2A30"/>
                </a:solidFill>
                <a:latin typeface="Calibri" pitchFamily="34" charset="0"/>
                <a:ea typeface="Calibri" pitchFamily="34" charset="-122"/>
                <a:cs typeface="Calibri" pitchFamily="34" charset="-120"/>
              </a:rPr>
              <a:t>.claude/business-context.md</a:t>
            </a:r>
            <a:endParaRPr lang="en-US" sz="1200" dirty="0"/>
          </a:p>
        </p:txBody>
      </p:sp>
      <p:sp>
        <p:nvSpPr>
          <p:cNvPr id="13" name="Text 10"/>
          <p:cNvSpPr txBox="1"/>
          <p:nvPr/>
        </p:nvSpPr>
        <p:spPr>
          <a:xfrm>
            <a:off x="685800" y="3794760"/>
            <a:ext cx="3474720" cy="365760"/>
          </a:xfrm>
          <a:prstGeom prst="rect">
            <a:avLst/>
          </a:prstGeom>
          <a:noFill/>
          <a:ln/>
        </p:spPr>
        <p:txBody>
          <a:bodyPr wrap="square" lIns="0" tIns="0" rIns="0" bIns="0" rtlCol="0" anchor="t"/>
          <a:lstStyle/>
          <a:p>
            <a:pPr marL="0" indent="0">
              <a:buNone/>
            </a:pPr>
            <a:r>
              <a:rPr lang="en-US" sz="1200" i="1" dirty="0">
                <a:solidFill>
                  <a:srgbClr val="4A5A63"/>
                </a:solidFill>
                <a:latin typeface="Calibri" pitchFamily="34" charset="0"/>
                <a:ea typeface="Calibri" pitchFamily="34" charset="-122"/>
                <a:cs typeface="Calibri" pitchFamily="34" charset="-120"/>
              </a:rPr>
              <a:t>Open, read, or delete any of it.</a:t>
            </a:r>
            <a:endParaRPr lang="en-US" sz="1200" dirty="0"/>
          </a:p>
        </p:txBody>
      </p:sp>
      <p:sp>
        <p:nvSpPr>
          <p:cNvPr id="14" name="Text 11"/>
          <p:cNvSpPr txBox="1"/>
          <p:nvPr/>
        </p:nvSpPr>
        <p:spPr>
          <a:xfrm>
            <a:off x="4892040" y="1234440"/>
            <a:ext cx="3794760" cy="228600"/>
          </a:xfrm>
          <a:prstGeom prst="rect">
            <a:avLst/>
          </a:prstGeom>
          <a:noFill/>
          <a:ln/>
        </p:spPr>
        <p:txBody>
          <a:bodyPr wrap="square" lIns="0" tIns="0" rIns="0" bIns="0" rtlCol="0" anchor="t"/>
          <a:lstStyle/>
          <a:p>
            <a:pPr marL="0" indent="0">
              <a:buNone/>
            </a:pPr>
            <a:r>
              <a:rPr lang="en-US" sz="1000" b="1" kern="0" spc="200" dirty="0">
                <a:solidFill>
                  <a:srgbClr val="7A8A92"/>
                </a:solidFill>
                <a:latin typeface="Calibri" pitchFamily="34" charset="0"/>
                <a:ea typeface="Calibri" pitchFamily="34" charset="-122"/>
                <a:cs typeface="Calibri" pitchFamily="34" charset="-120"/>
              </a:rPr>
              <a:t>MIGRATION WORK</a:t>
            </a:r>
            <a:endParaRPr lang="en-US" sz="1000" dirty="0"/>
          </a:p>
        </p:txBody>
      </p:sp>
      <p:sp>
        <p:nvSpPr>
          <p:cNvPr id="15" name="Shape 12"/>
          <p:cNvSpPr/>
          <p:nvPr/>
        </p:nvSpPr>
        <p:spPr>
          <a:xfrm>
            <a:off x="4434840" y="2075688"/>
            <a:ext cx="411480" cy="914"/>
          </a:xfrm>
          <a:prstGeom prst="line">
            <a:avLst/>
          </a:prstGeom>
          <a:noFill/>
          <a:ln w="22225">
            <a:solidFill>
              <a:srgbClr val="4A5A63"/>
            </a:solidFill>
            <a:prstDash val="solid"/>
            <a:tailEnd type="triangle"/>
          </a:ln>
        </p:spPr>
        <p:txBody>
          <a:bodyPr/>
          <a:lstStyle/>
          <a:p>
            <a:endParaRPr lang="en-US"/>
          </a:p>
        </p:txBody>
      </p:sp>
      <p:sp>
        <p:nvSpPr>
          <p:cNvPr id="16" name="Shape 13"/>
          <p:cNvSpPr/>
          <p:nvPr/>
        </p:nvSpPr>
        <p:spPr>
          <a:xfrm>
            <a:off x="4892040" y="1527048"/>
            <a:ext cx="1920240" cy="1097280"/>
          </a:xfrm>
          <a:prstGeom prst="roundRect">
            <a:avLst>
              <a:gd name="adj" fmla="val 10000"/>
            </a:avLst>
          </a:prstGeom>
          <a:solidFill>
            <a:srgbClr val="FBEBD2"/>
          </a:solidFill>
          <a:ln w="12700">
            <a:solidFill>
              <a:srgbClr val="FBEBD2"/>
            </a:solidFill>
            <a:prstDash val="solid"/>
          </a:ln>
        </p:spPr>
        <p:txBody>
          <a:bodyPr/>
          <a:lstStyle/>
          <a:p>
            <a:endParaRPr lang="en-US"/>
          </a:p>
        </p:txBody>
      </p:sp>
      <p:sp>
        <p:nvSpPr>
          <p:cNvPr id="17" name="Shape 14"/>
          <p:cNvSpPr/>
          <p:nvPr/>
        </p:nvSpPr>
        <p:spPr>
          <a:xfrm>
            <a:off x="5029200" y="1664208"/>
            <a:ext cx="411480" cy="411480"/>
          </a:xfrm>
          <a:prstGeom prst="ellipse">
            <a:avLst/>
          </a:prstGeom>
          <a:solidFill>
            <a:srgbClr val="E9A23B"/>
          </a:solidFill>
          <a:ln w="12700">
            <a:solidFill>
              <a:srgbClr val="E9A23B"/>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5132070" y="1767078"/>
            <a:ext cx="205740" cy="205740"/>
          </a:xfrm>
          <a:prstGeom prst="rect">
            <a:avLst/>
          </a:prstGeom>
        </p:spPr>
      </p:pic>
      <p:sp>
        <p:nvSpPr>
          <p:cNvPr id="19" name="Text 15"/>
          <p:cNvSpPr txBox="1"/>
          <p:nvPr/>
        </p:nvSpPr>
        <p:spPr>
          <a:xfrm>
            <a:off x="5532120" y="1636776"/>
            <a:ext cx="1188720" cy="502920"/>
          </a:xfrm>
          <a:prstGeom prst="rect">
            <a:avLst/>
          </a:prstGeom>
          <a:noFill/>
          <a:ln/>
        </p:spPr>
        <p:txBody>
          <a:bodyPr wrap="square" lIns="0" tIns="0" rIns="0" bIns="0" rtlCol="0" anchor="ctr"/>
          <a:lstStyle/>
          <a:p>
            <a:pPr marL="0" indent="0">
              <a:buNone/>
            </a:pPr>
            <a:r>
              <a:rPr lang="en-US" sz="1200" b="1" dirty="0">
                <a:solidFill>
                  <a:srgbClr val="1F2A30"/>
                </a:solidFill>
                <a:latin typeface="Calibri" pitchFamily="34" charset="0"/>
                <a:ea typeface="Calibri" pitchFamily="34" charset="-122"/>
                <a:cs typeface="Calibri" pitchFamily="34" charset="-120"/>
              </a:rPr>
              <a:t>Query cleaned</a:t>
            </a:r>
            <a:endParaRPr lang="en-US" sz="1200" dirty="0"/>
          </a:p>
        </p:txBody>
      </p:sp>
      <p:sp>
        <p:nvSpPr>
          <p:cNvPr id="20" name="Text 16"/>
          <p:cNvSpPr txBox="1"/>
          <p:nvPr/>
        </p:nvSpPr>
        <p:spPr>
          <a:xfrm>
            <a:off x="5029200" y="2167128"/>
            <a:ext cx="1691640" cy="384048"/>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Sensitive and personal data removed</a:t>
            </a:r>
            <a:endParaRPr lang="en-US" sz="1000" dirty="0"/>
          </a:p>
        </p:txBody>
      </p:sp>
      <p:sp>
        <p:nvSpPr>
          <p:cNvPr id="21" name="Shape 17"/>
          <p:cNvSpPr/>
          <p:nvPr/>
        </p:nvSpPr>
        <p:spPr>
          <a:xfrm>
            <a:off x="6858000" y="2075688"/>
            <a:ext cx="274320" cy="914"/>
          </a:xfrm>
          <a:prstGeom prst="line">
            <a:avLst/>
          </a:prstGeom>
          <a:noFill/>
          <a:ln w="22225">
            <a:solidFill>
              <a:srgbClr val="4A5A63"/>
            </a:solidFill>
            <a:prstDash val="solid"/>
            <a:tailEnd type="triangle"/>
          </a:ln>
        </p:spPr>
        <p:txBody>
          <a:bodyPr/>
          <a:lstStyle/>
          <a:p>
            <a:endParaRPr lang="en-US"/>
          </a:p>
        </p:txBody>
      </p:sp>
      <p:sp>
        <p:nvSpPr>
          <p:cNvPr id="22" name="Shape 18"/>
          <p:cNvSpPr/>
          <p:nvPr/>
        </p:nvSpPr>
        <p:spPr>
          <a:xfrm>
            <a:off x="7178040" y="1527048"/>
            <a:ext cx="1508760" cy="1097280"/>
          </a:xfrm>
          <a:prstGeom prst="roundRect">
            <a:avLst>
              <a:gd name="adj" fmla="val 10000"/>
            </a:avLst>
          </a:prstGeom>
          <a:solidFill>
            <a:srgbClr val="EEF3F4"/>
          </a:solidFill>
          <a:ln w="12700">
            <a:solidFill>
              <a:srgbClr val="EEF3F4"/>
            </a:solidFill>
            <a:prstDash val="solid"/>
          </a:ln>
        </p:spPr>
        <p:txBody>
          <a:bodyPr/>
          <a:lstStyle/>
          <a:p>
            <a:endParaRPr lang="en-US"/>
          </a:p>
        </p:txBody>
      </p:sp>
      <p:sp>
        <p:nvSpPr>
          <p:cNvPr id="23" name="Shape 19"/>
          <p:cNvSpPr/>
          <p:nvPr/>
        </p:nvSpPr>
        <p:spPr>
          <a:xfrm>
            <a:off x="7315200" y="1664208"/>
            <a:ext cx="411480" cy="411480"/>
          </a:xfrm>
          <a:prstGeom prst="ellipse">
            <a:avLst/>
          </a:prstGeom>
          <a:solidFill>
            <a:srgbClr val="4A5A63"/>
          </a:solidFill>
          <a:ln w="12700">
            <a:solidFill>
              <a:srgbClr val="4A5A63"/>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7418070" y="1767078"/>
            <a:ext cx="205740" cy="205740"/>
          </a:xfrm>
          <a:prstGeom prst="rect">
            <a:avLst/>
          </a:prstGeom>
        </p:spPr>
      </p:pic>
      <p:sp>
        <p:nvSpPr>
          <p:cNvPr id="25" name="Text 20"/>
          <p:cNvSpPr txBox="1"/>
          <p:nvPr/>
        </p:nvSpPr>
        <p:spPr>
          <a:xfrm>
            <a:off x="7818120" y="1636776"/>
            <a:ext cx="822960" cy="502920"/>
          </a:xfrm>
          <a:prstGeom prst="rect">
            <a:avLst/>
          </a:prstGeom>
          <a:noFill/>
          <a:ln/>
        </p:spPr>
        <p:txBody>
          <a:bodyPr wrap="square" lIns="0" tIns="0" rIns="0" bIns="0" rtlCol="0" anchor="ctr"/>
          <a:lstStyle/>
          <a:p>
            <a:pPr marL="0" indent="0">
              <a:buNone/>
            </a:pPr>
            <a:r>
              <a:rPr lang="en-US" sz="1200" b="1" dirty="0">
                <a:solidFill>
                  <a:srgbClr val="1F2A30"/>
                </a:solidFill>
                <a:latin typeface="Calibri" pitchFamily="34" charset="0"/>
                <a:ea typeface="Calibri" pitchFamily="34" charset="-122"/>
                <a:cs typeface="Calibri" pitchFamily="34" charset="-120"/>
              </a:rPr>
              <a:t>Web search</a:t>
            </a:r>
            <a:endParaRPr lang="en-US" sz="1200" dirty="0"/>
          </a:p>
        </p:txBody>
      </p:sp>
      <p:sp>
        <p:nvSpPr>
          <p:cNvPr id="26" name="Text 21"/>
          <p:cNvSpPr txBox="1"/>
          <p:nvPr/>
        </p:nvSpPr>
        <p:spPr>
          <a:xfrm>
            <a:off x="7315200" y="2167128"/>
            <a:ext cx="1280160" cy="384048"/>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Vendor docs</a:t>
            </a:r>
            <a:endParaRPr lang="en-US" sz="1000" dirty="0"/>
          </a:p>
        </p:txBody>
      </p:sp>
      <p:sp>
        <p:nvSpPr>
          <p:cNvPr id="27" name="Text 22"/>
          <p:cNvSpPr txBox="1"/>
          <p:nvPr/>
        </p:nvSpPr>
        <p:spPr>
          <a:xfrm>
            <a:off x="4892040" y="2926080"/>
            <a:ext cx="3794760" cy="228600"/>
          </a:xfrm>
          <a:prstGeom prst="rect">
            <a:avLst/>
          </a:prstGeom>
          <a:noFill/>
          <a:ln/>
        </p:spPr>
        <p:txBody>
          <a:bodyPr wrap="square" lIns="0" tIns="0" rIns="0" bIns="0" rtlCol="0" anchor="t"/>
          <a:lstStyle/>
          <a:p>
            <a:pPr marL="0" indent="0">
              <a:buNone/>
            </a:pPr>
            <a:r>
              <a:rPr lang="en-US" sz="1000" b="1" kern="0" spc="200" dirty="0">
                <a:solidFill>
                  <a:srgbClr val="7A8A92"/>
                </a:solidFill>
                <a:latin typeface="Calibri" pitchFamily="34" charset="0"/>
                <a:ea typeface="Calibri" pitchFamily="34" charset="-122"/>
                <a:cs typeface="Calibri" pitchFamily="34" charset="-120"/>
              </a:rPr>
              <a:t>BUSINESS CONTEXT SETUP, ONE TIME</a:t>
            </a:r>
            <a:endParaRPr lang="en-US" sz="1000" dirty="0"/>
          </a:p>
        </p:txBody>
      </p:sp>
      <p:sp>
        <p:nvSpPr>
          <p:cNvPr id="28" name="Shape 23"/>
          <p:cNvSpPr/>
          <p:nvPr/>
        </p:nvSpPr>
        <p:spPr>
          <a:xfrm>
            <a:off x="4434840" y="3767328"/>
            <a:ext cx="411480" cy="914"/>
          </a:xfrm>
          <a:prstGeom prst="line">
            <a:avLst/>
          </a:prstGeom>
          <a:noFill/>
          <a:ln w="22225">
            <a:solidFill>
              <a:srgbClr val="4A5A63"/>
            </a:solidFill>
            <a:prstDash val="solid"/>
            <a:tailEnd type="triangle"/>
          </a:ln>
        </p:spPr>
        <p:txBody>
          <a:bodyPr/>
          <a:lstStyle/>
          <a:p>
            <a:endParaRPr lang="en-US"/>
          </a:p>
        </p:txBody>
      </p:sp>
      <p:sp>
        <p:nvSpPr>
          <p:cNvPr id="29" name="Shape 24"/>
          <p:cNvSpPr/>
          <p:nvPr/>
        </p:nvSpPr>
        <p:spPr>
          <a:xfrm>
            <a:off x="4892040" y="3218688"/>
            <a:ext cx="1920240" cy="1097280"/>
          </a:xfrm>
          <a:prstGeom prst="roundRect">
            <a:avLst>
              <a:gd name="adj" fmla="val 10000"/>
            </a:avLst>
          </a:prstGeom>
          <a:solidFill>
            <a:srgbClr val="FBEBD2"/>
          </a:solidFill>
          <a:ln w="12700">
            <a:solidFill>
              <a:srgbClr val="FBEBD2"/>
            </a:solidFill>
            <a:prstDash val="solid"/>
          </a:ln>
        </p:spPr>
        <p:txBody>
          <a:bodyPr/>
          <a:lstStyle/>
          <a:p>
            <a:endParaRPr lang="en-US"/>
          </a:p>
        </p:txBody>
      </p:sp>
      <p:sp>
        <p:nvSpPr>
          <p:cNvPr id="30" name="Shape 25"/>
          <p:cNvSpPr/>
          <p:nvPr/>
        </p:nvSpPr>
        <p:spPr>
          <a:xfrm>
            <a:off x="5029200" y="3355848"/>
            <a:ext cx="411480" cy="411480"/>
          </a:xfrm>
          <a:prstGeom prst="ellipse">
            <a:avLst/>
          </a:prstGeom>
          <a:solidFill>
            <a:srgbClr val="E9A23B"/>
          </a:solidFill>
          <a:ln w="12700">
            <a:solidFill>
              <a:srgbClr val="E9A23B"/>
            </a:solidFill>
            <a:prstDash val="solid"/>
          </a:ln>
        </p:spPr>
        <p:txBody>
          <a:bodyPr/>
          <a:lstStyle/>
          <a:p>
            <a:endParaRPr lang="en-US"/>
          </a:p>
        </p:txBody>
      </p:sp>
      <p:pic>
        <p:nvPicPr>
          <p:cNvPr id="31" name="Image 3" descr="preencoded.png"/>
          <p:cNvPicPr>
            <a:picLocks noChangeAspect="1"/>
          </p:cNvPicPr>
          <p:nvPr/>
        </p:nvPicPr>
        <p:blipFill>
          <a:blip r:embed="rId6"/>
          <a:stretch>
            <a:fillRect/>
          </a:stretch>
        </p:blipFill>
        <p:spPr>
          <a:xfrm>
            <a:off x="5132070" y="3458718"/>
            <a:ext cx="205740" cy="205740"/>
          </a:xfrm>
          <a:prstGeom prst="rect">
            <a:avLst/>
          </a:prstGeom>
        </p:spPr>
      </p:pic>
      <p:sp>
        <p:nvSpPr>
          <p:cNvPr id="32" name="Text 26"/>
          <p:cNvSpPr txBox="1"/>
          <p:nvPr/>
        </p:nvSpPr>
        <p:spPr>
          <a:xfrm>
            <a:off x="5532120" y="3328416"/>
            <a:ext cx="1188720" cy="502920"/>
          </a:xfrm>
          <a:prstGeom prst="rect">
            <a:avLst/>
          </a:prstGeom>
          <a:noFill/>
          <a:ln/>
        </p:spPr>
        <p:txBody>
          <a:bodyPr wrap="square" lIns="0" tIns="0" rIns="0" bIns="0" rtlCol="0" anchor="ctr"/>
          <a:lstStyle/>
          <a:p>
            <a:pPr marL="0" indent="0">
              <a:buNone/>
            </a:pPr>
            <a:r>
              <a:rPr lang="en-US" sz="1200" b="1" dirty="0">
                <a:solidFill>
                  <a:srgbClr val="1F2A30"/>
                </a:solidFill>
                <a:latin typeface="Calibri" pitchFamily="34" charset="0"/>
                <a:ea typeface="Calibri" pitchFamily="34" charset="-122"/>
                <a:cs typeface="Calibri" pitchFamily="34" charset="-120"/>
              </a:rPr>
              <a:t>Domain and sub-domain only</a:t>
            </a:r>
            <a:endParaRPr lang="en-US" sz="1200" dirty="0"/>
          </a:p>
        </p:txBody>
      </p:sp>
      <p:sp>
        <p:nvSpPr>
          <p:cNvPr id="33" name="Text 27"/>
          <p:cNvSpPr txBox="1"/>
          <p:nvPr/>
        </p:nvSpPr>
        <p:spPr>
          <a:xfrm>
            <a:off x="5029200" y="3858768"/>
            <a:ext cx="1691640" cy="384048"/>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No code is sent</a:t>
            </a:r>
            <a:endParaRPr lang="en-US" sz="1000" dirty="0"/>
          </a:p>
        </p:txBody>
      </p:sp>
      <p:sp>
        <p:nvSpPr>
          <p:cNvPr id="34" name="Shape 28"/>
          <p:cNvSpPr/>
          <p:nvPr/>
        </p:nvSpPr>
        <p:spPr>
          <a:xfrm>
            <a:off x="6858000" y="3767328"/>
            <a:ext cx="274320" cy="914"/>
          </a:xfrm>
          <a:prstGeom prst="line">
            <a:avLst/>
          </a:prstGeom>
          <a:noFill/>
          <a:ln w="22225">
            <a:solidFill>
              <a:srgbClr val="4A5A63"/>
            </a:solidFill>
            <a:prstDash val="solid"/>
            <a:tailEnd type="triangle"/>
          </a:ln>
        </p:spPr>
        <p:txBody>
          <a:bodyPr/>
          <a:lstStyle/>
          <a:p>
            <a:endParaRPr lang="en-US"/>
          </a:p>
        </p:txBody>
      </p:sp>
      <p:sp>
        <p:nvSpPr>
          <p:cNvPr id="35" name="Shape 29"/>
          <p:cNvSpPr/>
          <p:nvPr/>
        </p:nvSpPr>
        <p:spPr>
          <a:xfrm>
            <a:off x="7178040" y="3218688"/>
            <a:ext cx="1508760" cy="1097280"/>
          </a:xfrm>
          <a:prstGeom prst="roundRect">
            <a:avLst>
              <a:gd name="adj" fmla="val 10000"/>
            </a:avLst>
          </a:prstGeom>
          <a:solidFill>
            <a:srgbClr val="EEF3F4"/>
          </a:solidFill>
          <a:ln w="12700">
            <a:solidFill>
              <a:srgbClr val="EEF3F4"/>
            </a:solidFill>
            <a:prstDash val="solid"/>
          </a:ln>
        </p:spPr>
        <p:txBody>
          <a:bodyPr/>
          <a:lstStyle/>
          <a:p>
            <a:endParaRPr lang="en-US"/>
          </a:p>
        </p:txBody>
      </p:sp>
      <p:sp>
        <p:nvSpPr>
          <p:cNvPr id="36" name="Shape 30"/>
          <p:cNvSpPr/>
          <p:nvPr/>
        </p:nvSpPr>
        <p:spPr>
          <a:xfrm>
            <a:off x="7315200" y="3355848"/>
            <a:ext cx="411480" cy="411480"/>
          </a:xfrm>
          <a:prstGeom prst="ellipse">
            <a:avLst/>
          </a:prstGeom>
          <a:solidFill>
            <a:srgbClr val="4A5A63"/>
          </a:solidFill>
          <a:ln w="12700">
            <a:solidFill>
              <a:srgbClr val="4A5A63"/>
            </a:solidFill>
            <a:prstDash val="solid"/>
          </a:ln>
        </p:spPr>
        <p:txBody>
          <a:bodyPr/>
          <a:lstStyle/>
          <a:p>
            <a:endParaRPr lang="en-US"/>
          </a:p>
        </p:txBody>
      </p:sp>
      <p:pic>
        <p:nvPicPr>
          <p:cNvPr id="37" name="Image 4" descr="preencoded.png"/>
          <p:cNvPicPr>
            <a:picLocks noChangeAspect="1"/>
          </p:cNvPicPr>
          <p:nvPr/>
        </p:nvPicPr>
        <p:blipFill>
          <a:blip r:embed="rId5"/>
          <a:stretch>
            <a:fillRect/>
          </a:stretch>
        </p:blipFill>
        <p:spPr>
          <a:xfrm>
            <a:off x="7418070" y="3458718"/>
            <a:ext cx="205740" cy="205740"/>
          </a:xfrm>
          <a:prstGeom prst="rect">
            <a:avLst/>
          </a:prstGeom>
        </p:spPr>
      </p:pic>
      <p:sp>
        <p:nvSpPr>
          <p:cNvPr id="38" name="Text 31"/>
          <p:cNvSpPr txBox="1"/>
          <p:nvPr/>
        </p:nvSpPr>
        <p:spPr>
          <a:xfrm>
            <a:off x="7818120" y="3328416"/>
            <a:ext cx="822960" cy="502920"/>
          </a:xfrm>
          <a:prstGeom prst="rect">
            <a:avLst/>
          </a:prstGeom>
          <a:noFill/>
          <a:ln/>
        </p:spPr>
        <p:txBody>
          <a:bodyPr wrap="square" lIns="0" tIns="0" rIns="0" bIns="0" rtlCol="0" anchor="ctr"/>
          <a:lstStyle/>
          <a:p>
            <a:pPr marL="0" indent="0">
              <a:buNone/>
            </a:pPr>
            <a:r>
              <a:rPr lang="en-US" sz="1200" b="1" dirty="0">
                <a:solidFill>
                  <a:srgbClr val="1F2A30"/>
                </a:solidFill>
                <a:latin typeface="Calibri" pitchFamily="34" charset="0"/>
                <a:ea typeface="Calibri" pitchFamily="34" charset="-122"/>
                <a:cs typeface="Calibri" pitchFamily="34" charset="-120"/>
              </a:rPr>
              <a:t>Web search</a:t>
            </a:r>
            <a:endParaRPr lang="en-US" sz="1200" dirty="0"/>
          </a:p>
        </p:txBody>
      </p:sp>
      <p:sp>
        <p:nvSpPr>
          <p:cNvPr id="39" name="Text 32"/>
          <p:cNvSpPr txBox="1"/>
          <p:nvPr/>
        </p:nvSpPr>
        <p:spPr>
          <a:xfrm>
            <a:off x="7315200" y="3858768"/>
            <a:ext cx="1280160" cy="384048"/>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Public regulations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Today's gotcha, tomorrow's guardrail</a:t>
            </a:r>
            <a:endParaRPr lang="en-US" sz="3000" dirty="0"/>
          </a:p>
        </p:txBody>
      </p:sp>
      <p:sp>
        <p:nvSpPr>
          <p:cNvPr id="3" name="Text 1"/>
          <p:cNvSpPr txBox="1"/>
          <p:nvPr/>
        </p:nvSpPr>
        <p:spPr>
          <a:xfrm>
            <a:off x="457200" y="896112"/>
            <a:ext cx="8229600" cy="274320"/>
          </a:xfrm>
          <a:prstGeom prst="rect">
            <a:avLst/>
          </a:prstGeom>
          <a:noFill/>
          <a:ln/>
        </p:spPr>
        <p:txBody>
          <a:bodyPr wrap="square" lIns="0" tIns="0" rIns="0" bIns="0" rtlCol="0" anchor="t"/>
          <a:lstStyle/>
          <a:p>
            <a:pPr marL="0" indent="0">
              <a:buNone/>
            </a:pPr>
            <a:r>
              <a:rPr lang="en-US" sz="1300" i="1" dirty="0">
                <a:solidFill>
                  <a:srgbClr val="2A9D8F"/>
                </a:solidFill>
                <a:latin typeface="Calibri" pitchFamily="34" charset="0"/>
                <a:ea typeface="Calibri" pitchFamily="34" charset="-122"/>
                <a:cs typeface="Calibri" pitchFamily="34" charset="-120"/>
              </a:rPr>
              <a:t>project-knowledge.md: a pattern library that makes every future ICEA better. Not the memory log, not the audit trail.</a:t>
            </a:r>
            <a:endParaRPr lang="en-US" sz="1300" dirty="0"/>
          </a:p>
        </p:txBody>
      </p:sp>
      <p:sp>
        <p:nvSpPr>
          <p:cNvPr id="4" name="Text 2"/>
          <p:cNvSpPr txBox="1"/>
          <p:nvPr/>
        </p:nvSpPr>
        <p:spPr>
          <a:xfrm>
            <a:off x="457200" y="1325880"/>
            <a:ext cx="2697480" cy="228600"/>
          </a:xfrm>
          <a:prstGeom prst="rect">
            <a:avLst/>
          </a:prstGeom>
          <a:noFill/>
          <a:ln/>
        </p:spPr>
        <p:txBody>
          <a:bodyPr wrap="square" lIns="0" tIns="0" rIns="0" bIns="0" rtlCol="0" anchor="t"/>
          <a:lstStyle/>
          <a:p>
            <a:pPr marL="0" indent="0">
              <a:buNone/>
            </a:pPr>
            <a:r>
              <a:rPr lang="en-US" sz="1000" b="1" kern="0" spc="200" dirty="0">
                <a:solidFill>
                  <a:srgbClr val="7A8A92"/>
                </a:solidFill>
                <a:latin typeface="Calibri" pitchFamily="34" charset="0"/>
                <a:ea typeface="Calibri" pitchFamily="34" charset="-122"/>
                <a:cs typeface="Calibri" pitchFamily="34" charset="-120"/>
              </a:rPr>
              <a:t>THE TEAM MULTIPLIER</a:t>
            </a:r>
            <a:endParaRPr lang="en-US" sz="1000" dirty="0"/>
          </a:p>
        </p:txBody>
      </p:sp>
      <p:sp>
        <p:nvSpPr>
          <p:cNvPr id="5" name="Shape 3"/>
          <p:cNvSpPr/>
          <p:nvPr/>
        </p:nvSpPr>
        <p:spPr>
          <a:xfrm>
            <a:off x="457200" y="1645920"/>
            <a:ext cx="2697480" cy="640080"/>
          </a:xfrm>
          <a:prstGeom prst="roundRect">
            <a:avLst>
              <a:gd name="adj" fmla="val 17143"/>
            </a:avLst>
          </a:prstGeom>
          <a:solidFill>
            <a:srgbClr val="EEF3F4"/>
          </a:solidFill>
          <a:ln w="12700">
            <a:solidFill>
              <a:srgbClr val="EEF3F4"/>
            </a:solidFill>
            <a:prstDash val="solid"/>
          </a:ln>
        </p:spPr>
        <p:txBody>
          <a:bodyPr/>
          <a:lstStyle/>
          <a:p>
            <a:endParaRPr lang="en-US"/>
          </a:p>
        </p:txBody>
      </p:sp>
      <p:sp>
        <p:nvSpPr>
          <p:cNvPr id="6" name="Text 4"/>
          <p:cNvSpPr txBox="1"/>
          <p:nvPr/>
        </p:nvSpPr>
        <p:spPr>
          <a:xfrm>
            <a:off x="594360" y="1709928"/>
            <a:ext cx="2468880" cy="274320"/>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Developer A, ADO-1234</a:t>
            </a:r>
            <a:endParaRPr lang="en-US" sz="1200" dirty="0"/>
          </a:p>
        </p:txBody>
      </p:sp>
      <p:sp>
        <p:nvSpPr>
          <p:cNvPr id="7" name="Text 5"/>
          <p:cNvSpPr txBox="1"/>
          <p:nvPr/>
        </p:nvSpPr>
        <p:spPr>
          <a:xfrm>
            <a:off x="594360" y="1984248"/>
            <a:ext cx="2468880" cy="256032"/>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Finds a pattern</a:t>
            </a:r>
            <a:endParaRPr lang="en-US" sz="1000" dirty="0"/>
          </a:p>
        </p:txBody>
      </p:sp>
      <p:sp>
        <p:nvSpPr>
          <p:cNvPr id="8" name="Shape 6"/>
          <p:cNvSpPr/>
          <p:nvPr/>
        </p:nvSpPr>
        <p:spPr>
          <a:xfrm>
            <a:off x="1805940" y="2304288"/>
            <a:ext cx="914" cy="192024"/>
          </a:xfrm>
          <a:prstGeom prst="line">
            <a:avLst/>
          </a:prstGeom>
          <a:noFill/>
          <a:ln w="22225">
            <a:solidFill>
              <a:srgbClr val="4A5A63"/>
            </a:solidFill>
            <a:prstDash val="solid"/>
            <a:tailEnd type="triangle"/>
          </a:ln>
        </p:spPr>
        <p:txBody>
          <a:bodyPr/>
          <a:lstStyle/>
          <a:p>
            <a:endParaRPr lang="en-US"/>
          </a:p>
        </p:txBody>
      </p:sp>
      <p:sp>
        <p:nvSpPr>
          <p:cNvPr id="9" name="Shape 7"/>
          <p:cNvSpPr/>
          <p:nvPr/>
        </p:nvSpPr>
        <p:spPr>
          <a:xfrm>
            <a:off x="457200" y="2514600"/>
            <a:ext cx="2697480" cy="640080"/>
          </a:xfrm>
          <a:prstGeom prst="roundRect">
            <a:avLst>
              <a:gd name="adj" fmla="val 17143"/>
            </a:avLst>
          </a:prstGeom>
          <a:solidFill>
            <a:srgbClr val="2A9D8F"/>
          </a:solidFill>
          <a:ln w="12700">
            <a:solidFill>
              <a:srgbClr val="2A9D8F"/>
            </a:solidFill>
            <a:prstDash val="solid"/>
          </a:ln>
        </p:spPr>
        <p:txBody>
          <a:bodyPr/>
          <a:lstStyle/>
          <a:p>
            <a:endParaRPr lang="en-US"/>
          </a:p>
        </p:txBody>
      </p:sp>
      <p:sp>
        <p:nvSpPr>
          <p:cNvPr id="10" name="Text 8"/>
          <p:cNvSpPr txBox="1"/>
          <p:nvPr/>
        </p:nvSpPr>
        <p:spPr>
          <a:xfrm>
            <a:off x="594360" y="2578608"/>
            <a:ext cx="2468880" cy="274320"/>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project-knowledge.md</a:t>
            </a:r>
            <a:endParaRPr lang="en-US" sz="1200" dirty="0"/>
          </a:p>
        </p:txBody>
      </p:sp>
      <p:sp>
        <p:nvSpPr>
          <p:cNvPr id="11" name="Text 9"/>
          <p:cNvSpPr txBox="1"/>
          <p:nvPr/>
        </p:nvSpPr>
        <p:spPr>
          <a:xfrm>
            <a:off x="594360" y="2852928"/>
            <a:ext cx="2468880" cy="256032"/>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Stored once, per project</a:t>
            </a:r>
            <a:endParaRPr lang="en-US" sz="1000" dirty="0"/>
          </a:p>
        </p:txBody>
      </p:sp>
      <p:sp>
        <p:nvSpPr>
          <p:cNvPr id="12" name="Shape 10"/>
          <p:cNvSpPr/>
          <p:nvPr/>
        </p:nvSpPr>
        <p:spPr>
          <a:xfrm>
            <a:off x="1805940" y="3172968"/>
            <a:ext cx="914" cy="192024"/>
          </a:xfrm>
          <a:prstGeom prst="line">
            <a:avLst/>
          </a:prstGeom>
          <a:noFill/>
          <a:ln w="22225">
            <a:solidFill>
              <a:srgbClr val="4A5A63"/>
            </a:solidFill>
            <a:prstDash val="solid"/>
            <a:tailEnd type="triangle"/>
          </a:ln>
        </p:spPr>
        <p:txBody>
          <a:bodyPr/>
          <a:lstStyle/>
          <a:p>
            <a:endParaRPr lang="en-US"/>
          </a:p>
        </p:txBody>
      </p:sp>
      <p:sp>
        <p:nvSpPr>
          <p:cNvPr id="13" name="Shape 11"/>
          <p:cNvSpPr/>
          <p:nvPr/>
        </p:nvSpPr>
        <p:spPr>
          <a:xfrm>
            <a:off x="457200" y="3383280"/>
            <a:ext cx="2697480" cy="640080"/>
          </a:xfrm>
          <a:prstGeom prst="roundRect">
            <a:avLst>
              <a:gd name="adj" fmla="val 17143"/>
            </a:avLst>
          </a:prstGeom>
          <a:solidFill>
            <a:srgbClr val="EEF3F4"/>
          </a:solidFill>
          <a:ln w="12700">
            <a:solidFill>
              <a:srgbClr val="EEF3F4"/>
            </a:solidFill>
            <a:prstDash val="solid"/>
          </a:ln>
        </p:spPr>
        <p:txBody>
          <a:bodyPr/>
          <a:lstStyle/>
          <a:p>
            <a:endParaRPr lang="en-US"/>
          </a:p>
        </p:txBody>
      </p:sp>
      <p:sp>
        <p:nvSpPr>
          <p:cNvPr id="14" name="Text 12"/>
          <p:cNvSpPr txBox="1"/>
          <p:nvPr/>
        </p:nvSpPr>
        <p:spPr>
          <a:xfrm>
            <a:off x="594360" y="3447288"/>
            <a:ext cx="2468880" cy="274320"/>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Developer B, ADO-5678</a:t>
            </a:r>
            <a:endParaRPr lang="en-US" sz="1200" dirty="0"/>
          </a:p>
        </p:txBody>
      </p:sp>
      <p:sp>
        <p:nvSpPr>
          <p:cNvPr id="15" name="Text 13"/>
          <p:cNvSpPr txBox="1"/>
          <p:nvPr/>
        </p:nvSpPr>
        <p:spPr>
          <a:xfrm>
            <a:off x="594360" y="3721608"/>
            <a:ext cx="2468880" cy="256032"/>
          </a:xfrm>
          <a:prstGeom prst="rect">
            <a:avLst/>
          </a:prstGeom>
          <a:noFill/>
          <a:ln/>
        </p:spPr>
        <p:txBody>
          <a:bodyPr wrap="square" lIns="0" tIns="0" rIns="0" bIns="0" rtlCol="0" anchor="t"/>
          <a:lstStyle/>
          <a:p>
            <a:pPr marL="0" indent="0">
              <a:buNone/>
            </a:pPr>
            <a:r>
              <a:rPr lang="en-US" sz="1000" dirty="0">
                <a:solidFill>
                  <a:srgbClr val="4A5A63"/>
                </a:solidFill>
                <a:latin typeface="Calibri" pitchFamily="34" charset="0"/>
                <a:ea typeface="Calibri" pitchFamily="34" charset="-122"/>
                <a:cs typeface="Calibri" pitchFamily="34" charset="-120"/>
              </a:rPr>
              <a:t>Six months later, gets it right first time</a:t>
            </a:r>
            <a:endParaRPr lang="en-US" sz="1000" dirty="0"/>
          </a:p>
        </p:txBody>
      </p:sp>
      <p:sp>
        <p:nvSpPr>
          <p:cNvPr id="16" name="Text 14"/>
          <p:cNvSpPr txBox="1"/>
          <p:nvPr/>
        </p:nvSpPr>
        <p:spPr>
          <a:xfrm>
            <a:off x="3429000" y="1325880"/>
            <a:ext cx="2651760" cy="228600"/>
          </a:xfrm>
          <a:prstGeom prst="rect">
            <a:avLst/>
          </a:prstGeom>
          <a:noFill/>
          <a:ln/>
        </p:spPr>
        <p:txBody>
          <a:bodyPr wrap="square" lIns="0" tIns="0" rIns="0" bIns="0" rtlCol="0" anchor="t"/>
          <a:lstStyle/>
          <a:p>
            <a:pPr marL="0" indent="0">
              <a:buNone/>
            </a:pPr>
            <a:r>
              <a:rPr lang="en-US" sz="1000" b="1" kern="0" spc="200" dirty="0">
                <a:solidFill>
                  <a:srgbClr val="7A8A92"/>
                </a:solidFill>
                <a:latin typeface="Calibri" pitchFamily="34" charset="0"/>
                <a:ea typeface="Calibri" pitchFamily="34" charset="-122"/>
                <a:cs typeface="Calibri" pitchFamily="34" charset="-120"/>
              </a:rPr>
              <a:t>THREE WAYS IN</a:t>
            </a:r>
            <a:endParaRPr lang="en-US" sz="1000" dirty="0"/>
          </a:p>
        </p:txBody>
      </p:sp>
      <p:sp>
        <p:nvSpPr>
          <p:cNvPr id="17" name="Shape 15"/>
          <p:cNvSpPr/>
          <p:nvPr/>
        </p:nvSpPr>
        <p:spPr>
          <a:xfrm>
            <a:off x="3429000" y="1645920"/>
            <a:ext cx="2651760" cy="731520"/>
          </a:xfrm>
          <a:prstGeom prst="roundRect">
            <a:avLst>
              <a:gd name="adj" fmla="val 15000"/>
            </a:avLst>
          </a:prstGeom>
          <a:solidFill>
            <a:srgbClr val="EEF3F4"/>
          </a:solidFill>
          <a:ln w="12700">
            <a:solidFill>
              <a:srgbClr val="EEF3F4"/>
            </a:solidFill>
            <a:prstDash val="solid"/>
          </a:ln>
        </p:spPr>
        <p:txBody>
          <a:bodyPr/>
          <a:lstStyle/>
          <a:p>
            <a:endParaRPr lang="en-US"/>
          </a:p>
        </p:txBody>
      </p:sp>
      <p:sp>
        <p:nvSpPr>
          <p:cNvPr id="18" name="Text 16"/>
          <p:cNvSpPr txBox="1"/>
          <p:nvPr/>
        </p:nvSpPr>
        <p:spPr>
          <a:xfrm>
            <a:off x="3566160" y="1719072"/>
            <a:ext cx="1280160" cy="274320"/>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Manual</a:t>
            </a:r>
            <a:endParaRPr lang="en-US" sz="1200" dirty="0"/>
          </a:p>
        </p:txBody>
      </p:sp>
      <p:sp>
        <p:nvSpPr>
          <p:cNvPr id="19" name="Shape 17"/>
          <p:cNvSpPr/>
          <p:nvPr/>
        </p:nvSpPr>
        <p:spPr>
          <a:xfrm>
            <a:off x="4846320" y="1737360"/>
            <a:ext cx="1115568" cy="237744"/>
          </a:xfrm>
          <a:prstGeom prst="roundRect">
            <a:avLst>
              <a:gd name="adj" fmla="val 50000"/>
            </a:avLst>
          </a:prstGeom>
          <a:solidFill>
            <a:srgbClr val="FBEBD2"/>
          </a:solidFill>
          <a:ln w="12700">
            <a:solidFill>
              <a:srgbClr val="FBEBD2"/>
            </a:solidFill>
            <a:prstDash val="solid"/>
          </a:ln>
        </p:spPr>
        <p:txBody>
          <a:bodyPr/>
          <a:lstStyle/>
          <a:p>
            <a:endParaRPr lang="en-US"/>
          </a:p>
        </p:txBody>
      </p:sp>
      <p:sp>
        <p:nvSpPr>
          <p:cNvPr id="20" name="Text 18"/>
          <p:cNvSpPr txBox="1"/>
          <p:nvPr/>
        </p:nvSpPr>
        <p:spPr>
          <a:xfrm>
            <a:off x="4846320" y="1737360"/>
            <a:ext cx="1115568" cy="237744"/>
          </a:xfrm>
          <a:prstGeom prst="rect">
            <a:avLst/>
          </a:prstGeom>
          <a:noFill/>
          <a:ln/>
        </p:spPr>
        <p:txBody>
          <a:bodyPr wrap="square" lIns="0" tIns="0" rIns="0" bIns="0" rtlCol="0" anchor="ctr"/>
          <a:lstStyle/>
          <a:p>
            <a:pPr marL="0" indent="0" algn="ctr">
              <a:buNone/>
            </a:pPr>
            <a:r>
              <a:rPr lang="en-US" sz="900" b="1" dirty="0">
                <a:solidFill>
                  <a:srgbClr val="1F2A30"/>
                </a:solidFill>
                <a:latin typeface="Calibri" pitchFamily="34" charset="0"/>
                <a:ea typeface="Calibri" pitchFamily="34" charset="-122"/>
                <a:cs typeface="Calibri" pitchFamily="34" charset="-120"/>
              </a:rPr>
              <a:t>Write Gate</a:t>
            </a:r>
            <a:endParaRPr lang="en-US" sz="900" dirty="0"/>
          </a:p>
        </p:txBody>
      </p:sp>
      <p:sp>
        <p:nvSpPr>
          <p:cNvPr id="21" name="Text 19"/>
          <p:cNvSpPr txBox="1"/>
          <p:nvPr/>
        </p:nvSpPr>
        <p:spPr>
          <a:xfrm>
            <a:off x="3566160" y="2029968"/>
            <a:ext cx="2423160" cy="274320"/>
          </a:xfrm>
          <a:prstGeom prst="rect">
            <a:avLst/>
          </a:prstGeom>
          <a:noFill/>
          <a:ln/>
        </p:spPr>
        <p:txBody>
          <a:bodyPr wrap="square" lIns="0" tIns="0" rIns="0" bIns="0" rtlCol="0" anchor="t"/>
          <a:lstStyle/>
          <a:p>
            <a:pPr marL="0" indent="0">
              <a:buNone/>
            </a:pPr>
            <a:r>
              <a:rPr lang="en-US" sz="950" dirty="0">
                <a:solidFill>
                  <a:srgbClr val="4A5A63"/>
                </a:solidFill>
                <a:latin typeface="Courier New" pitchFamily="34" charset="0"/>
                <a:ea typeface="Courier New" pitchFamily="34" charset="-122"/>
                <a:cs typeface="Courier New" pitchFamily="34" charset="-120"/>
              </a:rPr>
              <a:t>KNOWLEDGE ADD / UPDATE / REMOVE</a:t>
            </a:r>
            <a:endParaRPr lang="en-US" sz="950" dirty="0"/>
          </a:p>
        </p:txBody>
      </p:sp>
      <p:sp>
        <p:nvSpPr>
          <p:cNvPr id="22" name="Shape 20"/>
          <p:cNvSpPr/>
          <p:nvPr/>
        </p:nvSpPr>
        <p:spPr>
          <a:xfrm>
            <a:off x="3429000" y="2468880"/>
            <a:ext cx="2651760" cy="731520"/>
          </a:xfrm>
          <a:prstGeom prst="roundRect">
            <a:avLst>
              <a:gd name="adj" fmla="val 15000"/>
            </a:avLst>
          </a:prstGeom>
          <a:solidFill>
            <a:srgbClr val="EEF3F4"/>
          </a:solidFill>
          <a:ln w="12700">
            <a:solidFill>
              <a:srgbClr val="EEF3F4"/>
            </a:solidFill>
            <a:prstDash val="solid"/>
          </a:ln>
        </p:spPr>
        <p:txBody>
          <a:bodyPr/>
          <a:lstStyle/>
          <a:p>
            <a:endParaRPr lang="en-US"/>
          </a:p>
        </p:txBody>
      </p:sp>
      <p:sp>
        <p:nvSpPr>
          <p:cNvPr id="23" name="Text 21"/>
          <p:cNvSpPr txBox="1"/>
          <p:nvPr/>
        </p:nvSpPr>
        <p:spPr>
          <a:xfrm>
            <a:off x="3566160" y="2542032"/>
            <a:ext cx="1280160" cy="274320"/>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Semi-automatic</a:t>
            </a:r>
            <a:endParaRPr lang="en-US" sz="1200" dirty="0"/>
          </a:p>
        </p:txBody>
      </p:sp>
      <p:sp>
        <p:nvSpPr>
          <p:cNvPr id="24" name="Shape 22"/>
          <p:cNvSpPr/>
          <p:nvPr/>
        </p:nvSpPr>
        <p:spPr>
          <a:xfrm>
            <a:off x="4846320" y="2560320"/>
            <a:ext cx="1115568" cy="237744"/>
          </a:xfrm>
          <a:prstGeom prst="roundRect">
            <a:avLst>
              <a:gd name="adj" fmla="val 50000"/>
            </a:avLst>
          </a:prstGeom>
          <a:solidFill>
            <a:srgbClr val="FBEBD2"/>
          </a:solidFill>
          <a:ln w="12700">
            <a:solidFill>
              <a:srgbClr val="FBEBD2"/>
            </a:solidFill>
            <a:prstDash val="solid"/>
          </a:ln>
        </p:spPr>
        <p:txBody>
          <a:bodyPr/>
          <a:lstStyle/>
          <a:p>
            <a:endParaRPr lang="en-US"/>
          </a:p>
        </p:txBody>
      </p:sp>
      <p:sp>
        <p:nvSpPr>
          <p:cNvPr id="25" name="Text 23"/>
          <p:cNvSpPr txBox="1"/>
          <p:nvPr/>
        </p:nvSpPr>
        <p:spPr>
          <a:xfrm>
            <a:off x="4846320" y="2560320"/>
            <a:ext cx="1115568" cy="237744"/>
          </a:xfrm>
          <a:prstGeom prst="rect">
            <a:avLst/>
          </a:prstGeom>
          <a:noFill/>
          <a:ln/>
        </p:spPr>
        <p:txBody>
          <a:bodyPr wrap="square" lIns="0" tIns="0" rIns="0" bIns="0" rtlCol="0" anchor="ctr"/>
          <a:lstStyle/>
          <a:p>
            <a:pPr marL="0" indent="0" algn="ctr">
              <a:buNone/>
            </a:pPr>
            <a:r>
              <a:rPr lang="en-US" sz="900" b="1" dirty="0">
                <a:solidFill>
                  <a:srgbClr val="1F2A30"/>
                </a:solidFill>
                <a:latin typeface="Calibri" pitchFamily="34" charset="0"/>
                <a:ea typeface="Calibri" pitchFamily="34" charset="-122"/>
                <a:cs typeface="Calibri" pitchFamily="34" charset="-120"/>
              </a:rPr>
              <a:t>Write Gate</a:t>
            </a:r>
            <a:endParaRPr lang="en-US" sz="900" dirty="0"/>
          </a:p>
        </p:txBody>
      </p:sp>
      <p:sp>
        <p:nvSpPr>
          <p:cNvPr id="26" name="Text 24"/>
          <p:cNvSpPr txBox="1"/>
          <p:nvPr/>
        </p:nvSpPr>
        <p:spPr>
          <a:xfrm>
            <a:off x="3566160" y="2852928"/>
            <a:ext cx="2423160" cy="274320"/>
          </a:xfrm>
          <a:prstGeom prst="rect">
            <a:avLst/>
          </a:prstGeom>
          <a:noFill/>
          <a:ln/>
        </p:spPr>
        <p:txBody>
          <a:bodyPr wrap="square" lIns="0" tIns="0" rIns="0" bIns="0" rtlCol="0" anchor="t"/>
          <a:lstStyle/>
          <a:p>
            <a:pPr marL="0" indent="0">
              <a:buNone/>
            </a:pPr>
            <a:r>
              <a:rPr lang="en-US" sz="950" dirty="0">
                <a:solidFill>
                  <a:srgbClr val="4A5A63"/>
                </a:solidFill>
                <a:latin typeface="Courier New" pitchFamily="34" charset="0"/>
                <a:ea typeface="Courier New" pitchFamily="34" charset="-122"/>
                <a:cs typeface="Courier New" pitchFamily="34" charset="-120"/>
              </a:rPr>
              <a:t>LESSONS ADO-{ID}, then confirm</a:t>
            </a:r>
            <a:endParaRPr lang="en-US" sz="950" dirty="0"/>
          </a:p>
        </p:txBody>
      </p:sp>
      <p:sp>
        <p:nvSpPr>
          <p:cNvPr id="27" name="Shape 25"/>
          <p:cNvSpPr/>
          <p:nvPr/>
        </p:nvSpPr>
        <p:spPr>
          <a:xfrm>
            <a:off x="3429000" y="3291840"/>
            <a:ext cx="2651760" cy="731520"/>
          </a:xfrm>
          <a:prstGeom prst="roundRect">
            <a:avLst>
              <a:gd name="adj" fmla="val 15000"/>
            </a:avLst>
          </a:prstGeom>
          <a:solidFill>
            <a:srgbClr val="EEF3F4"/>
          </a:solidFill>
          <a:ln w="12700">
            <a:solidFill>
              <a:srgbClr val="EEF3F4"/>
            </a:solidFill>
            <a:prstDash val="solid"/>
          </a:ln>
        </p:spPr>
        <p:txBody>
          <a:bodyPr/>
          <a:lstStyle/>
          <a:p>
            <a:endParaRPr lang="en-US"/>
          </a:p>
        </p:txBody>
      </p:sp>
      <p:sp>
        <p:nvSpPr>
          <p:cNvPr id="28" name="Text 26"/>
          <p:cNvSpPr txBox="1"/>
          <p:nvPr/>
        </p:nvSpPr>
        <p:spPr>
          <a:xfrm>
            <a:off x="3566160" y="3364992"/>
            <a:ext cx="1280160" cy="274320"/>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Auto-promotion</a:t>
            </a:r>
            <a:endParaRPr lang="en-US" sz="1200" dirty="0"/>
          </a:p>
        </p:txBody>
      </p:sp>
      <p:sp>
        <p:nvSpPr>
          <p:cNvPr id="29" name="Shape 27"/>
          <p:cNvSpPr/>
          <p:nvPr/>
        </p:nvSpPr>
        <p:spPr>
          <a:xfrm>
            <a:off x="4846320" y="3383280"/>
            <a:ext cx="1115568" cy="237744"/>
          </a:xfrm>
          <a:prstGeom prst="roundRect">
            <a:avLst>
              <a:gd name="adj" fmla="val 50000"/>
            </a:avLst>
          </a:prstGeom>
          <a:solidFill>
            <a:srgbClr val="FBEBD2"/>
          </a:solidFill>
          <a:ln w="12700">
            <a:solidFill>
              <a:srgbClr val="FBEBD2"/>
            </a:solidFill>
            <a:prstDash val="solid"/>
          </a:ln>
        </p:spPr>
        <p:txBody>
          <a:bodyPr/>
          <a:lstStyle/>
          <a:p>
            <a:endParaRPr lang="en-US"/>
          </a:p>
        </p:txBody>
      </p:sp>
      <p:sp>
        <p:nvSpPr>
          <p:cNvPr id="30" name="Text 28"/>
          <p:cNvSpPr txBox="1"/>
          <p:nvPr/>
        </p:nvSpPr>
        <p:spPr>
          <a:xfrm>
            <a:off x="4846320" y="3383280"/>
            <a:ext cx="1115568" cy="237744"/>
          </a:xfrm>
          <a:prstGeom prst="rect">
            <a:avLst/>
          </a:prstGeom>
          <a:noFill/>
          <a:ln/>
        </p:spPr>
        <p:txBody>
          <a:bodyPr wrap="square" lIns="0" tIns="0" rIns="0" bIns="0" rtlCol="0" anchor="ctr"/>
          <a:lstStyle/>
          <a:p>
            <a:pPr marL="0" indent="0" algn="ctr">
              <a:buNone/>
            </a:pPr>
            <a:r>
              <a:rPr lang="en-US" sz="900" b="1" dirty="0">
                <a:solidFill>
                  <a:srgbClr val="1F2A30"/>
                </a:solidFill>
                <a:latin typeface="Calibri" pitchFamily="34" charset="0"/>
                <a:ea typeface="Calibri" pitchFamily="34" charset="-122"/>
                <a:cs typeface="Calibri" pitchFamily="34" charset="-120"/>
              </a:rPr>
              <a:t>Dream approval</a:t>
            </a:r>
            <a:endParaRPr lang="en-US" sz="900" dirty="0"/>
          </a:p>
        </p:txBody>
      </p:sp>
      <p:sp>
        <p:nvSpPr>
          <p:cNvPr id="31" name="Text 29"/>
          <p:cNvSpPr txBox="1"/>
          <p:nvPr/>
        </p:nvSpPr>
        <p:spPr>
          <a:xfrm>
            <a:off x="3566160" y="3675888"/>
            <a:ext cx="2423160" cy="274320"/>
          </a:xfrm>
          <a:prstGeom prst="rect">
            <a:avLst/>
          </a:prstGeom>
          <a:noFill/>
          <a:ln/>
        </p:spPr>
        <p:txBody>
          <a:bodyPr wrap="square" lIns="0" tIns="0" rIns="0" bIns="0" rtlCol="0" anchor="t"/>
          <a:lstStyle/>
          <a:p>
            <a:pPr marL="0" indent="0">
              <a:buNone/>
            </a:pPr>
            <a:r>
              <a:rPr lang="en-US" sz="950" dirty="0">
                <a:solidFill>
                  <a:srgbClr val="4A5A63"/>
                </a:solidFill>
                <a:latin typeface="Courier New" pitchFamily="34" charset="0"/>
                <a:ea typeface="Courier New" pitchFamily="34" charset="-122"/>
                <a:cs typeface="Courier New" pitchFamily="34" charset="-120"/>
              </a:rPr>
              <a:t>Same gap on 2+ ADOs, reply PROMOTE / SKIP</a:t>
            </a:r>
            <a:endParaRPr lang="en-US" sz="950" dirty="0"/>
          </a:p>
        </p:txBody>
      </p:sp>
      <p:sp>
        <p:nvSpPr>
          <p:cNvPr id="32" name="Text 30"/>
          <p:cNvSpPr txBox="1"/>
          <p:nvPr/>
        </p:nvSpPr>
        <p:spPr>
          <a:xfrm>
            <a:off x="6355080" y="1325880"/>
            <a:ext cx="2331720" cy="228600"/>
          </a:xfrm>
          <a:prstGeom prst="rect">
            <a:avLst/>
          </a:prstGeom>
          <a:noFill/>
          <a:ln/>
        </p:spPr>
        <p:txBody>
          <a:bodyPr wrap="square" lIns="0" tIns="0" rIns="0" bIns="0" rtlCol="0" anchor="t"/>
          <a:lstStyle/>
          <a:p>
            <a:pPr marL="0" indent="0">
              <a:buNone/>
            </a:pPr>
            <a:r>
              <a:rPr lang="en-US" sz="1000" b="1" kern="0" spc="200" dirty="0">
                <a:solidFill>
                  <a:srgbClr val="7A8A92"/>
                </a:solidFill>
                <a:latin typeface="Calibri" pitchFamily="34" charset="0"/>
                <a:ea typeface="Calibri" pitchFamily="34" charset="-122"/>
                <a:cs typeface="Calibri" pitchFamily="34" charset="-120"/>
              </a:rPr>
              <a:t>STAYS CURRENT</a:t>
            </a:r>
            <a:endParaRPr lang="en-US" sz="1000" dirty="0"/>
          </a:p>
        </p:txBody>
      </p:sp>
      <p:sp>
        <p:nvSpPr>
          <p:cNvPr id="33" name="Shape 31"/>
          <p:cNvSpPr/>
          <p:nvPr/>
        </p:nvSpPr>
        <p:spPr>
          <a:xfrm>
            <a:off x="6355080" y="1645920"/>
            <a:ext cx="2331720" cy="566928"/>
          </a:xfrm>
          <a:prstGeom prst="roundRect">
            <a:avLst>
              <a:gd name="adj" fmla="val 19355"/>
            </a:avLst>
          </a:prstGeom>
          <a:solidFill>
            <a:srgbClr val="EEF3F4"/>
          </a:solidFill>
          <a:ln w="12700">
            <a:solidFill>
              <a:srgbClr val="EEF3F4"/>
            </a:solidFill>
            <a:prstDash val="solid"/>
          </a:ln>
        </p:spPr>
        <p:txBody>
          <a:bodyPr/>
          <a:lstStyle/>
          <a:p>
            <a:endParaRPr lang="en-US"/>
          </a:p>
        </p:txBody>
      </p:sp>
      <p:sp>
        <p:nvSpPr>
          <p:cNvPr id="34" name="Shape 32"/>
          <p:cNvSpPr/>
          <p:nvPr/>
        </p:nvSpPr>
        <p:spPr>
          <a:xfrm>
            <a:off x="6473952" y="1792224"/>
            <a:ext cx="274320" cy="274320"/>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35" name="Text 33"/>
          <p:cNvSpPr txBox="1"/>
          <p:nvPr/>
        </p:nvSpPr>
        <p:spPr>
          <a:xfrm>
            <a:off x="6473952" y="179222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6" name="Text 34"/>
          <p:cNvSpPr txBox="1"/>
          <p:nvPr/>
        </p:nvSpPr>
        <p:spPr>
          <a:xfrm>
            <a:off x="6858000" y="1691640"/>
            <a:ext cx="1783080" cy="256032"/>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Code anchor</a:t>
            </a:r>
            <a:endParaRPr lang="en-US" sz="1200" dirty="0"/>
          </a:p>
        </p:txBody>
      </p:sp>
      <p:sp>
        <p:nvSpPr>
          <p:cNvPr id="37" name="Text 35"/>
          <p:cNvSpPr txBox="1"/>
          <p:nvPr/>
        </p:nvSpPr>
        <p:spPr>
          <a:xfrm>
            <a:off x="6858000" y="1938528"/>
            <a:ext cx="1783080" cy="256032"/>
          </a:xfrm>
          <a:prstGeom prst="rect">
            <a:avLst/>
          </a:prstGeom>
          <a:noFill/>
          <a:ln/>
        </p:spPr>
        <p:txBody>
          <a:bodyPr wrap="square" lIns="0" tIns="0" rIns="0" bIns="0" rtlCol="0" anchor="t"/>
          <a:lstStyle/>
          <a:p>
            <a:pPr marL="0" indent="0">
              <a:buNone/>
            </a:pPr>
            <a:r>
              <a:rPr lang="en-US" sz="950" dirty="0">
                <a:solidFill>
                  <a:srgbClr val="4A5A63"/>
                </a:solidFill>
                <a:latin typeface="Calibri" pitchFamily="34" charset="0"/>
                <a:ea typeface="Calibri" pitchFamily="34" charset="-122"/>
                <a:cs typeface="Calibri" pitchFamily="34" charset="-120"/>
              </a:rPr>
              <a:t>Class gone? Propose REMOVE</a:t>
            </a:r>
            <a:endParaRPr lang="en-US" sz="950" dirty="0"/>
          </a:p>
        </p:txBody>
      </p:sp>
      <p:sp>
        <p:nvSpPr>
          <p:cNvPr id="38" name="Shape 36"/>
          <p:cNvSpPr/>
          <p:nvPr/>
        </p:nvSpPr>
        <p:spPr>
          <a:xfrm>
            <a:off x="6355080" y="2286000"/>
            <a:ext cx="2331720" cy="566928"/>
          </a:xfrm>
          <a:prstGeom prst="roundRect">
            <a:avLst>
              <a:gd name="adj" fmla="val 19355"/>
            </a:avLst>
          </a:prstGeom>
          <a:solidFill>
            <a:srgbClr val="EEF3F4"/>
          </a:solidFill>
          <a:ln w="12700">
            <a:solidFill>
              <a:srgbClr val="EEF3F4"/>
            </a:solidFill>
            <a:prstDash val="solid"/>
          </a:ln>
        </p:spPr>
        <p:txBody>
          <a:bodyPr/>
          <a:lstStyle/>
          <a:p>
            <a:endParaRPr lang="en-US"/>
          </a:p>
        </p:txBody>
      </p:sp>
      <p:sp>
        <p:nvSpPr>
          <p:cNvPr id="39" name="Shape 37"/>
          <p:cNvSpPr/>
          <p:nvPr/>
        </p:nvSpPr>
        <p:spPr>
          <a:xfrm>
            <a:off x="6473952" y="2432304"/>
            <a:ext cx="274320" cy="274320"/>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40" name="Text 38"/>
          <p:cNvSpPr txBox="1"/>
          <p:nvPr/>
        </p:nvSpPr>
        <p:spPr>
          <a:xfrm>
            <a:off x="6473952" y="243230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1" name="Text 39"/>
          <p:cNvSpPr txBox="1"/>
          <p:nvPr/>
        </p:nvSpPr>
        <p:spPr>
          <a:xfrm>
            <a:off x="6858000" y="2331720"/>
            <a:ext cx="1783080" cy="256032"/>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Age</a:t>
            </a:r>
            <a:endParaRPr lang="en-US" sz="1200" dirty="0"/>
          </a:p>
        </p:txBody>
      </p:sp>
      <p:sp>
        <p:nvSpPr>
          <p:cNvPr id="42" name="Text 40"/>
          <p:cNvSpPr txBox="1"/>
          <p:nvPr/>
        </p:nvSpPr>
        <p:spPr>
          <a:xfrm>
            <a:off x="6858000" y="2578608"/>
            <a:ext cx="1783080" cy="256032"/>
          </a:xfrm>
          <a:prstGeom prst="rect">
            <a:avLst/>
          </a:prstGeom>
          <a:noFill/>
          <a:ln/>
        </p:spPr>
        <p:txBody>
          <a:bodyPr wrap="square" lIns="0" tIns="0" rIns="0" bIns="0" rtlCol="0" anchor="t"/>
          <a:lstStyle/>
          <a:p>
            <a:pPr marL="0" indent="0">
              <a:buNone/>
            </a:pPr>
            <a:r>
              <a:rPr lang="en-US" sz="950" dirty="0">
                <a:solidFill>
                  <a:srgbClr val="4A5A63"/>
                </a:solidFill>
                <a:latin typeface="Calibri" pitchFamily="34" charset="0"/>
                <a:ea typeface="Calibri" pitchFamily="34" charset="-122"/>
                <a:cs typeface="Calibri" pitchFamily="34" charset="-120"/>
              </a:rPr>
              <a:t>180 days or 2 releases old</a:t>
            </a:r>
            <a:endParaRPr lang="en-US" sz="950" dirty="0"/>
          </a:p>
        </p:txBody>
      </p:sp>
      <p:sp>
        <p:nvSpPr>
          <p:cNvPr id="43" name="Shape 41"/>
          <p:cNvSpPr/>
          <p:nvPr/>
        </p:nvSpPr>
        <p:spPr>
          <a:xfrm>
            <a:off x="6355080" y="2926080"/>
            <a:ext cx="2331720" cy="566928"/>
          </a:xfrm>
          <a:prstGeom prst="roundRect">
            <a:avLst>
              <a:gd name="adj" fmla="val 19355"/>
            </a:avLst>
          </a:prstGeom>
          <a:solidFill>
            <a:srgbClr val="EEF3F4"/>
          </a:solidFill>
          <a:ln w="12700">
            <a:solidFill>
              <a:srgbClr val="EEF3F4"/>
            </a:solidFill>
            <a:prstDash val="solid"/>
          </a:ln>
        </p:spPr>
        <p:txBody>
          <a:bodyPr/>
          <a:lstStyle/>
          <a:p>
            <a:endParaRPr lang="en-US"/>
          </a:p>
        </p:txBody>
      </p:sp>
      <p:sp>
        <p:nvSpPr>
          <p:cNvPr id="44" name="Shape 42"/>
          <p:cNvSpPr/>
          <p:nvPr/>
        </p:nvSpPr>
        <p:spPr>
          <a:xfrm>
            <a:off x="6473952" y="3072384"/>
            <a:ext cx="274320" cy="274320"/>
          </a:xfrm>
          <a:prstGeom prst="roundRect">
            <a:avLst>
              <a:gd name="adj" fmla="val 50000"/>
            </a:avLst>
          </a:prstGeom>
          <a:solidFill>
            <a:srgbClr val="4A5A63"/>
          </a:solidFill>
          <a:ln w="12700">
            <a:solidFill>
              <a:srgbClr val="4A5A63"/>
            </a:solidFill>
            <a:prstDash val="solid"/>
          </a:ln>
        </p:spPr>
        <p:txBody>
          <a:bodyPr/>
          <a:lstStyle/>
          <a:p>
            <a:endParaRPr lang="en-US"/>
          </a:p>
        </p:txBody>
      </p:sp>
      <p:sp>
        <p:nvSpPr>
          <p:cNvPr id="45" name="Text 43"/>
          <p:cNvSpPr txBox="1"/>
          <p:nvPr/>
        </p:nvSpPr>
        <p:spPr>
          <a:xfrm>
            <a:off x="6473952" y="307238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4"/>
          <p:cNvSpPr txBox="1"/>
          <p:nvPr/>
        </p:nvSpPr>
        <p:spPr>
          <a:xfrm>
            <a:off x="6858000" y="2971800"/>
            <a:ext cx="1783080" cy="256032"/>
          </a:xfrm>
          <a:prstGeom prst="rect">
            <a:avLst/>
          </a:prstGeom>
          <a:noFill/>
          <a:ln/>
        </p:spPr>
        <p:txBody>
          <a:bodyPr wrap="square" lIns="0" tIns="0" rIns="0" bIns="0" rtlCol="0" anchor="t"/>
          <a:lstStyle/>
          <a:p>
            <a:pPr marL="0" indent="0">
              <a:buNone/>
            </a:pPr>
            <a:r>
              <a:rPr lang="en-US" sz="1200" b="1" dirty="0">
                <a:solidFill>
                  <a:srgbClr val="1F2A30"/>
                </a:solidFill>
                <a:latin typeface="Calibri" pitchFamily="34" charset="0"/>
                <a:ea typeface="Calibri" pitchFamily="34" charset="-122"/>
                <a:cs typeface="Calibri" pitchFamily="34" charset="-120"/>
              </a:rPr>
              <a:t>Framing</a:t>
            </a:r>
            <a:endParaRPr lang="en-US" sz="1200" dirty="0"/>
          </a:p>
        </p:txBody>
      </p:sp>
      <p:sp>
        <p:nvSpPr>
          <p:cNvPr id="47" name="Text 45"/>
          <p:cNvSpPr txBox="1"/>
          <p:nvPr/>
        </p:nvSpPr>
        <p:spPr>
          <a:xfrm>
            <a:off x="6858000" y="3218688"/>
            <a:ext cx="1783080" cy="256032"/>
          </a:xfrm>
          <a:prstGeom prst="rect">
            <a:avLst/>
          </a:prstGeom>
          <a:noFill/>
          <a:ln/>
        </p:spPr>
        <p:txBody>
          <a:bodyPr wrap="square" lIns="0" tIns="0" rIns="0" bIns="0" rtlCol="0" anchor="t"/>
          <a:lstStyle/>
          <a:p>
            <a:pPr marL="0" indent="0">
              <a:buNone/>
            </a:pPr>
            <a:r>
              <a:rPr lang="en-US" sz="950" dirty="0">
                <a:solidFill>
                  <a:srgbClr val="4A5A63"/>
                </a:solidFill>
                <a:latin typeface="Calibri" pitchFamily="34" charset="0"/>
                <a:ea typeface="Calibri" pitchFamily="34" charset="-122"/>
                <a:cs typeface="Calibri" pitchFamily="34" charset="-120"/>
              </a:rPr>
              <a:t>Checked against today's code</a:t>
            </a:r>
            <a:endParaRPr lang="en-US" sz="950" dirty="0"/>
          </a:p>
        </p:txBody>
      </p:sp>
      <p:sp>
        <p:nvSpPr>
          <p:cNvPr id="48" name="Shape 46"/>
          <p:cNvSpPr/>
          <p:nvPr/>
        </p:nvSpPr>
        <p:spPr>
          <a:xfrm>
            <a:off x="6355080" y="3593592"/>
            <a:ext cx="2331720" cy="566928"/>
          </a:xfrm>
          <a:prstGeom prst="roundRect">
            <a:avLst>
              <a:gd name="adj" fmla="val 19355"/>
            </a:avLst>
          </a:prstGeom>
          <a:solidFill>
            <a:srgbClr val="1F2A30"/>
          </a:solidFill>
          <a:ln w="12700">
            <a:solidFill>
              <a:srgbClr val="1F2A30"/>
            </a:solidFill>
            <a:prstDash val="solid"/>
          </a:ln>
        </p:spPr>
        <p:txBody>
          <a:bodyPr/>
          <a:lstStyle/>
          <a:p>
            <a:endParaRPr lang="en-US"/>
          </a:p>
        </p:txBody>
      </p:sp>
      <p:sp>
        <p:nvSpPr>
          <p:cNvPr id="49" name="Text 47"/>
          <p:cNvSpPr txBox="1"/>
          <p:nvPr/>
        </p:nvSpPr>
        <p:spPr>
          <a:xfrm>
            <a:off x="6473952" y="3621024"/>
            <a:ext cx="2103120" cy="228600"/>
          </a:xfrm>
          <a:prstGeom prst="rect">
            <a:avLst/>
          </a:prstGeom>
          <a:noFill/>
          <a:ln/>
        </p:spPr>
        <p:txBody>
          <a:bodyPr wrap="square" lIns="0" tIns="0" rIns="0" bIns="0" rtlCol="0" anchor="t"/>
          <a:lstStyle/>
          <a:p>
            <a:pPr marL="0" indent="0">
              <a:buNone/>
            </a:pPr>
            <a:r>
              <a:rPr lang="en-US" sz="1000" b="1" dirty="0">
                <a:solidFill>
                  <a:srgbClr val="E9A23B"/>
                </a:solidFill>
                <a:latin typeface="Calibri" pitchFamily="34" charset="0"/>
                <a:ea typeface="Calibri" pitchFamily="34" charset="-122"/>
                <a:cs typeface="Calibri" pitchFamily="34" charset="-120"/>
              </a:rPr>
              <a:t>At /dream, we decide</a:t>
            </a:r>
            <a:endParaRPr lang="en-US" sz="1000" dirty="0"/>
          </a:p>
        </p:txBody>
      </p:sp>
      <p:sp>
        <p:nvSpPr>
          <p:cNvPr id="50" name="Text 48"/>
          <p:cNvSpPr txBox="1"/>
          <p:nvPr/>
        </p:nvSpPr>
        <p:spPr>
          <a:xfrm>
            <a:off x="6473952" y="3840480"/>
            <a:ext cx="2148840" cy="274320"/>
          </a:xfrm>
          <a:prstGeom prst="rect">
            <a:avLst/>
          </a:prstGeom>
          <a:noFill/>
          <a:ln/>
        </p:spPr>
        <p:txBody>
          <a:bodyPr wrap="square" lIns="0" tIns="0" rIns="0" bIns="0" rtlCol="0" anchor="t"/>
          <a:lstStyle/>
          <a:p>
            <a:pPr marL="0" indent="0">
              <a:buNone/>
            </a:pPr>
            <a:r>
              <a:rPr lang="en-US" sz="1050" b="1" dirty="0">
                <a:solidFill>
                  <a:srgbClr val="FFFFFF"/>
                </a:solidFill>
                <a:latin typeface="Courier New" pitchFamily="34" charset="0"/>
                <a:ea typeface="Courier New" pitchFamily="34" charset="-122"/>
                <a:cs typeface="Courier New" pitchFamily="34" charset="-120"/>
              </a:rPr>
              <a:t>KEEP · REMOVE · UPDATE</a:t>
            </a:r>
            <a:endParaRPr lang="en-US" sz="1050" dirty="0"/>
          </a:p>
        </p:txBody>
      </p:sp>
      <p:sp>
        <p:nvSpPr>
          <p:cNvPr id="51" name="Shape 49"/>
          <p:cNvSpPr/>
          <p:nvPr/>
        </p:nvSpPr>
        <p:spPr>
          <a:xfrm>
            <a:off x="457200" y="4389120"/>
            <a:ext cx="8229600" cy="457200"/>
          </a:xfrm>
          <a:prstGeom prst="roundRect">
            <a:avLst>
              <a:gd name="adj" fmla="val 24000"/>
            </a:avLst>
          </a:prstGeom>
          <a:solidFill>
            <a:srgbClr val="D5EEEB"/>
          </a:solidFill>
          <a:ln w="12700">
            <a:solidFill>
              <a:srgbClr val="D5EEEB"/>
            </a:solidFill>
            <a:prstDash val="solid"/>
          </a:ln>
        </p:spPr>
        <p:txBody>
          <a:bodyPr/>
          <a:lstStyle/>
          <a:p>
            <a:endParaRPr lang="en-US"/>
          </a:p>
        </p:txBody>
      </p:sp>
      <p:sp>
        <p:nvSpPr>
          <p:cNvPr id="52" name="Text 50"/>
          <p:cNvSpPr txBox="1"/>
          <p:nvPr/>
        </p:nvSpPr>
        <p:spPr>
          <a:xfrm>
            <a:off x="640080" y="4389120"/>
            <a:ext cx="7955280" cy="457200"/>
          </a:xfrm>
          <a:prstGeom prst="rect">
            <a:avLst/>
          </a:prstGeom>
          <a:noFill/>
          <a:ln/>
        </p:spPr>
        <p:txBody>
          <a:bodyPr wrap="square" lIns="0" tIns="0" rIns="0" bIns="0" rtlCol="0" anchor="ctr"/>
          <a:lstStyle/>
          <a:p>
            <a:pPr marL="0" indent="0">
              <a:buNone/>
            </a:pPr>
            <a:r>
              <a:rPr lang="en-US" sz="1150" b="1" dirty="0">
                <a:solidFill>
                  <a:srgbClr val="1F2A30"/>
                </a:solidFill>
                <a:latin typeface="Calibri" pitchFamily="34" charset="0"/>
                <a:ea typeface="Calibri" pitchFamily="34" charset="-122"/>
                <a:cs typeface="Calibri" pitchFamily="34" charset="-120"/>
              </a:rPr>
              <a:t>Stores only what improves ICEAs: dependencies  ·  naming  ·  anti-patterns  ·  stack patterns  ·  AC conventions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2. Architecture docs write themselves</a:t>
            </a:r>
            <a:endParaRPr lang="en-US" sz="3000" dirty="0"/>
          </a:p>
        </p:txBody>
      </p:sp>
      <p:sp>
        <p:nvSpPr>
          <p:cNvPr id="3" name="Shape 1"/>
          <p:cNvSpPr/>
          <p:nvPr/>
        </p:nvSpPr>
        <p:spPr>
          <a:xfrm>
            <a:off x="457200" y="1280160"/>
            <a:ext cx="2468880" cy="2103120"/>
          </a:xfrm>
          <a:prstGeom prst="roundRect">
            <a:avLst>
              <a:gd name="adj" fmla="val 5217"/>
            </a:avLst>
          </a:prstGeom>
          <a:solidFill>
            <a:srgbClr val="EEF3F4"/>
          </a:solidFill>
          <a:ln w="12700">
            <a:solidFill>
              <a:srgbClr val="EEF3F4"/>
            </a:solidFill>
            <a:prstDash val="solid"/>
          </a:ln>
        </p:spPr>
        <p:txBody>
          <a:bodyPr/>
          <a:lstStyle/>
          <a:p>
            <a:endParaRPr lang="en-US"/>
          </a:p>
        </p:txBody>
      </p:sp>
      <p:sp>
        <p:nvSpPr>
          <p:cNvPr id="4" name="Shape 2"/>
          <p:cNvSpPr/>
          <p:nvPr/>
        </p:nvSpPr>
        <p:spPr>
          <a:xfrm>
            <a:off x="1325880" y="1508760"/>
            <a:ext cx="731520" cy="731520"/>
          </a:xfrm>
          <a:prstGeom prst="ellipse">
            <a:avLst/>
          </a:prstGeom>
          <a:solidFill>
            <a:srgbClr val="4A5A63"/>
          </a:solidFill>
          <a:ln w="12700">
            <a:solidFill>
              <a:srgbClr val="4A5A63"/>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508760" y="1691640"/>
            <a:ext cx="365760" cy="365760"/>
          </a:xfrm>
          <a:prstGeom prst="rect">
            <a:avLst/>
          </a:prstGeom>
        </p:spPr>
      </p:pic>
      <p:sp>
        <p:nvSpPr>
          <p:cNvPr id="6" name="Text 3"/>
          <p:cNvSpPr txBox="1"/>
          <p:nvPr/>
        </p:nvSpPr>
        <p:spPr>
          <a:xfrm>
            <a:off x="594360" y="2377440"/>
            <a:ext cx="2194560" cy="365760"/>
          </a:xfrm>
          <a:prstGeom prst="rect">
            <a:avLst/>
          </a:prstGeom>
          <a:noFill/>
          <a:ln/>
        </p:spPr>
        <p:txBody>
          <a:bodyPr wrap="square" lIns="0" tIns="0" rIns="0" bIns="0" rtlCol="0" anchor="t"/>
          <a:lstStyle/>
          <a:p>
            <a:pPr marL="0" indent="0" algn="ctr">
              <a:buNone/>
            </a:pPr>
            <a:r>
              <a:rPr lang="en-US" sz="1600" b="1" dirty="0">
                <a:solidFill>
                  <a:srgbClr val="1F2A30"/>
                </a:solidFill>
                <a:latin typeface="Calibri" pitchFamily="34" charset="0"/>
                <a:ea typeface="Calibri" pitchFamily="34" charset="-122"/>
                <a:cs typeface="Calibri" pitchFamily="34" charset="-120"/>
              </a:rPr>
              <a:t>Our code</a:t>
            </a:r>
            <a:endParaRPr lang="en-US" sz="1600" dirty="0"/>
          </a:p>
        </p:txBody>
      </p:sp>
      <p:sp>
        <p:nvSpPr>
          <p:cNvPr id="7" name="Text 4"/>
          <p:cNvSpPr txBox="1"/>
          <p:nvPr/>
        </p:nvSpPr>
        <p:spPr>
          <a:xfrm>
            <a:off x="640080" y="2743200"/>
            <a:ext cx="2103120" cy="548640"/>
          </a:xfrm>
          <a:prstGeom prst="rect">
            <a:avLst/>
          </a:prstGeom>
          <a:noFill/>
          <a:ln/>
        </p:spPr>
        <p:txBody>
          <a:bodyPr wrap="square" lIns="0" tIns="0" rIns="0" bIns="0" rtlCol="0" anchor="t"/>
          <a:lstStyle/>
          <a:p>
            <a:pPr marL="0" indent="0" algn="ctr">
              <a:buNone/>
            </a:pPr>
            <a:r>
              <a:rPr lang="en-US" sz="1200" dirty="0">
                <a:solidFill>
                  <a:srgbClr val="4A5A63"/>
                </a:solidFill>
                <a:latin typeface="Calibri" pitchFamily="34" charset="0"/>
                <a:ea typeface="Calibri" pitchFamily="34" charset="-122"/>
                <a:cs typeface="Calibri" pitchFamily="34" charset="-120"/>
              </a:rPr>
              <a:t>Read directly from the repo</a:t>
            </a:r>
            <a:endParaRPr lang="en-US" sz="1200" dirty="0"/>
          </a:p>
        </p:txBody>
      </p:sp>
      <p:sp>
        <p:nvSpPr>
          <p:cNvPr id="8" name="Shape 5"/>
          <p:cNvSpPr/>
          <p:nvPr/>
        </p:nvSpPr>
        <p:spPr>
          <a:xfrm>
            <a:off x="2971800" y="2331720"/>
            <a:ext cx="320040" cy="914"/>
          </a:xfrm>
          <a:prstGeom prst="line">
            <a:avLst/>
          </a:prstGeom>
          <a:noFill/>
          <a:ln w="22225">
            <a:solidFill>
              <a:srgbClr val="4A5A63"/>
            </a:solidFill>
            <a:prstDash val="solid"/>
            <a:tailEnd type="triangle"/>
          </a:ln>
        </p:spPr>
        <p:txBody>
          <a:bodyPr/>
          <a:lstStyle/>
          <a:p>
            <a:endParaRPr lang="en-US"/>
          </a:p>
        </p:txBody>
      </p:sp>
      <p:sp>
        <p:nvSpPr>
          <p:cNvPr id="9" name="Shape 6"/>
          <p:cNvSpPr/>
          <p:nvPr/>
        </p:nvSpPr>
        <p:spPr>
          <a:xfrm>
            <a:off x="3337560" y="1280160"/>
            <a:ext cx="2468880" cy="2103120"/>
          </a:xfrm>
          <a:prstGeom prst="roundRect">
            <a:avLst>
              <a:gd name="adj" fmla="val 5217"/>
            </a:avLst>
          </a:prstGeom>
          <a:solidFill>
            <a:srgbClr val="EEF3F4"/>
          </a:solidFill>
          <a:ln w="12700">
            <a:solidFill>
              <a:srgbClr val="EEF3F4"/>
            </a:solidFill>
            <a:prstDash val="solid"/>
          </a:ln>
        </p:spPr>
        <p:txBody>
          <a:bodyPr/>
          <a:lstStyle/>
          <a:p>
            <a:endParaRPr lang="en-US"/>
          </a:p>
        </p:txBody>
      </p:sp>
      <p:sp>
        <p:nvSpPr>
          <p:cNvPr id="10" name="Shape 7"/>
          <p:cNvSpPr/>
          <p:nvPr/>
        </p:nvSpPr>
        <p:spPr>
          <a:xfrm>
            <a:off x="4206240" y="1508760"/>
            <a:ext cx="731520" cy="731520"/>
          </a:xfrm>
          <a:prstGeom prst="ellipse">
            <a:avLst/>
          </a:prstGeom>
          <a:solidFill>
            <a:srgbClr val="4A5A63"/>
          </a:solidFill>
          <a:ln w="12700">
            <a:solidFill>
              <a:srgbClr val="4A5A6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389120" y="1691640"/>
            <a:ext cx="365760" cy="365760"/>
          </a:xfrm>
          <a:prstGeom prst="rect">
            <a:avLst/>
          </a:prstGeom>
        </p:spPr>
      </p:pic>
      <p:sp>
        <p:nvSpPr>
          <p:cNvPr id="12" name="Text 8"/>
          <p:cNvSpPr txBox="1"/>
          <p:nvPr/>
        </p:nvSpPr>
        <p:spPr>
          <a:xfrm>
            <a:off x="3474720" y="2377440"/>
            <a:ext cx="2194560" cy="365760"/>
          </a:xfrm>
          <a:prstGeom prst="rect">
            <a:avLst/>
          </a:prstGeom>
          <a:noFill/>
          <a:ln/>
        </p:spPr>
        <p:txBody>
          <a:bodyPr wrap="square" lIns="0" tIns="0" rIns="0" bIns="0" rtlCol="0" anchor="t"/>
          <a:lstStyle/>
          <a:p>
            <a:pPr marL="0" indent="0" algn="ctr">
              <a:buNone/>
            </a:pPr>
            <a:r>
              <a:rPr lang="en-US" sz="1600" b="1" dirty="0">
                <a:solidFill>
                  <a:srgbClr val="1F2A30"/>
                </a:solidFill>
                <a:latin typeface="Calibri" pitchFamily="34" charset="0"/>
                <a:ea typeface="Calibri" pitchFamily="34" charset="-122"/>
                <a:cs typeface="Calibri" pitchFamily="34" charset="-120"/>
              </a:rPr>
              <a:t>architecture.md</a:t>
            </a:r>
            <a:endParaRPr lang="en-US" sz="1600" dirty="0"/>
          </a:p>
        </p:txBody>
      </p:sp>
      <p:sp>
        <p:nvSpPr>
          <p:cNvPr id="13" name="Text 9"/>
          <p:cNvSpPr txBox="1"/>
          <p:nvPr/>
        </p:nvSpPr>
        <p:spPr>
          <a:xfrm>
            <a:off x="3520440" y="2743200"/>
            <a:ext cx="2103120" cy="548640"/>
          </a:xfrm>
          <a:prstGeom prst="rect">
            <a:avLst/>
          </a:prstGeom>
          <a:noFill/>
          <a:ln/>
        </p:spPr>
        <p:txBody>
          <a:bodyPr wrap="square" lIns="0" tIns="0" rIns="0" bIns="0" rtlCol="0" anchor="t"/>
          <a:lstStyle/>
          <a:p>
            <a:pPr marL="0" indent="0" algn="ctr">
              <a:buNone/>
            </a:pPr>
            <a:r>
              <a:rPr lang="en-US" sz="1200" dirty="0">
                <a:solidFill>
                  <a:srgbClr val="4A5A63"/>
                </a:solidFill>
                <a:latin typeface="Calibri" pitchFamily="34" charset="0"/>
                <a:ea typeface="Calibri" pitchFamily="34" charset="-122"/>
                <a:cs typeface="Calibri" pitchFamily="34" charset="-120"/>
              </a:rPr>
              <a:t>Layers, dependencies, data flows, deployment</a:t>
            </a:r>
            <a:endParaRPr lang="en-US" sz="1200" dirty="0"/>
          </a:p>
        </p:txBody>
      </p:sp>
      <p:sp>
        <p:nvSpPr>
          <p:cNvPr id="14" name="Shape 10"/>
          <p:cNvSpPr/>
          <p:nvPr/>
        </p:nvSpPr>
        <p:spPr>
          <a:xfrm>
            <a:off x="5852160" y="2331720"/>
            <a:ext cx="320040" cy="914"/>
          </a:xfrm>
          <a:prstGeom prst="line">
            <a:avLst/>
          </a:prstGeom>
          <a:noFill/>
          <a:ln w="22225">
            <a:solidFill>
              <a:srgbClr val="4A5A63"/>
            </a:solidFill>
            <a:prstDash val="solid"/>
            <a:tailEnd type="triangle"/>
          </a:ln>
        </p:spPr>
        <p:txBody>
          <a:bodyPr/>
          <a:lstStyle/>
          <a:p>
            <a:endParaRPr lang="en-US"/>
          </a:p>
        </p:txBody>
      </p:sp>
      <p:sp>
        <p:nvSpPr>
          <p:cNvPr id="15" name="Shape 11"/>
          <p:cNvSpPr/>
          <p:nvPr/>
        </p:nvSpPr>
        <p:spPr>
          <a:xfrm>
            <a:off x="6217920" y="1280160"/>
            <a:ext cx="2468880" cy="2103120"/>
          </a:xfrm>
          <a:prstGeom prst="roundRect">
            <a:avLst>
              <a:gd name="adj" fmla="val 5217"/>
            </a:avLst>
          </a:prstGeom>
          <a:solidFill>
            <a:srgbClr val="EEF3F4"/>
          </a:solidFill>
          <a:ln w="12700">
            <a:solidFill>
              <a:srgbClr val="EEF3F4"/>
            </a:solidFill>
            <a:prstDash val="solid"/>
          </a:ln>
        </p:spPr>
        <p:txBody>
          <a:bodyPr/>
          <a:lstStyle/>
          <a:p>
            <a:endParaRPr lang="en-US"/>
          </a:p>
        </p:txBody>
      </p:sp>
      <p:sp>
        <p:nvSpPr>
          <p:cNvPr id="16" name="Shape 12"/>
          <p:cNvSpPr/>
          <p:nvPr/>
        </p:nvSpPr>
        <p:spPr>
          <a:xfrm>
            <a:off x="7086600" y="1508760"/>
            <a:ext cx="731520" cy="731520"/>
          </a:xfrm>
          <a:prstGeom prst="ellipse">
            <a:avLst/>
          </a:prstGeom>
          <a:solidFill>
            <a:srgbClr val="2A9D8F"/>
          </a:solidFill>
          <a:ln w="12700">
            <a:solidFill>
              <a:srgbClr val="2A9D8F"/>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7269480" y="1691640"/>
            <a:ext cx="365760" cy="365760"/>
          </a:xfrm>
          <a:prstGeom prst="rect">
            <a:avLst/>
          </a:prstGeom>
        </p:spPr>
      </p:pic>
      <p:sp>
        <p:nvSpPr>
          <p:cNvPr id="18" name="Text 13"/>
          <p:cNvSpPr txBox="1"/>
          <p:nvPr/>
        </p:nvSpPr>
        <p:spPr>
          <a:xfrm>
            <a:off x="6355080" y="2377440"/>
            <a:ext cx="2194560" cy="365760"/>
          </a:xfrm>
          <a:prstGeom prst="rect">
            <a:avLst/>
          </a:prstGeom>
          <a:noFill/>
          <a:ln/>
        </p:spPr>
        <p:txBody>
          <a:bodyPr wrap="square" lIns="0" tIns="0" rIns="0" bIns="0" rtlCol="0" anchor="t"/>
          <a:lstStyle/>
          <a:p>
            <a:pPr marL="0" indent="0" algn="ctr">
              <a:buNone/>
            </a:pPr>
            <a:r>
              <a:rPr lang="en-US" sz="1600" b="1" dirty="0">
                <a:solidFill>
                  <a:srgbClr val="1F2A30"/>
                </a:solidFill>
                <a:latin typeface="Calibri" pitchFamily="34" charset="0"/>
                <a:ea typeface="Calibri" pitchFamily="34" charset="-122"/>
                <a:cs typeface="Calibri" pitchFamily="34" charset="-120"/>
              </a:rPr>
              <a:t>Interactive diagram</a:t>
            </a:r>
            <a:endParaRPr lang="en-US" sz="1600" dirty="0"/>
          </a:p>
        </p:txBody>
      </p:sp>
      <p:sp>
        <p:nvSpPr>
          <p:cNvPr id="19" name="Text 14"/>
          <p:cNvSpPr txBox="1"/>
          <p:nvPr/>
        </p:nvSpPr>
        <p:spPr>
          <a:xfrm>
            <a:off x="6400800" y="2743200"/>
            <a:ext cx="2103120" cy="548640"/>
          </a:xfrm>
          <a:prstGeom prst="rect">
            <a:avLst/>
          </a:prstGeom>
          <a:noFill/>
          <a:ln/>
        </p:spPr>
        <p:txBody>
          <a:bodyPr wrap="square" lIns="0" tIns="0" rIns="0" bIns="0" rtlCol="0" anchor="t"/>
          <a:lstStyle/>
          <a:p>
            <a:pPr marL="0" indent="0" algn="ctr">
              <a:buNone/>
            </a:pPr>
            <a:r>
              <a:rPr lang="en-US" sz="1200" dirty="0">
                <a:solidFill>
                  <a:srgbClr val="4A5A63"/>
                </a:solidFill>
                <a:latin typeface="Calibri" pitchFamily="34" charset="0"/>
                <a:ea typeface="Calibri" pitchFamily="34" charset="-122"/>
                <a:cs typeface="Calibri" pitchFamily="34" charset="-120"/>
              </a:rPr>
              <a:t>Clickable HTML, generated from the doc</a:t>
            </a:r>
            <a:endParaRPr lang="en-US" sz="1200" dirty="0"/>
          </a:p>
        </p:txBody>
      </p:sp>
      <p:sp>
        <p:nvSpPr>
          <p:cNvPr id="20" name="Shape 15"/>
          <p:cNvSpPr/>
          <p:nvPr/>
        </p:nvSpPr>
        <p:spPr>
          <a:xfrm>
            <a:off x="457200" y="3840480"/>
            <a:ext cx="1463040" cy="457200"/>
          </a:xfrm>
          <a:prstGeom prst="roundRect">
            <a:avLst>
              <a:gd name="adj" fmla="val 50000"/>
            </a:avLst>
          </a:prstGeom>
          <a:solidFill>
            <a:srgbClr val="1F2A30"/>
          </a:solidFill>
          <a:ln w="12700">
            <a:solidFill>
              <a:srgbClr val="1F2A30"/>
            </a:solidFill>
            <a:prstDash val="solid"/>
          </a:ln>
        </p:spPr>
        <p:txBody>
          <a:bodyPr/>
          <a:lstStyle/>
          <a:p>
            <a:endParaRPr lang="en-US"/>
          </a:p>
        </p:txBody>
      </p:sp>
      <p:sp>
        <p:nvSpPr>
          <p:cNvPr id="21" name="Text 16"/>
          <p:cNvSpPr txBox="1"/>
          <p:nvPr/>
        </p:nvSpPr>
        <p:spPr>
          <a:xfrm>
            <a:off x="457200" y="3840480"/>
            <a:ext cx="1463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/graph-viz</a:t>
            </a:r>
            <a:endParaRPr lang="en-US" sz="1400" dirty="0"/>
          </a:p>
        </p:txBody>
      </p:sp>
      <p:sp>
        <p:nvSpPr>
          <p:cNvPr id="22" name="Text 17"/>
          <p:cNvSpPr txBox="1"/>
          <p:nvPr/>
        </p:nvSpPr>
        <p:spPr>
          <a:xfrm>
            <a:off x="2103120" y="3840480"/>
            <a:ext cx="5486400" cy="457200"/>
          </a:xfrm>
          <a:prstGeom prst="rect">
            <a:avLst/>
          </a:prstGeom>
          <a:noFill/>
          <a:ln/>
        </p:spPr>
        <p:txBody>
          <a:bodyPr wrap="square" lIns="0" tIns="0" rIns="0" bIns="0" rtlCol="0" anchor="ctr"/>
          <a:lstStyle/>
          <a:p>
            <a:pPr marL="0" indent="0">
              <a:buNone/>
            </a:pPr>
            <a:r>
              <a:rPr lang="en-US" sz="1500" dirty="0">
                <a:solidFill>
                  <a:srgbClr val="4A5A63"/>
                </a:solidFill>
                <a:latin typeface="Calibri" pitchFamily="34" charset="0"/>
                <a:ea typeface="Calibri" pitchFamily="34" charset="-122"/>
                <a:cs typeface="Calibri" pitchFamily="34" charset="-120"/>
              </a:rPr>
              <a:t>One command. No diagram to update by hand.</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000" b="1" dirty="0">
                <a:solidFill>
                  <a:srgbClr val="1F2A30"/>
                </a:solidFill>
                <a:latin typeface="Cambria" pitchFamily="34" charset="0"/>
                <a:ea typeface="Cambria" pitchFamily="34" charset="-122"/>
                <a:cs typeface="Cambria" pitchFamily="34" charset="-120"/>
              </a:rPr>
              <a:t>3. Works with whatever we build in</a:t>
            </a:r>
            <a:endParaRPr lang="en-US" sz="3000" dirty="0"/>
          </a:p>
        </p:txBody>
      </p:sp>
      <p:sp>
        <p:nvSpPr>
          <p:cNvPr id="3" name="Text 1"/>
          <p:cNvSpPr txBox="1"/>
          <p:nvPr/>
        </p:nvSpPr>
        <p:spPr>
          <a:xfrm>
            <a:off x="457200" y="1234440"/>
            <a:ext cx="1828800" cy="256032"/>
          </a:xfrm>
          <a:prstGeom prst="rect">
            <a:avLst/>
          </a:prstGeom>
          <a:noFill/>
          <a:ln/>
        </p:spPr>
        <p:txBody>
          <a:bodyPr wrap="square" lIns="0" tIns="0" rIns="0" bIns="0" rtlCol="0" anchor="t"/>
          <a:lstStyle/>
          <a:p>
            <a:pPr marL="0" indent="0">
              <a:buNone/>
            </a:pPr>
            <a:r>
              <a:rPr lang="en-US" sz="1000" b="1" kern="0" spc="300" dirty="0">
                <a:solidFill>
                  <a:srgbClr val="7A8A92"/>
                </a:solidFill>
                <a:latin typeface="Calibri" pitchFamily="34" charset="0"/>
                <a:ea typeface="Calibri" pitchFamily="34" charset="-122"/>
                <a:cs typeface="Calibri" pitchFamily="34" charset="-120"/>
              </a:rPr>
              <a:t>BACKEND</a:t>
            </a:r>
            <a:endParaRPr lang="en-US" sz="1000" dirty="0"/>
          </a:p>
        </p:txBody>
      </p:sp>
      <p:sp>
        <p:nvSpPr>
          <p:cNvPr id="4" name="Shape 2"/>
          <p:cNvSpPr/>
          <p:nvPr/>
        </p:nvSpPr>
        <p:spPr>
          <a:xfrm>
            <a:off x="457200" y="1536192"/>
            <a:ext cx="86868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5" name="Text 3"/>
          <p:cNvSpPr txBox="1"/>
          <p:nvPr/>
        </p:nvSpPr>
        <p:spPr>
          <a:xfrm>
            <a:off x="457200" y="1536192"/>
            <a:ext cx="86868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.NET</a:t>
            </a:r>
            <a:endParaRPr lang="en-US" sz="1200" dirty="0"/>
          </a:p>
        </p:txBody>
      </p:sp>
      <p:sp>
        <p:nvSpPr>
          <p:cNvPr id="6" name="Shape 4"/>
          <p:cNvSpPr/>
          <p:nvPr/>
        </p:nvSpPr>
        <p:spPr>
          <a:xfrm>
            <a:off x="1463040" y="1536192"/>
            <a:ext cx="86868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7" name="Text 5"/>
          <p:cNvSpPr txBox="1"/>
          <p:nvPr/>
        </p:nvSpPr>
        <p:spPr>
          <a:xfrm>
            <a:off x="1463040" y="1536192"/>
            <a:ext cx="86868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Java</a:t>
            </a:r>
            <a:endParaRPr lang="en-US" sz="1200" dirty="0"/>
          </a:p>
        </p:txBody>
      </p:sp>
      <p:sp>
        <p:nvSpPr>
          <p:cNvPr id="8" name="Shape 6"/>
          <p:cNvSpPr/>
          <p:nvPr/>
        </p:nvSpPr>
        <p:spPr>
          <a:xfrm>
            <a:off x="2468880" y="1536192"/>
            <a:ext cx="96012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9" name="Text 7"/>
          <p:cNvSpPr txBox="1"/>
          <p:nvPr/>
        </p:nvSpPr>
        <p:spPr>
          <a:xfrm>
            <a:off x="2468880" y="1536192"/>
            <a:ext cx="96012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Python</a:t>
            </a:r>
            <a:endParaRPr lang="en-US" sz="1200" dirty="0"/>
          </a:p>
        </p:txBody>
      </p:sp>
      <p:sp>
        <p:nvSpPr>
          <p:cNvPr id="10" name="Shape 8"/>
          <p:cNvSpPr/>
          <p:nvPr/>
        </p:nvSpPr>
        <p:spPr>
          <a:xfrm>
            <a:off x="3566160" y="1536192"/>
            <a:ext cx="105156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11" name="Text 9"/>
          <p:cNvSpPr txBox="1"/>
          <p:nvPr/>
        </p:nvSpPr>
        <p:spPr>
          <a:xfrm>
            <a:off x="3566160" y="1536192"/>
            <a:ext cx="105156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Node.js</a:t>
            </a:r>
            <a:endParaRPr lang="en-US" sz="1200" dirty="0"/>
          </a:p>
        </p:txBody>
      </p:sp>
      <p:sp>
        <p:nvSpPr>
          <p:cNvPr id="12" name="Text 10"/>
          <p:cNvSpPr txBox="1"/>
          <p:nvPr/>
        </p:nvSpPr>
        <p:spPr>
          <a:xfrm>
            <a:off x="457200" y="2221992"/>
            <a:ext cx="1828800" cy="256032"/>
          </a:xfrm>
          <a:prstGeom prst="rect">
            <a:avLst/>
          </a:prstGeom>
          <a:noFill/>
          <a:ln/>
        </p:spPr>
        <p:txBody>
          <a:bodyPr wrap="square" lIns="0" tIns="0" rIns="0" bIns="0" rtlCol="0" anchor="t"/>
          <a:lstStyle/>
          <a:p>
            <a:pPr marL="0" indent="0">
              <a:buNone/>
            </a:pPr>
            <a:r>
              <a:rPr lang="en-US" sz="1000" b="1" kern="0" spc="300" dirty="0">
                <a:solidFill>
                  <a:srgbClr val="7A8A92"/>
                </a:solidFill>
                <a:latin typeface="Calibri" pitchFamily="34" charset="0"/>
                <a:ea typeface="Calibri" pitchFamily="34" charset="-122"/>
                <a:cs typeface="Calibri" pitchFamily="34" charset="-120"/>
              </a:rPr>
              <a:t>FRONTEND</a:t>
            </a:r>
            <a:endParaRPr lang="en-US" sz="1000" dirty="0"/>
          </a:p>
        </p:txBody>
      </p:sp>
      <p:sp>
        <p:nvSpPr>
          <p:cNvPr id="13" name="Shape 11"/>
          <p:cNvSpPr/>
          <p:nvPr/>
        </p:nvSpPr>
        <p:spPr>
          <a:xfrm>
            <a:off x="457200" y="2523744"/>
            <a:ext cx="105156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14" name="Text 12"/>
          <p:cNvSpPr txBox="1"/>
          <p:nvPr/>
        </p:nvSpPr>
        <p:spPr>
          <a:xfrm>
            <a:off x="457200" y="2523744"/>
            <a:ext cx="105156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Angular</a:t>
            </a:r>
            <a:endParaRPr lang="en-US" sz="1200" dirty="0"/>
          </a:p>
        </p:txBody>
      </p:sp>
      <p:sp>
        <p:nvSpPr>
          <p:cNvPr id="15" name="Shape 13"/>
          <p:cNvSpPr/>
          <p:nvPr/>
        </p:nvSpPr>
        <p:spPr>
          <a:xfrm>
            <a:off x="1645920" y="2523744"/>
            <a:ext cx="86868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16" name="Text 14"/>
          <p:cNvSpPr txBox="1"/>
          <p:nvPr/>
        </p:nvSpPr>
        <p:spPr>
          <a:xfrm>
            <a:off x="1645920" y="2523744"/>
            <a:ext cx="86868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React</a:t>
            </a:r>
            <a:endParaRPr lang="en-US" sz="1200" dirty="0"/>
          </a:p>
        </p:txBody>
      </p:sp>
      <p:sp>
        <p:nvSpPr>
          <p:cNvPr id="17" name="Text 15"/>
          <p:cNvSpPr txBox="1"/>
          <p:nvPr/>
        </p:nvSpPr>
        <p:spPr>
          <a:xfrm>
            <a:off x="457200" y="3209544"/>
            <a:ext cx="1828800" cy="256032"/>
          </a:xfrm>
          <a:prstGeom prst="rect">
            <a:avLst/>
          </a:prstGeom>
          <a:noFill/>
          <a:ln/>
        </p:spPr>
        <p:txBody>
          <a:bodyPr wrap="square" lIns="0" tIns="0" rIns="0" bIns="0" rtlCol="0" anchor="t"/>
          <a:lstStyle/>
          <a:p>
            <a:pPr marL="0" indent="0">
              <a:buNone/>
            </a:pPr>
            <a:r>
              <a:rPr lang="en-US" sz="1000" b="1" kern="0" spc="300" dirty="0">
                <a:solidFill>
                  <a:srgbClr val="7A8A92"/>
                </a:solidFill>
                <a:latin typeface="Calibri" pitchFamily="34" charset="0"/>
                <a:ea typeface="Calibri" pitchFamily="34" charset="-122"/>
                <a:cs typeface="Calibri" pitchFamily="34" charset="-120"/>
              </a:rPr>
              <a:t>PIPELINES</a:t>
            </a:r>
            <a:endParaRPr lang="en-US" sz="1000" dirty="0"/>
          </a:p>
        </p:txBody>
      </p:sp>
      <p:sp>
        <p:nvSpPr>
          <p:cNvPr id="18" name="Shape 16"/>
          <p:cNvSpPr/>
          <p:nvPr/>
        </p:nvSpPr>
        <p:spPr>
          <a:xfrm>
            <a:off x="457200" y="3511296"/>
            <a:ext cx="150876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19" name="Text 17"/>
          <p:cNvSpPr txBox="1"/>
          <p:nvPr/>
        </p:nvSpPr>
        <p:spPr>
          <a:xfrm>
            <a:off x="457200" y="3511296"/>
            <a:ext cx="150876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Azure DevOps</a:t>
            </a:r>
            <a:endParaRPr lang="en-US" sz="1200" dirty="0"/>
          </a:p>
        </p:txBody>
      </p:sp>
      <p:sp>
        <p:nvSpPr>
          <p:cNvPr id="20" name="Shape 18"/>
          <p:cNvSpPr/>
          <p:nvPr/>
        </p:nvSpPr>
        <p:spPr>
          <a:xfrm>
            <a:off x="2103120" y="3511296"/>
            <a:ext cx="960120" cy="384048"/>
          </a:xfrm>
          <a:prstGeom prst="roundRect">
            <a:avLst>
              <a:gd name="adj" fmla="val 50000"/>
            </a:avLst>
          </a:prstGeom>
          <a:solidFill>
            <a:srgbClr val="EEF3F4"/>
          </a:solidFill>
          <a:ln w="12700">
            <a:solidFill>
              <a:srgbClr val="EEF3F4"/>
            </a:solidFill>
            <a:prstDash val="solid"/>
          </a:ln>
        </p:spPr>
        <p:txBody>
          <a:bodyPr/>
          <a:lstStyle/>
          <a:p>
            <a:endParaRPr lang="en-US"/>
          </a:p>
        </p:txBody>
      </p:sp>
      <p:sp>
        <p:nvSpPr>
          <p:cNvPr id="21" name="Text 19"/>
          <p:cNvSpPr txBox="1"/>
          <p:nvPr/>
        </p:nvSpPr>
        <p:spPr>
          <a:xfrm>
            <a:off x="2103120" y="3511296"/>
            <a:ext cx="960120" cy="384048"/>
          </a:xfrm>
          <a:prstGeom prst="rect">
            <a:avLst/>
          </a:prstGeom>
          <a:noFill/>
          <a:ln/>
        </p:spPr>
        <p:txBody>
          <a:bodyPr wrap="square" lIns="0" tIns="0" rIns="0" bIns="0" rtlCol="0" anchor="ctr"/>
          <a:lstStyle/>
          <a:p>
            <a:pPr marL="0" indent="0" algn="ctr">
              <a:buNone/>
            </a:pPr>
            <a:r>
              <a:rPr lang="en-US" sz="1200" b="1" dirty="0">
                <a:solidFill>
                  <a:srgbClr val="1F2A30"/>
                </a:solidFill>
                <a:latin typeface="Calibri" pitchFamily="34" charset="0"/>
                <a:ea typeface="Calibri" pitchFamily="34" charset="-122"/>
                <a:cs typeface="Calibri" pitchFamily="34" charset="-120"/>
              </a:rPr>
              <a:t>GitHub</a:t>
            </a:r>
            <a:endParaRPr lang="en-US" sz="1200" dirty="0"/>
          </a:p>
        </p:txBody>
      </p:sp>
      <p:sp>
        <p:nvSpPr>
          <p:cNvPr id="22" name="Shape 20"/>
          <p:cNvSpPr/>
          <p:nvPr/>
        </p:nvSpPr>
        <p:spPr>
          <a:xfrm>
            <a:off x="4663440" y="1728216"/>
            <a:ext cx="868680" cy="1014984"/>
          </a:xfrm>
          <a:prstGeom prst="line">
            <a:avLst/>
          </a:prstGeom>
          <a:noFill/>
          <a:ln w="22225">
            <a:solidFill>
              <a:srgbClr val="B8C4C9"/>
            </a:solidFill>
            <a:prstDash val="solid"/>
            <a:tailEnd type="triangle"/>
          </a:ln>
        </p:spPr>
        <p:txBody>
          <a:bodyPr/>
          <a:lstStyle/>
          <a:p>
            <a:endParaRPr lang="en-US"/>
          </a:p>
        </p:txBody>
      </p:sp>
      <p:sp>
        <p:nvSpPr>
          <p:cNvPr id="23" name="Shape 21"/>
          <p:cNvSpPr/>
          <p:nvPr/>
        </p:nvSpPr>
        <p:spPr>
          <a:xfrm>
            <a:off x="4663440" y="2715768"/>
            <a:ext cx="868680" cy="27432"/>
          </a:xfrm>
          <a:prstGeom prst="line">
            <a:avLst/>
          </a:prstGeom>
          <a:noFill/>
          <a:ln w="22225">
            <a:solidFill>
              <a:srgbClr val="B8C4C9"/>
            </a:solidFill>
            <a:prstDash val="solid"/>
            <a:tailEnd type="triangle"/>
          </a:ln>
        </p:spPr>
        <p:txBody>
          <a:bodyPr/>
          <a:lstStyle/>
          <a:p>
            <a:endParaRPr lang="en-US"/>
          </a:p>
        </p:txBody>
      </p:sp>
      <p:sp>
        <p:nvSpPr>
          <p:cNvPr id="24" name="Shape 22"/>
          <p:cNvSpPr/>
          <p:nvPr/>
        </p:nvSpPr>
        <p:spPr>
          <a:xfrm flipV="1">
            <a:off x="4663440" y="2743200"/>
            <a:ext cx="868680" cy="960120"/>
          </a:xfrm>
          <a:prstGeom prst="line">
            <a:avLst/>
          </a:prstGeom>
          <a:noFill/>
          <a:ln w="22225">
            <a:solidFill>
              <a:srgbClr val="B8C4C9"/>
            </a:solidFill>
            <a:prstDash val="solid"/>
            <a:tailEnd type="triangle"/>
          </a:ln>
        </p:spPr>
        <p:txBody>
          <a:bodyPr/>
          <a:lstStyle/>
          <a:p>
            <a:endParaRPr lang="en-US"/>
          </a:p>
        </p:txBody>
      </p:sp>
      <p:sp>
        <p:nvSpPr>
          <p:cNvPr id="25" name="Shape 23"/>
          <p:cNvSpPr/>
          <p:nvPr/>
        </p:nvSpPr>
        <p:spPr>
          <a:xfrm>
            <a:off x="5623560" y="1737360"/>
            <a:ext cx="3063240" cy="2011680"/>
          </a:xfrm>
          <a:prstGeom prst="roundRect">
            <a:avLst>
              <a:gd name="adj" fmla="val 5455"/>
            </a:avLst>
          </a:prstGeom>
          <a:solidFill>
            <a:srgbClr val="1F2A30"/>
          </a:solidFill>
          <a:ln w="12700">
            <a:solidFill>
              <a:srgbClr val="1F2A30"/>
            </a:solidFill>
            <a:prstDash val="solid"/>
          </a:ln>
        </p:spPr>
        <p:txBody>
          <a:bodyPr/>
          <a:lstStyle/>
          <a:p>
            <a:endParaRPr lang="en-US"/>
          </a:p>
        </p:txBody>
      </p:sp>
      <p:sp>
        <p:nvSpPr>
          <p:cNvPr id="26" name="Text 24"/>
          <p:cNvSpPr txBox="1"/>
          <p:nvPr/>
        </p:nvSpPr>
        <p:spPr>
          <a:xfrm>
            <a:off x="5852160" y="1920240"/>
            <a:ext cx="2743200" cy="274320"/>
          </a:xfrm>
          <a:prstGeom prst="rect">
            <a:avLst/>
          </a:prstGeom>
          <a:noFill/>
          <a:ln/>
        </p:spPr>
        <p:txBody>
          <a:bodyPr wrap="square" lIns="0" tIns="0" rIns="0" bIns="0" rtlCol="0" anchor="t"/>
          <a:lstStyle/>
          <a:p>
            <a:pPr marL="0" indent="0">
              <a:buNone/>
            </a:pPr>
            <a:r>
              <a:rPr lang="en-US" sz="1000" b="1" kern="0" spc="300" dirty="0">
                <a:solidFill>
                  <a:srgbClr val="E9A23B"/>
                </a:solidFill>
                <a:latin typeface="Calibri" pitchFamily="34" charset="0"/>
                <a:ea typeface="Calibri" pitchFamily="34" charset="-122"/>
                <a:cs typeface="Calibri" pitchFamily="34" charset="-120"/>
              </a:rPr>
              <a:t>DETECTED AT SETUP</a:t>
            </a:r>
            <a:endParaRPr lang="en-US" sz="1000" dirty="0"/>
          </a:p>
        </p:txBody>
      </p:sp>
      <p:sp>
        <p:nvSpPr>
          <p:cNvPr id="27" name="Text 25"/>
          <p:cNvSpPr txBox="1"/>
          <p:nvPr/>
        </p:nvSpPr>
        <p:spPr>
          <a:xfrm>
            <a:off x="5852160" y="2286000"/>
            <a:ext cx="2743200" cy="128016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Same commands.</a:t>
            </a:r>
            <a:endParaRPr lang="en-US" sz="1800" dirty="0"/>
          </a:p>
          <a:p>
            <a:pPr marL="0" indent="0">
              <a:buNone/>
            </a:pPr>
            <a:r>
              <a:rPr lang="en-US" sz="1800" b="1" dirty="0">
                <a:solidFill>
                  <a:srgbClr val="FFFFFF"/>
                </a:solidFill>
                <a:latin typeface="Cambria" pitchFamily="34" charset="0"/>
                <a:ea typeface="Cambria" pitchFamily="34" charset="-122"/>
                <a:cs typeface="Cambria" pitchFamily="34" charset="-120"/>
              </a:rPr>
              <a:t>Same workflow.</a:t>
            </a:r>
            <a:endParaRPr lang="en-US" sz="1800" dirty="0"/>
          </a:p>
          <a:p>
            <a:pPr marL="0" indent="0">
              <a:buNone/>
            </a:pPr>
            <a:r>
              <a:rPr lang="en-US" sz="1800" b="1" dirty="0">
                <a:solidFill>
                  <a:srgbClr val="FFFFFF"/>
                </a:solidFill>
                <a:latin typeface="Cambria" pitchFamily="34" charset="0"/>
                <a:ea typeface="Cambria" pitchFamily="34" charset="-122"/>
                <a:cs typeface="Cambria" pitchFamily="34" charset="-120"/>
              </a:rPr>
              <a:t>Same governance.</a:t>
            </a:r>
            <a:endParaRPr lang="en-US" sz="1800" dirty="0"/>
          </a:p>
        </p:txBody>
      </p:sp>
      <p:sp>
        <p:nvSpPr>
          <p:cNvPr id="28" name="Text 17">
            <a:extLst>
              <a:ext uri="{FF2B5EF4-FFF2-40B4-BE49-F238E27FC236}">
                <a16:creationId xmlns:a16="http://schemas.microsoft.com/office/drawing/2014/main" id="{0F449660-CF07-8793-ED7D-E49CCCAED0D5}"/>
              </a:ext>
            </a:extLst>
          </p:cNvPr>
          <p:cNvSpPr txBox="1"/>
          <p:nvPr/>
        </p:nvSpPr>
        <p:spPr>
          <a:xfrm>
            <a:off x="574765" y="839285"/>
            <a:ext cx="3513909" cy="256032"/>
          </a:xfrm>
          <a:prstGeom prst="rect">
            <a:avLst/>
          </a:prstGeom>
          <a:noFill/>
          <a:ln/>
        </p:spPr>
        <p:txBody>
          <a:bodyPr wrap="square" lIns="0" tIns="0" rIns="0" bIns="0" rtlCol="0" anchor="t"/>
          <a:lstStyle>
            <a:lvl1pPr indent="0">
              <a:buNone/>
              <a:defRPr sz="1300" i="1">
                <a:solidFill>
                  <a:srgbClr val="2A9D8F"/>
                </a:solidFill>
                <a:latin typeface="Calibri" pitchFamily="34" charset="0"/>
                <a:ea typeface="Calibri" pitchFamily="34" charset="-122"/>
                <a:cs typeface="Calibri" pitchFamily="34" charset="-120"/>
              </a:defRPr>
            </a:lvl1pPr>
          </a:lstStyle>
          <a:p>
            <a:r>
              <a:rPr lang="en-US" dirty="0"/>
              <a:t>Tech agnostic by nature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TotalTime>
  <Words>5012</Words>
  <Application>Microsoft Office PowerPoint</Application>
  <PresentationFormat>On-screen Show (16:9)</PresentationFormat>
  <Paragraphs>414</Paragraphs>
  <Slides>21</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-apple-system</vt:lpstr>
      <vt:lpstr>Arial</vt:lpstr>
      <vt:lpstr>Calibri</vt:lpstr>
      <vt:lpstr>Cambria</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Rawat, Vivek</cp:lastModifiedBy>
  <cp:revision>4</cp:revision>
  <dcterms:created xsi:type="dcterms:W3CDTF">2026-09-24T20:36:09Z</dcterms:created>
  <dcterms:modified xsi:type="dcterms:W3CDTF">2026-09-25T01:17:02Z</dcterms:modified>
</cp:coreProperties>
</file>