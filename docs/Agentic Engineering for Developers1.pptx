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3"/>
  </p:notesMasterIdLst>
  <p:sldIdLst>
    <p:sldId id="257" r:id="rId2"/>
    <p:sldId id="258" r:id="rId3"/>
    <p:sldId id="283" r:id="rId4"/>
    <p:sldId id="259" r:id="rId5"/>
    <p:sldId id="284" r:id="rId6"/>
    <p:sldId id="261" r:id="rId7"/>
    <p:sldId id="295" r:id="rId8"/>
    <p:sldId id="262" r:id="rId9"/>
    <p:sldId id="263" r:id="rId10"/>
    <p:sldId id="264" r:id="rId11"/>
    <p:sldId id="265" r:id="rId12"/>
    <p:sldId id="266" r:id="rId13"/>
    <p:sldId id="268" r:id="rId14"/>
    <p:sldId id="298" r:id="rId15"/>
    <p:sldId id="270" r:id="rId16"/>
    <p:sldId id="271" r:id="rId17"/>
    <p:sldId id="273" r:id="rId18"/>
    <p:sldId id="274" r:id="rId19"/>
    <p:sldId id="279" r:id="rId20"/>
    <p:sldId id="291" r:id="rId21"/>
    <p:sldId id="287" r:id="rId22"/>
    <p:sldId id="285" r:id="rId23"/>
    <p:sldId id="288" r:id="rId24"/>
    <p:sldId id="289" r:id="rId25"/>
    <p:sldId id="290" r:id="rId26"/>
    <p:sldId id="281" r:id="rId27"/>
    <p:sldId id="296" r:id="rId28"/>
    <p:sldId id="297" r:id="rId29"/>
    <p:sldId id="292" r:id="rId30"/>
    <p:sldId id="286" r:id="rId31"/>
    <p:sldId id="275" r:id="rId32"/>
    <p:sldId id="276" r:id="rId33"/>
    <p:sldId id="277" r:id="rId34"/>
    <p:sldId id="278" r:id="rId35"/>
    <p:sldId id="282" r:id="rId36"/>
    <p:sldId id="293" r:id="rId37"/>
    <p:sldId id="269" r:id="rId38"/>
    <p:sldId id="299" r:id="rId39"/>
    <p:sldId id="300" r:id="rId40"/>
    <p:sldId id="294" r:id="rId41"/>
    <p:sldId id="267"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6FC"/>
    <a:srgbClr val="FDFC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099" autoAdjust="0"/>
  </p:normalViewPr>
  <p:slideViewPr>
    <p:cSldViewPr snapToGrid="0">
      <p:cViewPr varScale="1">
        <p:scale>
          <a:sx n="103" d="100"/>
          <a:sy n="103" d="100"/>
        </p:scale>
        <p:origin x="85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BC13EE-8834-4073-9E9E-C590A439CDEC}"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F3147585-FCAE-4452-912D-A4CD1B9C58A5}">
      <dgm:prSet phldrT="[Text]" phldr="0"/>
      <dgm:spPr>
        <a:solidFill>
          <a:schemeClr val="accent3">
            <a:lumMod val="75000"/>
          </a:schemeClr>
        </a:solidFill>
        <a:ln>
          <a:solidFill>
            <a:srgbClr val="FFFF00"/>
          </a:solidFill>
        </a:ln>
      </dgm:spPr>
      <dgm:t>
        <a:bodyPr/>
        <a:lstStyle/>
        <a:p>
          <a:r>
            <a:rPr lang="en-US" dirty="0"/>
            <a:t>Spec</a:t>
          </a:r>
        </a:p>
      </dgm:t>
    </dgm:pt>
    <dgm:pt modelId="{EDE220AA-5288-488B-B149-E2C076163DA0}" type="parTrans" cxnId="{487EC79A-868B-4079-8405-6FD6A2E51EB3}">
      <dgm:prSet/>
      <dgm:spPr/>
      <dgm:t>
        <a:bodyPr/>
        <a:lstStyle/>
        <a:p>
          <a:endParaRPr lang="en-US"/>
        </a:p>
      </dgm:t>
    </dgm:pt>
    <dgm:pt modelId="{578FF517-D537-4388-ADE6-DCCD3A9EF039}" type="sibTrans" cxnId="{487EC79A-868B-4079-8405-6FD6A2E51EB3}">
      <dgm:prSet/>
      <dgm:spPr/>
      <dgm:t>
        <a:bodyPr/>
        <a:lstStyle/>
        <a:p>
          <a:endParaRPr lang="en-US"/>
        </a:p>
      </dgm:t>
    </dgm:pt>
    <dgm:pt modelId="{06E39044-26B7-424C-AF52-3EE54079F691}">
      <dgm:prSet phldrT="[Text]" phldr="0"/>
      <dgm:spPr>
        <a:solidFill>
          <a:schemeClr val="accent2">
            <a:lumMod val="75000"/>
          </a:schemeClr>
        </a:solidFill>
      </dgm:spPr>
      <dgm:t>
        <a:bodyPr/>
        <a:lstStyle/>
        <a:p>
          <a:r>
            <a:rPr lang="en-US" dirty="0"/>
            <a:t>Code</a:t>
          </a:r>
        </a:p>
      </dgm:t>
    </dgm:pt>
    <dgm:pt modelId="{4F5CA492-B32B-4537-B5EC-C7DD22EF524D}" type="parTrans" cxnId="{E48B3D98-8BEC-4531-BE2C-9AF8CE9A2686}">
      <dgm:prSet/>
      <dgm:spPr/>
      <dgm:t>
        <a:bodyPr/>
        <a:lstStyle/>
        <a:p>
          <a:endParaRPr lang="en-US"/>
        </a:p>
      </dgm:t>
    </dgm:pt>
    <dgm:pt modelId="{C564BBEB-26A4-4B8C-8223-ACA4D5C604C2}" type="sibTrans" cxnId="{E48B3D98-8BEC-4531-BE2C-9AF8CE9A2686}">
      <dgm:prSet/>
      <dgm:spPr/>
      <dgm:t>
        <a:bodyPr/>
        <a:lstStyle/>
        <a:p>
          <a:endParaRPr lang="en-US"/>
        </a:p>
      </dgm:t>
    </dgm:pt>
    <dgm:pt modelId="{D1FEF3A8-FEA0-48B1-BFE7-8E72F4505DB7}">
      <dgm:prSet phldrT="[Text]" phldr="0"/>
      <dgm:spPr/>
      <dgm:t>
        <a:bodyPr/>
        <a:lstStyle/>
        <a:p>
          <a:r>
            <a:rPr lang="en-US"/>
            <a:t>Verify</a:t>
          </a:r>
          <a:endParaRPr lang="en-US" dirty="0"/>
        </a:p>
      </dgm:t>
    </dgm:pt>
    <dgm:pt modelId="{B7EC4D4F-E5FC-4D47-BCA9-B4F467530E67}" type="parTrans" cxnId="{07B0F6F9-A4D9-4864-A84A-0DC75BECA33A}">
      <dgm:prSet/>
      <dgm:spPr/>
      <dgm:t>
        <a:bodyPr/>
        <a:lstStyle/>
        <a:p>
          <a:endParaRPr lang="en-US"/>
        </a:p>
      </dgm:t>
    </dgm:pt>
    <dgm:pt modelId="{25F5C3D7-BA67-4139-9879-3BB469CF956D}" type="sibTrans" cxnId="{07B0F6F9-A4D9-4864-A84A-0DC75BECA33A}">
      <dgm:prSet/>
      <dgm:spPr/>
      <dgm:t>
        <a:bodyPr/>
        <a:lstStyle/>
        <a:p>
          <a:endParaRPr lang="en-US"/>
        </a:p>
      </dgm:t>
    </dgm:pt>
    <dgm:pt modelId="{7CDFD2DB-5E47-4193-BE5D-7D9C81359D22}">
      <dgm:prSet phldrT="[Text]" phldr="0"/>
      <dgm:spPr>
        <a:solidFill>
          <a:schemeClr val="accent5">
            <a:lumMod val="75000"/>
          </a:schemeClr>
        </a:solidFill>
        <a:ln>
          <a:solidFill>
            <a:srgbClr val="FFFF00"/>
          </a:solidFill>
        </a:ln>
      </dgm:spPr>
      <dgm:t>
        <a:bodyPr/>
        <a:lstStyle/>
        <a:p>
          <a:r>
            <a:rPr lang="en-US" dirty="0"/>
            <a:t>Plan </a:t>
          </a:r>
        </a:p>
      </dgm:t>
    </dgm:pt>
    <dgm:pt modelId="{7200360F-CEE6-4938-84C1-10DB674997ED}" type="parTrans" cxnId="{83E51AB8-9053-485A-B535-CA3C2FC056FA}">
      <dgm:prSet/>
      <dgm:spPr/>
      <dgm:t>
        <a:bodyPr/>
        <a:lstStyle/>
        <a:p>
          <a:endParaRPr lang="en-US"/>
        </a:p>
      </dgm:t>
    </dgm:pt>
    <dgm:pt modelId="{7ED1611E-595D-4B0A-9778-6091C7451912}" type="sibTrans" cxnId="{83E51AB8-9053-485A-B535-CA3C2FC056FA}">
      <dgm:prSet/>
      <dgm:spPr/>
      <dgm:t>
        <a:bodyPr/>
        <a:lstStyle/>
        <a:p>
          <a:endParaRPr lang="en-US"/>
        </a:p>
      </dgm:t>
    </dgm:pt>
    <dgm:pt modelId="{7258B6AB-C2B7-4057-8397-8B63132DFDF4}" type="pres">
      <dgm:prSet presAssocID="{08BC13EE-8834-4073-9E9E-C590A439CDEC}" presName="cycle" presStyleCnt="0">
        <dgm:presLayoutVars>
          <dgm:dir/>
          <dgm:resizeHandles val="exact"/>
        </dgm:presLayoutVars>
      </dgm:prSet>
      <dgm:spPr/>
    </dgm:pt>
    <dgm:pt modelId="{18F1C572-D7F3-4EBB-A547-D427D48727A0}" type="pres">
      <dgm:prSet presAssocID="{F3147585-FCAE-4452-912D-A4CD1B9C58A5}" presName="node" presStyleLbl="node1" presStyleIdx="0" presStyleCnt="4">
        <dgm:presLayoutVars>
          <dgm:bulletEnabled val="1"/>
        </dgm:presLayoutVars>
      </dgm:prSet>
      <dgm:spPr/>
    </dgm:pt>
    <dgm:pt modelId="{F523AF43-3ECE-4814-9DF7-B7BD2800C6A2}" type="pres">
      <dgm:prSet presAssocID="{578FF517-D537-4388-ADE6-DCCD3A9EF039}" presName="sibTrans" presStyleLbl="sibTrans2D1" presStyleIdx="0" presStyleCnt="4"/>
      <dgm:spPr/>
    </dgm:pt>
    <dgm:pt modelId="{3F4B7050-A156-4DD2-8A2F-5DB64113C347}" type="pres">
      <dgm:prSet presAssocID="{578FF517-D537-4388-ADE6-DCCD3A9EF039}" presName="connectorText" presStyleLbl="sibTrans2D1" presStyleIdx="0" presStyleCnt="4"/>
      <dgm:spPr/>
    </dgm:pt>
    <dgm:pt modelId="{5C68D300-6EA5-44E2-8E87-E81C8A961266}" type="pres">
      <dgm:prSet presAssocID="{7CDFD2DB-5E47-4193-BE5D-7D9C81359D22}" presName="node" presStyleLbl="node1" presStyleIdx="1" presStyleCnt="4">
        <dgm:presLayoutVars>
          <dgm:bulletEnabled val="1"/>
        </dgm:presLayoutVars>
      </dgm:prSet>
      <dgm:spPr/>
    </dgm:pt>
    <dgm:pt modelId="{952D9B32-5A65-4223-BC19-F7C0FB9065A4}" type="pres">
      <dgm:prSet presAssocID="{7ED1611E-595D-4B0A-9778-6091C7451912}" presName="sibTrans" presStyleLbl="sibTrans2D1" presStyleIdx="1" presStyleCnt="4"/>
      <dgm:spPr/>
    </dgm:pt>
    <dgm:pt modelId="{05B528B8-CE0F-40A8-975A-CD789D6710FC}" type="pres">
      <dgm:prSet presAssocID="{7ED1611E-595D-4B0A-9778-6091C7451912}" presName="connectorText" presStyleLbl="sibTrans2D1" presStyleIdx="1" presStyleCnt="4"/>
      <dgm:spPr/>
    </dgm:pt>
    <dgm:pt modelId="{D3EA1480-FE3B-4367-B3CE-70D1FED73C25}" type="pres">
      <dgm:prSet presAssocID="{06E39044-26B7-424C-AF52-3EE54079F691}" presName="node" presStyleLbl="node1" presStyleIdx="2" presStyleCnt="4">
        <dgm:presLayoutVars>
          <dgm:bulletEnabled val="1"/>
        </dgm:presLayoutVars>
      </dgm:prSet>
      <dgm:spPr/>
    </dgm:pt>
    <dgm:pt modelId="{458705E2-769D-4ADB-BFE2-31F647333C92}" type="pres">
      <dgm:prSet presAssocID="{C564BBEB-26A4-4B8C-8223-ACA4D5C604C2}" presName="sibTrans" presStyleLbl="sibTrans2D1" presStyleIdx="2" presStyleCnt="4"/>
      <dgm:spPr/>
    </dgm:pt>
    <dgm:pt modelId="{7FF72564-FF61-44ED-B492-D42617CA60DD}" type="pres">
      <dgm:prSet presAssocID="{C564BBEB-26A4-4B8C-8223-ACA4D5C604C2}" presName="connectorText" presStyleLbl="sibTrans2D1" presStyleIdx="2" presStyleCnt="4"/>
      <dgm:spPr/>
    </dgm:pt>
    <dgm:pt modelId="{424A7943-BAC9-4034-AB80-8DF683F3D5C2}" type="pres">
      <dgm:prSet presAssocID="{D1FEF3A8-FEA0-48B1-BFE7-8E72F4505DB7}" presName="node" presStyleLbl="node1" presStyleIdx="3" presStyleCnt="4">
        <dgm:presLayoutVars>
          <dgm:bulletEnabled val="1"/>
        </dgm:presLayoutVars>
      </dgm:prSet>
      <dgm:spPr/>
    </dgm:pt>
    <dgm:pt modelId="{86A192F2-1BAD-4EBE-8AA6-1F46A91C09B3}" type="pres">
      <dgm:prSet presAssocID="{25F5C3D7-BA67-4139-9879-3BB469CF956D}" presName="sibTrans" presStyleLbl="sibTrans2D1" presStyleIdx="3" presStyleCnt="4"/>
      <dgm:spPr/>
    </dgm:pt>
    <dgm:pt modelId="{DC1C0070-79A6-4F9A-8067-D82169040562}" type="pres">
      <dgm:prSet presAssocID="{25F5C3D7-BA67-4139-9879-3BB469CF956D}" presName="connectorText" presStyleLbl="sibTrans2D1" presStyleIdx="3" presStyleCnt="4"/>
      <dgm:spPr/>
    </dgm:pt>
  </dgm:ptLst>
  <dgm:cxnLst>
    <dgm:cxn modelId="{E64D5819-B408-4D07-9949-8259767BBDA0}" type="presOf" srcId="{C564BBEB-26A4-4B8C-8223-ACA4D5C604C2}" destId="{458705E2-769D-4ADB-BFE2-31F647333C92}" srcOrd="0" destOrd="0" presId="urn:microsoft.com/office/officeart/2005/8/layout/cycle2"/>
    <dgm:cxn modelId="{FD438B19-901A-43DA-B007-4F42DF1878BE}" type="presOf" srcId="{25F5C3D7-BA67-4139-9879-3BB469CF956D}" destId="{DC1C0070-79A6-4F9A-8067-D82169040562}" srcOrd="1" destOrd="0" presId="urn:microsoft.com/office/officeart/2005/8/layout/cycle2"/>
    <dgm:cxn modelId="{D46A5B2D-EAB9-4A79-88B0-AC831CA84D4E}" type="presOf" srcId="{08BC13EE-8834-4073-9E9E-C590A439CDEC}" destId="{7258B6AB-C2B7-4057-8397-8B63132DFDF4}" srcOrd="0" destOrd="0" presId="urn:microsoft.com/office/officeart/2005/8/layout/cycle2"/>
    <dgm:cxn modelId="{7B40823C-4CCB-42CF-B8EA-C0AE214B0975}" type="presOf" srcId="{7ED1611E-595D-4B0A-9778-6091C7451912}" destId="{952D9B32-5A65-4223-BC19-F7C0FB9065A4}" srcOrd="0" destOrd="0" presId="urn:microsoft.com/office/officeart/2005/8/layout/cycle2"/>
    <dgm:cxn modelId="{BADFA044-4B3C-429C-86F3-43D71E883054}" type="presOf" srcId="{578FF517-D537-4388-ADE6-DCCD3A9EF039}" destId="{3F4B7050-A156-4DD2-8A2F-5DB64113C347}" srcOrd="1" destOrd="0" presId="urn:microsoft.com/office/officeart/2005/8/layout/cycle2"/>
    <dgm:cxn modelId="{7526C448-8406-4F44-90E1-609A04FC1CB5}" type="presOf" srcId="{7CDFD2DB-5E47-4193-BE5D-7D9C81359D22}" destId="{5C68D300-6EA5-44E2-8E87-E81C8A961266}" srcOrd="0" destOrd="0" presId="urn:microsoft.com/office/officeart/2005/8/layout/cycle2"/>
    <dgm:cxn modelId="{C906046C-8170-45D2-8837-F5FC1998C0A2}" type="presOf" srcId="{D1FEF3A8-FEA0-48B1-BFE7-8E72F4505DB7}" destId="{424A7943-BAC9-4034-AB80-8DF683F3D5C2}" srcOrd="0" destOrd="0" presId="urn:microsoft.com/office/officeart/2005/8/layout/cycle2"/>
    <dgm:cxn modelId="{434F6055-57C9-4757-BBF9-20178A6E64A5}" type="presOf" srcId="{25F5C3D7-BA67-4139-9879-3BB469CF956D}" destId="{86A192F2-1BAD-4EBE-8AA6-1F46A91C09B3}" srcOrd="0" destOrd="0" presId="urn:microsoft.com/office/officeart/2005/8/layout/cycle2"/>
    <dgm:cxn modelId="{E48B3D98-8BEC-4531-BE2C-9AF8CE9A2686}" srcId="{08BC13EE-8834-4073-9E9E-C590A439CDEC}" destId="{06E39044-26B7-424C-AF52-3EE54079F691}" srcOrd="2" destOrd="0" parTransId="{4F5CA492-B32B-4537-B5EC-C7DD22EF524D}" sibTransId="{C564BBEB-26A4-4B8C-8223-ACA4D5C604C2}"/>
    <dgm:cxn modelId="{487EC79A-868B-4079-8405-6FD6A2E51EB3}" srcId="{08BC13EE-8834-4073-9E9E-C590A439CDEC}" destId="{F3147585-FCAE-4452-912D-A4CD1B9C58A5}" srcOrd="0" destOrd="0" parTransId="{EDE220AA-5288-488B-B149-E2C076163DA0}" sibTransId="{578FF517-D537-4388-ADE6-DCCD3A9EF039}"/>
    <dgm:cxn modelId="{B2A5B89E-4675-472C-97C1-A4C91BA7EEE8}" type="presOf" srcId="{F3147585-FCAE-4452-912D-A4CD1B9C58A5}" destId="{18F1C572-D7F3-4EBB-A547-D427D48727A0}" srcOrd="0" destOrd="0" presId="urn:microsoft.com/office/officeart/2005/8/layout/cycle2"/>
    <dgm:cxn modelId="{F98AA3AF-942A-47EE-83EC-F9A4F51EBC66}" type="presOf" srcId="{06E39044-26B7-424C-AF52-3EE54079F691}" destId="{D3EA1480-FE3B-4367-B3CE-70D1FED73C25}" srcOrd="0" destOrd="0" presId="urn:microsoft.com/office/officeart/2005/8/layout/cycle2"/>
    <dgm:cxn modelId="{9CF666B4-4A1D-4190-A71B-06CCD3B02312}" type="presOf" srcId="{7ED1611E-595D-4B0A-9778-6091C7451912}" destId="{05B528B8-CE0F-40A8-975A-CD789D6710FC}" srcOrd="1" destOrd="0" presId="urn:microsoft.com/office/officeart/2005/8/layout/cycle2"/>
    <dgm:cxn modelId="{83E51AB8-9053-485A-B535-CA3C2FC056FA}" srcId="{08BC13EE-8834-4073-9E9E-C590A439CDEC}" destId="{7CDFD2DB-5E47-4193-BE5D-7D9C81359D22}" srcOrd="1" destOrd="0" parTransId="{7200360F-CEE6-4938-84C1-10DB674997ED}" sibTransId="{7ED1611E-595D-4B0A-9778-6091C7451912}"/>
    <dgm:cxn modelId="{07E114C5-081B-4997-8BD6-BA1B3BD4FC41}" type="presOf" srcId="{C564BBEB-26A4-4B8C-8223-ACA4D5C604C2}" destId="{7FF72564-FF61-44ED-B492-D42617CA60DD}" srcOrd="1" destOrd="0" presId="urn:microsoft.com/office/officeart/2005/8/layout/cycle2"/>
    <dgm:cxn modelId="{3DC52FEB-32E1-4E14-87D2-37AFD3B44A34}" type="presOf" srcId="{578FF517-D537-4388-ADE6-DCCD3A9EF039}" destId="{F523AF43-3ECE-4814-9DF7-B7BD2800C6A2}" srcOrd="0" destOrd="0" presId="urn:microsoft.com/office/officeart/2005/8/layout/cycle2"/>
    <dgm:cxn modelId="{07B0F6F9-A4D9-4864-A84A-0DC75BECA33A}" srcId="{08BC13EE-8834-4073-9E9E-C590A439CDEC}" destId="{D1FEF3A8-FEA0-48B1-BFE7-8E72F4505DB7}" srcOrd="3" destOrd="0" parTransId="{B7EC4D4F-E5FC-4D47-BCA9-B4F467530E67}" sibTransId="{25F5C3D7-BA67-4139-9879-3BB469CF956D}"/>
    <dgm:cxn modelId="{95C590DA-2A78-46A6-9F84-7161D4CF747E}" type="presParOf" srcId="{7258B6AB-C2B7-4057-8397-8B63132DFDF4}" destId="{18F1C572-D7F3-4EBB-A547-D427D48727A0}" srcOrd="0" destOrd="0" presId="urn:microsoft.com/office/officeart/2005/8/layout/cycle2"/>
    <dgm:cxn modelId="{ABF4CFE7-2C13-4148-8D0A-200ECFC331FE}" type="presParOf" srcId="{7258B6AB-C2B7-4057-8397-8B63132DFDF4}" destId="{F523AF43-3ECE-4814-9DF7-B7BD2800C6A2}" srcOrd="1" destOrd="0" presId="urn:microsoft.com/office/officeart/2005/8/layout/cycle2"/>
    <dgm:cxn modelId="{99DB41BC-F280-426A-89B5-C116E52B2135}" type="presParOf" srcId="{F523AF43-3ECE-4814-9DF7-B7BD2800C6A2}" destId="{3F4B7050-A156-4DD2-8A2F-5DB64113C347}" srcOrd="0" destOrd="0" presId="urn:microsoft.com/office/officeart/2005/8/layout/cycle2"/>
    <dgm:cxn modelId="{F9AF1351-AB4C-4C0B-A856-B2B81360DBAC}" type="presParOf" srcId="{7258B6AB-C2B7-4057-8397-8B63132DFDF4}" destId="{5C68D300-6EA5-44E2-8E87-E81C8A961266}" srcOrd="2" destOrd="0" presId="urn:microsoft.com/office/officeart/2005/8/layout/cycle2"/>
    <dgm:cxn modelId="{FE0CCFA0-386B-48F1-AFFB-E0792BF524C6}" type="presParOf" srcId="{7258B6AB-C2B7-4057-8397-8B63132DFDF4}" destId="{952D9B32-5A65-4223-BC19-F7C0FB9065A4}" srcOrd="3" destOrd="0" presId="urn:microsoft.com/office/officeart/2005/8/layout/cycle2"/>
    <dgm:cxn modelId="{9D246631-C613-496D-A2D1-E039AA9EBFB6}" type="presParOf" srcId="{952D9B32-5A65-4223-BC19-F7C0FB9065A4}" destId="{05B528B8-CE0F-40A8-975A-CD789D6710FC}" srcOrd="0" destOrd="0" presId="urn:microsoft.com/office/officeart/2005/8/layout/cycle2"/>
    <dgm:cxn modelId="{9A27ABA7-9AB0-40B4-9D07-268977564416}" type="presParOf" srcId="{7258B6AB-C2B7-4057-8397-8B63132DFDF4}" destId="{D3EA1480-FE3B-4367-B3CE-70D1FED73C25}" srcOrd="4" destOrd="0" presId="urn:microsoft.com/office/officeart/2005/8/layout/cycle2"/>
    <dgm:cxn modelId="{6DD40106-9DDD-4E79-B812-ED95E3F15EF5}" type="presParOf" srcId="{7258B6AB-C2B7-4057-8397-8B63132DFDF4}" destId="{458705E2-769D-4ADB-BFE2-31F647333C92}" srcOrd="5" destOrd="0" presId="urn:microsoft.com/office/officeart/2005/8/layout/cycle2"/>
    <dgm:cxn modelId="{79E4BE9A-5435-450C-AD60-AD8AB29887E1}" type="presParOf" srcId="{458705E2-769D-4ADB-BFE2-31F647333C92}" destId="{7FF72564-FF61-44ED-B492-D42617CA60DD}" srcOrd="0" destOrd="0" presId="urn:microsoft.com/office/officeart/2005/8/layout/cycle2"/>
    <dgm:cxn modelId="{E5886676-8621-4388-9FB4-EA470364930B}" type="presParOf" srcId="{7258B6AB-C2B7-4057-8397-8B63132DFDF4}" destId="{424A7943-BAC9-4034-AB80-8DF683F3D5C2}" srcOrd="6" destOrd="0" presId="urn:microsoft.com/office/officeart/2005/8/layout/cycle2"/>
    <dgm:cxn modelId="{DCA3DB26-D75F-435D-A1AE-210283E9B83C}" type="presParOf" srcId="{7258B6AB-C2B7-4057-8397-8B63132DFDF4}" destId="{86A192F2-1BAD-4EBE-8AA6-1F46A91C09B3}" srcOrd="7" destOrd="0" presId="urn:microsoft.com/office/officeart/2005/8/layout/cycle2"/>
    <dgm:cxn modelId="{5FBA65CB-6BBB-44A6-A5B8-1CCC253AA46D}" type="presParOf" srcId="{86A192F2-1BAD-4EBE-8AA6-1F46A91C09B3}" destId="{DC1C0070-79A6-4F9A-8067-D82169040562}"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BC13EE-8834-4073-9E9E-C590A439CDEC}"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F3147585-FCAE-4452-912D-A4CD1B9C58A5}">
      <dgm:prSet phldrT="[Text]" phldr="0"/>
      <dgm:spPr>
        <a:solidFill>
          <a:schemeClr val="accent3">
            <a:lumMod val="75000"/>
          </a:schemeClr>
        </a:solidFill>
        <a:ln>
          <a:solidFill>
            <a:srgbClr val="FFFF00"/>
          </a:solidFill>
        </a:ln>
      </dgm:spPr>
      <dgm:t>
        <a:bodyPr/>
        <a:lstStyle/>
        <a:p>
          <a:r>
            <a:rPr lang="en-US" dirty="0"/>
            <a:t>Spec</a:t>
          </a:r>
        </a:p>
      </dgm:t>
    </dgm:pt>
    <dgm:pt modelId="{EDE220AA-5288-488B-B149-E2C076163DA0}" type="parTrans" cxnId="{487EC79A-868B-4079-8405-6FD6A2E51EB3}">
      <dgm:prSet/>
      <dgm:spPr/>
      <dgm:t>
        <a:bodyPr/>
        <a:lstStyle/>
        <a:p>
          <a:endParaRPr lang="en-US"/>
        </a:p>
      </dgm:t>
    </dgm:pt>
    <dgm:pt modelId="{578FF517-D537-4388-ADE6-DCCD3A9EF039}" type="sibTrans" cxnId="{487EC79A-868B-4079-8405-6FD6A2E51EB3}">
      <dgm:prSet/>
      <dgm:spPr/>
      <dgm:t>
        <a:bodyPr/>
        <a:lstStyle/>
        <a:p>
          <a:endParaRPr lang="en-US"/>
        </a:p>
      </dgm:t>
    </dgm:pt>
    <dgm:pt modelId="{06E39044-26B7-424C-AF52-3EE54079F691}">
      <dgm:prSet phldrT="[Text]" phldr="0"/>
      <dgm:spPr>
        <a:solidFill>
          <a:schemeClr val="accent2">
            <a:lumMod val="75000"/>
          </a:schemeClr>
        </a:solidFill>
      </dgm:spPr>
      <dgm:t>
        <a:bodyPr/>
        <a:lstStyle/>
        <a:p>
          <a:r>
            <a:rPr lang="en-US" dirty="0"/>
            <a:t>Code</a:t>
          </a:r>
        </a:p>
      </dgm:t>
    </dgm:pt>
    <dgm:pt modelId="{4F5CA492-B32B-4537-B5EC-C7DD22EF524D}" type="parTrans" cxnId="{E48B3D98-8BEC-4531-BE2C-9AF8CE9A2686}">
      <dgm:prSet/>
      <dgm:spPr/>
      <dgm:t>
        <a:bodyPr/>
        <a:lstStyle/>
        <a:p>
          <a:endParaRPr lang="en-US"/>
        </a:p>
      </dgm:t>
    </dgm:pt>
    <dgm:pt modelId="{C564BBEB-26A4-4B8C-8223-ACA4D5C604C2}" type="sibTrans" cxnId="{E48B3D98-8BEC-4531-BE2C-9AF8CE9A2686}">
      <dgm:prSet/>
      <dgm:spPr/>
      <dgm:t>
        <a:bodyPr/>
        <a:lstStyle/>
        <a:p>
          <a:endParaRPr lang="en-US"/>
        </a:p>
      </dgm:t>
    </dgm:pt>
    <dgm:pt modelId="{D1FEF3A8-FEA0-48B1-BFE7-8E72F4505DB7}">
      <dgm:prSet phldrT="[Text]" phldr="0"/>
      <dgm:spPr/>
      <dgm:t>
        <a:bodyPr/>
        <a:lstStyle/>
        <a:p>
          <a:r>
            <a:rPr lang="en-US"/>
            <a:t>Verify</a:t>
          </a:r>
          <a:endParaRPr lang="en-US" dirty="0"/>
        </a:p>
      </dgm:t>
    </dgm:pt>
    <dgm:pt modelId="{B7EC4D4F-E5FC-4D47-BCA9-B4F467530E67}" type="parTrans" cxnId="{07B0F6F9-A4D9-4864-A84A-0DC75BECA33A}">
      <dgm:prSet/>
      <dgm:spPr/>
      <dgm:t>
        <a:bodyPr/>
        <a:lstStyle/>
        <a:p>
          <a:endParaRPr lang="en-US"/>
        </a:p>
      </dgm:t>
    </dgm:pt>
    <dgm:pt modelId="{25F5C3D7-BA67-4139-9879-3BB469CF956D}" type="sibTrans" cxnId="{07B0F6F9-A4D9-4864-A84A-0DC75BECA33A}">
      <dgm:prSet/>
      <dgm:spPr/>
      <dgm:t>
        <a:bodyPr/>
        <a:lstStyle/>
        <a:p>
          <a:endParaRPr lang="en-US"/>
        </a:p>
      </dgm:t>
    </dgm:pt>
    <dgm:pt modelId="{7CDFD2DB-5E47-4193-BE5D-7D9C81359D22}">
      <dgm:prSet phldrT="[Text]" phldr="0"/>
      <dgm:spPr>
        <a:solidFill>
          <a:schemeClr val="accent5">
            <a:lumMod val="75000"/>
          </a:schemeClr>
        </a:solidFill>
        <a:ln>
          <a:solidFill>
            <a:srgbClr val="FFFF00"/>
          </a:solidFill>
        </a:ln>
      </dgm:spPr>
      <dgm:t>
        <a:bodyPr/>
        <a:lstStyle/>
        <a:p>
          <a:r>
            <a:rPr lang="en-US" dirty="0"/>
            <a:t>Plan </a:t>
          </a:r>
        </a:p>
      </dgm:t>
    </dgm:pt>
    <dgm:pt modelId="{7200360F-CEE6-4938-84C1-10DB674997ED}" type="parTrans" cxnId="{83E51AB8-9053-485A-B535-CA3C2FC056FA}">
      <dgm:prSet/>
      <dgm:spPr/>
      <dgm:t>
        <a:bodyPr/>
        <a:lstStyle/>
        <a:p>
          <a:endParaRPr lang="en-US"/>
        </a:p>
      </dgm:t>
    </dgm:pt>
    <dgm:pt modelId="{7ED1611E-595D-4B0A-9778-6091C7451912}" type="sibTrans" cxnId="{83E51AB8-9053-485A-B535-CA3C2FC056FA}">
      <dgm:prSet/>
      <dgm:spPr/>
      <dgm:t>
        <a:bodyPr/>
        <a:lstStyle/>
        <a:p>
          <a:endParaRPr lang="en-US"/>
        </a:p>
      </dgm:t>
    </dgm:pt>
    <dgm:pt modelId="{7258B6AB-C2B7-4057-8397-8B63132DFDF4}" type="pres">
      <dgm:prSet presAssocID="{08BC13EE-8834-4073-9E9E-C590A439CDEC}" presName="cycle" presStyleCnt="0">
        <dgm:presLayoutVars>
          <dgm:dir/>
          <dgm:resizeHandles val="exact"/>
        </dgm:presLayoutVars>
      </dgm:prSet>
      <dgm:spPr/>
    </dgm:pt>
    <dgm:pt modelId="{18F1C572-D7F3-4EBB-A547-D427D48727A0}" type="pres">
      <dgm:prSet presAssocID="{F3147585-FCAE-4452-912D-A4CD1B9C58A5}" presName="node" presStyleLbl="node1" presStyleIdx="0" presStyleCnt="4">
        <dgm:presLayoutVars>
          <dgm:bulletEnabled val="1"/>
        </dgm:presLayoutVars>
      </dgm:prSet>
      <dgm:spPr/>
    </dgm:pt>
    <dgm:pt modelId="{F523AF43-3ECE-4814-9DF7-B7BD2800C6A2}" type="pres">
      <dgm:prSet presAssocID="{578FF517-D537-4388-ADE6-DCCD3A9EF039}" presName="sibTrans" presStyleLbl="sibTrans2D1" presStyleIdx="0" presStyleCnt="4"/>
      <dgm:spPr/>
    </dgm:pt>
    <dgm:pt modelId="{3F4B7050-A156-4DD2-8A2F-5DB64113C347}" type="pres">
      <dgm:prSet presAssocID="{578FF517-D537-4388-ADE6-DCCD3A9EF039}" presName="connectorText" presStyleLbl="sibTrans2D1" presStyleIdx="0" presStyleCnt="4"/>
      <dgm:spPr/>
    </dgm:pt>
    <dgm:pt modelId="{5C68D300-6EA5-44E2-8E87-E81C8A961266}" type="pres">
      <dgm:prSet presAssocID="{7CDFD2DB-5E47-4193-BE5D-7D9C81359D22}" presName="node" presStyleLbl="node1" presStyleIdx="1" presStyleCnt="4">
        <dgm:presLayoutVars>
          <dgm:bulletEnabled val="1"/>
        </dgm:presLayoutVars>
      </dgm:prSet>
      <dgm:spPr/>
    </dgm:pt>
    <dgm:pt modelId="{952D9B32-5A65-4223-BC19-F7C0FB9065A4}" type="pres">
      <dgm:prSet presAssocID="{7ED1611E-595D-4B0A-9778-6091C7451912}" presName="sibTrans" presStyleLbl="sibTrans2D1" presStyleIdx="1" presStyleCnt="4"/>
      <dgm:spPr/>
    </dgm:pt>
    <dgm:pt modelId="{05B528B8-CE0F-40A8-975A-CD789D6710FC}" type="pres">
      <dgm:prSet presAssocID="{7ED1611E-595D-4B0A-9778-6091C7451912}" presName="connectorText" presStyleLbl="sibTrans2D1" presStyleIdx="1" presStyleCnt="4"/>
      <dgm:spPr/>
    </dgm:pt>
    <dgm:pt modelId="{D3EA1480-FE3B-4367-B3CE-70D1FED73C25}" type="pres">
      <dgm:prSet presAssocID="{06E39044-26B7-424C-AF52-3EE54079F691}" presName="node" presStyleLbl="node1" presStyleIdx="2" presStyleCnt="4">
        <dgm:presLayoutVars>
          <dgm:bulletEnabled val="1"/>
        </dgm:presLayoutVars>
      </dgm:prSet>
      <dgm:spPr/>
    </dgm:pt>
    <dgm:pt modelId="{458705E2-769D-4ADB-BFE2-31F647333C92}" type="pres">
      <dgm:prSet presAssocID="{C564BBEB-26A4-4B8C-8223-ACA4D5C604C2}" presName="sibTrans" presStyleLbl="sibTrans2D1" presStyleIdx="2" presStyleCnt="4"/>
      <dgm:spPr/>
    </dgm:pt>
    <dgm:pt modelId="{7FF72564-FF61-44ED-B492-D42617CA60DD}" type="pres">
      <dgm:prSet presAssocID="{C564BBEB-26A4-4B8C-8223-ACA4D5C604C2}" presName="connectorText" presStyleLbl="sibTrans2D1" presStyleIdx="2" presStyleCnt="4"/>
      <dgm:spPr/>
    </dgm:pt>
    <dgm:pt modelId="{424A7943-BAC9-4034-AB80-8DF683F3D5C2}" type="pres">
      <dgm:prSet presAssocID="{D1FEF3A8-FEA0-48B1-BFE7-8E72F4505DB7}" presName="node" presStyleLbl="node1" presStyleIdx="3" presStyleCnt="4">
        <dgm:presLayoutVars>
          <dgm:bulletEnabled val="1"/>
        </dgm:presLayoutVars>
      </dgm:prSet>
      <dgm:spPr/>
    </dgm:pt>
    <dgm:pt modelId="{86A192F2-1BAD-4EBE-8AA6-1F46A91C09B3}" type="pres">
      <dgm:prSet presAssocID="{25F5C3D7-BA67-4139-9879-3BB469CF956D}" presName="sibTrans" presStyleLbl="sibTrans2D1" presStyleIdx="3" presStyleCnt="4"/>
      <dgm:spPr/>
    </dgm:pt>
    <dgm:pt modelId="{DC1C0070-79A6-4F9A-8067-D82169040562}" type="pres">
      <dgm:prSet presAssocID="{25F5C3D7-BA67-4139-9879-3BB469CF956D}" presName="connectorText" presStyleLbl="sibTrans2D1" presStyleIdx="3" presStyleCnt="4"/>
      <dgm:spPr/>
    </dgm:pt>
  </dgm:ptLst>
  <dgm:cxnLst>
    <dgm:cxn modelId="{E64D5819-B408-4D07-9949-8259767BBDA0}" type="presOf" srcId="{C564BBEB-26A4-4B8C-8223-ACA4D5C604C2}" destId="{458705E2-769D-4ADB-BFE2-31F647333C92}" srcOrd="0" destOrd="0" presId="urn:microsoft.com/office/officeart/2005/8/layout/cycle2"/>
    <dgm:cxn modelId="{FD438B19-901A-43DA-B007-4F42DF1878BE}" type="presOf" srcId="{25F5C3D7-BA67-4139-9879-3BB469CF956D}" destId="{DC1C0070-79A6-4F9A-8067-D82169040562}" srcOrd="1" destOrd="0" presId="urn:microsoft.com/office/officeart/2005/8/layout/cycle2"/>
    <dgm:cxn modelId="{D46A5B2D-EAB9-4A79-88B0-AC831CA84D4E}" type="presOf" srcId="{08BC13EE-8834-4073-9E9E-C590A439CDEC}" destId="{7258B6AB-C2B7-4057-8397-8B63132DFDF4}" srcOrd="0" destOrd="0" presId="urn:microsoft.com/office/officeart/2005/8/layout/cycle2"/>
    <dgm:cxn modelId="{7B40823C-4CCB-42CF-B8EA-C0AE214B0975}" type="presOf" srcId="{7ED1611E-595D-4B0A-9778-6091C7451912}" destId="{952D9B32-5A65-4223-BC19-F7C0FB9065A4}" srcOrd="0" destOrd="0" presId="urn:microsoft.com/office/officeart/2005/8/layout/cycle2"/>
    <dgm:cxn modelId="{BADFA044-4B3C-429C-86F3-43D71E883054}" type="presOf" srcId="{578FF517-D537-4388-ADE6-DCCD3A9EF039}" destId="{3F4B7050-A156-4DD2-8A2F-5DB64113C347}" srcOrd="1" destOrd="0" presId="urn:microsoft.com/office/officeart/2005/8/layout/cycle2"/>
    <dgm:cxn modelId="{7526C448-8406-4F44-90E1-609A04FC1CB5}" type="presOf" srcId="{7CDFD2DB-5E47-4193-BE5D-7D9C81359D22}" destId="{5C68D300-6EA5-44E2-8E87-E81C8A961266}" srcOrd="0" destOrd="0" presId="urn:microsoft.com/office/officeart/2005/8/layout/cycle2"/>
    <dgm:cxn modelId="{C906046C-8170-45D2-8837-F5FC1998C0A2}" type="presOf" srcId="{D1FEF3A8-FEA0-48B1-BFE7-8E72F4505DB7}" destId="{424A7943-BAC9-4034-AB80-8DF683F3D5C2}" srcOrd="0" destOrd="0" presId="urn:microsoft.com/office/officeart/2005/8/layout/cycle2"/>
    <dgm:cxn modelId="{434F6055-57C9-4757-BBF9-20178A6E64A5}" type="presOf" srcId="{25F5C3D7-BA67-4139-9879-3BB469CF956D}" destId="{86A192F2-1BAD-4EBE-8AA6-1F46A91C09B3}" srcOrd="0" destOrd="0" presId="urn:microsoft.com/office/officeart/2005/8/layout/cycle2"/>
    <dgm:cxn modelId="{E48B3D98-8BEC-4531-BE2C-9AF8CE9A2686}" srcId="{08BC13EE-8834-4073-9E9E-C590A439CDEC}" destId="{06E39044-26B7-424C-AF52-3EE54079F691}" srcOrd="2" destOrd="0" parTransId="{4F5CA492-B32B-4537-B5EC-C7DD22EF524D}" sibTransId="{C564BBEB-26A4-4B8C-8223-ACA4D5C604C2}"/>
    <dgm:cxn modelId="{487EC79A-868B-4079-8405-6FD6A2E51EB3}" srcId="{08BC13EE-8834-4073-9E9E-C590A439CDEC}" destId="{F3147585-FCAE-4452-912D-A4CD1B9C58A5}" srcOrd="0" destOrd="0" parTransId="{EDE220AA-5288-488B-B149-E2C076163DA0}" sibTransId="{578FF517-D537-4388-ADE6-DCCD3A9EF039}"/>
    <dgm:cxn modelId="{B2A5B89E-4675-472C-97C1-A4C91BA7EEE8}" type="presOf" srcId="{F3147585-FCAE-4452-912D-A4CD1B9C58A5}" destId="{18F1C572-D7F3-4EBB-A547-D427D48727A0}" srcOrd="0" destOrd="0" presId="urn:microsoft.com/office/officeart/2005/8/layout/cycle2"/>
    <dgm:cxn modelId="{F98AA3AF-942A-47EE-83EC-F9A4F51EBC66}" type="presOf" srcId="{06E39044-26B7-424C-AF52-3EE54079F691}" destId="{D3EA1480-FE3B-4367-B3CE-70D1FED73C25}" srcOrd="0" destOrd="0" presId="urn:microsoft.com/office/officeart/2005/8/layout/cycle2"/>
    <dgm:cxn modelId="{9CF666B4-4A1D-4190-A71B-06CCD3B02312}" type="presOf" srcId="{7ED1611E-595D-4B0A-9778-6091C7451912}" destId="{05B528B8-CE0F-40A8-975A-CD789D6710FC}" srcOrd="1" destOrd="0" presId="urn:microsoft.com/office/officeart/2005/8/layout/cycle2"/>
    <dgm:cxn modelId="{83E51AB8-9053-485A-B535-CA3C2FC056FA}" srcId="{08BC13EE-8834-4073-9E9E-C590A439CDEC}" destId="{7CDFD2DB-5E47-4193-BE5D-7D9C81359D22}" srcOrd="1" destOrd="0" parTransId="{7200360F-CEE6-4938-84C1-10DB674997ED}" sibTransId="{7ED1611E-595D-4B0A-9778-6091C7451912}"/>
    <dgm:cxn modelId="{07E114C5-081B-4997-8BD6-BA1B3BD4FC41}" type="presOf" srcId="{C564BBEB-26A4-4B8C-8223-ACA4D5C604C2}" destId="{7FF72564-FF61-44ED-B492-D42617CA60DD}" srcOrd="1" destOrd="0" presId="urn:microsoft.com/office/officeart/2005/8/layout/cycle2"/>
    <dgm:cxn modelId="{3DC52FEB-32E1-4E14-87D2-37AFD3B44A34}" type="presOf" srcId="{578FF517-D537-4388-ADE6-DCCD3A9EF039}" destId="{F523AF43-3ECE-4814-9DF7-B7BD2800C6A2}" srcOrd="0" destOrd="0" presId="urn:microsoft.com/office/officeart/2005/8/layout/cycle2"/>
    <dgm:cxn modelId="{07B0F6F9-A4D9-4864-A84A-0DC75BECA33A}" srcId="{08BC13EE-8834-4073-9E9E-C590A439CDEC}" destId="{D1FEF3A8-FEA0-48B1-BFE7-8E72F4505DB7}" srcOrd="3" destOrd="0" parTransId="{B7EC4D4F-E5FC-4D47-BCA9-B4F467530E67}" sibTransId="{25F5C3D7-BA67-4139-9879-3BB469CF956D}"/>
    <dgm:cxn modelId="{95C590DA-2A78-46A6-9F84-7161D4CF747E}" type="presParOf" srcId="{7258B6AB-C2B7-4057-8397-8B63132DFDF4}" destId="{18F1C572-D7F3-4EBB-A547-D427D48727A0}" srcOrd="0" destOrd="0" presId="urn:microsoft.com/office/officeart/2005/8/layout/cycle2"/>
    <dgm:cxn modelId="{ABF4CFE7-2C13-4148-8D0A-200ECFC331FE}" type="presParOf" srcId="{7258B6AB-C2B7-4057-8397-8B63132DFDF4}" destId="{F523AF43-3ECE-4814-9DF7-B7BD2800C6A2}" srcOrd="1" destOrd="0" presId="urn:microsoft.com/office/officeart/2005/8/layout/cycle2"/>
    <dgm:cxn modelId="{99DB41BC-F280-426A-89B5-C116E52B2135}" type="presParOf" srcId="{F523AF43-3ECE-4814-9DF7-B7BD2800C6A2}" destId="{3F4B7050-A156-4DD2-8A2F-5DB64113C347}" srcOrd="0" destOrd="0" presId="urn:microsoft.com/office/officeart/2005/8/layout/cycle2"/>
    <dgm:cxn modelId="{F9AF1351-AB4C-4C0B-A856-B2B81360DBAC}" type="presParOf" srcId="{7258B6AB-C2B7-4057-8397-8B63132DFDF4}" destId="{5C68D300-6EA5-44E2-8E87-E81C8A961266}" srcOrd="2" destOrd="0" presId="urn:microsoft.com/office/officeart/2005/8/layout/cycle2"/>
    <dgm:cxn modelId="{FE0CCFA0-386B-48F1-AFFB-E0792BF524C6}" type="presParOf" srcId="{7258B6AB-C2B7-4057-8397-8B63132DFDF4}" destId="{952D9B32-5A65-4223-BC19-F7C0FB9065A4}" srcOrd="3" destOrd="0" presId="urn:microsoft.com/office/officeart/2005/8/layout/cycle2"/>
    <dgm:cxn modelId="{9D246631-C613-496D-A2D1-E039AA9EBFB6}" type="presParOf" srcId="{952D9B32-5A65-4223-BC19-F7C0FB9065A4}" destId="{05B528B8-CE0F-40A8-975A-CD789D6710FC}" srcOrd="0" destOrd="0" presId="urn:microsoft.com/office/officeart/2005/8/layout/cycle2"/>
    <dgm:cxn modelId="{9A27ABA7-9AB0-40B4-9D07-268977564416}" type="presParOf" srcId="{7258B6AB-C2B7-4057-8397-8B63132DFDF4}" destId="{D3EA1480-FE3B-4367-B3CE-70D1FED73C25}" srcOrd="4" destOrd="0" presId="urn:microsoft.com/office/officeart/2005/8/layout/cycle2"/>
    <dgm:cxn modelId="{6DD40106-9DDD-4E79-B812-ED95E3F15EF5}" type="presParOf" srcId="{7258B6AB-C2B7-4057-8397-8B63132DFDF4}" destId="{458705E2-769D-4ADB-BFE2-31F647333C92}" srcOrd="5" destOrd="0" presId="urn:microsoft.com/office/officeart/2005/8/layout/cycle2"/>
    <dgm:cxn modelId="{79E4BE9A-5435-450C-AD60-AD8AB29887E1}" type="presParOf" srcId="{458705E2-769D-4ADB-BFE2-31F647333C92}" destId="{7FF72564-FF61-44ED-B492-D42617CA60DD}" srcOrd="0" destOrd="0" presId="urn:microsoft.com/office/officeart/2005/8/layout/cycle2"/>
    <dgm:cxn modelId="{E5886676-8621-4388-9FB4-EA470364930B}" type="presParOf" srcId="{7258B6AB-C2B7-4057-8397-8B63132DFDF4}" destId="{424A7943-BAC9-4034-AB80-8DF683F3D5C2}" srcOrd="6" destOrd="0" presId="urn:microsoft.com/office/officeart/2005/8/layout/cycle2"/>
    <dgm:cxn modelId="{DCA3DB26-D75F-435D-A1AE-210283E9B83C}" type="presParOf" srcId="{7258B6AB-C2B7-4057-8397-8B63132DFDF4}" destId="{86A192F2-1BAD-4EBE-8AA6-1F46A91C09B3}" srcOrd="7" destOrd="0" presId="urn:microsoft.com/office/officeart/2005/8/layout/cycle2"/>
    <dgm:cxn modelId="{5FBA65CB-6BBB-44A6-A5B8-1CCC253AA46D}" type="presParOf" srcId="{86A192F2-1BAD-4EBE-8AA6-1F46A91C09B3}" destId="{DC1C0070-79A6-4F9A-8067-D82169040562}"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F1C572-D7F3-4EBB-A547-D427D48727A0}">
      <dsp:nvSpPr>
        <dsp:cNvPr id="0" name=""/>
        <dsp:cNvSpPr/>
      </dsp:nvSpPr>
      <dsp:spPr>
        <a:xfrm>
          <a:off x="1252081" y="819"/>
          <a:ext cx="793924" cy="793924"/>
        </a:xfrm>
        <a:prstGeom prst="ellipse">
          <a:avLst/>
        </a:prstGeom>
        <a:solidFill>
          <a:schemeClr val="accent3">
            <a:lumMod val="75000"/>
          </a:schemeClr>
        </a:solidFill>
        <a:ln w="1905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Spec</a:t>
          </a:r>
        </a:p>
      </dsp:txBody>
      <dsp:txXfrm>
        <a:off x="1368348" y="117086"/>
        <a:ext cx="561390" cy="561390"/>
      </dsp:txXfrm>
    </dsp:sp>
    <dsp:sp modelId="{F523AF43-3ECE-4814-9DF7-B7BD2800C6A2}">
      <dsp:nvSpPr>
        <dsp:cNvPr id="0" name=""/>
        <dsp:cNvSpPr/>
      </dsp:nvSpPr>
      <dsp:spPr>
        <a:xfrm rot="2700000">
          <a:off x="1960849" y="681381"/>
          <a:ext cx="211536" cy="267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970143" y="712534"/>
        <a:ext cx="148075" cy="160769"/>
      </dsp:txXfrm>
    </dsp:sp>
    <dsp:sp modelId="{5C68D300-6EA5-44E2-8E87-E81C8A961266}">
      <dsp:nvSpPr>
        <dsp:cNvPr id="0" name=""/>
        <dsp:cNvSpPr/>
      </dsp:nvSpPr>
      <dsp:spPr>
        <a:xfrm>
          <a:off x="2095696" y="844434"/>
          <a:ext cx="793924" cy="793924"/>
        </a:xfrm>
        <a:prstGeom prst="ellipse">
          <a:avLst/>
        </a:prstGeom>
        <a:solidFill>
          <a:schemeClr val="accent5">
            <a:lumMod val="75000"/>
          </a:schemeClr>
        </a:solidFill>
        <a:ln w="1905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Plan </a:t>
          </a:r>
        </a:p>
      </dsp:txBody>
      <dsp:txXfrm>
        <a:off x="2211963" y="960701"/>
        <a:ext cx="561390" cy="561390"/>
      </dsp:txXfrm>
    </dsp:sp>
    <dsp:sp modelId="{952D9B32-5A65-4223-BC19-F7C0FB9065A4}">
      <dsp:nvSpPr>
        <dsp:cNvPr id="0" name=""/>
        <dsp:cNvSpPr/>
      </dsp:nvSpPr>
      <dsp:spPr>
        <a:xfrm rot="8100000">
          <a:off x="1969316" y="1524995"/>
          <a:ext cx="211536" cy="267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2023483" y="1556148"/>
        <a:ext cx="148075" cy="160769"/>
      </dsp:txXfrm>
    </dsp:sp>
    <dsp:sp modelId="{D3EA1480-FE3B-4367-B3CE-70D1FED73C25}">
      <dsp:nvSpPr>
        <dsp:cNvPr id="0" name=""/>
        <dsp:cNvSpPr/>
      </dsp:nvSpPr>
      <dsp:spPr>
        <a:xfrm>
          <a:off x="1252081" y="1688048"/>
          <a:ext cx="793924" cy="793924"/>
        </a:xfrm>
        <a:prstGeom prst="ellipse">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Code</a:t>
          </a:r>
        </a:p>
      </dsp:txBody>
      <dsp:txXfrm>
        <a:off x="1368348" y="1804315"/>
        <a:ext cx="561390" cy="561390"/>
      </dsp:txXfrm>
    </dsp:sp>
    <dsp:sp modelId="{458705E2-769D-4ADB-BFE2-31F647333C92}">
      <dsp:nvSpPr>
        <dsp:cNvPr id="0" name=""/>
        <dsp:cNvSpPr/>
      </dsp:nvSpPr>
      <dsp:spPr>
        <a:xfrm rot="13500000">
          <a:off x="1125701" y="1533462"/>
          <a:ext cx="211536" cy="267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1179868" y="1609489"/>
        <a:ext cx="148075" cy="160769"/>
      </dsp:txXfrm>
    </dsp:sp>
    <dsp:sp modelId="{424A7943-BAC9-4034-AB80-8DF683F3D5C2}">
      <dsp:nvSpPr>
        <dsp:cNvPr id="0" name=""/>
        <dsp:cNvSpPr/>
      </dsp:nvSpPr>
      <dsp:spPr>
        <a:xfrm>
          <a:off x="408467" y="844434"/>
          <a:ext cx="793924" cy="79392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t>Verify</a:t>
          </a:r>
          <a:endParaRPr lang="en-US" sz="1600" kern="1200" dirty="0"/>
        </a:p>
      </dsp:txBody>
      <dsp:txXfrm>
        <a:off x="524734" y="960701"/>
        <a:ext cx="561390" cy="561390"/>
      </dsp:txXfrm>
    </dsp:sp>
    <dsp:sp modelId="{86A192F2-1BAD-4EBE-8AA6-1F46A91C09B3}">
      <dsp:nvSpPr>
        <dsp:cNvPr id="0" name=""/>
        <dsp:cNvSpPr/>
      </dsp:nvSpPr>
      <dsp:spPr>
        <a:xfrm rot="18900000">
          <a:off x="1117235" y="689847"/>
          <a:ext cx="211536" cy="2679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126529" y="765874"/>
        <a:ext cx="148075" cy="1607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F1C572-D7F3-4EBB-A547-D427D48727A0}">
      <dsp:nvSpPr>
        <dsp:cNvPr id="0" name=""/>
        <dsp:cNvSpPr/>
      </dsp:nvSpPr>
      <dsp:spPr>
        <a:xfrm>
          <a:off x="1949167" y="746"/>
          <a:ext cx="1137168" cy="1137168"/>
        </a:xfrm>
        <a:prstGeom prst="ellipse">
          <a:avLst/>
        </a:prstGeom>
        <a:solidFill>
          <a:schemeClr val="accent3">
            <a:lumMod val="75000"/>
          </a:schemeClr>
        </a:solidFill>
        <a:ln w="1905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Spec</a:t>
          </a:r>
        </a:p>
      </dsp:txBody>
      <dsp:txXfrm>
        <a:off x="2115701" y="167280"/>
        <a:ext cx="804100" cy="804100"/>
      </dsp:txXfrm>
    </dsp:sp>
    <dsp:sp modelId="{F523AF43-3ECE-4814-9DF7-B7BD2800C6A2}">
      <dsp:nvSpPr>
        <dsp:cNvPr id="0" name=""/>
        <dsp:cNvSpPr/>
      </dsp:nvSpPr>
      <dsp:spPr>
        <a:xfrm rot="2700000">
          <a:off x="2964186" y="974766"/>
          <a:ext cx="301796" cy="3837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977445" y="1019515"/>
        <a:ext cx="211257" cy="230276"/>
      </dsp:txXfrm>
    </dsp:sp>
    <dsp:sp modelId="{5C68D300-6EA5-44E2-8E87-E81C8A961266}">
      <dsp:nvSpPr>
        <dsp:cNvPr id="0" name=""/>
        <dsp:cNvSpPr/>
      </dsp:nvSpPr>
      <dsp:spPr>
        <a:xfrm>
          <a:off x="3155912" y="1207491"/>
          <a:ext cx="1137168" cy="1137168"/>
        </a:xfrm>
        <a:prstGeom prst="ellipse">
          <a:avLst/>
        </a:prstGeom>
        <a:solidFill>
          <a:schemeClr val="accent5">
            <a:lumMod val="75000"/>
          </a:schemeClr>
        </a:solidFill>
        <a:ln w="1905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Plan </a:t>
          </a:r>
        </a:p>
      </dsp:txBody>
      <dsp:txXfrm>
        <a:off x="3322446" y="1374025"/>
        <a:ext cx="804100" cy="804100"/>
      </dsp:txXfrm>
    </dsp:sp>
    <dsp:sp modelId="{952D9B32-5A65-4223-BC19-F7C0FB9065A4}">
      <dsp:nvSpPr>
        <dsp:cNvPr id="0" name=""/>
        <dsp:cNvSpPr/>
      </dsp:nvSpPr>
      <dsp:spPr>
        <a:xfrm rot="8100000">
          <a:off x="2976265" y="2181511"/>
          <a:ext cx="301796" cy="3837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3053545" y="2226260"/>
        <a:ext cx="211257" cy="230276"/>
      </dsp:txXfrm>
    </dsp:sp>
    <dsp:sp modelId="{D3EA1480-FE3B-4367-B3CE-70D1FED73C25}">
      <dsp:nvSpPr>
        <dsp:cNvPr id="0" name=""/>
        <dsp:cNvSpPr/>
      </dsp:nvSpPr>
      <dsp:spPr>
        <a:xfrm>
          <a:off x="1949167" y="2414236"/>
          <a:ext cx="1137168" cy="1137168"/>
        </a:xfrm>
        <a:prstGeom prst="ellipse">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Code</a:t>
          </a:r>
        </a:p>
      </dsp:txBody>
      <dsp:txXfrm>
        <a:off x="2115701" y="2580770"/>
        <a:ext cx="804100" cy="804100"/>
      </dsp:txXfrm>
    </dsp:sp>
    <dsp:sp modelId="{458705E2-769D-4ADB-BFE2-31F647333C92}">
      <dsp:nvSpPr>
        <dsp:cNvPr id="0" name=""/>
        <dsp:cNvSpPr/>
      </dsp:nvSpPr>
      <dsp:spPr>
        <a:xfrm rot="13500000">
          <a:off x="1769520" y="2193590"/>
          <a:ext cx="301796" cy="3837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1846800" y="2302359"/>
        <a:ext cx="211257" cy="230276"/>
      </dsp:txXfrm>
    </dsp:sp>
    <dsp:sp modelId="{424A7943-BAC9-4034-AB80-8DF683F3D5C2}">
      <dsp:nvSpPr>
        <dsp:cNvPr id="0" name=""/>
        <dsp:cNvSpPr/>
      </dsp:nvSpPr>
      <dsp:spPr>
        <a:xfrm>
          <a:off x="742422" y="1207491"/>
          <a:ext cx="1137168" cy="113716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Verify</a:t>
          </a:r>
          <a:endParaRPr lang="en-US" sz="2400" kern="1200" dirty="0"/>
        </a:p>
      </dsp:txBody>
      <dsp:txXfrm>
        <a:off x="908956" y="1374025"/>
        <a:ext cx="804100" cy="804100"/>
      </dsp:txXfrm>
    </dsp:sp>
    <dsp:sp modelId="{86A192F2-1BAD-4EBE-8AA6-1F46A91C09B3}">
      <dsp:nvSpPr>
        <dsp:cNvPr id="0" name=""/>
        <dsp:cNvSpPr/>
      </dsp:nvSpPr>
      <dsp:spPr>
        <a:xfrm rot="18900000">
          <a:off x="1757441" y="986845"/>
          <a:ext cx="301796" cy="3837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770700" y="1095614"/>
        <a:ext cx="211257" cy="230276"/>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F197E3-D81B-42FC-9A1D-7CC82B1DD3CD}"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3A2ADB-32C5-4334-82E9-2A97A70B533F}" type="slidenum">
              <a:rPr lang="en-US" smtClean="0"/>
              <a:t>‹#›</a:t>
            </a:fld>
            <a:endParaRPr lang="en-US"/>
          </a:p>
        </p:txBody>
      </p:sp>
    </p:spTree>
    <p:extLst>
      <p:ext uri="{BB962C8B-B14F-4D97-AF65-F5344CB8AC3E}">
        <p14:creationId xmlns:p14="http://schemas.microsoft.com/office/powerpoint/2010/main" val="4063444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Pitch:</a:t>
            </a:r>
            <a:r>
              <a:rPr lang="en-US" sz="1200" b="0" i="0" kern="1200" dirty="0">
                <a:solidFill>
                  <a:schemeClr val="tx1"/>
                </a:solidFill>
                <a:effectLst/>
                <a:latin typeface="+mn-lt"/>
                <a:ea typeface="+mn-ea"/>
                <a:cs typeface="+mn-cs"/>
              </a:rPr>
              <a:t> Companies treating AI as "give engineers Copilot and hope for best"</a:t>
            </a:r>
            <a:endParaRPr lang="en-US" dirty="0"/>
          </a:p>
          <a:p>
            <a:endParaRPr lang="en-US" sz="1200" b="1" i="0" kern="1200" dirty="0">
              <a:solidFill>
                <a:schemeClr val="tx1"/>
              </a:solidFill>
              <a:effectLst/>
              <a:latin typeface="+mn-lt"/>
              <a:ea typeface="+mn-ea"/>
              <a:cs typeface="+mn-cs"/>
            </a:endParaRPr>
          </a:p>
          <a:p>
            <a:r>
              <a:rPr lang="en-US" sz="1200" b="1" dirty="0"/>
              <a:t>The Capacity shift (What changed)</a:t>
            </a:r>
            <a:r>
              <a:rPr lang="en-US" sz="1200" dirty="0"/>
              <a:t>: </a:t>
            </a:r>
            <a:r>
              <a:rPr lang="en-US" sz="1200" b="0" i="0" kern="1200" dirty="0">
                <a:solidFill>
                  <a:schemeClr val="tx1"/>
                </a:solidFill>
                <a:effectLst/>
                <a:latin typeface="+mn-lt"/>
                <a:ea typeface="+mn-ea"/>
                <a:cs typeface="+mn-cs"/>
              </a:rPr>
              <a:t>Past AI coding = suggestions a human accepts/rejects. New AI coding = systems that finish work.</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Bigger autonomy, bigger explosion.</a:t>
            </a:r>
            <a:endParaRPr lang="en-US" sz="1200" b="1" i="0" kern="1200" dirty="0">
              <a:solidFill>
                <a:schemeClr val="tx1"/>
              </a:solidFill>
              <a:effectLst/>
              <a:latin typeface="+mn-lt"/>
              <a:ea typeface="+mn-ea"/>
              <a:cs typeface="+mn-cs"/>
            </a:endParaRPr>
          </a:p>
          <a:p>
            <a:pPr marL="0" indent="0">
              <a:lnSpc>
                <a:spcPct val="150000"/>
              </a:lnSpc>
              <a:buFont typeface="Arial" panose="020B0604020202020204" pitchFamily="34" charset="0"/>
              <a:buNone/>
            </a:pPr>
            <a:r>
              <a:rPr lang="en-US" sz="2000" dirty="0"/>
              <a:t>The Mechanism (How it changed): </a:t>
            </a:r>
          </a:p>
          <a:p>
            <a:pPr marL="742950" lvl="1" indent="-285750">
              <a:lnSpc>
                <a:spcPct val="150000"/>
              </a:lnSpc>
              <a:buFont typeface="Arial" panose="020B0604020202020204" pitchFamily="34" charset="0"/>
              <a:buChar char="•"/>
            </a:pPr>
            <a:r>
              <a:rPr lang="en-US" dirty="0">
                <a:solidFill>
                  <a:srgbClr val="00B0F0"/>
                </a:solidFill>
              </a:rPr>
              <a:t>Tool use, long context, and reasoning models combine to finish multi-step work end to end</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 upside</a:t>
            </a:r>
            <a:r>
              <a:rPr lang="en-US" sz="1200" b="0" i="0" kern="1200" dirty="0">
                <a:solidFill>
                  <a:schemeClr val="tx1"/>
                </a:solidFill>
                <a:effectLst/>
                <a:latin typeface="+mn-lt"/>
                <a:ea typeface="+mn-ea"/>
                <a:cs typeface="+mn-cs"/>
              </a:rPr>
              <a:t> = the numbers above. 40% hour-long task success, 70–90% AI-written code at Anthropic, 20+ PRs/day per engineer. That's the prize.</a:t>
            </a:r>
          </a:p>
          <a:p>
            <a:r>
              <a:rPr lang="en-US" sz="1200" b="1" i="0" kern="1200" dirty="0">
                <a:solidFill>
                  <a:schemeClr val="tx1"/>
                </a:solidFill>
                <a:effectLst/>
                <a:latin typeface="+mn-lt"/>
                <a:ea typeface="+mn-ea"/>
                <a:cs typeface="+mn-cs"/>
              </a:rPr>
              <a:t>The blast radius</a:t>
            </a:r>
            <a:r>
              <a:rPr lang="en-US" sz="1200" b="0" i="0" kern="1200" dirty="0">
                <a:solidFill>
                  <a:schemeClr val="tx1"/>
                </a:solidFill>
                <a:effectLst/>
                <a:latin typeface="+mn-lt"/>
                <a:ea typeface="+mn-ea"/>
                <a:cs typeface="+mn-cs"/>
              </a:rPr>
              <a:t> = the Amazon line. When an agent has production access and gets a multi-step task wrong, the failure mode isn't a typo — it's a 13-hour outage or 6.3M lost orders. </a:t>
            </a:r>
          </a:p>
          <a:p>
            <a:r>
              <a:rPr lang="en-US" sz="1200" b="1" i="0" kern="1200" dirty="0">
                <a:solidFill>
                  <a:schemeClr val="tx1"/>
                </a:solidFill>
                <a:effectLst/>
                <a:latin typeface="+mn-lt"/>
                <a:ea typeface="+mn-ea"/>
                <a:cs typeface="+mn-cs"/>
              </a:rPr>
              <a:t>Agentic engineering</a:t>
            </a:r>
            <a:r>
              <a:rPr lang="en-US" sz="1200" b="0" i="0" kern="1200" dirty="0">
                <a:solidFill>
                  <a:schemeClr val="tx1"/>
                </a:solidFill>
                <a:effectLst/>
                <a:latin typeface="+mn-lt"/>
                <a:ea typeface="+mn-ea"/>
                <a:cs typeface="+mn-cs"/>
              </a:rPr>
              <a:t> = the discipline that lets you keep the first without paying the second. Not "use AI more" or "use AI less" — it's the practices that make autonomous agents safe to deploy: scoped permissions, human-in-the-loop gates for destructive ops, tight task specs, evals, observability, rollback plans.</a:t>
            </a:r>
          </a:p>
          <a:p>
            <a:endParaRPr lang="en-US" dirty="0"/>
          </a:p>
        </p:txBody>
      </p:sp>
      <p:sp>
        <p:nvSpPr>
          <p:cNvPr id="4" name="Slide Number Placeholder 3"/>
          <p:cNvSpPr>
            <a:spLocks noGrp="1"/>
          </p:cNvSpPr>
          <p:nvPr>
            <p:ph type="sldNum" sz="quarter" idx="5"/>
          </p:nvPr>
        </p:nvSpPr>
        <p:spPr/>
        <p:txBody>
          <a:bodyPr/>
          <a:lstStyle/>
          <a:p>
            <a:fld id="{D83A2ADB-32C5-4334-82E9-2A97A70B533F}" type="slidenum">
              <a:rPr lang="en-US" smtClean="0"/>
              <a:t>4</a:t>
            </a:fld>
            <a:endParaRPr lang="en-US"/>
          </a:p>
        </p:txBody>
      </p:sp>
    </p:spTree>
    <p:extLst>
      <p:ext uri="{BB962C8B-B14F-4D97-AF65-F5344CB8AC3E}">
        <p14:creationId xmlns:p14="http://schemas.microsoft.com/office/powerpoint/2010/main" val="2457714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3A2ADB-32C5-4334-82E9-2A97A70B533F}" type="slidenum">
              <a:rPr lang="en-US" smtClean="0"/>
              <a:t>5</a:t>
            </a:fld>
            <a:endParaRPr lang="en-US"/>
          </a:p>
        </p:txBody>
      </p:sp>
    </p:spTree>
    <p:extLst>
      <p:ext uri="{BB962C8B-B14F-4D97-AF65-F5344CB8AC3E}">
        <p14:creationId xmlns:p14="http://schemas.microsoft.com/office/powerpoint/2010/main" val="3034381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15242-60C5-5FA8-1B40-8C191D903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CE697-3F4A-AF89-CEBB-7911F392F73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C33BEC-E117-78EE-5CC3-7CE0EFB55008}"/>
              </a:ext>
            </a:extLst>
          </p:cNvPr>
          <p:cNvSpPr>
            <a:spLocks noGrp="1"/>
          </p:cNvSpPr>
          <p:nvPr>
            <p:ph type="body" idx="1"/>
          </p:nvPr>
        </p:nvSpPr>
        <p:spPr/>
        <p:txBody>
          <a:bodyPr/>
          <a:lstStyle/>
          <a:p>
            <a:r>
              <a:rPr lang="en-US" sz="1200" b="0" i="1" kern="1200" dirty="0">
                <a:solidFill>
                  <a:schemeClr val="tx1"/>
                </a:solidFill>
                <a:effectLst/>
                <a:latin typeface="+mn-lt"/>
                <a:ea typeface="+mn-ea"/>
                <a:cs typeface="+mn-cs"/>
              </a:rPr>
              <a:t>Models do not manage their confusion, don’t seek clarifications, don’t present inconsistencies, tradeoffs and don’t pushback when they should.</a:t>
            </a:r>
          </a:p>
          <a:p>
            <a:endParaRPr lang="en-US" sz="1200" b="0" i="1"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Transform imperative tasks into verifiable goals:</a:t>
            </a:r>
          </a:p>
          <a:p>
            <a:r>
              <a:rPr lang="en-US" dirty="0">
                <a:effectLst/>
              </a:rPr>
              <a:t>Instead of...      		Transform to...</a:t>
            </a:r>
          </a:p>
          <a:p>
            <a:r>
              <a:rPr lang="en-US" dirty="0">
                <a:effectLst/>
              </a:rPr>
              <a:t>"Add validation“		"Write tests for invalid inputs, then make them pass“</a:t>
            </a:r>
          </a:p>
          <a:p>
            <a:r>
              <a:rPr lang="en-US" dirty="0">
                <a:effectLst/>
              </a:rPr>
              <a:t>"Fix the bug“			"Write a test that reproduces it, then make it pass“</a:t>
            </a:r>
          </a:p>
          <a:p>
            <a:r>
              <a:rPr lang="en-US" dirty="0">
                <a:effectLst/>
              </a:rPr>
              <a:t>"Refactor X“			"Ensure tests pass before and after"</a:t>
            </a:r>
          </a:p>
          <a:p>
            <a:endParaRPr lang="en-US" sz="1200" b="0" i="1" kern="1200" dirty="0">
              <a:solidFill>
                <a:schemeClr val="tx1"/>
              </a:solidFill>
              <a:effectLst/>
              <a:latin typeface="+mn-lt"/>
              <a:ea typeface="+mn-ea"/>
              <a:cs typeface="+mn-cs"/>
            </a:endParaRPr>
          </a:p>
          <a:p>
            <a:endParaRPr lang="en-US" sz="1200" b="0" i="1" kern="1200" dirty="0">
              <a:solidFill>
                <a:schemeClr val="tx1"/>
              </a:solidFill>
              <a:effectLst/>
              <a:latin typeface="+mn-lt"/>
              <a:ea typeface="+mn-ea"/>
              <a:cs typeface="+mn-cs"/>
            </a:endParaRPr>
          </a:p>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DF3D62C-81E7-5CFB-E404-31D39D8B1C36}"/>
              </a:ext>
            </a:extLst>
          </p:cNvPr>
          <p:cNvSpPr>
            <a:spLocks noGrp="1"/>
          </p:cNvSpPr>
          <p:nvPr>
            <p:ph type="sldNum" sz="quarter" idx="5"/>
          </p:nvPr>
        </p:nvSpPr>
        <p:spPr/>
        <p:txBody>
          <a:bodyPr/>
          <a:lstStyle/>
          <a:p>
            <a:fld id="{D83A2ADB-32C5-4334-82E9-2A97A70B533F}" type="slidenum">
              <a:rPr lang="en-US" smtClean="0"/>
              <a:t>6</a:t>
            </a:fld>
            <a:endParaRPr lang="en-US"/>
          </a:p>
        </p:txBody>
      </p:sp>
    </p:spTree>
    <p:extLst>
      <p:ext uri="{BB962C8B-B14F-4D97-AF65-F5344CB8AC3E}">
        <p14:creationId xmlns:p14="http://schemas.microsoft.com/office/powerpoint/2010/main" val="48429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033EB-4425-86CC-BA4A-B066DA49F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87F15-E920-350F-A92C-B7200C3CDD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C56A43-BF47-8906-B195-E976C7C5CF4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term </a:t>
            </a:r>
            <a:r>
              <a:rPr lang="en-US" sz="1200" b="1" i="0" kern="1200" dirty="0">
                <a:solidFill>
                  <a:schemeClr val="tx1"/>
                </a:solidFill>
                <a:effectLst/>
                <a:latin typeface="+mn-lt"/>
                <a:ea typeface="+mn-ea"/>
                <a:cs typeface="+mn-cs"/>
              </a:rPr>
              <a:t>“Engineering”</a:t>
            </a:r>
            <a:r>
              <a:rPr lang="en-US" sz="1200" b="0" i="0" kern="1200" dirty="0">
                <a:solidFill>
                  <a:schemeClr val="tx1"/>
                </a:solidFill>
                <a:effectLst/>
                <a:latin typeface="+mn-lt"/>
                <a:ea typeface="+mn-ea"/>
                <a:cs typeface="+mn-cs"/>
              </a:rPr>
              <a:t> draws a deliberate line between </a:t>
            </a:r>
            <a:r>
              <a:rPr lang="en-US" sz="1200" b="1" i="0" kern="1200" dirty="0">
                <a:solidFill>
                  <a:schemeClr val="tx1"/>
                </a:solidFill>
                <a:effectLst/>
                <a:latin typeface="+mn-lt"/>
                <a:ea typeface="+mn-ea"/>
                <a:cs typeface="+mn-cs"/>
              </a:rPr>
              <a:t>"we have Copilot"</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"we've thought about how AI agents fit into our SDLC, our permissions model, our review process, and our incident response.“</a:t>
            </a:r>
            <a:endParaRPr lang="en-US" sz="1200" b="0" i="1" kern="1200" dirty="0">
              <a:solidFill>
                <a:schemeClr val="tx1"/>
              </a:solidFill>
              <a:effectLst/>
              <a:latin typeface="+mn-lt"/>
              <a:ea typeface="+mn-ea"/>
              <a:cs typeface="+mn-cs"/>
            </a:endParaRPr>
          </a:p>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A7CDA57-7180-8320-C032-2A4465C5DC6D}"/>
              </a:ext>
            </a:extLst>
          </p:cNvPr>
          <p:cNvSpPr>
            <a:spLocks noGrp="1"/>
          </p:cNvSpPr>
          <p:nvPr>
            <p:ph type="sldNum" sz="quarter" idx="5"/>
          </p:nvPr>
        </p:nvSpPr>
        <p:spPr/>
        <p:txBody>
          <a:bodyPr/>
          <a:lstStyle/>
          <a:p>
            <a:fld id="{D83A2ADB-32C5-4334-82E9-2A97A70B533F}" type="slidenum">
              <a:rPr lang="en-US" smtClean="0"/>
              <a:t>7</a:t>
            </a:fld>
            <a:endParaRPr lang="en-US"/>
          </a:p>
        </p:txBody>
      </p:sp>
    </p:spTree>
    <p:extLst>
      <p:ext uri="{BB962C8B-B14F-4D97-AF65-F5344CB8AC3E}">
        <p14:creationId xmlns:p14="http://schemas.microsoft.com/office/powerpoint/2010/main" val="712674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12415-6395-D427-2FF1-493D1C23F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7D47B-EEFC-60DE-F7A0-D0601B9B1A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74157F-16F4-7E31-8D80-823AA45A4F8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term </a:t>
            </a:r>
            <a:r>
              <a:rPr lang="en-US" sz="1200" b="1" i="0" kern="1200" dirty="0">
                <a:solidFill>
                  <a:schemeClr val="tx1"/>
                </a:solidFill>
                <a:effectLst/>
                <a:latin typeface="+mn-lt"/>
                <a:ea typeface="+mn-ea"/>
                <a:cs typeface="+mn-cs"/>
              </a:rPr>
              <a:t>“Engineering”</a:t>
            </a:r>
            <a:r>
              <a:rPr lang="en-US" sz="1200" b="0" i="0" kern="1200" dirty="0">
                <a:solidFill>
                  <a:schemeClr val="tx1"/>
                </a:solidFill>
                <a:effectLst/>
                <a:latin typeface="+mn-lt"/>
                <a:ea typeface="+mn-ea"/>
                <a:cs typeface="+mn-cs"/>
              </a:rPr>
              <a:t> draws a deliberate line between </a:t>
            </a:r>
            <a:r>
              <a:rPr lang="en-US" sz="1200" b="1" i="0" kern="1200" dirty="0">
                <a:solidFill>
                  <a:schemeClr val="tx1"/>
                </a:solidFill>
                <a:effectLst/>
                <a:latin typeface="+mn-lt"/>
                <a:ea typeface="+mn-ea"/>
                <a:cs typeface="+mn-cs"/>
              </a:rPr>
              <a:t>"we have Copilot"</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"we've thought about how AI agents fit into our SDLC, our permissions model, our review process, and our incident response.“</a:t>
            </a:r>
            <a:endParaRPr lang="en-US" sz="1200" b="0" i="1" kern="1200" dirty="0">
              <a:solidFill>
                <a:schemeClr val="tx1"/>
              </a:solidFill>
              <a:effectLst/>
              <a:latin typeface="+mn-lt"/>
              <a:ea typeface="+mn-ea"/>
              <a:cs typeface="+mn-cs"/>
            </a:endParaRPr>
          </a:p>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C4361A5-B80E-5690-A066-512BAAF4B282}"/>
              </a:ext>
            </a:extLst>
          </p:cNvPr>
          <p:cNvSpPr>
            <a:spLocks noGrp="1"/>
          </p:cNvSpPr>
          <p:nvPr>
            <p:ph type="sldNum" sz="quarter" idx="5"/>
          </p:nvPr>
        </p:nvSpPr>
        <p:spPr/>
        <p:txBody>
          <a:bodyPr/>
          <a:lstStyle/>
          <a:p>
            <a:fld id="{D83A2ADB-32C5-4334-82E9-2A97A70B533F}" type="slidenum">
              <a:rPr lang="en-US" smtClean="0"/>
              <a:t>8</a:t>
            </a:fld>
            <a:endParaRPr lang="en-US"/>
          </a:p>
        </p:txBody>
      </p:sp>
    </p:spTree>
    <p:extLst>
      <p:ext uri="{BB962C8B-B14F-4D97-AF65-F5344CB8AC3E}">
        <p14:creationId xmlns:p14="http://schemas.microsoft.com/office/powerpoint/2010/main" val="1379523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C821A-769B-E55D-DF32-660A45F64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352F5-94EE-9D9C-DD0F-A6FA58BA01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A09A46-5CD0-7BF0-6DB6-7DB977CE4DB0}"/>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1AD9D34-B364-5BAD-5B1B-DE14EC2D7A0D}"/>
              </a:ext>
            </a:extLst>
          </p:cNvPr>
          <p:cNvSpPr>
            <a:spLocks noGrp="1"/>
          </p:cNvSpPr>
          <p:nvPr>
            <p:ph type="sldNum" sz="quarter" idx="5"/>
          </p:nvPr>
        </p:nvSpPr>
        <p:spPr/>
        <p:txBody>
          <a:bodyPr/>
          <a:lstStyle/>
          <a:p>
            <a:fld id="{D83A2ADB-32C5-4334-82E9-2A97A70B533F}" type="slidenum">
              <a:rPr lang="en-US" smtClean="0"/>
              <a:t>9</a:t>
            </a:fld>
            <a:endParaRPr lang="en-US"/>
          </a:p>
        </p:txBody>
      </p:sp>
    </p:spTree>
    <p:extLst>
      <p:ext uri="{BB962C8B-B14F-4D97-AF65-F5344CB8AC3E}">
        <p14:creationId xmlns:p14="http://schemas.microsoft.com/office/powerpoint/2010/main" val="3369712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9B40-E18B-86C6-B410-A5823D3AC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6F301-35EF-79C9-17A9-CC64699F3A1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71B5C5-D8B9-26D2-CCCD-A4A1E0BDD6B6}"/>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864E0F7-DECF-92C5-1B75-F008355A2DA6}"/>
              </a:ext>
            </a:extLst>
          </p:cNvPr>
          <p:cNvSpPr>
            <a:spLocks noGrp="1"/>
          </p:cNvSpPr>
          <p:nvPr>
            <p:ph type="sldNum" sz="quarter" idx="5"/>
          </p:nvPr>
        </p:nvSpPr>
        <p:spPr/>
        <p:txBody>
          <a:bodyPr/>
          <a:lstStyle/>
          <a:p>
            <a:fld id="{D83A2ADB-32C5-4334-82E9-2A97A70B533F}" type="slidenum">
              <a:rPr lang="en-US" smtClean="0"/>
              <a:t>10</a:t>
            </a:fld>
            <a:endParaRPr lang="en-US"/>
          </a:p>
        </p:txBody>
      </p:sp>
    </p:spTree>
    <p:extLst>
      <p:ext uri="{BB962C8B-B14F-4D97-AF65-F5344CB8AC3E}">
        <p14:creationId xmlns:p14="http://schemas.microsoft.com/office/powerpoint/2010/main" val="2396871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96BCA-7B43-ED9B-79CF-602CEEAA1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56F4D-27EF-B9EB-C5B0-22C2B58EEA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CABC25-BC74-7AD9-9F1B-C6127D2654B3}"/>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DF453FE-07D1-8515-A410-97A28CDB9D30}"/>
              </a:ext>
            </a:extLst>
          </p:cNvPr>
          <p:cNvSpPr>
            <a:spLocks noGrp="1"/>
          </p:cNvSpPr>
          <p:nvPr>
            <p:ph type="sldNum" sz="quarter" idx="5"/>
          </p:nvPr>
        </p:nvSpPr>
        <p:spPr/>
        <p:txBody>
          <a:bodyPr/>
          <a:lstStyle/>
          <a:p>
            <a:fld id="{D83A2ADB-32C5-4334-82E9-2A97A70B533F}" type="slidenum">
              <a:rPr lang="en-US" smtClean="0"/>
              <a:t>11</a:t>
            </a:fld>
            <a:endParaRPr lang="en-US"/>
          </a:p>
        </p:txBody>
      </p:sp>
    </p:spTree>
    <p:extLst>
      <p:ext uri="{BB962C8B-B14F-4D97-AF65-F5344CB8AC3E}">
        <p14:creationId xmlns:p14="http://schemas.microsoft.com/office/powerpoint/2010/main" val="2189696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EA179-E146-5604-C331-539797186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509C3-6DC5-204D-A7BD-79F816231F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234C11-45F5-8AA0-8525-C6053551323C}"/>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2BCA7CF-7C17-BDC1-CDEC-D02D8C0E9390}"/>
              </a:ext>
            </a:extLst>
          </p:cNvPr>
          <p:cNvSpPr>
            <a:spLocks noGrp="1"/>
          </p:cNvSpPr>
          <p:nvPr>
            <p:ph type="sldNum" sz="quarter" idx="5"/>
          </p:nvPr>
        </p:nvSpPr>
        <p:spPr/>
        <p:txBody>
          <a:bodyPr/>
          <a:lstStyle/>
          <a:p>
            <a:fld id="{D83A2ADB-32C5-4334-82E9-2A97A70B533F}" type="slidenum">
              <a:rPr lang="en-US" smtClean="0"/>
              <a:t>12</a:t>
            </a:fld>
            <a:endParaRPr lang="en-US"/>
          </a:p>
        </p:txBody>
      </p:sp>
    </p:spTree>
    <p:extLst>
      <p:ext uri="{BB962C8B-B14F-4D97-AF65-F5344CB8AC3E}">
        <p14:creationId xmlns:p14="http://schemas.microsoft.com/office/powerpoint/2010/main" val="484901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AF64E-8FCD-398F-9B03-3F92F6C90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EF188-232A-9965-760E-48337F8764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FF207E-EF48-F7AD-FD3B-C4F3F329F365}"/>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89D6EBD-2632-4B4C-61F4-562CB7BE2382}"/>
              </a:ext>
            </a:extLst>
          </p:cNvPr>
          <p:cNvSpPr>
            <a:spLocks noGrp="1"/>
          </p:cNvSpPr>
          <p:nvPr>
            <p:ph type="sldNum" sz="quarter" idx="5"/>
          </p:nvPr>
        </p:nvSpPr>
        <p:spPr/>
        <p:txBody>
          <a:bodyPr/>
          <a:lstStyle/>
          <a:p>
            <a:fld id="{D83A2ADB-32C5-4334-82E9-2A97A70B533F}" type="slidenum">
              <a:rPr lang="en-US" smtClean="0"/>
              <a:t>13</a:t>
            </a:fld>
            <a:endParaRPr lang="en-US"/>
          </a:p>
        </p:txBody>
      </p:sp>
    </p:spTree>
    <p:extLst>
      <p:ext uri="{BB962C8B-B14F-4D97-AF65-F5344CB8AC3E}">
        <p14:creationId xmlns:p14="http://schemas.microsoft.com/office/powerpoint/2010/main" val="316625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044EE-C230-BE95-5757-5B77E280A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F7BBA-69EE-AA83-3C4B-C8CBD1621D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4A815B-3441-922C-5ECF-99D4959DAEA0}"/>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r>
              <a:rPr lang="en-US" dirty="0"/>
              <a:t>The clearer your spec, the better your agent — and the skill that distinguishes a director from a coder is knowing how to write one.</a:t>
            </a:r>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B6F8892-5C7C-A7C3-1F3F-74C92243ECBB}"/>
              </a:ext>
            </a:extLst>
          </p:cNvPr>
          <p:cNvSpPr>
            <a:spLocks noGrp="1"/>
          </p:cNvSpPr>
          <p:nvPr>
            <p:ph type="sldNum" sz="quarter" idx="5"/>
          </p:nvPr>
        </p:nvSpPr>
        <p:spPr/>
        <p:txBody>
          <a:bodyPr/>
          <a:lstStyle/>
          <a:p>
            <a:fld id="{D83A2ADB-32C5-4334-82E9-2A97A70B533F}" type="slidenum">
              <a:rPr lang="en-US" smtClean="0"/>
              <a:t>14</a:t>
            </a:fld>
            <a:endParaRPr lang="en-US"/>
          </a:p>
        </p:txBody>
      </p:sp>
    </p:spTree>
    <p:extLst>
      <p:ext uri="{BB962C8B-B14F-4D97-AF65-F5344CB8AC3E}">
        <p14:creationId xmlns:p14="http://schemas.microsoft.com/office/powerpoint/2010/main" val="3348435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DF8E3-D462-8178-3C72-B8EFF08BC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63C6A-993F-D9B7-5EC9-4CBCE8E3D7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3792E0-6899-D923-8230-4CFF3570D6F8}"/>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EC12293-9FD9-A4E2-F597-93355EDBB62D}"/>
              </a:ext>
            </a:extLst>
          </p:cNvPr>
          <p:cNvSpPr>
            <a:spLocks noGrp="1"/>
          </p:cNvSpPr>
          <p:nvPr>
            <p:ph type="sldNum" sz="quarter" idx="5"/>
          </p:nvPr>
        </p:nvSpPr>
        <p:spPr/>
        <p:txBody>
          <a:bodyPr/>
          <a:lstStyle/>
          <a:p>
            <a:fld id="{D83A2ADB-32C5-4334-82E9-2A97A70B533F}" type="slidenum">
              <a:rPr lang="en-US" smtClean="0"/>
              <a:t>15</a:t>
            </a:fld>
            <a:endParaRPr lang="en-US"/>
          </a:p>
        </p:txBody>
      </p:sp>
    </p:spTree>
    <p:extLst>
      <p:ext uri="{BB962C8B-B14F-4D97-AF65-F5344CB8AC3E}">
        <p14:creationId xmlns:p14="http://schemas.microsoft.com/office/powerpoint/2010/main" val="621121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118A0-8078-F64F-B8F4-613C1A520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A19D7-AB3D-B70A-5EC8-A084A7E546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D44029-8C4D-857D-FA92-B0CA501C500C}"/>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AC09EB2-780A-D632-0168-0CE18B8095BD}"/>
              </a:ext>
            </a:extLst>
          </p:cNvPr>
          <p:cNvSpPr>
            <a:spLocks noGrp="1"/>
          </p:cNvSpPr>
          <p:nvPr>
            <p:ph type="sldNum" sz="quarter" idx="5"/>
          </p:nvPr>
        </p:nvSpPr>
        <p:spPr/>
        <p:txBody>
          <a:bodyPr/>
          <a:lstStyle/>
          <a:p>
            <a:fld id="{D83A2ADB-32C5-4334-82E9-2A97A70B533F}" type="slidenum">
              <a:rPr lang="en-US" smtClean="0"/>
              <a:t>16</a:t>
            </a:fld>
            <a:endParaRPr lang="en-US"/>
          </a:p>
        </p:txBody>
      </p:sp>
    </p:spTree>
    <p:extLst>
      <p:ext uri="{BB962C8B-B14F-4D97-AF65-F5344CB8AC3E}">
        <p14:creationId xmlns:p14="http://schemas.microsoft.com/office/powerpoint/2010/main" val="1620288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191FE-D559-8AF9-89A5-1905B8E22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5F868-1479-CAE3-4F4B-519704EE9A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78CD9C-16B8-7AEA-06EF-EA6A40CA8E8F}"/>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C4B31EB-2028-C0A6-2283-8FFCC8F65741}"/>
              </a:ext>
            </a:extLst>
          </p:cNvPr>
          <p:cNvSpPr>
            <a:spLocks noGrp="1"/>
          </p:cNvSpPr>
          <p:nvPr>
            <p:ph type="sldNum" sz="quarter" idx="5"/>
          </p:nvPr>
        </p:nvSpPr>
        <p:spPr/>
        <p:txBody>
          <a:bodyPr/>
          <a:lstStyle/>
          <a:p>
            <a:fld id="{D83A2ADB-32C5-4334-82E9-2A97A70B533F}" type="slidenum">
              <a:rPr lang="en-US" smtClean="0"/>
              <a:t>17</a:t>
            </a:fld>
            <a:endParaRPr lang="en-US"/>
          </a:p>
        </p:txBody>
      </p:sp>
    </p:spTree>
    <p:extLst>
      <p:ext uri="{BB962C8B-B14F-4D97-AF65-F5344CB8AC3E}">
        <p14:creationId xmlns:p14="http://schemas.microsoft.com/office/powerpoint/2010/main" val="15571659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8B015-6D03-FEBE-45A3-B94976E398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6FDAB-3F0A-D7D0-8C03-6A4428910E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D1851D-9749-FC21-C34C-1AB43599CE10}"/>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F0143D5-FAA3-D21F-8323-F3EDEE7D4694}"/>
              </a:ext>
            </a:extLst>
          </p:cNvPr>
          <p:cNvSpPr>
            <a:spLocks noGrp="1"/>
          </p:cNvSpPr>
          <p:nvPr>
            <p:ph type="sldNum" sz="quarter" idx="5"/>
          </p:nvPr>
        </p:nvSpPr>
        <p:spPr/>
        <p:txBody>
          <a:bodyPr/>
          <a:lstStyle/>
          <a:p>
            <a:fld id="{D83A2ADB-32C5-4334-82E9-2A97A70B533F}" type="slidenum">
              <a:rPr lang="en-US" smtClean="0"/>
              <a:t>18</a:t>
            </a:fld>
            <a:endParaRPr lang="en-US"/>
          </a:p>
        </p:txBody>
      </p:sp>
    </p:spTree>
    <p:extLst>
      <p:ext uri="{BB962C8B-B14F-4D97-AF65-F5344CB8AC3E}">
        <p14:creationId xmlns:p14="http://schemas.microsoft.com/office/powerpoint/2010/main" val="3763175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AF1FD-1CA8-96F1-D537-30530C2E3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75BEA-1F19-A308-7A1B-F3AE5C552B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30118A-1FEB-8CB4-B647-32E42CA99CFE}"/>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CCBEB86-839D-1BB7-297A-1CF4DC61386A}"/>
              </a:ext>
            </a:extLst>
          </p:cNvPr>
          <p:cNvSpPr>
            <a:spLocks noGrp="1"/>
          </p:cNvSpPr>
          <p:nvPr>
            <p:ph type="sldNum" sz="quarter" idx="5"/>
          </p:nvPr>
        </p:nvSpPr>
        <p:spPr/>
        <p:txBody>
          <a:bodyPr/>
          <a:lstStyle/>
          <a:p>
            <a:fld id="{D83A2ADB-32C5-4334-82E9-2A97A70B533F}" type="slidenum">
              <a:rPr lang="en-US" smtClean="0"/>
              <a:t>19</a:t>
            </a:fld>
            <a:endParaRPr lang="en-US"/>
          </a:p>
        </p:txBody>
      </p:sp>
    </p:spTree>
    <p:extLst>
      <p:ext uri="{BB962C8B-B14F-4D97-AF65-F5344CB8AC3E}">
        <p14:creationId xmlns:p14="http://schemas.microsoft.com/office/powerpoint/2010/main" val="1391875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F5EF4-584E-83CB-20F5-58888B0E5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31866-2D9A-6A4D-4456-4A9A8B19DE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032624-7A07-AA86-35F4-C8E2E309E3A5}"/>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3694885-B12F-176A-E577-96F9CA461CE3}"/>
              </a:ext>
            </a:extLst>
          </p:cNvPr>
          <p:cNvSpPr>
            <a:spLocks noGrp="1"/>
          </p:cNvSpPr>
          <p:nvPr>
            <p:ph type="sldNum" sz="quarter" idx="5"/>
          </p:nvPr>
        </p:nvSpPr>
        <p:spPr/>
        <p:txBody>
          <a:bodyPr/>
          <a:lstStyle/>
          <a:p>
            <a:fld id="{D83A2ADB-32C5-4334-82E9-2A97A70B533F}" type="slidenum">
              <a:rPr lang="en-US" smtClean="0"/>
              <a:t>20</a:t>
            </a:fld>
            <a:endParaRPr lang="en-US"/>
          </a:p>
        </p:txBody>
      </p:sp>
    </p:spTree>
    <p:extLst>
      <p:ext uri="{BB962C8B-B14F-4D97-AF65-F5344CB8AC3E}">
        <p14:creationId xmlns:p14="http://schemas.microsoft.com/office/powerpoint/2010/main" val="2912339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26B41-AED4-E975-AB9E-90C720053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34944-610A-C0FF-5364-A08F437F47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794464-BDB6-2379-2AE0-DB3C4E889635}"/>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A96AF84-0030-A01A-256E-0200EACBFDFC}"/>
              </a:ext>
            </a:extLst>
          </p:cNvPr>
          <p:cNvSpPr>
            <a:spLocks noGrp="1"/>
          </p:cNvSpPr>
          <p:nvPr>
            <p:ph type="sldNum" sz="quarter" idx="5"/>
          </p:nvPr>
        </p:nvSpPr>
        <p:spPr/>
        <p:txBody>
          <a:bodyPr/>
          <a:lstStyle/>
          <a:p>
            <a:fld id="{D83A2ADB-32C5-4334-82E9-2A97A70B533F}" type="slidenum">
              <a:rPr lang="en-US" smtClean="0"/>
              <a:t>21</a:t>
            </a:fld>
            <a:endParaRPr lang="en-US"/>
          </a:p>
        </p:txBody>
      </p:sp>
    </p:spTree>
    <p:extLst>
      <p:ext uri="{BB962C8B-B14F-4D97-AF65-F5344CB8AC3E}">
        <p14:creationId xmlns:p14="http://schemas.microsoft.com/office/powerpoint/2010/main" val="1131462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2CA34-8D5B-BD37-A1B6-273EE827B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CE162-D4B7-5B1D-FB13-2536B23E9B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60A0A11-EB41-0E95-54C4-7F82B42AB799}"/>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45B13FD-92B1-FF2F-6453-45906AD1D7D1}"/>
              </a:ext>
            </a:extLst>
          </p:cNvPr>
          <p:cNvSpPr>
            <a:spLocks noGrp="1"/>
          </p:cNvSpPr>
          <p:nvPr>
            <p:ph type="sldNum" sz="quarter" idx="5"/>
          </p:nvPr>
        </p:nvSpPr>
        <p:spPr/>
        <p:txBody>
          <a:bodyPr/>
          <a:lstStyle/>
          <a:p>
            <a:fld id="{D83A2ADB-32C5-4334-82E9-2A97A70B533F}" type="slidenum">
              <a:rPr lang="en-US" smtClean="0"/>
              <a:t>22</a:t>
            </a:fld>
            <a:endParaRPr lang="en-US"/>
          </a:p>
        </p:txBody>
      </p:sp>
    </p:spTree>
    <p:extLst>
      <p:ext uri="{BB962C8B-B14F-4D97-AF65-F5344CB8AC3E}">
        <p14:creationId xmlns:p14="http://schemas.microsoft.com/office/powerpoint/2010/main" val="34645052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4016D-649E-29A5-1E2A-623E799E4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89756-EFC1-B367-3DEC-7E3FD70C41A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CB6AB5-B2E7-8094-7B7D-C735BD0A2D62}"/>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47BB1A9-1AE5-FCCB-4F54-BF9B9C536C1E}"/>
              </a:ext>
            </a:extLst>
          </p:cNvPr>
          <p:cNvSpPr>
            <a:spLocks noGrp="1"/>
          </p:cNvSpPr>
          <p:nvPr>
            <p:ph type="sldNum" sz="quarter" idx="5"/>
          </p:nvPr>
        </p:nvSpPr>
        <p:spPr/>
        <p:txBody>
          <a:bodyPr/>
          <a:lstStyle/>
          <a:p>
            <a:fld id="{D83A2ADB-32C5-4334-82E9-2A97A70B533F}" type="slidenum">
              <a:rPr lang="en-US" smtClean="0"/>
              <a:t>23</a:t>
            </a:fld>
            <a:endParaRPr lang="en-US"/>
          </a:p>
        </p:txBody>
      </p:sp>
    </p:spTree>
    <p:extLst>
      <p:ext uri="{BB962C8B-B14F-4D97-AF65-F5344CB8AC3E}">
        <p14:creationId xmlns:p14="http://schemas.microsoft.com/office/powerpoint/2010/main" val="2530569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081E4-3B78-25FB-954E-A6D8CA8DB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36C51-0379-7A73-62A8-8C72FFD359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322C5C-CF0D-060B-E998-B2BDCDAC72A6}"/>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F41DA26-E2B4-7401-EEB4-FE7E5E9CE884}"/>
              </a:ext>
            </a:extLst>
          </p:cNvPr>
          <p:cNvSpPr>
            <a:spLocks noGrp="1"/>
          </p:cNvSpPr>
          <p:nvPr>
            <p:ph type="sldNum" sz="quarter" idx="5"/>
          </p:nvPr>
        </p:nvSpPr>
        <p:spPr/>
        <p:txBody>
          <a:bodyPr/>
          <a:lstStyle/>
          <a:p>
            <a:fld id="{D83A2ADB-32C5-4334-82E9-2A97A70B533F}" type="slidenum">
              <a:rPr lang="en-US" smtClean="0"/>
              <a:t>24</a:t>
            </a:fld>
            <a:endParaRPr lang="en-US"/>
          </a:p>
        </p:txBody>
      </p:sp>
    </p:spTree>
    <p:extLst>
      <p:ext uri="{BB962C8B-B14F-4D97-AF65-F5344CB8AC3E}">
        <p14:creationId xmlns:p14="http://schemas.microsoft.com/office/powerpoint/2010/main" val="3929814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A657-40BF-A8B7-78C8-F818DC273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A663E-9516-EE73-4B73-0823C57927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89BE282-FE47-19F5-999B-A1E3E7883A02}"/>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8F77C94-A57F-5D04-D99E-B1396BDA37B7}"/>
              </a:ext>
            </a:extLst>
          </p:cNvPr>
          <p:cNvSpPr>
            <a:spLocks noGrp="1"/>
          </p:cNvSpPr>
          <p:nvPr>
            <p:ph type="sldNum" sz="quarter" idx="5"/>
          </p:nvPr>
        </p:nvSpPr>
        <p:spPr/>
        <p:txBody>
          <a:bodyPr/>
          <a:lstStyle/>
          <a:p>
            <a:fld id="{D83A2ADB-32C5-4334-82E9-2A97A70B533F}" type="slidenum">
              <a:rPr lang="en-US" smtClean="0"/>
              <a:t>25</a:t>
            </a:fld>
            <a:endParaRPr lang="en-US"/>
          </a:p>
        </p:txBody>
      </p:sp>
    </p:spTree>
    <p:extLst>
      <p:ext uri="{BB962C8B-B14F-4D97-AF65-F5344CB8AC3E}">
        <p14:creationId xmlns:p14="http://schemas.microsoft.com/office/powerpoint/2010/main" val="1262248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167D4-50FF-5114-2A99-88F0EFAE5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9007B-447D-E871-2EAD-139B3BDE18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470ACA-E80B-44CB-E519-654811BA6274}"/>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582768E-56B2-A0C9-0B60-3A4E82B3054F}"/>
              </a:ext>
            </a:extLst>
          </p:cNvPr>
          <p:cNvSpPr>
            <a:spLocks noGrp="1"/>
          </p:cNvSpPr>
          <p:nvPr>
            <p:ph type="sldNum" sz="quarter" idx="5"/>
          </p:nvPr>
        </p:nvSpPr>
        <p:spPr/>
        <p:txBody>
          <a:bodyPr/>
          <a:lstStyle/>
          <a:p>
            <a:fld id="{D83A2ADB-32C5-4334-82E9-2A97A70B533F}" type="slidenum">
              <a:rPr lang="en-US" smtClean="0"/>
              <a:t>26</a:t>
            </a:fld>
            <a:endParaRPr lang="en-US"/>
          </a:p>
        </p:txBody>
      </p:sp>
    </p:spTree>
    <p:extLst>
      <p:ext uri="{BB962C8B-B14F-4D97-AF65-F5344CB8AC3E}">
        <p14:creationId xmlns:p14="http://schemas.microsoft.com/office/powerpoint/2010/main" val="3940756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E9B05-D3BB-1C19-4BC3-1F35AFE399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0FC19-0457-1664-AB53-4C61C85867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0774AFA-40CA-F9A2-8B49-E1338741648C}"/>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8B0C252-A51E-6075-ECF5-6F28727559D3}"/>
              </a:ext>
            </a:extLst>
          </p:cNvPr>
          <p:cNvSpPr>
            <a:spLocks noGrp="1"/>
          </p:cNvSpPr>
          <p:nvPr>
            <p:ph type="sldNum" sz="quarter" idx="5"/>
          </p:nvPr>
        </p:nvSpPr>
        <p:spPr/>
        <p:txBody>
          <a:bodyPr/>
          <a:lstStyle/>
          <a:p>
            <a:fld id="{D83A2ADB-32C5-4334-82E9-2A97A70B533F}" type="slidenum">
              <a:rPr lang="en-US" smtClean="0"/>
              <a:t>27</a:t>
            </a:fld>
            <a:endParaRPr lang="en-US"/>
          </a:p>
        </p:txBody>
      </p:sp>
    </p:spTree>
    <p:extLst>
      <p:ext uri="{BB962C8B-B14F-4D97-AF65-F5344CB8AC3E}">
        <p14:creationId xmlns:p14="http://schemas.microsoft.com/office/powerpoint/2010/main" val="856327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0CD7C-4BE8-1AB2-CB70-BD0B21B6D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2BF6C-DD90-155A-094F-CA9429ABBA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83B1AD-12A5-545E-9A75-28DEADD930B7}"/>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ABA52A9-B9F7-D3AC-9BC0-156E9FAFFA53}"/>
              </a:ext>
            </a:extLst>
          </p:cNvPr>
          <p:cNvSpPr>
            <a:spLocks noGrp="1"/>
          </p:cNvSpPr>
          <p:nvPr>
            <p:ph type="sldNum" sz="quarter" idx="5"/>
          </p:nvPr>
        </p:nvSpPr>
        <p:spPr/>
        <p:txBody>
          <a:bodyPr/>
          <a:lstStyle/>
          <a:p>
            <a:fld id="{D83A2ADB-32C5-4334-82E9-2A97A70B533F}" type="slidenum">
              <a:rPr lang="en-US" smtClean="0"/>
              <a:t>28</a:t>
            </a:fld>
            <a:endParaRPr lang="en-US"/>
          </a:p>
        </p:txBody>
      </p:sp>
    </p:spTree>
    <p:extLst>
      <p:ext uri="{BB962C8B-B14F-4D97-AF65-F5344CB8AC3E}">
        <p14:creationId xmlns:p14="http://schemas.microsoft.com/office/powerpoint/2010/main" val="34723002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AAA46-BEA9-AEB6-3C3F-7731D8003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E6A0E-4EAF-D4EF-B6BA-202CEB44D3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A57B87-9F51-0270-EE05-5B6927E85993}"/>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F1933DB-7282-3B06-9E02-99A638AC7403}"/>
              </a:ext>
            </a:extLst>
          </p:cNvPr>
          <p:cNvSpPr>
            <a:spLocks noGrp="1"/>
          </p:cNvSpPr>
          <p:nvPr>
            <p:ph type="sldNum" sz="quarter" idx="5"/>
          </p:nvPr>
        </p:nvSpPr>
        <p:spPr/>
        <p:txBody>
          <a:bodyPr/>
          <a:lstStyle/>
          <a:p>
            <a:fld id="{D83A2ADB-32C5-4334-82E9-2A97A70B533F}" type="slidenum">
              <a:rPr lang="en-US" smtClean="0"/>
              <a:t>29</a:t>
            </a:fld>
            <a:endParaRPr lang="en-US"/>
          </a:p>
        </p:txBody>
      </p:sp>
    </p:spTree>
    <p:extLst>
      <p:ext uri="{BB962C8B-B14F-4D97-AF65-F5344CB8AC3E}">
        <p14:creationId xmlns:p14="http://schemas.microsoft.com/office/powerpoint/2010/main" val="18090575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CEF6B-ADFE-8284-F863-2BB2F9D14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F5EDC-11D1-D538-45B3-7DD7C20492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7E57C4-76A1-FF28-8CC3-06D555216C3F}"/>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D3D7F34-90D4-B39A-6161-E482596EC063}"/>
              </a:ext>
            </a:extLst>
          </p:cNvPr>
          <p:cNvSpPr>
            <a:spLocks noGrp="1"/>
          </p:cNvSpPr>
          <p:nvPr>
            <p:ph type="sldNum" sz="quarter" idx="5"/>
          </p:nvPr>
        </p:nvSpPr>
        <p:spPr/>
        <p:txBody>
          <a:bodyPr/>
          <a:lstStyle/>
          <a:p>
            <a:fld id="{D83A2ADB-32C5-4334-82E9-2A97A70B533F}" type="slidenum">
              <a:rPr lang="en-US" smtClean="0"/>
              <a:t>30</a:t>
            </a:fld>
            <a:endParaRPr lang="en-US"/>
          </a:p>
        </p:txBody>
      </p:sp>
    </p:spTree>
    <p:extLst>
      <p:ext uri="{BB962C8B-B14F-4D97-AF65-F5344CB8AC3E}">
        <p14:creationId xmlns:p14="http://schemas.microsoft.com/office/powerpoint/2010/main" val="25504181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A8118-CFD0-BD43-3303-2335A0533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168676-D965-9981-D38D-0E9DD41693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D368E6-EC11-DDB1-718A-C6472D8B5A53}"/>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DA20741-50BC-302A-0808-471910EE42E1}"/>
              </a:ext>
            </a:extLst>
          </p:cNvPr>
          <p:cNvSpPr>
            <a:spLocks noGrp="1"/>
          </p:cNvSpPr>
          <p:nvPr>
            <p:ph type="sldNum" sz="quarter" idx="5"/>
          </p:nvPr>
        </p:nvSpPr>
        <p:spPr/>
        <p:txBody>
          <a:bodyPr/>
          <a:lstStyle/>
          <a:p>
            <a:fld id="{D83A2ADB-32C5-4334-82E9-2A97A70B533F}" type="slidenum">
              <a:rPr lang="en-US" smtClean="0"/>
              <a:t>31</a:t>
            </a:fld>
            <a:endParaRPr lang="en-US"/>
          </a:p>
        </p:txBody>
      </p:sp>
    </p:spTree>
    <p:extLst>
      <p:ext uri="{BB962C8B-B14F-4D97-AF65-F5344CB8AC3E}">
        <p14:creationId xmlns:p14="http://schemas.microsoft.com/office/powerpoint/2010/main" val="39872792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B5862-6F4F-72D9-A208-A66B0CE4C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806E3-06E3-9B70-E8F5-D4ABA46AF6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18390B6-15B6-2E1B-9C83-E3B92F6774DC}"/>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38D8037-EFB6-E176-F50E-4F1155D04E50}"/>
              </a:ext>
            </a:extLst>
          </p:cNvPr>
          <p:cNvSpPr>
            <a:spLocks noGrp="1"/>
          </p:cNvSpPr>
          <p:nvPr>
            <p:ph type="sldNum" sz="quarter" idx="5"/>
          </p:nvPr>
        </p:nvSpPr>
        <p:spPr/>
        <p:txBody>
          <a:bodyPr/>
          <a:lstStyle/>
          <a:p>
            <a:fld id="{D83A2ADB-32C5-4334-82E9-2A97A70B533F}" type="slidenum">
              <a:rPr lang="en-US" smtClean="0"/>
              <a:t>32</a:t>
            </a:fld>
            <a:endParaRPr lang="en-US"/>
          </a:p>
        </p:txBody>
      </p:sp>
    </p:spTree>
    <p:extLst>
      <p:ext uri="{BB962C8B-B14F-4D97-AF65-F5344CB8AC3E}">
        <p14:creationId xmlns:p14="http://schemas.microsoft.com/office/powerpoint/2010/main" val="22868035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71A6D-093C-E00B-01AF-A0CBFAD4D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5620D-E08C-F736-F40A-E36985D216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B8D832-3EC1-3A75-3C5E-3A8BBF6AB3D9}"/>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716BF88-4391-166C-3387-7D782D3A73B3}"/>
              </a:ext>
            </a:extLst>
          </p:cNvPr>
          <p:cNvSpPr>
            <a:spLocks noGrp="1"/>
          </p:cNvSpPr>
          <p:nvPr>
            <p:ph type="sldNum" sz="quarter" idx="5"/>
          </p:nvPr>
        </p:nvSpPr>
        <p:spPr/>
        <p:txBody>
          <a:bodyPr/>
          <a:lstStyle/>
          <a:p>
            <a:fld id="{D83A2ADB-32C5-4334-82E9-2A97A70B533F}" type="slidenum">
              <a:rPr lang="en-US" smtClean="0"/>
              <a:t>33</a:t>
            </a:fld>
            <a:endParaRPr lang="en-US"/>
          </a:p>
        </p:txBody>
      </p:sp>
    </p:spTree>
    <p:extLst>
      <p:ext uri="{BB962C8B-B14F-4D97-AF65-F5344CB8AC3E}">
        <p14:creationId xmlns:p14="http://schemas.microsoft.com/office/powerpoint/2010/main" val="7025866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4F870-5E12-5985-35F8-32118C6E5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3454B-A3A1-2E99-EB67-78B997851A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6607D6-2235-91FC-71A5-3F72B9B2C531}"/>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7C60CEC-A8B2-9F73-8DC8-CDF6C8A19E18}"/>
              </a:ext>
            </a:extLst>
          </p:cNvPr>
          <p:cNvSpPr>
            <a:spLocks noGrp="1"/>
          </p:cNvSpPr>
          <p:nvPr>
            <p:ph type="sldNum" sz="quarter" idx="5"/>
          </p:nvPr>
        </p:nvSpPr>
        <p:spPr/>
        <p:txBody>
          <a:bodyPr/>
          <a:lstStyle/>
          <a:p>
            <a:fld id="{D83A2ADB-32C5-4334-82E9-2A97A70B533F}" type="slidenum">
              <a:rPr lang="en-US" smtClean="0"/>
              <a:t>34</a:t>
            </a:fld>
            <a:endParaRPr lang="en-US"/>
          </a:p>
        </p:txBody>
      </p:sp>
    </p:spTree>
    <p:extLst>
      <p:ext uri="{BB962C8B-B14F-4D97-AF65-F5344CB8AC3E}">
        <p14:creationId xmlns:p14="http://schemas.microsoft.com/office/powerpoint/2010/main" val="17577984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69A5F-2657-36EE-0C51-48F826449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76153-E186-C1E3-A651-06BEE03BDB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F2518B-39A7-57C0-04D1-40253DE8E3AF}"/>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6BC1BE5-3D04-16F6-0C57-D077369CE01C}"/>
              </a:ext>
            </a:extLst>
          </p:cNvPr>
          <p:cNvSpPr>
            <a:spLocks noGrp="1"/>
          </p:cNvSpPr>
          <p:nvPr>
            <p:ph type="sldNum" sz="quarter" idx="5"/>
          </p:nvPr>
        </p:nvSpPr>
        <p:spPr/>
        <p:txBody>
          <a:bodyPr/>
          <a:lstStyle/>
          <a:p>
            <a:fld id="{D83A2ADB-32C5-4334-82E9-2A97A70B533F}" type="slidenum">
              <a:rPr lang="en-US" smtClean="0"/>
              <a:t>35</a:t>
            </a:fld>
            <a:endParaRPr lang="en-US"/>
          </a:p>
        </p:txBody>
      </p:sp>
    </p:spTree>
    <p:extLst>
      <p:ext uri="{BB962C8B-B14F-4D97-AF65-F5344CB8AC3E}">
        <p14:creationId xmlns:p14="http://schemas.microsoft.com/office/powerpoint/2010/main" val="1333991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94AE5-D9AC-FA28-8728-FCE61EE56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4140C-BB21-7DFE-451A-C8B68A13E0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24488C-11A1-BDE6-DA32-2E4CF78F3D66}"/>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F213396-0633-5C45-8EFF-87EBFC282D0E}"/>
              </a:ext>
            </a:extLst>
          </p:cNvPr>
          <p:cNvSpPr>
            <a:spLocks noGrp="1"/>
          </p:cNvSpPr>
          <p:nvPr>
            <p:ph type="sldNum" sz="quarter" idx="5"/>
          </p:nvPr>
        </p:nvSpPr>
        <p:spPr/>
        <p:txBody>
          <a:bodyPr/>
          <a:lstStyle/>
          <a:p>
            <a:fld id="{D83A2ADB-32C5-4334-82E9-2A97A70B533F}" type="slidenum">
              <a:rPr lang="en-US" smtClean="0"/>
              <a:t>36</a:t>
            </a:fld>
            <a:endParaRPr lang="en-US"/>
          </a:p>
        </p:txBody>
      </p:sp>
    </p:spTree>
    <p:extLst>
      <p:ext uri="{BB962C8B-B14F-4D97-AF65-F5344CB8AC3E}">
        <p14:creationId xmlns:p14="http://schemas.microsoft.com/office/powerpoint/2010/main" val="32937445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70D52-52ED-BC82-126E-3A15A3657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B2D4F-C52E-B0E2-6CF8-C4D864A97B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DA7767-F465-6FE1-C16C-465C81E51BFB}"/>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28ABF1F-843B-11DD-545C-6E30DF5989D9}"/>
              </a:ext>
            </a:extLst>
          </p:cNvPr>
          <p:cNvSpPr>
            <a:spLocks noGrp="1"/>
          </p:cNvSpPr>
          <p:nvPr>
            <p:ph type="sldNum" sz="quarter" idx="5"/>
          </p:nvPr>
        </p:nvSpPr>
        <p:spPr/>
        <p:txBody>
          <a:bodyPr/>
          <a:lstStyle/>
          <a:p>
            <a:fld id="{D83A2ADB-32C5-4334-82E9-2A97A70B533F}" type="slidenum">
              <a:rPr lang="en-US" smtClean="0"/>
              <a:t>37</a:t>
            </a:fld>
            <a:endParaRPr lang="en-US"/>
          </a:p>
        </p:txBody>
      </p:sp>
    </p:spTree>
    <p:extLst>
      <p:ext uri="{BB962C8B-B14F-4D97-AF65-F5344CB8AC3E}">
        <p14:creationId xmlns:p14="http://schemas.microsoft.com/office/powerpoint/2010/main" val="37376053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E88B6-54B0-17DB-3D91-B9700704E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B9B21-A984-B524-D215-3C1A02A120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E3DA13-32F5-35A4-D57B-5E71CB9AEF50}"/>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517B785-443E-74EA-FAE3-614EBA811581}"/>
              </a:ext>
            </a:extLst>
          </p:cNvPr>
          <p:cNvSpPr>
            <a:spLocks noGrp="1"/>
          </p:cNvSpPr>
          <p:nvPr>
            <p:ph type="sldNum" sz="quarter" idx="5"/>
          </p:nvPr>
        </p:nvSpPr>
        <p:spPr/>
        <p:txBody>
          <a:bodyPr/>
          <a:lstStyle/>
          <a:p>
            <a:fld id="{D83A2ADB-32C5-4334-82E9-2A97A70B533F}" type="slidenum">
              <a:rPr lang="en-US" smtClean="0"/>
              <a:t>38</a:t>
            </a:fld>
            <a:endParaRPr lang="en-US"/>
          </a:p>
        </p:txBody>
      </p:sp>
    </p:spTree>
    <p:extLst>
      <p:ext uri="{BB962C8B-B14F-4D97-AF65-F5344CB8AC3E}">
        <p14:creationId xmlns:p14="http://schemas.microsoft.com/office/powerpoint/2010/main" val="35319830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54D51-8227-437B-AD41-3E71EE7B5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0A265-B678-6981-0FC3-B996D27CC2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52FD6F-64D4-9891-3981-708B8C9FAD9C}"/>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9C0AAEB-9063-EB4F-4D5A-AE3E4816EF0B}"/>
              </a:ext>
            </a:extLst>
          </p:cNvPr>
          <p:cNvSpPr>
            <a:spLocks noGrp="1"/>
          </p:cNvSpPr>
          <p:nvPr>
            <p:ph type="sldNum" sz="quarter" idx="5"/>
          </p:nvPr>
        </p:nvSpPr>
        <p:spPr/>
        <p:txBody>
          <a:bodyPr/>
          <a:lstStyle/>
          <a:p>
            <a:fld id="{D83A2ADB-32C5-4334-82E9-2A97A70B533F}" type="slidenum">
              <a:rPr lang="en-US" smtClean="0"/>
              <a:t>39</a:t>
            </a:fld>
            <a:endParaRPr lang="en-US"/>
          </a:p>
        </p:txBody>
      </p:sp>
    </p:spTree>
    <p:extLst>
      <p:ext uri="{BB962C8B-B14F-4D97-AF65-F5344CB8AC3E}">
        <p14:creationId xmlns:p14="http://schemas.microsoft.com/office/powerpoint/2010/main" val="2685686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D6457-4065-2A01-AD2C-1ABC7740A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09059-5A11-9ACD-6AE3-55147F9C7F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038818-042B-8B69-E6B9-E4BF8C9A30E9}"/>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879112C-D767-A42D-7696-2EF64BC5102F}"/>
              </a:ext>
            </a:extLst>
          </p:cNvPr>
          <p:cNvSpPr>
            <a:spLocks noGrp="1"/>
          </p:cNvSpPr>
          <p:nvPr>
            <p:ph type="sldNum" sz="quarter" idx="5"/>
          </p:nvPr>
        </p:nvSpPr>
        <p:spPr/>
        <p:txBody>
          <a:bodyPr/>
          <a:lstStyle/>
          <a:p>
            <a:fld id="{D83A2ADB-32C5-4334-82E9-2A97A70B533F}" type="slidenum">
              <a:rPr lang="en-US" smtClean="0"/>
              <a:t>40</a:t>
            </a:fld>
            <a:endParaRPr lang="en-US"/>
          </a:p>
        </p:txBody>
      </p:sp>
    </p:spTree>
    <p:extLst>
      <p:ext uri="{BB962C8B-B14F-4D97-AF65-F5344CB8AC3E}">
        <p14:creationId xmlns:p14="http://schemas.microsoft.com/office/powerpoint/2010/main" val="20037467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C53BA-36E1-6E5F-E82D-BD8E744BB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41664-7F0D-4777-73A6-7A31D4B913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7E89B9-1383-B57A-F651-F5E49D35FAD9}"/>
              </a:ext>
            </a:extLst>
          </p:cNvPr>
          <p:cNvSpPr>
            <a:spLocks noGrp="1"/>
          </p:cNvSpPr>
          <p:nvPr>
            <p:ph type="body" idx="1"/>
          </p:nvPr>
        </p:nvSpPr>
        <p:spPr/>
        <p:txBody>
          <a:bodyPr/>
          <a:lstStyle/>
          <a:p>
            <a:endParaRPr lang="en-US" sz="1200" b="0" i="1" kern="1200" dirty="0">
              <a:solidFill>
                <a:schemeClr val="tx1"/>
              </a:solidFill>
              <a:effectLst/>
              <a:latin typeface="+mn-lt"/>
              <a:ea typeface="+mn-ea"/>
              <a:cs typeface="+mn-cs"/>
            </a:endParaRPr>
          </a:p>
          <a:p>
            <a:r>
              <a:rPr lang="en-US" dirty="0"/>
              <a:t>The clearer your spec, the better your agent — and the skill that distinguishes a director from a coder is knowing how to write one.</a:t>
            </a:r>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B93822A-F898-87BF-BA74-F56F08CD7A94}"/>
              </a:ext>
            </a:extLst>
          </p:cNvPr>
          <p:cNvSpPr>
            <a:spLocks noGrp="1"/>
          </p:cNvSpPr>
          <p:nvPr>
            <p:ph type="sldNum" sz="quarter" idx="5"/>
          </p:nvPr>
        </p:nvSpPr>
        <p:spPr/>
        <p:txBody>
          <a:bodyPr/>
          <a:lstStyle/>
          <a:p>
            <a:fld id="{D83A2ADB-32C5-4334-82E9-2A97A70B533F}" type="slidenum">
              <a:rPr lang="en-US" smtClean="0"/>
              <a:t>41</a:t>
            </a:fld>
            <a:endParaRPr lang="en-US"/>
          </a:p>
        </p:txBody>
      </p:sp>
    </p:spTree>
    <p:extLst>
      <p:ext uri="{BB962C8B-B14F-4D97-AF65-F5344CB8AC3E}">
        <p14:creationId xmlns:p14="http://schemas.microsoft.com/office/powerpoint/2010/main" val="908530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587634-EA6B-4208-A2B7-BC75E2AE226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378839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587634-EA6B-4208-A2B7-BC75E2AE226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3382050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587634-EA6B-4208-A2B7-BC75E2AE226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93269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587634-EA6B-4208-A2B7-BC75E2AE226C}"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4064625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587634-EA6B-4208-A2B7-BC75E2AE226C}"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1434076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587634-EA6B-4208-A2B7-BC75E2AE226C}"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61306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587634-EA6B-4208-A2B7-BC75E2AE226C}"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4233801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587634-EA6B-4208-A2B7-BC75E2AE226C}"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2813030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587634-EA6B-4208-A2B7-BC75E2AE226C}"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686495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587634-EA6B-4208-A2B7-BC75E2AE226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4059706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587634-EA6B-4208-A2B7-BC75E2AE226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C7ABB8-EF23-4F6B-8047-8E7E8A121E87}" type="slidenum">
              <a:rPr lang="en-US" smtClean="0"/>
              <a:t>‹#›</a:t>
            </a:fld>
            <a:endParaRPr lang="en-US"/>
          </a:p>
        </p:txBody>
      </p:sp>
    </p:spTree>
    <p:extLst>
      <p:ext uri="{BB962C8B-B14F-4D97-AF65-F5344CB8AC3E}">
        <p14:creationId xmlns:p14="http://schemas.microsoft.com/office/powerpoint/2010/main" val="4280927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587634-EA6B-4208-A2B7-BC75E2AE226C}" type="datetimeFigureOut">
              <a:rPr lang="en-US" smtClean="0"/>
              <a:t>5/11/2026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C7ABB8-EF23-4F6B-8047-8E7E8A121E87}" type="slidenum">
              <a:rPr lang="en-US" smtClean="0"/>
              <a:t>‹#›</a:t>
            </a:fld>
            <a:endParaRPr lang="en-US"/>
          </a:p>
        </p:txBody>
      </p:sp>
    </p:spTree>
    <p:extLst>
      <p:ext uri="{BB962C8B-B14F-4D97-AF65-F5344CB8AC3E}">
        <p14:creationId xmlns:p14="http://schemas.microsoft.com/office/powerpoint/2010/main" val="336013352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4.png"/><Relationship Id="rId4" Type="http://schemas.microsoft.com/office/2007/relationships/hdphoto" Target="../media/hdphoto1.wdp"/><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2C048A-399F-3772-0A69-D771CB60AD2D}"/>
              </a:ext>
            </a:extLst>
          </p:cNvPr>
          <p:cNvSpPr txBox="1"/>
          <p:nvPr/>
        </p:nvSpPr>
        <p:spPr>
          <a:xfrm>
            <a:off x="1172923" y="1746885"/>
            <a:ext cx="4622087" cy="1200329"/>
          </a:xfrm>
          <a:prstGeom prst="rect">
            <a:avLst/>
          </a:prstGeom>
          <a:noFill/>
        </p:spPr>
        <p:txBody>
          <a:bodyPr wrap="square" rtlCol="0">
            <a:spAutoFit/>
          </a:bodyPr>
          <a:lstStyle/>
          <a:p>
            <a:r>
              <a:rPr lang="en-US" sz="3600" b="1" dirty="0"/>
              <a:t>Agentic Engineering for developers</a:t>
            </a:r>
          </a:p>
        </p:txBody>
      </p:sp>
      <p:sp>
        <p:nvSpPr>
          <p:cNvPr id="5" name="TextBox 4">
            <a:extLst>
              <a:ext uri="{FF2B5EF4-FFF2-40B4-BE49-F238E27FC236}">
                <a16:creationId xmlns:a16="http://schemas.microsoft.com/office/drawing/2014/main" id="{044259A6-2DFD-2851-1801-F36CF6C98840}"/>
              </a:ext>
            </a:extLst>
          </p:cNvPr>
          <p:cNvSpPr txBox="1"/>
          <p:nvPr/>
        </p:nvSpPr>
        <p:spPr>
          <a:xfrm>
            <a:off x="1172923" y="2947214"/>
            <a:ext cx="1515543" cy="646331"/>
          </a:xfrm>
          <a:prstGeom prst="rect">
            <a:avLst/>
          </a:prstGeom>
          <a:noFill/>
        </p:spPr>
        <p:txBody>
          <a:bodyPr wrap="none" rtlCol="0">
            <a:spAutoFit/>
          </a:bodyPr>
          <a:lstStyle/>
          <a:p>
            <a:r>
              <a:rPr lang="en-US" sz="2000" dirty="0"/>
              <a:t>Vivek Rawat</a:t>
            </a:r>
          </a:p>
          <a:p>
            <a:r>
              <a:rPr lang="en-US" sz="1600" dirty="0"/>
              <a:t>May 2026</a:t>
            </a:r>
          </a:p>
        </p:txBody>
      </p:sp>
      <p:pic>
        <p:nvPicPr>
          <p:cNvPr id="2" name="Picture 2" descr="New Book: Agentic AI Engineering for Building Production-Grade AI Agents |  by Yi Zhou | Agentic AI &amp; GenAI Revolution | Medium">
            <a:extLst>
              <a:ext uri="{FF2B5EF4-FFF2-40B4-BE49-F238E27FC236}">
                <a16:creationId xmlns:a16="http://schemas.microsoft.com/office/drawing/2014/main" id="{10BCC4FB-1F8A-8D57-340F-F69775BFD5CA}"/>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36586" b="15730"/>
          <a:stretch>
            <a:fillRect/>
          </a:stretch>
        </p:blipFill>
        <p:spPr bwMode="auto">
          <a:xfrm>
            <a:off x="7362825" y="0"/>
            <a:ext cx="4829176" cy="6861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682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036654-B840-076F-EEB1-2901685C071E}"/>
              </a:ext>
            </a:extLst>
          </p:cNvPr>
          <p:cNvSpPr txBox="1"/>
          <p:nvPr/>
        </p:nvSpPr>
        <p:spPr>
          <a:xfrm>
            <a:off x="966324" y="1642789"/>
            <a:ext cx="9018046" cy="2204899"/>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sz="2400" dirty="0"/>
              <a:t>What's the difference between using AI and engineering with AI?</a:t>
            </a:r>
          </a:p>
          <a:p>
            <a:pPr marL="285750" indent="-285750">
              <a:lnSpc>
                <a:spcPct val="200000"/>
              </a:lnSpc>
              <a:buFont typeface="Arial" panose="020B0604020202020204" pitchFamily="34" charset="0"/>
              <a:buChar char="•"/>
            </a:pPr>
            <a:r>
              <a:rPr lang="en-US" sz="2400" dirty="0"/>
              <a:t>Why you have 2 projects for which AI is generating code differently?</a:t>
            </a:r>
          </a:p>
          <a:p>
            <a:pPr marL="285750" indent="-285750">
              <a:lnSpc>
                <a:spcPct val="200000"/>
              </a:lnSpc>
              <a:buFont typeface="Arial" panose="020B0604020202020204" pitchFamily="34" charset="0"/>
              <a:buChar char="•"/>
            </a:pPr>
            <a:r>
              <a:rPr lang="en-US" sz="2400" dirty="0"/>
              <a:t>What goes wrong when we plug AI in without redesigning around it?</a:t>
            </a:r>
          </a:p>
        </p:txBody>
      </p:sp>
      <p:sp>
        <p:nvSpPr>
          <p:cNvPr id="2" name="TextBox 1">
            <a:extLst>
              <a:ext uri="{FF2B5EF4-FFF2-40B4-BE49-F238E27FC236}">
                <a16:creationId xmlns:a16="http://schemas.microsoft.com/office/drawing/2014/main" id="{83B2616F-BE58-36E1-957D-4AB1A669296D}"/>
              </a:ext>
            </a:extLst>
          </p:cNvPr>
          <p:cNvSpPr txBox="1"/>
          <p:nvPr/>
        </p:nvSpPr>
        <p:spPr>
          <a:xfrm>
            <a:off x="966324" y="1046726"/>
            <a:ext cx="2097690" cy="400110"/>
          </a:xfrm>
          <a:prstGeom prst="rect">
            <a:avLst/>
          </a:prstGeom>
          <a:noFill/>
        </p:spPr>
        <p:txBody>
          <a:bodyPr wrap="none" rtlCol="0">
            <a:spAutoFit/>
          </a:bodyPr>
          <a:lstStyle/>
          <a:p>
            <a:r>
              <a:rPr lang="en-US" sz="2000" b="1" dirty="0"/>
              <a:t>Before We Dive In</a:t>
            </a:r>
            <a:endParaRPr lang="en-US" sz="2800" dirty="0"/>
          </a:p>
        </p:txBody>
      </p:sp>
    </p:spTree>
    <p:extLst>
      <p:ext uri="{BB962C8B-B14F-4D97-AF65-F5344CB8AC3E}">
        <p14:creationId xmlns:p14="http://schemas.microsoft.com/office/powerpoint/2010/main" val="3466898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7E11E1-F4EC-EB2E-9231-CA4EEB190E6E}"/>
              </a:ext>
            </a:extLst>
          </p:cNvPr>
          <p:cNvSpPr txBox="1"/>
          <p:nvPr/>
        </p:nvSpPr>
        <p:spPr>
          <a:xfrm>
            <a:off x="842297" y="792270"/>
            <a:ext cx="1129476" cy="461665"/>
          </a:xfrm>
          <a:prstGeom prst="rect">
            <a:avLst/>
          </a:prstGeom>
          <a:noFill/>
        </p:spPr>
        <p:txBody>
          <a:bodyPr wrap="none" rtlCol="0">
            <a:spAutoFit/>
          </a:bodyPr>
          <a:lstStyle/>
          <a:p>
            <a:r>
              <a:rPr lang="en-US" sz="2400" dirty="0"/>
              <a:t>Agenda</a:t>
            </a:r>
          </a:p>
        </p:txBody>
      </p:sp>
      <p:sp>
        <p:nvSpPr>
          <p:cNvPr id="6" name="TextBox 5">
            <a:extLst>
              <a:ext uri="{FF2B5EF4-FFF2-40B4-BE49-F238E27FC236}">
                <a16:creationId xmlns:a16="http://schemas.microsoft.com/office/drawing/2014/main" id="{096EA966-0013-8604-F8DD-3C4100373AC0}"/>
              </a:ext>
            </a:extLst>
          </p:cNvPr>
          <p:cNvSpPr txBox="1"/>
          <p:nvPr/>
        </p:nvSpPr>
        <p:spPr>
          <a:xfrm>
            <a:off x="842297" y="1253935"/>
            <a:ext cx="4789453" cy="3373359"/>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dirty="0"/>
              <a:t>Why Now?</a:t>
            </a:r>
          </a:p>
          <a:p>
            <a:pPr marL="285750" indent="-285750">
              <a:lnSpc>
                <a:spcPct val="150000"/>
              </a:lnSpc>
              <a:buFont typeface="Arial" panose="020B0604020202020204" pitchFamily="34" charset="0"/>
              <a:buChar char="•"/>
            </a:pPr>
            <a:r>
              <a:rPr lang="en-US" dirty="0"/>
              <a:t>Why Agentic Engineering?</a:t>
            </a:r>
          </a:p>
          <a:p>
            <a:pPr marL="285750" indent="-285750">
              <a:lnSpc>
                <a:spcPct val="150000"/>
              </a:lnSpc>
              <a:buFont typeface="Arial" panose="020B0604020202020204" pitchFamily="34" charset="0"/>
              <a:buChar char="•"/>
            </a:pPr>
            <a:r>
              <a:rPr lang="en-US" dirty="0"/>
              <a:t>What is Agentic Engineering?</a:t>
            </a:r>
          </a:p>
          <a:p>
            <a:pPr marL="285750" indent="-285750">
              <a:lnSpc>
                <a:spcPct val="150000"/>
              </a:lnSpc>
              <a:buFont typeface="Arial" panose="020B0604020202020204" pitchFamily="34" charset="0"/>
              <a:buChar char="•"/>
            </a:pPr>
            <a:r>
              <a:rPr lang="en-US" dirty="0"/>
              <a:t>Mindset Migration</a:t>
            </a:r>
          </a:p>
          <a:p>
            <a:pPr marL="285750" indent="-285750">
              <a:lnSpc>
                <a:spcPct val="150000"/>
              </a:lnSpc>
              <a:buFont typeface="Arial" panose="020B0604020202020204" pitchFamily="34" charset="0"/>
              <a:buChar char="•"/>
            </a:pPr>
            <a:r>
              <a:rPr lang="en-US" dirty="0"/>
              <a:t>Agentic development workflow – User Story</a:t>
            </a:r>
          </a:p>
          <a:p>
            <a:pPr marL="285750" indent="-285750">
              <a:lnSpc>
                <a:spcPct val="150000"/>
              </a:lnSpc>
              <a:buFont typeface="Arial" panose="020B0604020202020204" pitchFamily="34" charset="0"/>
              <a:buChar char="•"/>
            </a:pPr>
            <a:r>
              <a:rPr lang="en-US" dirty="0"/>
              <a:t>Agentic development workflow – Architecture</a:t>
            </a:r>
          </a:p>
          <a:p>
            <a:pPr marL="285750" indent="-285750">
              <a:lnSpc>
                <a:spcPct val="150000"/>
              </a:lnSpc>
              <a:buFont typeface="Arial" panose="020B0604020202020204" pitchFamily="34" charset="0"/>
              <a:buChar char="•"/>
            </a:pPr>
            <a:r>
              <a:rPr lang="en-US" dirty="0"/>
              <a:t>Evaluations</a:t>
            </a:r>
          </a:p>
          <a:p>
            <a:pPr marL="285750" indent="-285750">
              <a:lnSpc>
                <a:spcPct val="150000"/>
              </a:lnSpc>
              <a:buFont typeface="Arial" panose="020B0604020202020204" pitchFamily="34" charset="0"/>
              <a:buChar char="•"/>
            </a:pPr>
            <a:r>
              <a:rPr lang="en-US" dirty="0"/>
              <a:t>Q &amp; A</a:t>
            </a:r>
          </a:p>
        </p:txBody>
      </p:sp>
      <p:pic>
        <p:nvPicPr>
          <p:cNvPr id="8194" name="Picture 2" descr="Free Stock Photo of Agenda With Pencil Means Written Agendas Schedules or  Outlines | Download Free Images and Free Illustrations">
            <a:extLst>
              <a:ext uri="{FF2B5EF4-FFF2-40B4-BE49-F238E27FC236}">
                <a16:creationId xmlns:a16="http://schemas.microsoft.com/office/drawing/2014/main" id="{5B709EE4-4550-5194-70AF-F535DEDB6705}"/>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7203097" y="1253935"/>
            <a:ext cx="4988903" cy="3739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671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2FAD6-6814-6DE3-08D5-D622DF1DC406}"/>
            </a:ext>
          </a:extLst>
        </p:cNvPr>
        <p:cNvGrpSpPr/>
        <p:nvPr/>
      </p:nvGrpSpPr>
      <p:grpSpPr>
        <a:xfrm>
          <a:off x="0" y="0"/>
          <a:ext cx="0" cy="0"/>
          <a:chOff x="0" y="0"/>
          <a:chExt cx="0" cy="0"/>
        </a:xfrm>
      </p:grpSpPr>
      <p:pic>
        <p:nvPicPr>
          <p:cNvPr id="3" name="Picture 2" descr="New Book: Agentic AI Engineering for Building Production-Grade AI Agents |  by Yi Zhou | Agentic AI &amp; GenAI Revolution | Medium">
            <a:extLst>
              <a:ext uri="{FF2B5EF4-FFF2-40B4-BE49-F238E27FC236}">
                <a16:creationId xmlns:a16="http://schemas.microsoft.com/office/drawing/2014/main" id="{B9720A24-FC53-3D99-1740-FF7288BACF05}"/>
              </a:ext>
            </a:extLst>
          </p:cNvPr>
          <p:cNvPicPr>
            <a:picLocks noChangeAspect="1" noChangeArrowheads="1"/>
          </p:cNvPicPr>
          <p:nvPr/>
        </p:nvPicPr>
        <p:blipFill rotWithShape="1">
          <a:blip r:embed="rId3">
            <a:alphaModFix amt="5000"/>
            <a:extLst>
              <a:ext uri="{28A0092B-C50C-407E-A947-70E740481C1C}">
                <a14:useLocalDpi xmlns:a14="http://schemas.microsoft.com/office/drawing/2010/main" val="0"/>
              </a:ext>
            </a:extLst>
          </a:blip>
          <a:srcRect t="36586" b="15730"/>
          <a:stretch>
            <a:fillRect/>
          </a:stretch>
        </p:blipFill>
        <p:spPr bwMode="auto">
          <a:xfrm>
            <a:off x="7362825" y="0"/>
            <a:ext cx="4829176" cy="686123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075D143-BAA9-E86D-726D-AC8E1C53F669}"/>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9043FEE-81AA-E9E7-EB37-CCD06AD54880}"/>
              </a:ext>
            </a:extLst>
          </p:cNvPr>
          <p:cNvSpPr txBox="1"/>
          <p:nvPr/>
        </p:nvSpPr>
        <p:spPr>
          <a:xfrm>
            <a:off x="235503" y="1893292"/>
            <a:ext cx="11424832" cy="422269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The Capacity shift (What changed): </a:t>
            </a:r>
          </a:p>
          <a:p>
            <a:pPr marL="742950" lvl="1" indent="-285750">
              <a:lnSpc>
                <a:spcPct val="150000"/>
              </a:lnSpc>
              <a:buFont typeface="Arial" panose="020B0604020202020204" pitchFamily="34" charset="0"/>
              <a:buChar char="•"/>
            </a:pPr>
            <a:r>
              <a:rPr lang="en-US" dirty="0">
                <a:solidFill>
                  <a:schemeClr val="tx2">
                    <a:lumMod val="75000"/>
                    <a:lumOff val="25000"/>
                  </a:schemeClr>
                </a:solidFill>
              </a:rPr>
              <a:t>LLMs crossed from autocomplete to autonomous task completion in 2024–2025.</a:t>
            </a:r>
          </a:p>
          <a:p>
            <a:pPr marL="742950" lvl="1" indent="-285750">
              <a:lnSpc>
                <a:spcPct val="150000"/>
              </a:lnSpc>
              <a:buFont typeface="Arial" panose="020B0604020202020204" pitchFamily="34" charset="0"/>
              <a:buChar char="•"/>
            </a:pPr>
            <a:r>
              <a:rPr lang="en-US" dirty="0">
                <a:solidFill>
                  <a:schemeClr val="tx2">
                    <a:lumMod val="75000"/>
                    <a:lumOff val="25000"/>
                  </a:schemeClr>
                </a:solidFill>
              </a:rPr>
              <a:t>Hour-long software tasks: ~5% success in late 2023 → over 40% in 2025.</a:t>
            </a:r>
          </a:p>
          <a:p>
            <a:pPr marL="742950" lvl="1" indent="-285750">
              <a:lnSpc>
                <a:spcPct val="150000"/>
              </a:lnSpc>
              <a:buFont typeface="Arial" panose="020B0604020202020204" pitchFamily="34" charset="0"/>
              <a:buChar char="•"/>
            </a:pPr>
            <a:r>
              <a:rPr lang="en-US" dirty="0">
                <a:solidFill>
                  <a:schemeClr val="tx2">
                    <a:lumMod val="75000"/>
                    <a:lumOff val="25000"/>
                  </a:schemeClr>
                </a:solidFill>
              </a:rPr>
              <a:t>Anthropic reports 70–90% of code is now AI-written; some engineers ship 20+ PRs/day, all agent-authored.</a:t>
            </a:r>
          </a:p>
          <a:p>
            <a:pPr marL="742950" lvl="1" indent="-285750">
              <a:lnSpc>
                <a:spcPct val="150000"/>
              </a:lnSpc>
              <a:buFont typeface="Arial" panose="020B0604020202020204" pitchFamily="34" charset="0"/>
              <a:buChar char="•"/>
            </a:pPr>
            <a:r>
              <a:rPr lang="en-US" dirty="0">
                <a:solidFill>
                  <a:schemeClr val="tx2">
                    <a:lumMod val="75000"/>
                    <a:lumOff val="25000"/>
                  </a:schemeClr>
                </a:solidFill>
              </a:rPr>
              <a:t>~25–30% at Microsoft, Google, Salesforce — and climbing.</a:t>
            </a:r>
          </a:p>
          <a:p>
            <a:pPr marL="285750" indent="-285750">
              <a:buFont typeface="Arial" panose="020B0604020202020204" pitchFamily="34" charset="0"/>
              <a:buChar char="•"/>
            </a:pPr>
            <a:endParaRPr lang="en-US" sz="2000" b="1" dirty="0">
              <a:solidFill>
                <a:schemeClr val="accent6">
                  <a:lumMod val="60000"/>
                  <a:lumOff val="40000"/>
                </a:schemeClr>
              </a:solidFill>
            </a:endParaRPr>
          </a:p>
          <a:p>
            <a:pPr marL="285750" indent="-285750">
              <a:buFont typeface="Arial" panose="020B0604020202020204" pitchFamily="34" charset="0"/>
              <a:buChar char="•"/>
            </a:pPr>
            <a:r>
              <a:rPr lang="en-US" sz="2000" b="1" dirty="0">
                <a:solidFill>
                  <a:srgbClr val="C00000"/>
                </a:solidFill>
              </a:rPr>
              <a:t>The cost of getting it wrong is real:</a:t>
            </a:r>
            <a:r>
              <a:rPr lang="en-US" sz="2000" dirty="0"/>
              <a:t> </a:t>
            </a:r>
            <a:r>
              <a:rPr lang="en-US" sz="1600" dirty="0">
                <a:solidFill>
                  <a:srgbClr val="FF0000"/>
                </a:solidFill>
              </a:rPr>
              <a:t>AWS Cost Explorer 13-hr outage and ~6.3M lost Amazon orders linked to Gen-AI assisted code changes (Dec 2025–Mar 2026)</a:t>
            </a:r>
            <a:endParaRPr lang="en-US" b="1" dirty="0">
              <a:solidFill>
                <a:srgbClr val="FF0000"/>
              </a:solidFill>
            </a:endParaRPr>
          </a:p>
          <a:p>
            <a:pPr marL="285750" indent="-285750">
              <a:lnSpc>
                <a:spcPct val="200000"/>
              </a:lnSpc>
              <a:buFont typeface="Arial" panose="020B0604020202020204" pitchFamily="34" charset="0"/>
              <a:buChar char="•"/>
            </a:pPr>
            <a:endParaRPr lang="en-US" sz="2000" dirty="0"/>
          </a:p>
          <a:p>
            <a:pPr marL="285750" indent="-285750">
              <a:lnSpc>
                <a:spcPct val="200000"/>
              </a:lnSpc>
              <a:buFont typeface="Arial" panose="020B0604020202020204" pitchFamily="34" charset="0"/>
              <a:buChar char="•"/>
            </a:pPr>
            <a:endParaRPr lang="en-US" sz="2000" dirty="0"/>
          </a:p>
        </p:txBody>
      </p:sp>
      <p:sp>
        <p:nvSpPr>
          <p:cNvPr id="6" name="TextBox 5">
            <a:extLst>
              <a:ext uri="{FF2B5EF4-FFF2-40B4-BE49-F238E27FC236}">
                <a16:creationId xmlns:a16="http://schemas.microsoft.com/office/drawing/2014/main" id="{191E3F15-544B-5977-4637-FC5FCA5BB5B7}"/>
              </a:ext>
            </a:extLst>
          </p:cNvPr>
          <p:cNvSpPr txBox="1"/>
          <p:nvPr/>
        </p:nvSpPr>
        <p:spPr>
          <a:xfrm>
            <a:off x="73572" y="15030"/>
            <a:ext cx="1314462" cy="400110"/>
          </a:xfrm>
          <a:prstGeom prst="rect">
            <a:avLst/>
          </a:prstGeom>
          <a:noFill/>
        </p:spPr>
        <p:txBody>
          <a:bodyPr wrap="none" rtlCol="0">
            <a:spAutoFit/>
          </a:bodyPr>
          <a:lstStyle/>
          <a:p>
            <a:r>
              <a:rPr lang="en-US" sz="2000" b="1" dirty="0">
                <a:solidFill>
                  <a:srgbClr val="7030A0"/>
                </a:solidFill>
              </a:rPr>
              <a:t>Why now?</a:t>
            </a:r>
          </a:p>
        </p:txBody>
      </p:sp>
      <p:sp>
        <p:nvSpPr>
          <p:cNvPr id="7" name="TextBox 6">
            <a:extLst>
              <a:ext uri="{FF2B5EF4-FFF2-40B4-BE49-F238E27FC236}">
                <a16:creationId xmlns:a16="http://schemas.microsoft.com/office/drawing/2014/main" id="{574BA74F-FF91-FB90-0061-843D0540721D}"/>
              </a:ext>
            </a:extLst>
          </p:cNvPr>
          <p:cNvSpPr txBox="1"/>
          <p:nvPr/>
        </p:nvSpPr>
        <p:spPr>
          <a:xfrm>
            <a:off x="2098970" y="1048556"/>
            <a:ext cx="5399491" cy="400110"/>
          </a:xfrm>
          <a:prstGeom prst="rect">
            <a:avLst/>
          </a:prstGeom>
          <a:noFill/>
        </p:spPr>
        <p:txBody>
          <a:bodyPr wrap="none" rtlCol="0">
            <a:spAutoFit/>
          </a:bodyPr>
          <a:lstStyle/>
          <a:p>
            <a:r>
              <a:rPr lang="en-US" sz="2000" dirty="0"/>
              <a:t>Argue is not about AI is coming – that fight is over.</a:t>
            </a:r>
          </a:p>
        </p:txBody>
      </p:sp>
      <p:sp>
        <p:nvSpPr>
          <p:cNvPr id="8" name="TextBox 7">
            <a:extLst>
              <a:ext uri="{FF2B5EF4-FFF2-40B4-BE49-F238E27FC236}">
                <a16:creationId xmlns:a16="http://schemas.microsoft.com/office/drawing/2014/main" id="{0542F568-BD85-A794-0B35-1716E0ECDFDD}"/>
              </a:ext>
            </a:extLst>
          </p:cNvPr>
          <p:cNvSpPr txBox="1"/>
          <p:nvPr/>
        </p:nvSpPr>
        <p:spPr>
          <a:xfrm>
            <a:off x="9107785" y="494558"/>
            <a:ext cx="2921410" cy="1107996"/>
          </a:xfrm>
          <a:prstGeom prst="rect">
            <a:avLst/>
          </a:prstGeom>
          <a:noFill/>
        </p:spPr>
        <p:txBody>
          <a:bodyPr wrap="square" rtlCol="0">
            <a:spAutoFit/>
          </a:bodyPr>
          <a:lstStyle/>
          <a:p>
            <a:r>
              <a:rPr lang="en-US" sz="6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Chiller" panose="04020404031007020602" pitchFamily="82" charset="0"/>
              </a:rPr>
              <a:t>Why Now?</a:t>
            </a:r>
          </a:p>
        </p:txBody>
      </p:sp>
    </p:spTree>
    <p:extLst>
      <p:ext uri="{BB962C8B-B14F-4D97-AF65-F5344CB8AC3E}">
        <p14:creationId xmlns:p14="http://schemas.microsoft.com/office/powerpoint/2010/main" val="1221604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AI Agents in Software Development: Integration, Applications and Benefits">
            <a:extLst>
              <a:ext uri="{FF2B5EF4-FFF2-40B4-BE49-F238E27FC236}">
                <a16:creationId xmlns:a16="http://schemas.microsoft.com/office/drawing/2014/main" id="{C4A9E246-6E82-DC63-E50E-9FCA7AB6902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40000"/>
                    </a14:imgEffect>
                  </a14:imgLayer>
                </a14:imgProps>
              </a:ext>
              <a:ext uri="{28A0092B-C50C-407E-A947-70E740481C1C}">
                <a14:useLocalDpi xmlns:a14="http://schemas.microsoft.com/office/drawing/2010/main" val="0"/>
              </a:ext>
            </a:extLst>
          </a:blip>
          <a:srcRect l="13945" t="24215" r="13857" b="502"/>
          <a:stretch>
            <a:fillRect/>
          </a:stretch>
        </p:blipFill>
        <p:spPr bwMode="auto">
          <a:xfrm>
            <a:off x="495302" y="695259"/>
            <a:ext cx="4273236" cy="22279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7FDB59-5CAC-C3AA-BF56-65BC01C900E7}"/>
              </a:ext>
            </a:extLst>
          </p:cNvPr>
          <p:cNvSpPr txBox="1"/>
          <p:nvPr/>
        </p:nvSpPr>
        <p:spPr>
          <a:xfrm>
            <a:off x="2264617" y="214198"/>
            <a:ext cx="879280" cy="400110"/>
          </a:xfrm>
          <a:prstGeom prst="rect">
            <a:avLst/>
          </a:prstGeom>
          <a:noFill/>
        </p:spPr>
        <p:txBody>
          <a:bodyPr wrap="none" rtlCol="0">
            <a:spAutoFit/>
          </a:bodyPr>
          <a:lstStyle/>
          <a:p>
            <a:r>
              <a:rPr lang="en-US" sz="2000" b="1" dirty="0"/>
              <a:t>SDLC </a:t>
            </a:r>
          </a:p>
        </p:txBody>
      </p:sp>
      <p:sp>
        <p:nvSpPr>
          <p:cNvPr id="5" name="TextBox 4">
            <a:extLst>
              <a:ext uri="{FF2B5EF4-FFF2-40B4-BE49-F238E27FC236}">
                <a16:creationId xmlns:a16="http://schemas.microsoft.com/office/drawing/2014/main" id="{C9195C6D-2628-16BD-71AE-DD57A7076BD6}"/>
              </a:ext>
            </a:extLst>
          </p:cNvPr>
          <p:cNvSpPr txBox="1"/>
          <p:nvPr/>
        </p:nvSpPr>
        <p:spPr>
          <a:xfrm>
            <a:off x="7112197" y="233348"/>
            <a:ext cx="3832588" cy="400110"/>
          </a:xfrm>
          <a:prstGeom prst="rect">
            <a:avLst/>
          </a:prstGeom>
          <a:noFill/>
        </p:spPr>
        <p:txBody>
          <a:bodyPr wrap="none" rtlCol="0">
            <a:spAutoFit/>
          </a:bodyPr>
          <a:lstStyle/>
          <a:p>
            <a:r>
              <a:rPr lang="en-US" sz="2000" b="1" dirty="0"/>
              <a:t>Agentic Engineering disciplines</a:t>
            </a:r>
          </a:p>
        </p:txBody>
      </p:sp>
      <p:cxnSp>
        <p:nvCxnSpPr>
          <p:cNvPr id="7" name="Straight Connector 6">
            <a:extLst>
              <a:ext uri="{FF2B5EF4-FFF2-40B4-BE49-F238E27FC236}">
                <a16:creationId xmlns:a16="http://schemas.microsoft.com/office/drawing/2014/main" id="{DA5E47B9-5381-5F60-FF82-C174FBE28ED0}"/>
              </a:ext>
            </a:extLst>
          </p:cNvPr>
          <p:cNvCxnSpPr/>
          <p:nvPr/>
        </p:nvCxnSpPr>
        <p:spPr>
          <a:xfrm>
            <a:off x="5459711" y="0"/>
            <a:ext cx="0" cy="6858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D6FBEB82-F2D2-CFE0-F7C3-CEEA9684D72A}"/>
              </a:ext>
            </a:extLst>
          </p:cNvPr>
          <p:cNvGrpSpPr/>
          <p:nvPr/>
        </p:nvGrpSpPr>
        <p:grpSpPr>
          <a:xfrm>
            <a:off x="714375" y="3922074"/>
            <a:ext cx="4610099" cy="2602669"/>
            <a:chOff x="2666968" y="2357857"/>
            <a:chExt cx="7038674" cy="3723659"/>
          </a:xfrm>
        </p:grpSpPr>
        <p:graphicFrame>
          <p:nvGraphicFramePr>
            <p:cNvPr id="9" name="Diagram 8">
              <a:extLst>
                <a:ext uri="{FF2B5EF4-FFF2-40B4-BE49-F238E27FC236}">
                  <a16:creationId xmlns:a16="http://schemas.microsoft.com/office/drawing/2014/main" id="{AB14A2B8-37E5-2406-20E7-70CBA5A7372C}"/>
                </a:ext>
              </a:extLst>
            </p:cNvPr>
            <p:cNvGraphicFramePr/>
            <p:nvPr>
              <p:extLst>
                <p:ext uri="{D42A27DB-BD31-4B8C-83A1-F6EECF244321}">
                  <p14:modId xmlns:p14="http://schemas.microsoft.com/office/powerpoint/2010/main" val="1559384923"/>
                </p:ext>
              </p:extLst>
            </p:nvPr>
          </p:nvGraphicFramePr>
          <p:xfrm>
            <a:off x="3055552" y="2503054"/>
            <a:ext cx="5035503" cy="355215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TextBox 9">
              <a:extLst>
                <a:ext uri="{FF2B5EF4-FFF2-40B4-BE49-F238E27FC236}">
                  <a16:creationId xmlns:a16="http://schemas.microsoft.com/office/drawing/2014/main" id="{DDD64DFD-5DF5-ED99-71A9-523CC0CF99B8}"/>
                </a:ext>
              </a:extLst>
            </p:cNvPr>
            <p:cNvSpPr txBox="1"/>
            <p:nvPr/>
          </p:nvSpPr>
          <p:spPr>
            <a:xfrm>
              <a:off x="5957455" y="2357857"/>
              <a:ext cx="1089306" cy="414028"/>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t>Define</a:t>
              </a:r>
            </a:p>
          </p:txBody>
        </p:sp>
        <p:sp>
          <p:nvSpPr>
            <p:cNvPr id="11" name="TextBox 10">
              <a:extLst>
                <a:ext uri="{FF2B5EF4-FFF2-40B4-BE49-F238E27FC236}">
                  <a16:creationId xmlns:a16="http://schemas.microsoft.com/office/drawing/2014/main" id="{480001D2-D547-88E8-55EF-C09F9497C852}"/>
                </a:ext>
              </a:extLst>
            </p:cNvPr>
            <p:cNvSpPr txBox="1"/>
            <p:nvPr/>
          </p:nvSpPr>
          <p:spPr>
            <a:xfrm>
              <a:off x="7144328" y="3563203"/>
              <a:ext cx="2561314" cy="440339"/>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solidFill>
                    <a:srgbClr val="2C3E50"/>
                  </a:solidFill>
                </a:rPr>
                <a:t>Think before doing</a:t>
              </a:r>
              <a:endParaRPr lang="en-US" sz="1400" dirty="0"/>
            </a:p>
          </p:txBody>
        </p:sp>
        <p:sp>
          <p:nvSpPr>
            <p:cNvPr id="12" name="TextBox 11">
              <a:extLst>
                <a:ext uri="{FF2B5EF4-FFF2-40B4-BE49-F238E27FC236}">
                  <a16:creationId xmlns:a16="http://schemas.microsoft.com/office/drawing/2014/main" id="{D1DA344F-A8A0-3412-79B0-32B03208AC0E}"/>
                </a:ext>
              </a:extLst>
            </p:cNvPr>
            <p:cNvSpPr txBox="1"/>
            <p:nvPr/>
          </p:nvSpPr>
          <p:spPr>
            <a:xfrm>
              <a:off x="3867532" y="5641177"/>
              <a:ext cx="1290682" cy="440339"/>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solidFill>
                    <a:srgbClr val="2C3E50"/>
                  </a:solidFill>
                </a:rPr>
                <a:t>Execute</a:t>
              </a:r>
              <a:endParaRPr lang="en-US" sz="1400" dirty="0"/>
            </a:p>
          </p:txBody>
        </p:sp>
        <p:sp>
          <p:nvSpPr>
            <p:cNvPr id="13" name="TextBox 12">
              <a:extLst>
                <a:ext uri="{FF2B5EF4-FFF2-40B4-BE49-F238E27FC236}">
                  <a16:creationId xmlns:a16="http://schemas.microsoft.com/office/drawing/2014/main" id="{90A00BD2-5DDE-8EF6-BBCB-D78FB1EF3F69}"/>
                </a:ext>
              </a:extLst>
            </p:cNvPr>
            <p:cNvSpPr txBox="1"/>
            <p:nvPr/>
          </p:nvSpPr>
          <p:spPr>
            <a:xfrm>
              <a:off x="2666968" y="3584147"/>
              <a:ext cx="1373548" cy="440339"/>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solidFill>
                    <a:srgbClr val="2C3E50"/>
                  </a:solidFill>
                </a:rPr>
                <a:t>Validate</a:t>
              </a:r>
              <a:endParaRPr lang="en-US" sz="1400" dirty="0"/>
            </a:p>
          </p:txBody>
        </p:sp>
      </p:grpSp>
      <p:sp>
        <p:nvSpPr>
          <p:cNvPr id="15" name="TextBox 14">
            <a:extLst>
              <a:ext uri="{FF2B5EF4-FFF2-40B4-BE49-F238E27FC236}">
                <a16:creationId xmlns:a16="http://schemas.microsoft.com/office/drawing/2014/main" id="{9C0526B1-F06F-5541-1429-D2FDBFF55F22}"/>
              </a:ext>
            </a:extLst>
          </p:cNvPr>
          <p:cNvSpPr txBox="1"/>
          <p:nvPr/>
        </p:nvSpPr>
        <p:spPr>
          <a:xfrm>
            <a:off x="1859068" y="3317282"/>
            <a:ext cx="1517722" cy="369332"/>
          </a:xfrm>
          <a:prstGeom prst="rect">
            <a:avLst/>
          </a:prstGeom>
          <a:noFill/>
        </p:spPr>
        <p:txBody>
          <a:bodyPr wrap="square">
            <a:spAutoFit/>
          </a:bodyPr>
          <a:lstStyle/>
          <a:p>
            <a:r>
              <a:rPr lang="en-US" sz="1800" b="1" dirty="0"/>
              <a:t>SDLC with AI</a:t>
            </a:r>
            <a:endParaRPr lang="en-US" dirty="0"/>
          </a:p>
        </p:txBody>
      </p:sp>
      <p:grpSp>
        <p:nvGrpSpPr>
          <p:cNvPr id="24" name="Group 23">
            <a:extLst>
              <a:ext uri="{FF2B5EF4-FFF2-40B4-BE49-F238E27FC236}">
                <a16:creationId xmlns:a16="http://schemas.microsoft.com/office/drawing/2014/main" id="{79BA22E6-7043-AF1D-5773-BF670F517666}"/>
              </a:ext>
            </a:extLst>
          </p:cNvPr>
          <p:cNvGrpSpPr/>
          <p:nvPr/>
        </p:nvGrpSpPr>
        <p:grpSpPr>
          <a:xfrm>
            <a:off x="5898808" y="1409776"/>
            <a:ext cx="6066946" cy="3508668"/>
            <a:chOff x="5939603" y="1255888"/>
            <a:chExt cx="6066946" cy="3508668"/>
          </a:xfrm>
        </p:grpSpPr>
        <p:pic>
          <p:nvPicPr>
            <p:cNvPr id="7170" name="Picture 2" descr="Agentic AI Engineering: The Blueprint for Production-Grade AI Agents ...">
              <a:extLst>
                <a:ext uri="{FF2B5EF4-FFF2-40B4-BE49-F238E27FC236}">
                  <a16:creationId xmlns:a16="http://schemas.microsoft.com/office/drawing/2014/main" id="{9F30C89A-8FCA-C254-73F1-CB097C486C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45254" y="1344935"/>
              <a:ext cx="4477963" cy="341962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FD9C4E15-7243-B101-3954-130657842A25}"/>
                </a:ext>
              </a:extLst>
            </p:cNvPr>
            <p:cNvSpPr txBox="1"/>
            <p:nvPr/>
          </p:nvSpPr>
          <p:spPr>
            <a:xfrm>
              <a:off x="9459513" y="1255888"/>
              <a:ext cx="1631586" cy="646331"/>
            </a:xfrm>
            <a:prstGeom prst="rect">
              <a:avLst/>
            </a:prstGeom>
            <a:noFill/>
          </p:spPr>
          <p:txBody>
            <a:bodyPr wrap="square">
              <a:spAutoFit/>
            </a:bodyPr>
            <a:lstStyle/>
            <a:p>
              <a:r>
                <a:rPr lang="en-US" sz="1200" dirty="0">
                  <a:solidFill>
                    <a:schemeClr val="accent2">
                      <a:lumMod val="50000"/>
                    </a:schemeClr>
                  </a:solidFill>
                </a:rPr>
                <a:t>Feeding AI the right information at the right time.</a:t>
              </a:r>
            </a:p>
          </p:txBody>
        </p:sp>
        <p:sp>
          <p:nvSpPr>
            <p:cNvPr id="17" name="TextBox 16">
              <a:extLst>
                <a:ext uri="{FF2B5EF4-FFF2-40B4-BE49-F238E27FC236}">
                  <a16:creationId xmlns:a16="http://schemas.microsoft.com/office/drawing/2014/main" id="{F8D6FFC2-0363-0763-20B6-4EA356F0AE11}"/>
                </a:ext>
              </a:extLst>
            </p:cNvPr>
            <p:cNvSpPr txBox="1"/>
            <p:nvPr/>
          </p:nvSpPr>
          <p:spPr>
            <a:xfrm>
              <a:off x="10374963" y="3054745"/>
              <a:ext cx="1631586" cy="646331"/>
            </a:xfrm>
            <a:prstGeom prst="rect">
              <a:avLst/>
            </a:prstGeom>
            <a:noFill/>
          </p:spPr>
          <p:txBody>
            <a:bodyPr wrap="square">
              <a:spAutoFit/>
            </a:bodyPr>
            <a:lstStyle>
              <a:defPPr>
                <a:defRPr lang="en-US"/>
              </a:defPPr>
              <a:lvl1pPr>
                <a:defRPr sz="1200">
                  <a:solidFill>
                    <a:schemeClr val="bg1"/>
                  </a:solidFill>
                </a:defRPr>
              </a:lvl1pPr>
            </a:lstStyle>
            <a:p>
              <a:r>
                <a:rPr lang="en-US" dirty="0">
                  <a:solidFill>
                    <a:schemeClr val="accent2">
                      <a:lumMod val="50000"/>
                    </a:schemeClr>
                  </a:solidFill>
                </a:rPr>
                <a:t>Designing how the AI sequences tasks and makes decisions.</a:t>
              </a:r>
            </a:p>
          </p:txBody>
        </p:sp>
        <p:sp>
          <p:nvSpPr>
            <p:cNvPr id="19" name="TextBox 18">
              <a:extLst>
                <a:ext uri="{FF2B5EF4-FFF2-40B4-BE49-F238E27FC236}">
                  <a16:creationId xmlns:a16="http://schemas.microsoft.com/office/drawing/2014/main" id="{55AA1EAC-54DA-32AE-C760-6D5C9AA3416B}"/>
                </a:ext>
              </a:extLst>
            </p:cNvPr>
            <p:cNvSpPr txBox="1"/>
            <p:nvPr/>
          </p:nvSpPr>
          <p:spPr>
            <a:xfrm>
              <a:off x="10262177" y="4053899"/>
              <a:ext cx="1632269" cy="646331"/>
            </a:xfrm>
            <a:prstGeom prst="rect">
              <a:avLst/>
            </a:prstGeom>
            <a:noFill/>
          </p:spPr>
          <p:txBody>
            <a:bodyPr wrap="square">
              <a:spAutoFit/>
            </a:bodyPr>
            <a:lstStyle>
              <a:defPPr>
                <a:defRPr lang="en-US"/>
              </a:defPPr>
              <a:lvl1pPr>
                <a:defRPr sz="1200">
                  <a:solidFill>
                    <a:schemeClr val="bg1"/>
                  </a:solidFill>
                </a:defRPr>
              </a:lvl1pPr>
            </a:lstStyle>
            <a:p>
              <a:r>
                <a:rPr lang="en-US" dirty="0">
                  <a:solidFill>
                    <a:schemeClr val="accent2">
                      <a:lumMod val="50000"/>
                    </a:schemeClr>
                  </a:solidFill>
                </a:rPr>
                <a:t>Selecting, fine-tuning, and optimizing the underlying models.</a:t>
              </a:r>
            </a:p>
          </p:txBody>
        </p:sp>
        <p:sp>
          <p:nvSpPr>
            <p:cNvPr id="21" name="TextBox 20">
              <a:extLst>
                <a:ext uri="{FF2B5EF4-FFF2-40B4-BE49-F238E27FC236}">
                  <a16:creationId xmlns:a16="http://schemas.microsoft.com/office/drawing/2014/main" id="{12FD71DE-4EE2-D7EB-8C97-D7EE3F03429C}"/>
                </a:ext>
              </a:extLst>
            </p:cNvPr>
            <p:cNvSpPr txBox="1"/>
            <p:nvPr/>
          </p:nvSpPr>
          <p:spPr>
            <a:xfrm>
              <a:off x="5939603" y="3933559"/>
              <a:ext cx="1574164" cy="830997"/>
            </a:xfrm>
            <a:prstGeom prst="rect">
              <a:avLst/>
            </a:prstGeom>
            <a:noFill/>
          </p:spPr>
          <p:txBody>
            <a:bodyPr wrap="square">
              <a:spAutoFit/>
            </a:bodyPr>
            <a:lstStyle>
              <a:defPPr>
                <a:defRPr lang="en-US"/>
              </a:defPPr>
              <a:lvl1pPr>
                <a:defRPr sz="1200">
                  <a:solidFill>
                    <a:schemeClr val="bg1"/>
                  </a:solidFill>
                </a:defRPr>
              </a:lvl1pPr>
            </a:lstStyle>
            <a:p>
              <a:r>
                <a:rPr lang="en-US" dirty="0">
                  <a:solidFill>
                    <a:schemeClr val="accent2">
                      <a:lumMod val="50000"/>
                    </a:schemeClr>
                  </a:solidFill>
                </a:rPr>
                <a:t>Running agents reliably in production — the "DevOps" of AI agents.</a:t>
              </a:r>
            </a:p>
          </p:txBody>
        </p:sp>
        <p:sp>
          <p:nvSpPr>
            <p:cNvPr id="23" name="TextBox 22">
              <a:extLst>
                <a:ext uri="{FF2B5EF4-FFF2-40B4-BE49-F238E27FC236}">
                  <a16:creationId xmlns:a16="http://schemas.microsoft.com/office/drawing/2014/main" id="{CACEEC09-3988-BFCC-C8D1-F288300CAF83}"/>
                </a:ext>
              </a:extLst>
            </p:cNvPr>
            <p:cNvSpPr txBox="1"/>
            <p:nvPr/>
          </p:nvSpPr>
          <p:spPr>
            <a:xfrm>
              <a:off x="6098695" y="1674384"/>
              <a:ext cx="1651678" cy="830997"/>
            </a:xfrm>
            <a:prstGeom prst="rect">
              <a:avLst/>
            </a:prstGeom>
            <a:noFill/>
          </p:spPr>
          <p:txBody>
            <a:bodyPr wrap="square">
              <a:spAutoFit/>
            </a:bodyPr>
            <a:lstStyle>
              <a:defPPr>
                <a:defRPr lang="en-US"/>
              </a:defPPr>
              <a:lvl1pPr>
                <a:defRPr sz="1200">
                  <a:solidFill>
                    <a:schemeClr val="bg1"/>
                  </a:solidFill>
                </a:defRPr>
              </a:lvl1pPr>
            </a:lstStyle>
            <a:p>
              <a:r>
                <a:rPr lang="en-US" dirty="0">
                  <a:solidFill>
                    <a:schemeClr val="accent2">
                      <a:lumMod val="50000"/>
                    </a:schemeClr>
                  </a:solidFill>
                </a:rPr>
                <a:t>Designing how humans interact with and trust autonomous agents.</a:t>
              </a:r>
            </a:p>
          </p:txBody>
        </p:sp>
      </p:grpSp>
    </p:spTree>
    <p:extLst>
      <p:ext uri="{BB962C8B-B14F-4D97-AF65-F5344CB8AC3E}">
        <p14:creationId xmlns:p14="http://schemas.microsoft.com/office/powerpoint/2010/main" val="1361217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3DF6-220E-BEBE-2091-9CF02BCCBA31}"/>
            </a:ext>
          </a:extLst>
        </p:cNvPr>
        <p:cNvGrpSpPr/>
        <p:nvPr/>
      </p:nvGrpSpPr>
      <p:grpSpPr>
        <a:xfrm>
          <a:off x="0" y="0"/>
          <a:ext cx="0" cy="0"/>
          <a:chOff x="0" y="0"/>
          <a:chExt cx="0" cy="0"/>
        </a:xfrm>
      </p:grpSpPr>
      <p:pic>
        <p:nvPicPr>
          <p:cNvPr id="9218" name="Picture 2" descr="New Book: Agentic AI Engineering for Building Production-Grade AI Agents |  by Yi Zhou | Agentic AI &amp; GenAI Revolution | Medium">
            <a:extLst>
              <a:ext uri="{FF2B5EF4-FFF2-40B4-BE49-F238E27FC236}">
                <a16:creationId xmlns:a16="http://schemas.microsoft.com/office/drawing/2014/main" id="{3E958FE5-D290-ACEC-485B-9C97B4487165}"/>
              </a:ext>
            </a:extLst>
          </p:cNvPr>
          <p:cNvPicPr>
            <a:picLocks noChangeAspect="1" noChangeArrowheads="1"/>
          </p:cNvPicPr>
          <p:nvPr/>
        </p:nvPicPr>
        <p:blipFill rotWithShape="1">
          <a:blip r:embed="rId3">
            <a:alphaModFix amt="5000"/>
            <a:extLst>
              <a:ext uri="{28A0092B-C50C-407E-A947-70E740481C1C}">
                <a14:useLocalDpi xmlns:a14="http://schemas.microsoft.com/office/drawing/2010/main" val="0"/>
              </a:ext>
            </a:extLst>
          </a:blip>
          <a:srcRect t="36586" b="15730"/>
          <a:stretch>
            <a:fillRect/>
          </a:stretch>
        </p:blipFill>
        <p:spPr bwMode="auto">
          <a:xfrm>
            <a:off x="6773766" y="381105"/>
            <a:ext cx="5418233" cy="64618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06F87B4-E76F-8618-6D25-A8EE7F0A060C}"/>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CEF4C2C-6696-8D42-CCD2-F913F309F005}"/>
              </a:ext>
            </a:extLst>
          </p:cNvPr>
          <p:cNvSpPr txBox="1"/>
          <p:nvPr/>
        </p:nvSpPr>
        <p:spPr>
          <a:xfrm>
            <a:off x="73572" y="15030"/>
            <a:ext cx="3936783" cy="400110"/>
          </a:xfrm>
          <a:prstGeom prst="rect">
            <a:avLst/>
          </a:prstGeom>
          <a:noFill/>
        </p:spPr>
        <p:txBody>
          <a:bodyPr wrap="none" rtlCol="0">
            <a:spAutoFit/>
          </a:bodyPr>
          <a:lstStyle/>
          <a:p>
            <a:r>
              <a:rPr lang="en-US" sz="2000" b="1" dirty="0">
                <a:solidFill>
                  <a:srgbClr val="7030A0"/>
                </a:solidFill>
              </a:rPr>
              <a:t>Why we need Agentic engineering?</a:t>
            </a:r>
          </a:p>
        </p:txBody>
      </p:sp>
      <p:grpSp>
        <p:nvGrpSpPr>
          <p:cNvPr id="38" name="Group 37">
            <a:extLst>
              <a:ext uri="{FF2B5EF4-FFF2-40B4-BE49-F238E27FC236}">
                <a16:creationId xmlns:a16="http://schemas.microsoft.com/office/drawing/2014/main" id="{0DAD0B82-3292-F3B3-F816-9A90F6A46AAC}"/>
              </a:ext>
            </a:extLst>
          </p:cNvPr>
          <p:cNvGrpSpPr/>
          <p:nvPr/>
        </p:nvGrpSpPr>
        <p:grpSpPr>
          <a:xfrm>
            <a:off x="670593" y="1286864"/>
            <a:ext cx="3959606" cy="1099335"/>
            <a:chOff x="5725885" y="804136"/>
            <a:chExt cx="3959606" cy="1099335"/>
          </a:xfrm>
        </p:grpSpPr>
        <p:sp>
          <p:nvSpPr>
            <p:cNvPr id="4" name="Rectangle: Rounded Corners 3">
              <a:extLst>
                <a:ext uri="{FF2B5EF4-FFF2-40B4-BE49-F238E27FC236}">
                  <a16:creationId xmlns:a16="http://schemas.microsoft.com/office/drawing/2014/main" id="{BA9F6105-FA45-D6E9-D05D-E8C9F0797BF2}"/>
                </a:ext>
              </a:extLst>
            </p:cNvPr>
            <p:cNvSpPr/>
            <p:nvPr/>
          </p:nvSpPr>
          <p:spPr>
            <a:xfrm>
              <a:off x="5725885" y="804136"/>
              <a:ext cx="3841772" cy="1099335"/>
            </a:xfrm>
            <a:prstGeom prst="roundRect">
              <a:avLst/>
            </a:prstGeom>
            <a:solidFill>
              <a:schemeClr val="accent5">
                <a:lumMod val="20000"/>
                <a:lumOff val="8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42DFEAD-2D0A-A28C-FF75-2FD0BB80FB68}"/>
                </a:ext>
              </a:extLst>
            </p:cNvPr>
            <p:cNvSpPr/>
            <p:nvPr/>
          </p:nvSpPr>
          <p:spPr>
            <a:xfrm>
              <a:off x="5816203" y="1119961"/>
              <a:ext cx="531628" cy="520995"/>
            </a:xfrm>
            <a:prstGeom prst="ellipse">
              <a:avLst/>
            </a:prstGeom>
            <a:solidFill>
              <a:schemeClr val="accent5">
                <a:lumMod val="75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9" name="TextBox 8">
              <a:extLst>
                <a:ext uri="{FF2B5EF4-FFF2-40B4-BE49-F238E27FC236}">
                  <a16:creationId xmlns:a16="http://schemas.microsoft.com/office/drawing/2014/main" id="{BA907870-DC8B-865C-F96F-CFC025D24901}"/>
                </a:ext>
              </a:extLst>
            </p:cNvPr>
            <p:cNvSpPr txBox="1"/>
            <p:nvPr/>
          </p:nvSpPr>
          <p:spPr>
            <a:xfrm>
              <a:off x="6347831" y="823991"/>
              <a:ext cx="2005870" cy="369332"/>
            </a:xfrm>
            <a:prstGeom prst="rect">
              <a:avLst/>
            </a:prstGeom>
            <a:noFill/>
          </p:spPr>
          <p:txBody>
            <a:bodyPr wrap="none" rtlCol="0">
              <a:spAutoFit/>
            </a:bodyPr>
            <a:lstStyle/>
            <a:p>
              <a:r>
                <a:rPr lang="en-US" b="1" dirty="0">
                  <a:solidFill>
                    <a:schemeClr val="accent5">
                      <a:lumMod val="75000"/>
                    </a:schemeClr>
                  </a:solidFill>
                </a:rPr>
                <a:t>Silent Assumptions</a:t>
              </a:r>
            </a:p>
          </p:txBody>
        </p:sp>
        <p:sp>
          <p:nvSpPr>
            <p:cNvPr id="14" name="TextBox 13">
              <a:extLst>
                <a:ext uri="{FF2B5EF4-FFF2-40B4-BE49-F238E27FC236}">
                  <a16:creationId xmlns:a16="http://schemas.microsoft.com/office/drawing/2014/main" id="{8BA6D700-9E04-1EFC-18AB-B6A31319891D}"/>
                </a:ext>
              </a:extLst>
            </p:cNvPr>
            <p:cNvSpPr txBox="1"/>
            <p:nvPr/>
          </p:nvSpPr>
          <p:spPr>
            <a:xfrm>
              <a:off x="6347831" y="1162789"/>
              <a:ext cx="3337660" cy="646331"/>
            </a:xfrm>
            <a:prstGeom prst="rect">
              <a:avLst/>
            </a:prstGeom>
            <a:noFill/>
          </p:spPr>
          <p:txBody>
            <a:bodyPr wrap="square">
              <a:spAutoFit/>
            </a:bodyPr>
            <a:lstStyle/>
            <a:p>
              <a:r>
                <a:rPr lang="en-US" sz="1200" dirty="0">
                  <a:solidFill>
                    <a:schemeClr val="accent5">
                      <a:lumMod val="75000"/>
                    </a:schemeClr>
                  </a:solidFill>
                </a:rPr>
                <a:t>The model makes wrong assumptions on your behalf and just run along with them without checking.</a:t>
              </a:r>
            </a:p>
          </p:txBody>
        </p:sp>
      </p:grpSp>
      <p:grpSp>
        <p:nvGrpSpPr>
          <p:cNvPr id="37" name="Group 36">
            <a:extLst>
              <a:ext uri="{FF2B5EF4-FFF2-40B4-BE49-F238E27FC236}">
                <a16:creationId xmlns:a16="http://schemas.microsoft.com/office/drawing/2014/main" id="{A90FB79C-3825-D8D7-2CC2-D48440825329}"/>
              </a:ext>
            </a:extLst>
          </p:cNvPr>
          <p:cNvGrpSpPr/>
          <p:nvPr/>
        </p:nvGrpSpPr>
        <p:grpSpPr>
          <a:xfrm>
            <a:off x="670593" y="2676211"/>
            <a:ext cx="3959606" cy="1099335"/>
            <a:chOff x="5774076" y="2329665"/>
            <a:chExt cx="3959606" cy="1099335"/>
          </a:xfrm>
        </p:grpSpPr>
        <p:sp>
          <p:nvSpPr>
            <p:cNvPr id="21" name="Rectangle: Rounded Corners 20">
              <a:extLst>
                <a:ext uri="{FF2B5EF4-FFF2-40B4-BE49-F238E27FC236}">
                  <a16:creationId xmlns:a16="http://schemas.microsoft.com/office/drawing/2014/main" id="{30E2A732-C467-EA74-6536-AAC9DBEAC79E}"/>
                </a:ext>
              </a:extLst>
            </p:cNvPr>
            <p:cNvSpPr/>
            <p:nvPr/>
          </p:nvSpPr>
          <p:spPr>
            <a:xfrm>
              <a:off x="5774076" y="2329665"/>
              <a:ext cx="3893078" cy="1099335"/>
            </a:xfrm>
            <a:prstGeom prst="round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EEF0A7F-99E3-CBBF-4FBE-94A1C139495E}"/>
                </a:ext>
              </a:extLst>
            </p:cNvPr>
            <p:cNvSpPr/>
            <p:nvPr/>
          </p:nvSpPr>
          <p:spPr>
            <a:xfrm>
              <a:off x="5860382" y="2614632"/>
              <a:ext cx="531628" cy="520995"/>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23" name="TextBox 22">
              <a:extLst>
                <a:ext uri="{FF2B5EF4-FFF2-40B4-BE49-F238E27FC236}">
                  <a16:creationId xmlns:a16="http://schemas.microsoft.com/office/drawing/2014/main" id="{9C0BCF34-D91E-E267-2B32-A8F43697B355}"/>
                </a:ext>
              </a:extLst>
            </p:cNvPr>
            <p:cNvSpPr txBox="1"/>
            <p:nvPr/>
          </p:nvSpPr>
          <p:spPr>
            <a:xfrm>
              <a:off x="6396022" y="2349520"/>
              <a:ext cx="1872244" cy="369332"/>
            </a:xfrm>
            <a:prstGeom prst="rect">
              <a:avLst/>
            </a:prstGeom>
            <a:noFill/>
          </p:spPr>
          <p:txBody>
            <a:bodyPr wrap="none" rtlCol="0">
              <a:spAutoFit/>
            </a:bodyPr>
            <a:lstStyle/>
            <a:p>
              <a:r>
                <a:rPr lang="en-US" b="1" dirty="0">
                  <a:solidFill>
                    <a:schemeClr val="accent2">
                      <a:lumMod val="75000"/>
                    </a:schemeClr>
                  </a:solidFill>
                </a:rPr>
                <a:t>Overcomplication</a:t>
              </a:r>
            </a:p>
          </p:txBody>
        </p:sp>
        <p:sp>
          <p:nvSpPr>
            <p:cNvPr id="24" name="TextBox 23">
              <a:extLst>
                <a:ext uri="{FF2B5EF4-FFF2-40B4-BE49-F238E27FC236}">
                  <a16:creationId xmlns:a16="http://schemas.microsoft.com/office/drawing/2014/main" id="{70062D9A-79EF-D2D2-2A64-C126B54F1F25}"/>
                </a:ext>
              </a:extLst>
            </p:cNvPr>
            <p:cNvSpPr txBox="1"/>
            <p:nvPr/>
          </p:nvSpPr>
          <p:spPr>
            <a:xfrm>
              <a:off x="6396022" y="2688318"/>
              <a:ext cx="3337660" cy="461665"/>
            </a:xfrm>
            <a:prstGeom prst="rect">
              <a:avLst/>
            </a:prstGeom>
            <a:noFill/>
          </p:spPr>
          <p:txBody>
            <a:bodyPr wrap="square">
              <a:spAutoFit/>
            </a:bodyPr>
            <a:lstStyle/>
            <a:p>
              <a:r>
                <a:rPr lang="en-US" sz="1200" dirty="0">
                  <a:solidFill>
                    <a:schemeClr val="accent2">
                      <a:lumMod val="75000"/>
                    </a:schemeClr>
                  </a:solidFill>
                </a:rPr>
                <a:t>The model implement a bloated code of 100 lines when 10 would do.</a:t>
              </a:r>
            </a:p>
          </p:txBody>
        </p:sp>
      </p:grpSp>
      <p:grpSp>
        <p:nvGrpSpPr>
          <p:cNvPr id="36" name="Group 35">
            <a:extLst>
              <a:ext uri="{FF2B5EF4-FFF2-40B4-BE49-F238E27FC236}">
                <a16:creationId xmlns:a16="http://schemas.microsoft.com/office/drawing/2014/main" id="{99F1D9C9-3DFA-95A3-3928-45BF34186229}"/>
              </a:ext>
            </a:extLst>
          </p:cNvPr>
          <p:cNvGrpSpPr/>
          <p:nvPr/>
        </p:nvGrpSpPr>
        <p:grpSpPr>
          <a:xfrm>
            <a:off x="670593" y="4040658"/>
            <a:ext cx="3959606" cy="1099335"/>
            <a:chOff x="5822267" y="3855194"/>
            <a:chExt cx="3959606" cy="1099335"/>
          </a:xfrm>
        </p:grpSpPr>
        <p:sp>
          <p:nvSpPr>
            <p:cNvPr id="31" name="Rectangle: Rounded Corners 30">
              <a:extLst>
                <a:ext uri="{FF2B5EF4-FFF2-40B4-BE49-F238E27FC236}">
                  <a16:creationId xmlns:a16="http://schemas.microsoft.com/office/drawing/2014/main" id="{336B4F1A-D47F-88D0-14AC-2FC3D99BDF33}"/>
                </a:ext>
              </a:extLst>
            </p:cNvPr>
            <p:cNvSpPr/>
            <p:nvPr/>
          </p:nvSpPr>
          <p:spPr>
            <a:xfrm>
              <a:off x="5822267" y="3855194"/>
              <a:ext cx="3893078" cy="1099335"/>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DBA1E53-EFD4-F599-919A-67F178BC9FC8}"/>
                </a:ext>
              </a:extLst>
            </p:cNvPr>
            <p:cNvSpPr/>
            <p:nvPr/>
          </p:nvSpPr>
          <p:spPr>
            <a:xfrm>
              <a:off x="5867426" y="4120237"/>
              <a:ext cx="531628" cy="520995"/>
            </a:xfrm>
            <a:prstGeom prst="ellipse">
              <a:avLst/>
            </a:prstGeom>
            <a:solidFill>
              <a:schemeClr val="accent1">
                <a:lumMod val="75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33" name="TextBox 32">
              <a:extLst>
                <a:ext uri="{FF2B5EF4-FFF2-40B4-BE49-F238E27FC236}">
                  <a16:creationId xmlns:a16="http://schemas.microsoft.com/office/drawing/2014/main" id="{C2164F31-E6D0-1DEE-1DC1-3089C8CB0B0D}"/>
                </a:ext>
              </a:extLst>
            </p:cNvPr>
            <p:cNvSpPr txBox="1"/>
            <p:nvPr/>
          </p:nvSpPr>
          <p:spPr>
            <a:xfrm>
              <a:off x="6444213" y="3875049"/>
              <a:ext cx="1713098" cy="369332"/>
            </a:xfrm>
            <a:prstGeom prst="rect">
              <a:avLst/>
            </a:prstGeom>
            <a:noFill/>
          </p:spPr>
          <p:txBody>
            <a:bodyPr wrap="none" rtlCol="0">
              <a:spAutoFit/>
            </a:bodyPr>
            <a:lstStyle/>
            <a:p>
              <a:r>
                <a:rPr lang="en-US" b="1" dirty="0">
                  <a:solidFill>
                    <a:schemeClr val="accent1">
                      <a:lumMod val="75000"/>
                    </a:schemeClr>
                  </a:solidFill>
                </a:rPr>
                <a:t>Side-Effect Edits</a:t>
              </a:r>
            </a:p>
          </p:txBody>
        </p:sp>
        <p:sp>
          <p:nvSpPr>
            <p:cNvPr id="34" name="TextBox 33">
              <a:extLst>
                <a:ext uri="{FF2B5EF4-FFF2-40B4-BE49-F238E27FC236}">
                  <a16:creationId xmlns:a16="http://schemas.microsoft.com/office/drawing/2014/main" id="{00E3DA0C-88E7-7E46-381C-453E1C835D2A}"/>
                </a:ext>
              </a:extLst>
            </p:cNvPr>
            <p:cNvSpPr txBox="1"/>
            <p:nvPr/>
          </p:nvSpPr>
          <p:spPr>
            <a:xfrm>
              <a:off x="6444213" y="4213847"/>
              <a:ext cx="3337660" cy="461665"/>
            </a:xfrm>
            <a:prstGeom prst="rect">
              <a:avLst/>
            </a:prstGeom>
            <a:noFill/>
          </p:spPr>
          <p:txBody>
            <a:bodyPr wrap="square">
              <a:spAutoFit/>
            </a:bodyPr>
            <a:lstStyle/>
            <a:p>
              <a:r>
                <a:rPr lang="en-US" sz="1200" dirty="0">
                  <a:solidFill>
                    <a:schemeClr val="accent1">
                      <a:lumMod val="75000"/>
                    </a:schemeClr>
                  </a:solidFill>
                </a:rPr>
                <a:t>Model still sometimes change/remove comments and code they don’t fully understand.</a:t>
              </a:r>
            </a:p>
          </p:txBody>
        </p:sp>
      </p:grpSp>
      <p:sp>
        <p:nvSpPr>
          <p:cNvPr id="39" name="TextBox 38">
            <a:extLst>
              <a:ext uri="{FF2B5EF4-FFF2-40B4-BE49-F238E27FC236}">
                <a16:creationId xmlns:a16="http://schemas.microsoft.com/office/drawing/2014/main" id="{3DF12398-3404-29FF-D94C-4FCA9AA83B27}"/>
              </a:ext>
            </a:extLst>
          </p:cNvPr>
          <p:cNvSpPr txBox="1"/>
          <p:nvPr/>
        </p:nvSpPr>
        <p:spPr>
          <a:xfrm>
            <a:off x="858886" y="642503"/>
            <a:ext cx="2737609" cy="461665"/>
          </a:xfrm>
          <a:prstGeom prst="rect">
            <a:avLst/>
          </a:prstGeom>
          <a:noFill/>
        </p:spPr>
        <p:txBody>
          <a:bodyPr wrap="none" rtlCol="0">
            <a:spAutoFit/>
          </a:bodyPr>
          <a:lstStyle/>
          <a:p>
            <a:r>
              <a:rPr lang="en-US" sz="2400" b="1" dirty="0"/>
              <a:t>Three failure modes</a:t>
            </a:r>
          </a:p>
        </p:txBody>
      </p:sp>
      <p:grpSp>
        <p:nvGrpSpPr>
          <p:cNvPr id="3" name="Group 2">
            <a:extLst>
              <a:ext uri="{FF2B5EF4-FFF2-40B4-BE49-F238E27FC236}">
                <a16:creationId xmlns:a16="http://schemas.microsoft.com/office/drawing/2014/main" id="{29BB36E4-73AB-9130-3223-B87CC32637BB}"/>
              </a:ext>
            </a:extLst>
          </p:cNvPr>
          <p:cNvGrpSpPr/>
          <p:nvPr/>
        </p:nvGrpSpPr>
        <p:grpSpPr>
          <a:xfrm>
            <a:off x="5769048" y="1306719"/>
            <a:ext cx="4368865" cy="1095905"/>
            <a:chOff x="5725885" y="804136"/>
            <a:chExt cx="4368865" cy="1095905"/>
          </a:xfrm>
        </p:grpSpPr>
        <p:sp>
          <p:nvSpPr>
            <p:cNvPr id="7" name="Rectangle: Rounded Corners 6">
              <a:extLst>
                <a:ext uri="{FF2B5EF4-FFF2-40B4-BE49-F238E27FC236}">
                  <a16:creationId xmlns:a16="http://schemas.microsoft.com/office/drawing/2014/main" id="{3EE6C717-5398-C371-A4F8-9DB2F3AFACCA}"/>
                </a:ext>
              </a:extLst>
            </p:cNvPr>
            <p:cNvSpPr/>
            <p:nvPr/>
          </p:nvSpPr>
          <p:spPr>
            <a:xfrm>
              <a:off x="5725885" y="804136"/>
              <a:ext cx="4368865" cy="1095905"/>
            </a:xfrm>
            <a:prstGeom prst="roundRect">
              <a:avLst/>
            </a:prstGeom>
            <a:solidFill>
              <a:schemeClr val="accent5">
                <a:lumMod val="20000"/>
                <a:lumOff val="8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F49C3D8-05BE-64BA-F446-BF9CC9A5C5C4}"/>
                </a:ext>
              </a:extLst>
            </p:cNvPr>
            <p:cNvSpPr/>
            <p:nvPr/>
          </p:nvSpPr>
          <p:spPr>
            <a:xfrm>
              <a:off x="5816203" y="1119961"/>
              <a:ext cx="531628" cy="520995"/>
            </a:xfrm>
            <a:prstGeom prst="ellipse">
              <a:avLst/>
            </a:prstGeom>
            <a:solidFill>
              <a:schemeClr val="accent5">
                <a:lumMod val="75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10" name="TextBox 9">
              <a:extLst>
                <a:ext uri="{FF2B5EF4-FFF2-40B4-BE49-F238E27FC236}">
                  <a16:creationId xmlns:a16="http://schemas.microsoft.com/office/drawing/2014/main" id="{C848FFBA-5607-676B-CEED-15A1B65320E5}"/>
                </a:ext>
              </a:extLst>
            </p:cNvPr>
            <p:cNvSpPr txBox="1"/>
            <p:nvPr/>
          </p:nvSpPr>
          <p:spPr>
            <a:xfrm>
              <a:off x="6347831" y="823991"/>
              <a:ext cx="2106987" cy="369332"/>
            </a:xfrm>
            <a:prstGeom prst="rect">
              <a:avLst/>
            </a:prstGeom>
            <a:noFill/>
          </p:spPr>
          <p:txBody>
            <a:bodyPr wrap="none" rtlCol="0">
              <a:spAutoFit/>
            </a:bodyPr>
            <a:lstStyle/>
            <a:p>
              <a:r>
                <a:rPr lang="en-US" b="1" dirty="0">
                  <a:solidFill>
                    <a:schemeClr val="accent5">
                      <a:lumMod val="75000"/>
                    </a:schemeClr>
                  </a:solidFill>
                </a:rPr>
                <a:t>Think Before Coding</a:t>
              </a:r>
            </a:p>
          </p:txBody>
        </p:sp>
        <p:sp>
          <p:nvSpPr>
            <p:cNvPr id="11" name="TextBox 10">
              <a:extLst>
                <a:ext uri="{FF2B5EF4-FFF2-40B4-BE49-F238E27FC236}">
                  <a16:creationId xmlns:a16="http://schemas.microsoft.com/office/drawing/2014/main" id="{0A961B5A-BBF6-2337-5D55-5C06F77DC074}"/>
                </a:ext>
              </a:extLst>
            </p:cNvPr>
            <p:cNvSpPr txBox="1"/>
            <p:nvPr/>
          </p:nvSpPr>
          <p:spPr>
            <a:xfrm>
              <a:off x="6347831" y="1162789"/>
              <a:ext cx="3337660" cy="461665"/>
            </a:xfrm>
            <a:prstGeom prst="rect">
              <a:avLst/>
            </a:prstGeom>
            <a:noFill/>
          </p:spPr>
          <p:txBody>
            <a:bodyPr wrap="square">
              <a:spAutoFit/>
            </a:bodyPr>
            <a:lstStyle/>
            <a:p>
              <a:r>
                <a:rPr lang="en-US" sz="1200" dirty="0">
                  <a:solidFill>
                    <a:schemeClr val="accent5">
                      <a:lumMod val="75000"/>
                    </a:schemeClr>
                  </a:solidFill>
                </a:rPr>
                <a:t>Don't assume. Don't hide confusion. Surface tradeoffs.</a:t>
              </a:r>
            </a:p>
          </p:txBody>
        </p:sp>
      </p:grpSp>
      <p:grpSp>
        <p:nvGrpSpPr>
          <p:cNvPr id="13" name="Group 12">
            <a:extLst>
              <a:ext uri="{FF2B5EF4-FFF2-40B4-BE49-F238E27FC236}">
                <a16:creationId xmlns:a16="http://schemas.microsoft.com/office/drawing/2014/main" id="{9BC098C8-1B83-28F7-9F35-030EB58E8B2D}"/>
              </a:ext>
            </a:extLst>
          </p:cNvPr>
          <p:cNvGrpSpPr/>
          <p:nvPr/>
        </p:nvGrpSpPr>
        <p:grpSpPr>
          <a:xfrm>
            <a:off x="5769048" y="2696066"/>
            <a:ext cx="4368865" cy="1079480"/>
            <a:chOff x="5774076" y="2329665"/>
            <a:chExt cx="4368865" cy="1079480"/>
          </a:xfrm>
        </p:grpSpPr>
        <p:sp>
          <p:nvSpPr>
            <p:cNvPr id="16" name="Rectangle: Rounded Corners 15">
              <a:extLst>
                <a:ext uri="{FF2B5EF4-FFF2-40B4-BE49-F238E27FC236}">
                  <a16:creationId xmlns:a16="http://schemas.microsoft.com/office/drawing/2014/main" id="{15018F16-0795-648F-2AC0-ADBA50F83851}"/>
                </a:ext>
              </a:extLst>
            </p:cNvPr>
            <p:cNvSpPr/>
            <p:nvPr/>
          </p:nvSpPr>
          <p:spPr>
            <a:xfrm>
              <a:off x="5774076" y="2329665"/>
              <a:ext cx="4368865" cy="1079480"/>
            </a:xfrm>
            <a:prstGeom prst="round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340596C-60C4-1628-8D62-D0426D32DA7F}"/>
                </a:ext>
              </a:extLst>
            </p:cNvPr>
            <p:cNvSpPr/>
            <p:nvPr/>
          </p:nvSpPr>
          <p:spPr>
            <a:xfrm>
              <a:off x="5860382" y="2614632"/>
              <a:ext cx="531628" cy="520995"/>
            </a:xfrm>
            <a:prstGeom prst="ellipse">
              <a:avLst/>
            </a:prstGeom>
            <a:solidFill>
              <a:schemeClr val="accent2">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18" name="TextBox 17">
              <a:extLst>
                <a:ext uri="{FF2B5EF4-FFF2-40B4-BE49-F238E27FC236}">
                  <a16:creationId xmlns:a16="http://schemas.microsoft.com/office/drawing/2014/main" id="{4E49C0A2-D1C8-D99B-DDF8-41ACD8738352}"/>
                </a:ext>
              </a:extLst>
            </p:cNvPr>
            <p:cNvSpPr txBox="1"/>
            <p:nvPr/>
          </p:nvSpPr>
          <p:spPr>
            <a:xfrm>
              <a:off x="6396022" y="2349520"/>
              <a:ext cx="1577098" cy="369332"/>
            </a:xfrm>
            <a:prstGeom prst="rect">
              <a:avLst/>
            </a:prstGeom>
            <a:noFill/>
          </p:spPr>
          <p:txBody>
            <a:bodyPr wrap="none" rtlCol="0">
              <a:spAutoFit/>
            </a:bodyPr>
            <a:lstStyle/>
            <a:p>
              <a:r>
                <a:rPr lang="en-US" b="1" dirty="0">
                  <a:solidFill>
                    <a:schemeClr val="accent2">
                      <a:lumMod val="75000"/>
                    </a:schemeClr>
                  </a:solidFill>
                </a:rPr>
                <a:t>Simplicity First</a:t>
              </a:r>
            </a:p>
          </p:txBody>
        </p:sp>
        <p:sp>
          <p:nvSpPr>
            <p:cNvPr id="19" name="TextBox 18">
              <a:extLst>
                <a:ext uri="{FF2B5EF4-FFF2-40B4-BE49-F238E27FC236}">
                  <a16:creationId xmlns:a16="http://schemas.microsoft.com/office/drawing/2014/main" id="{0B4E57C3-57BE-54BB-1A04-E2767266414B}"/>
                </a:ext>
              </a:extLst>
            </p:cNvPr>
            <p:cNvSpPr txBox="1"/>
            <p:nvPr/>
          </p:nvSpPr>
          <p:spPr>
            <a:xfrm>
              <a:off x="6396022" y="2688318"/>
              <a:ext cx="3337660" cy="461665"/>
            </a:xfrm>
            <a:prstGeom prst="rect">
              <a:avLst/>
            </a:prstGeom>
            <a:noFill/>
          </p:spPr>
          <p:txBody>
            <a:bodyPr wrap="square">
              <a:spAutoFit/>
            </a:bodyPr>
            <a:lstStyle/>
            <a:p>
              <a:r>
                <a:rPr lang="en-US" sz="1200" dirty="0">
                  <a:solidFill>
                    <a:schemeClr val="accent2">
                      <a:lumMod val="75000"/>
                    </a:schemeClr>
                  </a:solidFill>
                </a:rPr>
                <a:t>Minimum code that solves the problem. Nothing speculative.</a:t>
              </a:r>
            </a:p>
          </p:txBody>
        </p:sp>
      </p:grpSp>
      <p:grpSp>
        <p:nvGrpSpPr>
          <p:cNvPr id="26" name="Group 25">
            <a:extLst>
              <a:ext uri="{FF2B5EF4-FFF2-40B4-BE49-F238E27FC236}">
                <a16:creationId xmlns:a16="http://schemas.microsoft.com/office/drawing/2014/main" id="{2B490F17-9812-D754-3694-AA3AEA5D2114}"/>
              </a:ext>
            </a:extLst>
          </p:cNvPr>
          <p:cNvGrpSpPr/>
          <p:nvPr/>
        </p:nvGrpSpPr>
        <p:grpSpPr>
          <a:xfrm>
            <a:off x="5769048" y="4060513"/>
            <a:ext cx="4368865" cy="1099335"/>
            <a:chOff x="5822267" y="3855194"/>
            <a:chExt cx="4368865" cy="1099335"/>
          </a:xfrm>
        </p:grpSpPr>
        <p:sp>
          <p:nvSpPr>
            <p:cNvPr id="27" name="Rectangle: Rounded Corners 26">
              <a:extLst>
                <a:ext uri="{FF2B5EF4-FFF2-40B4-BE49-F238E27FC236}">
                  <a16:creationId xmlns:a16="http://schemas.microsoft.com/office/drawing/2014/main" id="{065E909D-4F23-8DED-0E8F-C7976C80AF22}"/>
                </a:ext>
              </a:extLst>
            </p:cNvPr>
            <p:cNvSpPr/>
            <p:nvPr/>
          </p:nvSpPr>
          <p:spPr>
            <a:xfrm>
              <a:off x="5822267" y="3855194"/>
              <a:ext cx="4368865" cy="1099335"/>
            </a:xfrm>
            <a:prstGeom prst="roundRect">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DA37C62-496F-6931-0DFE-565DA2E0BFE9}"/>
                </a:ext>
              </a:extLst>
            </p:cNvPr>
            <p:cNvSpPr/>
            <p:nvPr/>
          </p:nvSpPr>
          <p:spPr>
            <a:xfrm>
              <a:off x="5867426" y="4120237"/>
              <a:ext cx="531628" cy="520995"/>
            </a:xfrm>
            <a:prstGeom prst="ellipse">
              <a:avLst/>
            </a:prstGeom>
            <a:solidFill>
              <a:schemeClr val="accent1">
                <a:lumMod val="75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29" name="TextBox 28">
              <a:extLst>
                <a:ext uri="{FF2B5EF4-FFF2-40B4-BE49-F238E27FC236}">
                  <a16:creationId xmlns:a16="http://schemas.microsoft.com/office/drawing/2014/main" id="{808EF42A-CD75-4B00-79FE-12B680803629}"/>
                </a:ext>
              </a:extLst>
            </p:cNvPr>
            <p:cNvSpPr txBox="1"/>
            <p:nvPr/>
          </p:nvSpPr>
          <p:spPr>
            <a:xfrm>
              <a:off x="6444213" y="3875049"/>
              <a:ext cx="1774717" cy="369332"/>
            </a:xfrm>
            <a:prstGeom prst="rect">
              <a:avLst/>
            </a:prstGeom>
            <a:noFill/>
          </p:spPr>
          <p:txBody>
            <a:bodyPr wrap="none" rtlCol="0">
              <a:spAutoFit/>
            </a:bodyPr>
            <a:lstStyle/>
            <a:p>
              <a:r>
                <a:rPr lang="en-US" b="1" dirty="0">
                  <a:solidFill>
                    <a:schemeClr val="accent1">
                      <a:lumMod val="75000"/>
                    </a:schemeClr>
                  </a:solidFill>
                </a:rPr>
                <a:t>Surgical Changes</a:t>
              </a:r>
            </a:p>
          </p:txBody>
        </p:sp>
        <p:sp>
          <p:nvSpPr>
            <p:cNvPr id="30" name="TextBox 29">
              <a:extLst>
                <a:ext uri="{FF2B5EF4-FFF2-40B4-BE49-F238E27FC236}">
                  <a16:creationId xmlns:a16="http://schemas.microsoft.com/office/drawing/2014/main" id="{E44506E1-BEC3-C968-0CFC-D13B5796DFFD}"/>
                </a:ext>
              </a:extLst>
            </p:cNvPr>
            <p:cNvSpPr txBox="1"/>
            <p:nvPr/>
          </p:nvSpPr>
          <p:spPr>
            <a:xfrm>
              <a:off x="6444213" y="4213847"/>
              <a:ext cx="3337660" cy="461665"/>
            </a:xfrm>
            <a:prstGeom prst="rect">
              <a:avLst/>
            </a:prstGeom>
            <a:noFill/>
          </p:spPr>
          <p:txBody>
            <a:bodyPr wrap="square">
              <a:spAutoFit/>
            </a:bodyPr>
            <a:lstStyle/>
            <a:p>
              <a:r>
                <a:rPr lang="en-US" sz="1200" dirty="0">
                  <a:solidFill>
                    <a:schemeClr val="accent1">
                      <a:lumMod val="75000"/>
                    </a:schemeClr>
                  </a:solidFill>
                </a:rPr>
                <a:t>Touch only what you must. Clean up only your own mess.</a:t>
              </a:r>
            </a:p>
          </p:txBody>
        </p:sp>
      </p:grpSp>
      <p:sp>
        <p:nvSpPr>
          <p:cNvPr id="41" name="TextBox 40">
            <a:extLst>
              <a:ext uri="{FF2B5EF4-FFF2-40B4-BE49-F238E27FC236}">
                <a16:creationId xmlns:a16="http://schemas.microsoft.com/office/drawing/2014/main" id="{12C72F0A-CB67-D6BC-0FD7-1AE742427972}"/>
              </a:ext>
            </a:extLst>
          </p:cNvPr>
          <p:cNvSpPr txBox="1"/>
          <p:nvPr/>
        </p:nvSpPr>
        <p:spPr>
          <a:xfrm>
            <a:off x="6096000" y="672727"/>
            <a:ext cx="2630592" cy="461665"/>
          </a:xfrm>
          <a:prstGeom prst="rect">
            <a:avLst/>
          </a:prstGeom>
          <a:noFill/>
        </p:spPr>
        <p:txBody>
          <a:bodyPr wrap="none" rtlCol="0">
            <a:spAutoFit/>
          </a:bodyPr>
          <a:lstStyle/>
          <a:p>
            <a:r>
              <a:rPr lang="en-US" sz="2400" b="1" dirty="0"/>
              <a:t>Principles to follow</a:t>
            </a:r>
          </a:p>
        </p:txBody>
      </p:sp>
      <p:grpSp>
        <p:nvGrpSpPr>
          <p:cNvPr id="42" name="Group 41">
            <a:extLst>
              <a:ext uri="{FF2B5EF4-FFF2-40B4-BE49-F238E27FC236}">
                <a16:creationId xmlns:a16="http://schemas.microsoft.com/office/drawing/2014/main" id="{CCA67FEF-3E0F-2196-727B-A55E42FD0B8E}"/>
              </a:ext>
            </a:extLst>
          </p:cNvPr>
          <p:cNvGrpSpPr/>
          <p:nvPr/>
        </p:nvGrpSpPr>
        <p:grpSpPr>
          <a:xfrm>
            <a:off x="5775108" y="5451741"/>
            <a:ext cx="4368865" cy="1099335"/>
            <a:chOff x="5822267" y="3855194"/>
            <a:chExt cx="4368865" cy="1099335"/>
          </a:xfrm>
        </p:grpSpPr>
        <p:sp>
          <p:nvSpPr>
            <p:cNvPr id="43" name="Rectangle: Rounded Corners 42">
              <a:extLst>
                <a:ext uri="{FF2B5EF4-FFF2-40B4-BE49-F238E27FC236}">
                  <a16:creationId xmlns:a16="http://schemas.microsoft.com/office/drawing/2014/main" id="{1EF7AD43-CA66-C546-94B8-E3DD9856EAE7}"/>
                </a:ext>
              </a:extLst>
            </p:cNvPr>
            <p:cNvSpPr/>
            <p:nvPr/>
          </p:nvSpPr>
          <p:spPr>
            <a:xfrm>
              <a:off x="5822267" y="3855194"/>
              <a:ext cx="4368865" cy="1099335"/>
            </a:xfrm>
            <a:prstGeom prst="roundRect">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8D9B73D-FB69-F0FB-24DE-D65808DE8393}"/>
                </a:ext>
              </a:extLst>
            </p:cNvPr>
            <p:cNvSpPr/>
            <p:nvPr/>
          </p:nvSpPr>
          <p:spPr>
            <a:xfrm>
              <a:off x="5867426" y="4120237"/>
              <a:ext cx="531628" cy="520995"/>
            </a:xfrm>
            <a:prstGeom prst="ellipse">
              <a:avLst/>
            </a:prstGeom>
            <a:solidFill>
              <a:schemeClr val="accent6">
                <a:lumMod val="75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45" name="TextBox 44">
              <a:extLst>
                <a:ext uri="{FF2B5EF4-FFF2-40B4-BE49-F238E27FC236}">
                  <a16:creationId xmlns:a16="http://schemas.microsoft.com/office/drawing/2014/main" id="{B3378FB0-72F4-9C63-D79B-E8C3161D8D6C}"/>
                </a:ext>
              </a:extLst>
            </p:cNvPr>
            <p:cNvSpPr txBox="1"/>
            <p:nvPr/>
          </p:nvSpPr>
          <p:spPr>
            <a:xfrm>
              <a:off x="6444213" y="3875049"/>
              <a:ext cx="2529731" cy="369332"/>
            </a:xfrm>
            <a:prstGeom prst="rect">
              <a:avLst/>
            </a:prstGeom>
            <a:noFill/>
          </p:spPr>
          <p:txBody>
            <a:bodyPr wrap="none" rtlCol="0">
              <a:spAutoFit/>
            </a:bodyPr>
            <a:lstStyle/>
            <a:p>
              <a:r>
                <a:rPr lang="en-US" b="1" dirty="0">
                  <a:solidFill>
                    <a:schemeClr val="accent6">
                      <a:lumMod val="75000"/>
                    </a:schemeClr>
                  </a:solidFill>
                </a:rPr>
                <a:t>Goal-Driven Execution</a:t>
              </a:r>
            </a:p>
          </p:txBody>
        </p:sp>
        <p:sp>
          <p:nvSpPr>
            <p:cNvPr id="46" name="TextBox 45">
              <a:extLst>
                <a:ext uri="{FF2B5EF4-FFF2-40B4-BE49-F238E27FC236}">
                  <a16:creationId xmlns:a16="http://schemas.microsoft.com/office/drawing/2014/main" id="{0FDB219D-7EB3-63D2-E8BF-864D286AA96D}"/>
                </a:ext>
              </a:extLst>
            </p:cNvPr>
            <p:cNvSpPr txBox="1"/>
            <p:nvPr/>
          </p:nvSpPr>
          <p:spPr>
            <a:xfrm>
              <a:off x="6444213" y="4213847"/>
              <a:ext cx="3337660" cy="276999"/>
            </a:xfrm>
            <a:prstGeom prst="rect">
              <a:avLst/>
            </a:prstGeom>
            <a:noFill/>
          </p:spPr>
          <p:txBody>
            <a:bodyPr wrap="square">
              <a:spAutoFit/>
            </a:bodyPr>
            <a:lstStyle/>
            <a:p>
              <a:r>
                <a:rPr lang="en-US" sz="1200" dirty="0">
                  <a:solidFill>
                    <a:schemeClr val="accent6">
                      <a:lumMod val="75000"/>
                    </a:schemeClr>
                  </a:solidFill>
                </a:rPr>
                <a:t>Define success criteria. Loop until verified.</a:t>
              </a:r>
            </a:p>
          </p:txBody>
        </p:sp>
      </p:grpSp>
    </p:spTree>
    <p:extLst>
      <p:ext uri="{BB962C8B-B14F-4D97-AF65-F5344CB8AC3E}">
        <p14:creationId xmlns:p14="http://schemas.microsoft.com/office/powerpoint/2010/main" val="3466145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3EF28-6A57-A3AB-B869-E2E426718603}"/>
            </a:ext>
          </a:extLst>
        </p:cNvPr>
        <p:cNvGrpSpPr/>
        <p:nvPr/>
      </p:nvGrpSpPr>
      <p:grpSpPr>
        <a:xfrm>
          <a:off x="0" y="0"/>
          <a:ext cx="0" cy="0"/>
          <a:chOff x="0" y="0"/>
          <a:chExt cx="0" cy="0"/>
        </a:xfrm>
      </p:grpSpPr>
      <p:pic>
        <p:nvPicPr>
          <p:cNvPr id="9218" name="Picture 2" descr="New Book: Agentic AI Engineering for Building Production-Grade AI Agents |  by Yi Zhou | Agentic AI &amp; GenAI Revolution | Medium">
            <a:extLst>
              <a:ext uri="{FF2B5EF4-FFF2-40B4-BE49-F238E27FC236}">
                <a16:creationId xmlns:a16="http://schemas.microsoft.com/office/drawing/2014/main" id="{6931C390-9D60-084B-D669-8C4F99AC5E58}"/>
              </a:ext>
            </a:extLst>
          </p:cNvPr>
          <p:cNvPicPr>
            <a:picLocks noChangeAspect="1" noChangeArrowheads="1"/>
          </p:cNvPicPr>
          <p:nvPr/>
        </p:nvPicPr>
        <p:blipFill rotWithShape="1">
          <a:blip r:embed="rId3">
            <a:alphaModFix amt="5000"/>
            <a:extLst>
              <a:ext uri="{28A0092B-C50C-407E-A947-70E740481C1C}">
                <a14:useLocalDpi xmlns:a14="http://schemas.microsoft.com/office/drawing/2010/main" val="0"/>
              </a:ext>
            </a:extLst>
          </a:blip>
          <a:srcRect t="36586" b="15730"/>
          <a:stretch>
            <a:fillRect/>
          </a:stretch>
        </p:blipFill>
        <p:spPr bwMode="auto">
          <a:xfrm>
            <a:off x="7315200" y="396134"/>
            <a:ext cx="4876800" cy="64618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D32A2FB-82FD-C54D-1728-8B70706C6148}"/>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FE8048F-B344-EC75-54B3-BF4FB7B298B8}"/>
              </a:ext>
            </a:extLst>
          </p:cNvPr>
          <p:cNvSpPr txBox="1"/>
          <p:nvPr/>
        </p:nvSpPr>
        <p:spPr>
          <a:xfrm>
            <a:off x="73572" y="15030"/>
            <a:ext cx="3558475" cy="400110"/>
          </a:xfrm>
          <a:prstGeom prst="rect">
            <a:avLst/>
          </a:prstGeom>
          <a:noFill/>
        </p:spPr>
        <p:txBody>
          <a:bodyPr wrap="none" rtlCol="0">
            <a:spAutoFit/>
          </a:bodyPr>
          <a:lstStyle/>
          <a:p>
            <a:r>
              <a:rPr lang="en-US" sz="2000" b="1" dirty="0">
                <a:solidFill>
                  <a:schemeClr val="tx1">
                    <a:lumMod val="65000"/>
                    <a:lumOff val="35000"/>
                  </a:schemeClr>
                </a:solidFill>
              </a:rPr>
              <a:t>What is Agentic Engineering?</a:t>
            </a:r>
          </a:p>
        </p:txBody>
      </p:sp>
      <p:sp>
        <p:nvSpPr>
          <p:cNvPr id="8" name="TextBox 7">
            <a:extLst>
              <a:ext uri="{FF2B5EF4-FFF2-40B4-BE49-F238E27FC236}">
                <a16:creationId xmlns:a16="http://schemas.microsoft.com/office/drawing/2014/main" id="{0DCACF2C-EA8F-FE08-7407-1F3170FEB470}"/>
              </a:ext>
            </a:extLst>
          </p:cNvPr>
          <p:cNvSpPr txBox="1"/>
          <p:nvPr/>
        </p:nvSpPr>
        <p:spPr>
          <a:xfrm>
            <a:off x="407028" y="651677"/>
            <a:ext cx="11257434" cy="707886"/>
          </a:xfrm>
          <a:prstGeom prst="rect">
            <a:avLst/>
          </a:prstGeom>
          <a:noFill/>
        </p:spPr>
        <p:txBody>
          <a:bodyPr wrap="square">
            <a:spAutoFit/>
          </a:bodyPr>
          <a:lstStyle/>
          <a:p>
            <a:r>
              <a:rPr lang="en-US" sz="2000" dirty="0"/>
              <a:t>Agentic engineering is the discipline of building software with autonomous AI agents as collaborators </a:t>
            </a:r>
          </a:p>
          <a:p>
            <a:r>
              <a:rPr lang="en-US" sz="2000" dirty="0"/>
              <a:t>— not just using AI as a smarter autocomplete.</a:t>
            </a:r>
          </a:p>
        </p:txBody>
      </p:sp>
      <p:sp>
        <p:nvSpPr>
          <p:cNvPr id="12" name="TextBox 11">
            <a:extLst>
              <a:ext uri="{FF2B5EF4-FFF2-40B4-BE49-F238E27FC236}">
                <a16:creationId xmlns:a16="http://schemas.microsoft.com/office/drawing/2014/main" id="{E32121A7-83B5-E0C3-4708-A07B04CB2A9C}"/>
              </a:ext>
            </a:extLst>
          </p:cNvPr>
          <p:cNvSpPr txBox="1"/>
          <p:nvPr/>
        </p:nvSpPr>
        <p:spPr>
          <a:xfrm>
            <a:off x="407028" y="2336254"/>
            <a:ext cx="11257433" cy="2308324"/>
          </a:xfrm>
          <a:prstGeom prst="rect">
            <a:avLst/>
          </a:prstGeom>
          <a:noFill/>
        </p:spPr>
        <p:txBody>
          <a:bodyPr wrap="square">
            <a:spAutoFit/>
          </a:bodyPr>
          <a:lstStyle/>
          <a:p>
            <a:r>
              <a:rPr lang="en-US" b="1" dirty="0"/>
              <a:t>Traditional software engineering:</a:t>
            </a:r>
            <a:r>
              <a:rPr lang="en-US" dirty="0"/>
              <a:t> A human writes code, Tools assist with syntax, tests &amp; deployment.</a:t>
            </a:r>
          </a:p>
          <a:p>
            <a:endParaRPr lang="en-US" dirty="0"/>
          </a:p>
          <a:p>
            <a:r>
              <a:rPr lang="en-US" b="1" dirty="0"/>
              <a:t>AI-assisted engineering (Copilot era):</a:t>
            </a:r>
            <a:r>
              <a:rPr lang="en-US" dirty="0"/>
              <a:t> A human writes code, AI suggests the next line or function, The human accepts or rejects.</a:t>
            </a:r>
          </a:p>
          <a:p>
            <a:endParaRPr lang="en-US" dirty="0"/>
          </a:p>
          <a:p>
            <a:r>
              <a:rPr lang="en-US" b="1" dirty="0"/>
              <a:t>Agentic engineering:</a:t>
            </a:r>
            <a:r>
              <a:rPr lang="en-US" dirty="0"/>
              <a:t> A human defines the goal and constraints. An AI agent plans, writes, runs, tests, and iterates on multi-step work autonomously. The human reviews and approves outcomes. The unit of work shifts from "lines of code" to "tasks completed."</a:t>
            </a:r>
          </a:p>
        </p:txBody>
      </p:sp>
      <p:sp>
        <p:nvSpPr>
          <p:cNvPr id="7" name="TextBox 6">
            <a:extLst>
              <a:ext uri="{FF2B5EF4-FFF2-40B4-BE49-F238E27FC236}">
                <a16:creationId xmlns:a16="http://schemas.microsoft.com/office/drawing/2014/main" id="{A317B50D-AEE3-C656-B23A-14A2B07E839D}"/>
              </a:ext>
            </a:extLst>
          </p:cNvPr>
          <p:cNvSpPr txBox="1"/>
          <p:nvPr/>
        </p:nvSpPr>
        <p:spPr>
          <a:xfrm>
            <a:off x="350703" y="1849692"/>
            <a:ext cx="6096000" cy="369332"/>
          </a:xfrm>
          <a:prstGeom prst="rect">
            <a:avLst/>
          </a:prstGeom>
          <a:noFill/>
        </p:spPr>
        <p:txBody>
          <a:bodyPr wrap="square">
            <a:spAutoFit/>
          </a:bodyPr>
          <a:lstStyle/>
          <a:p>
            <a:r>
              <a:rPr lang="en-US" b="1" u="sng" dirty="0"/>
              <a:t>The shift in what "engineering" means</a:t>
            </a:r>
          </a:p>
        </p:txBody>
      </p:sp>
      <p:sp>
        <p:nvSpPr>
          <p:cNvPr id="10" name="TextBox 9">
            <a:extLst>
              <a:ext uri="{FF2B5EF4-FFF2-40B4-BE49-F238E27FC236}">
                <a16:creationId xmlns:a16="http://schemas.microsoft.com/office/drawing/2014/main" id="{71BA49CA-9BDF-8744-5A8B-63F3A6CB60B3}"/>
              </a:ext>
            </a:extLst>
          </p:cNvPr>
          <p:cNvSpPr txBox="1"/>
          <p:nvPr/>
        </p:nvSpPr>
        <p:spPr>
          <a:xfrm>
            <a:off x="1315660" y="5325954"/>
            <a:ext cx="8971340" cy="880369"/>
          </a:xfrm>
          <a:prstGeom prst="rect">
            <a:avLst/>
          </a:prstGeom>
          <a:noFill/>
        </p:spPr>
        <p:txBody>
          <a:bodyPr wrap="square">
            <a:spAutoFit/>
          </a:bodyPr>
          <a:lstStyle/>
          <a:p>
            <a:pPr>
              <a:lnSpc>
                <a:spcPct val="150000"/>
              </a:lnSpc>
            </a:pPr>
            <a:r>
              <a:rPr lang="en-US" sz="1800" b="1" i="1" kern="1200" dirty="0">
                <a:solidFill>
                  <a:schemeClr val="tx2">
                    <a:lumMod val="75000"/>
                    <a:lumOff val="25000"/>
                  </a:schemeClr>
                </a:solidFill>
                <a:effectLst/>
                <a:latin typeface="+mn-lt"/>
                <a:ea typeface="+mn-ea"/>
                <a:cs typeface="+mn-cs"/>
              </a:rPr>
              <a:t>Using AI: </a:t>
            </a:r>
            <a:r>
              <a:rPr lang="en-US" sz="1800" i="1" kern="1200" dirty="0">
                <a:solidFill>
                  <a:schemeClr val="tx2">
                    <a:lumMod val="75000"/>
                    <a:lumOff val="25000"/>
                  </a:schemeClr>
                </a:solidFill>
                <a:effectLst/>
                <a:latin typeface="+mn-lt"/>
                <a:ea typeface="+mn-ea"/>
                <a:cs typeface="+mn-cs"/>
              </a:rPr>
              <a:t>The engineer writes code faster. </a:t>
            </a:r>
          </a:p>
          <a:p>
            <a:pPr>
              <a:lnSpc>
                <a:spcPct val="150000"/>
              </a:lnSpc>
            </a:pPr>
            <a:r>
              <a:rPr lang="en-US" sz="1800" b="1" i="1" kern="1200" dirty="0">
                <a:solidFill>
                  <a:schemeClr val="tx2">
                    <a:lumMod val="75000"/>
                    <a:lumOff val="25000"/>
                  </a:schemeClr>
                </a:solidFill>
                <a:effectLst/>
                <a:latin typeface="+mn-lt"/>
                <a:ea typeface="+mn-ea"/>
                <a:cs typeface="+mn-cs"/>
              </a:rPr>
              <a:t>Agentic engineering: </a:t>
            </a:r>
            <a:r>
              <a:rPr lang="en-US" sz="1800" i="1" kern="1200" dirty="0">
                <a:solidFill>
                  <a:schemeClr val="tx2">
                    <a:lumMod val="75000"/>
                    <a:lumOff val="25000"/>
                  </a:schemeClr>
                </a:solidFill>
                <a:effectLst/>
                <a:latin typeface="+mn-lt"/>
                <a:ea typeface="+mn-ea"/>
                <a:cs typeface="+mn-cs"/>
              </a:rPr>
              <a:t>The engineer designs a system in which agents write code reliably.</a:t>
            </a:r>
            <a:endParaRPr lang="en-US" sz="1800" i="0" kern="1200" dirty="0">
              <a:solidFill>
                <a:schemeClr val="tx2">
                  <a:lumMod val="75000"/>
                  <a:lumOff val="25000"/>
                </a:schemeClr>
              </a:solidFill>
              <a:effectLst/>
              <a:latin typeface="+mn-lt"/>
              <a:ea typeface="+mn-ea"/>
              <a:cs typeface="+mn-cs"/>
            </a:endParaRPr>
          </a:p>
        </p:txBody>
      </p:sp>
      <p:cxnSp>
        <p:nvCxnSpPr>
          <p:cNvPr id="13" name="Straight Connector 12">
            <a:extLst>
              <a:ext uri="{FF2B5EF4-FFF2-40B4-BE49-F238E27FC236}">
                <a16:creationId xmlns:a16="http://schemas.microsoft.com/office/drawing/2014/main" id="{41E51D02-62BC-ADA3-E37D-B74A041EB422}"/>
              </a:ext>
            </a:extLst>
          </p:cNvPr>
          <p:cNvCxnSpPr/>
          <p:nvPr/>
        </p:nvCxnSpPr>
        <p:spPr>
          <a:xfrm>
            <a:off x="350704" y="5134708"/>
            <a:ext cx="1119652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1887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C8E4-EDB1-7137-B481-CAF9E477DE72}"/>
            </a:ext>
          </a:extLst>
        </p:cNvPr>
        <p:cNvGrpSpPr/>
        <p:nvPr/>
      </p:nvGrpSpPr>
      <p:grpSpPr>
        <a:xfrm>
          <a:off x="0" y="0"/>
          <a:ext cx="0" cy="0"/>
          <a:chOff x="0" y="0"/>
          <a:chExt cx="0" cy="0"/>
        </a:xfrm>
      </p:grpSpPr>
      <p:pic>
        <p:nvPicPr>
          <p:cNvPr id="17" name="Picture 2" descr="New Book: Agentic AI Engineering for Building Production-Grade AI Agents |  by Yi Zhou | Agentic AI &amp; GenAI Revolution | Medium">
            <a:extLst>
              <a:ext uri="{FF2B5EF4-FFF2-40B4-BE49-F238E27FC236}">
                <a16:creationId xmlns:a16="http://schemas.microsoft.com/office/drawing/2014/main" id="{ACF10D8F-6D09-F5B5-CFD5-99F9CF19F90B}"/>
              </a:ext>
            </a:extLst>
          </p:cNvPr>
          <p:cNvPicPr>
            <a:picLocks noChangeAspect="1" noChangeArrowheads="1"/>
          </p:cNvPicPr>
          <p:nvPr/>
        </p:nvPicPr>
        <p:blipFill rotWithShape="1">
          <a:blip r:embed="rId3">
            <a:alphaModFix amt="5000"/>
            <a:extLst>
              <a:ext uri="{28A0092B-C50C-407E-A947-70E740481C1C}">
                <a14:useLocalDpi xmlns:a14="http://schemas.microsoft.com/office/drawing/2010/main" val="0"/>
              </a:ext>
            </a:extLst>
          </a:blip>
          <a:srcRect t="36586" b="15730"/>
          <a:stretch>
            <a:fillRect/>
          </a:stretch>
        </p:blipFill>
        <p:spPr bwMode="auto">
          <a:xfrm>
            <a:off x="7795034" y="396134"/>
            <a:ext cx="4396966" cy="64618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EDB3E0F-D534-6A4C-15F2-9BDF3967D5BB}"/>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D760BA2-F659-3E17-6031-923A8D7B0DEC}"/>
              </a:ext>
            </a:extLst>
          </p:cNvPr>
          <p:cNvSpPr txBox="1"/>
          <p:nvPr/>
        </p:nvSpPr>
        <p:spPr>
          <a:xfrm>
            <a:off x="73572" y="15030"/>
            <a:ext cx="2759089" cy="400110"/>
          </a:xfrm>
          <a:prstGeom prst="rect">
            <a:avLst/>
          </a:prstGeom>
          <a:noFill/>
        </p:spPr>
        <p:txBody>
          <a:bodyPr wrap="none" rtlCol="0">
            <a:spAutoFit/>
          </a:bodyPr>
          <a:lstStyle/>
          <a:p>
            <a:r>
              <a:rPr lang="en-US" sz="2000" b="1" dirty="0">
                <a:solidFill>
                  <a:schemeClr val="tx1">
                    <a:lumMod val="65000"/>
                    <a:lumOff val="35000"/>
                  </a:schemeClr>
                </a:solidFill>
              </a:rPr>
              <a:t>Why it's "engineering?</a:t>
            </a:r>
          </a:p>
        </p:txBody>
      </p:sp>
      <p:sp>
        <p:nvSpPr>
          <p:cNvPr id="12" name="TextBox 11">
            <a:extLst>
              <a:ext uri="{FF2B5EF4-FFF2-40B4-BE49-F238E27FC236}">
                <a16:creationId xmlns:a16="http://schemas.microsoft.com/office/drawing/2014/main" id="{4374C032-6DEF-04A3-E768-68029EC6ED7C}"/>
              </a:ext>
            </a:extLst>
          </p:cNvPr>
          <p:cNvSpPr txBox="1"/>
          <p:nvPr/>
        </p:nvSpPr>
        <p:spPr>
          <a:xfrm>
            <a:off x="411101" y="1341090"/>
            <a:ext cx="10411485" cy="33733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t>Task specification</a:t>
            </a:r>
            <a:r>
              <a:rPr lang="en-US" dirty="0"/>
              <a:t> — writing prompts and contexts the agent can succeed against</a:t>
            </a:r>
          </a:p>
          <a:p>
            <a:pPr marL="285750" indent="-285750">
              <a:lnSpc>
                <a:spcPct val="150000"/>
              </a:lnSpc>
              <a:buFont typeface="Arial" panose="020B0604020202020204" pitchFamily="34" charset="0"/>
              <a:buChar char="•"/>
            </a:pPr>
            <a:r>
              <a:rPr lang="en-US" b="1" dirty="0"/>
              <a:t>Tooling</a:t>
            </a:r>
            <a:r>
              <a:rPr lang="en-US" dirty="0"/>
              <a:t> — building the file access, command execution, test runners, and observability the agent uses</a:t>
            </a:r>
          </a:p>
          <a:p>
            <a:pPr marL="285750" indent="-285750">
              <a:lnSpc>
                <a:spcPct val="150000"/>
              </a:lnSpc>
              <a:buFont typeface="Arial" panose="020B0604020202020204" pitchFamily="34" charset="0"/>
              <a:buChar char="•"/>
            </a:pPr>
            <a:r>
              <a:rPr lang="en-US" b="1" dirty="0"/>
              <a:t>Permissions and sandboxing</a:t>
            </a:r>
            <a:r>
              <a:rPr lang="en-US" dirty="0"/>
              <a:t> — scoping what the agent can touch (read-only vs. write, dev vs. prod)</a:t>
            </a:r>
          </a:p>
          <a:p>
            <a:pPr marL="285750" indent="-285750">
              <a:lnSpc>
                <a:spcPct val="150000"/>
              </a:lnSpc>
              <a:buFont typeface="Arial" panose="020B0604020202020204" pitchFamily="34" charset="0"/>
              <a:buChar char="•"/>
            </a:pPr>
            <a:r>
              <a:rPr lang="en-US" b="1" dirty="0"/>
              <a:t>Human-in-the-loop gates</a:t>
            </a:r>
            <a:r>
              <a:rPr lang="en-US" dirty="0"/>
              <a:t> — deciding what requires review (every PR? destructive ops? schema changes?)</a:t>
            </a:r>
          </a:p>
          <a:p>
            <a:pPr marL="285750" indent="-285750">
              <a:lnSpc>
                <a:spcPct val="150000"/>
              </a:lnSpc>
              <a:buFont typeface="Arial" panose="020B0604020202020204" pitchFamily="34" charset="0"/>
              <a:buChar char="•"/>
            </a:pPr>
            <a:r>
              <a:rPr lang="en-US" b="1" dirty="0"/>
              <a:t>Evals and observability</a:t>
            </a:r>
            <a:r>
              <a:rPr lang="en-US" dirty="0"/>
              <a:t> — measuring where the agent succeeds and fails, iterating like you would on any production system</a:t>
            </a:r>
          </a:p>
          <a:p>
            <a:pPr marL="285750" indent="-285750">
              <a:lnSpc>
                <a:spcPct val="150000"/>
              </a:lnSpc>
              <a:buFont typeface="Arial" panose="020B0604020202020204" pitchFamily="34" charset="0"/>
              <a:buChar char="•"/>
            </a:pPr>
            <a:r>
              <a:rPr lang="en-US" b="1" dirty="0"/>
              <a:t>Rollback and recovery</a:t>
            </a:r>
            <a:r>
              <a:rPr lang="en-US" dirty="0"/>
              <a:t> — assuming the agent will be wrong sometimes, and designing for graceful failure</a:t>
            </a:r>
          </a:p>
          <a:p>
            <a:pPr marL="285750" indent="-285750">
              <a:lnSpc>
                <a:spcPct val="150000"/>
              </a:lnSpc>
              <a:buFont typeface="Arial" panose="020B0604020202020204" pitchFamily="34" charset="0"/>
              <a:buChar char="•"/>
            </a:pPr>
            <a:endParaRPr lang="en-US" dirty="0"/>
          </a:p>
        </p:txBody>
      </p:sp>
      <p:sp>
        <p:nvSpPr>
          <p:cNvPr id="9" name="TextBox 8">
            <a:extLst>
              <a:ext uri="{FF2B5EF4-FFF2-40B4-BE49-F238E27FC236}">
                <a16:creationId xmlns:a16="http://schemas.microsoft.com/office/drawing/2014/main" id="{D54AF8AF-9619-4FED-95CF-D44F600C2BB9}"/>
              </a:ext>
            </a:extLst>
          </p:cNvPr>
          <p:cNvSpPr txBox="1"/>
          <p:nvPr/>
        </p:nvSpPr>
        <p:spPr>
          <a:xfrm>
            <a:off x="0" y="5866035"/>
            <a:ext cx="10142777" cy="369332"/>
          </a:xfrm>
          <a:prstGeom prst="rect">
            <a:avLst/>
          </a:prstGeom>
          <a:noFill/>
        </p:spPr>
        <p:txBody>
          <a:bodyPr wrap="square">
            <a:spAutoFit/>
          </a:bodyPr>
          <a:lstStyle/>
          <a:p>
            <a:pPr algn="ctr"/>
            <a:r>
              <a:rPr lang="en-US" dirty="0">
                <a:solidFill>
                  <a:schemeClr val="tx2">
                    <a:lumMod val="75000"/>
                    <a:lumOff val="25000"/>
                  </a:schemeClr>
                </a:solidFill>
              </a:rPr>
              <a:t>Discipline is everything around the agent.</a:t>
            </a:r>
          </a:p>
        </p:txBody>
      </p:sp>
      <p:sp>
        <p:nvSpPr>
          <p:cNvPr id="16" name="TextBox 15">
            <a:extLst>
              <a:ext uri="{FF2B5EF4-FFF2-40B4-BE49-F238E27FC236}">
                <a16:creationId xmlns:a16="http://schemas.microsoft.com/office/drawing/2014/main" id="{5DAFFD72-44DA-D205-3A55-586D89874B2B}"/>
              </a:ext>
            </a:extLst>
          </p:cNvPr>
          <p:cNvSpPr txBox="1"/>
          <p:nvPr/>
        </p:nvSpPr>
        <p:spPr>
          <a:xfrm>
            <a:off x="646187" y="622633"/>
            <a:ext cx="9347330" cy="461665"/>
          </a:xfrm>
          <a:prstGeom prst="rect">
            <a:avLst/>
          </a:prstGeom>
          <a:noFill/>
        </p:spPr>
        <p:txBody>
          <a:bodyPr wrap="square">
            <a:spAutoFit/>
          </a:bodyPr>
          <a:lstStyle/>
          <a:p>
            <a:r>
              <a:rPr lang="en-US" sz="2400" dirty="0">
                <a:solidFill>
                  <a:schemeClr val="tx2">
                    <a:lumMod val="75000"/>
                    <a:lumOff val="25000"/>
                  </a:schemeClr>
                </a:solidFill>
              </a:rPr>
              <a:t>The developer's role has shifted from author to operator and reviewer.</a:t>
            </a:r>
          </a:p>
        </p:txBody>
      </p:sp>
    </p:spTree>
    <p:extLst>
      <p:ext uri="{BB962C8B-B14F-4D97-AF65-F5344CB8AC3E}">
        <p14:creationId xmlns:p14="http://schemas.microsoft.com/office/powerpoint/2010/main" val="489972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F62CA-8BA3-6294-FF78-8D78FB9A12F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428FDC0-CCFA-E725-D60F-F20EDEC646AB}"/>
              </a:ext>
            </a:extLst>
          </p:cNvPr>
          <p:cNvSpPr txBox="1"/>
          <p:nvPr/>
        </p:nvSpPr>
        <p:spPr>
          <a:xfrm>
            <a:off x="0" y="877248"/>
            <a:ext cx="12192000" cy="646331"/>
          </a:xfrm>
          <a:prstGeom prst="rect">
            <a:avLst/>
          </a:prstGeom>
          <a:noFill/>
        </p:spPr>
        <p:txBody>
          <a:bodyPr wrap="square">
            <a:spAutoFit/>
          </a:bodyPr>
          <a:lstStyle/>
          <a:p>
            <a:pPr algn="ctr"/>
            <a:r>
              <a:rPr lang="en-US" sz="3600" dirty="0"/>
              <a:t>Mindset Migration</a:t>
            </a:r>
          </a:p>
        </p:txBody>
      </p:sp>
      <p:grpSp>
        <p:nvGrpSpPr>
          <p:cNvPr id="30" name="Group 29">
            <a:extLst>
              <a:ext uri="{FF2B5EF4-FFF2-40B4-BE49-F238E27FC236}">
                <a16:creationId xmlns:a16="http://schemas.microsoft.com/office/drawing/2014/main" id="{9ACD7796-5657-A024-CE05-03FF2C52D181}"/>
              </a:ext>
            </a:extLst>
          </p:cNvPr>
          <p:cNvGrpSpPr/>
          <p:nvPr/>
        </p:nvGrpSpPr>
        <p:grpSpPr>
          <a:xfrm>
            <a:off x="2341983" y="3517641"/>
            <a:ext cx="7081934" cy="1412885"/>
            <a:chOff x="-77278" y="1833073"/>
            <a:chExt cx="7081934" cy="1412885"/>
          </a:xfrm>
        </p:grpSpPr>
        <p:sp>
          <p:nvSpPr>
            <p:cNvPr id="3" name="OldMindsetCard">
              <a:extLst>
                <a:ext uri="{FF2B5EF4-FFF2-40B4-BE49-F238E27FC236}">
                  <a16:creationId xmlns:a16="http://schemas.microsoft.com/office/drawing/2014/main" id="{C67A3CF1-644F-8B4C-2B0D-C544FA88DFB9}"/>
                </a:ext>
              </a:extLst>
            </p:cNvPr>
            <p:cNvSpPr/>
            <p:nvPr/>
          </p:nvSpPr>
          <p:spPr>
            <a:xfrm>
              <a:off x="-77278" y="1833073"/>
              <a:ext cx="3180697" cy="1412885"/>
            </a:xfrm>
            <a:prstGeom prst="roundRect">
              <a:avLst/>
            </a:prstGeom>
            <a:solidFill>
              <a:srgbClr val="EFEAE2"/>
            </a:solidFill>
            <a:ln w="12700" cap="rnd" cmpd="sng" algn="ctr">
              <a:solidFill>
                <a:srgbClr val="C8B89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689C8214-298D-8C80-91AA-725EF025039D}"/>
                </a:ext>
              </a:extLst>
            </p:cNvPr>
            <p:cNvSpPr txBox="1"/>
            <p:nvPr/>
          </p:nvSpPr>
          <p:spPr>
            <a:xfrm>
              <a:off x="76339" y="1891493"/>
              <a:ext cx="1545890" cy="457200"/>
            </a:xfrm>
            <a:prstGeom prst="rect">
              <a:avLst/>
            </a:prstGeom>
            <a:noFill/>
          </p:spPr>
          <p:txBody>
            <a:bodyPr vertOverflow="overflow" vert="horz" wrap="square" rtlCol="0" anchor="t">
              <a:noAutofit/>
            </a:bodyPr>
            <a:lstStyle/>
            <a:p>
              <a:pPr algn="l"/>
              <a:r>
                <a:rPr lang="en-US" b="1" dirty="0">
                  <a:solidFill>
                    <a:srgbClr val="1A2332"/>
                  </a:solidFill>
                </a:rPr>
                <a:t>The Coder</a:t>
              </a:r>
            </a:p>
          </p:txBody>
        </p:sp>
        <p:sp>
          <p:nvSpPr>
            <p:cNvPr id="7" name="TextBox 6">
              <a:extLst>
                <a:ext uri="{FF2B5EF4-FFF2-40B4-BE49-F238E27FC236}">
                  <a16:creationId xmlns:a16="http://schemas.microsoft.com/office/drawing/2014/main" id="{966261D5-384C-A366-7A0B-8C1B08EA6C87}"/>
                </a:ext>
              </a:extLst>
            </p:cNvPr>
            <p:cNvSpPr txBox="1"/>
            <p:nvPr/>
          </p:nvSpPr>
          <p:spPr>
            <a:xfrm>
              <a:off x="76339" y="2323999"/>
              <a:ext cx="2911718" cy="723678"/>
            </a:xfrm>
            <a:prstGeom prst="rect">
              <a:avLst/>
            </a:prstGeom>
            <a:noFill/>
          </p:spPr>
          <p:txBody>
            <a:bodyPr vertOverflow="overflow" vert="horz" wrap="square" rtlCol="0" anchor="t">
              <a:noAutofit/>
            </a:bodyPr>
            <a:lstStyle/>
            <a:p>
              <a:pPr marL="285750" indent="-285750" algn="l">
                <a:buFont typeface="Arial" panose="020B0604020202020204" pitchFamily="34" charset="0"/>
                <a:buChar char="•"/>
              </a:pPr>
              <a:r>
                <a:rPr lang="en-US" sz="1400" dirty="0">
                  <a:solidFill>
                    <a:srgbClr val="2C3E50"/>
                  </a:solidFill>
                  <a:cs typeface="Segoe UI"/>
                </a:rPr>
                <a:t>Writes lines of code
Accepts AI suggestions
Measured by output volume</a:t>
              </a:r>
            </a:p>
          </p:txBody>
        </p:sp>
        <p:sp>
          <p:nvSpPr>
            <p:cNvPr id="8" name="NewMindsetCard">
              <a:extLst>
                <a:ext uri="{FF2B5EF4-FFF2-40B4-BE49-F238E27FC236}">
                  <a16:creationId xmlns:a16="http://schemas.microsoft.com/office/drawing/2014/main" id="{80AF0A7A-5333-4720-BADA-D2D3BACFE7F6}"/>
                </a:ext>
              </a:extLst>
            </p:cNvPr>
            <p:cNvSpPr/>
            <p:nvPr/>
          </p:nvSpPr>
          <p:spPr>
            <a:xfrm>
              <a:off x="3958941" y="1833073"/>
              <a:ext cx="3045715" cy="1412885"/>
            </a:xfrm>
            <a:prstGeom prst="roundRect">
              <a:avLst/>
            </a:prstGeom>
            <a:solidFill>
              <a:schemeClr val="accent5">
                <a:lumMod val="40000"/>
                <a:lumOff val="60000"/>
              </a:schemeClr>
            </a:solidFill>
            <a:ln w="19050" cap="rnd" cmpd="sng" algn="ctr">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14C61A78-2000-CA28-9FCA-2D75D454A113}"/>
                </a:ext>
              </a:extLst>
            </p:cNvPr>
            <p:cNvSpPr txBox="1"/>
            <p:nvPr/>
          </p:nvSpPr>
          <p:spPr>
            <a:xfrm>
              <a:off x="4098900" y="1861272"/>
              <a:ext cx="1818345" cy="457200"/>
            </a:xfrm>
            <a:prstGeom prst="rect">
              <a:avLst/>
            </a:prstGeom>
            <a:noFill/>
          </p:spPr>
          <p:txBody>
            <a:bodyPr vertOverflow="overflow" vert="horz" wrap="square" rtlCol="0" anchor="t">
              <a:noAutofit/>
            </a:bodyPr>
            <a:lstStyle/>
            <a:p>
              <a:pPr algn="l"/>
              <a:r>
                <a:rPr lang="en-US" b="1" dirty="0">
                  <a:solidFill>
                    <a:schemeClr val="accent5">
                      <a:lumMod val="50000"/>
                    </a:schemeClr>
                  </a:solidFill>
                </a:rPr>
                <a:t>The Director</a:t>
              </a:r>
            </a:p>
          </p:txBody>
        </p:sp>
        <p:sp>
          <p:nvSpPr>
            <p:cNvPr id="13" name="TextBox 12">
              <a:extLst>
                <a:ext uri="{FF2B5EF4-FFF2-40B4-BE49-F238E27FC236}">
                  <a16:creationId xmlns:a16="http://schemas.microsoft.com/office/drawing/2014/main" id="{25512186-F35A-C229-40C3-923DFEBB6DB3}"/>
                </a:ext>
              </a:extLst>
            </p:cNvPr>
            <p:cNvSpPr txBox="1"/>
            <p:nvPr/>
          </p:nvSpPr>
          <p:spPr>
            <a:xfrm>
              <a:off x="4098900" y="2311707"/>
              <a:ext cx="2866738" cy="824218"/>
            </a:xfrm>
            <a:prstGeom prst="rect">
              <a:avLst/>
            </a:prstGeom>
            <a:noFill/>
          </p:spPr>
          <p:txBody>
            <a:bodyPr vertOverflow="overflow" vert="horz" wrap="square" rtlCol="0" anchor="t">
              <a:noAutofit/>
            </a:bodyPr>
            <a:lstStyle/>
            <a:p>
              <a:pPr marL="285750" indent="-285750" algn="l">
                <a:buFont typeface="Arial" panose="020B0604020202020204" pitchFamily="34" charset="0"/>
                <a:buChar char="•"/>
              </a:pPr>
              <a:r>
                <a:rPr lang="en-US" sz="1400" dirty="0">
                  <a:solidFill>
                    <a:schemeClr val="accent5">
                      <a:lumMod val="50000"/>
                    </a:schemeClr>
                  </a:solidFill>
                  <a:cs typeface="Segoe UI"/>
                </a:rPr>
                <a:t>Specifies goals &amp; constraints
Reviews agent outcomes
Measured by tasks shipped</a:t>
              </a:r>
            </a:p>
          </p:txBody>
        </p:sp>
        <p:sp>
          <p:nvSpPr>
            <p:cNvPr id="14" name="Arrow: Right 13">
              <a:extLst>
                <a:ext uri="{FF2B5EF4-FFF2-40B4-BE49-F238E27FC236}">
                  <a16:creationId xmlns:a16="http://schemas.microsoft.com/office/drawing/2014/main" id="{6DDC61FC-69D5-9E8E-5DC6-1D21B47AD581}"/>
                </a:ext>
              </a:extLst>
            </p:cNvPr>
            <p:cNvSpPr/>
            <p:nvPr/>
          </p:nvSpPr>
          <p:spPr>
            <a:xfrm>
              <a:off x="3213680" y="2368216"/>
              <a:ext cx="635000" cy="355600"/>
            </a:xfrm>
            <a:prstGeom prst="rightArrow">
              <a:avLst/>
            </a:prstGeom>
            <a:solidFill>
              <a:srgbClr val="C8763C"/>
            </a:solidFill>
            <a:ln w="19050" cap="rnd"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pSp>
      <p:sp>
        <p:nvSpPr>
          <p:cNvPr id="19" name="TextBox 18">
            <a:extLst>
              <a:ext uri="{FF2B5EF4-FFF2-40B4-BE49-F238E27FC236}">
                <a16:creationId xmlns:a16="http://schemas.microsoft.com/office/drawing/2014/main" id="{94945333-A29A-BD3A-BBE0-E12ABB4A9027}"/>
              </a:ext>
            </a:extLst>
          </p:cNvPr>
          <p:cNvSpPr txBox="1"/>
          <p:nvPr/>
        </p:nvSpPr>
        <p:spPr>
          <a:xfrm>
            <a:off x="0" y="1631453"/>
            <a:ext cx="12192000" cy="795539"/>
          </a:xfrm>
          <a:prstGeom prst="rect">
            <a:avLst/>
          </a:prstGeom>
          <a:noFill/>
        </p:spPr>
        <p:txBody>
          <a:bodyPr wrap="square">
            <a:spAutoFit/>
          </a:bodyPr>
          <a:lstStyle/>
          <a:p>
            <a:pPr algn="ctr">
              <a:lnSpc>
                <a:spcPct val="150000"/>
              </a:lnSpc>
            </a:pPr>
            <a:r>
              <a:rPr lang="en-US" sz="1600" b="1" dirty="0"/>
              <a:t>The job isn't writing code anymore. </a:t>
            </a:r>
          </a:p>
          <a:p>
            <a:pPr algn="ctr">
              <a:lnSpc>
                <a:spcPct val="150000"/>
              </a:lnSpc>
            </a:pPr>
            <a:r>
              <a:rPr lang="en-US" sz="1600" b="1" dirty="0"/>
              <a:t>It's engineering a system that produces code reliably — and you're the one running it.</a:t>
            </a:r>
          </a:p>
        </p:txBody>
      </p:sp>
    </p:spTree>
    <p:extLst>
      <p:ext uri="{BB962C8B-B14F-4D97-AF65-F5344CB8AC3E}">
        <p14:creationId xmlns:p14="http://schemas.microsoft.com/office/powerpoint/2010/main" val="506841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19C77-AE67-9529-F585-6C3D7D7BBA4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87A56C-6B40-0F9A-0245-33946BD33921}"/>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1909FD6-7596-DACC-4E59-7D4726BEA31A}"/>
              </a:ext>
            </a:extLst>
          </p:cNvPr>
          <p:cNvSpPr txBox="1"/>
          <p:nvPr/>
        </p:nvSpPr>
        <p:spPr>
          <a:xfrm>
            <a:off x="73572" y="15030"/>
            <a:ext cx="5310877" cy="400110"/>
          </a:xfrm>
          <a:prstGeom prst="rect">
            <a:avLst/>
          </a:prstGeom>
          <a:noFill/>
        </p:spPr>
        <p:txBody>
          <a:bodyPr wrap="none" rtlCol="0">
            <a:spAutoFit/>
          </a:bodyPr>
          <a:lstStyle/>
          <a:p>
            <a:r>
              <a:rPr lang="en-US" sz="2000" b="1" dirty="0">
                <a:solidFill>
                  <a:schemeClr val="tx1">
                    <a:lumMod val="65000"/>
                    <a:lumOff val="35000"/>
                  </a:schemeClr>
                </a:solidFill>
              </a:rPr>
              <a:t>Mindset Migration - </a:t>
            </a:r>
            <a:r>
              <a:rPr lang="en-US" b="1" dirty="0">
                <a:solidFill>
                  <a:schemeClr val="tx1">
                    <a:lumMod val="65000"/>
                    <a:lumOff val="35000"/>
                  </a:schemeClr>
                </a:solidFill>
              </a:rPr>
              <a:t>Why this is genuinely hard?</a:t>
            </a:r>
            <a:endParaRPr lang="en-US" sz="2000" b="1" dirty="0">
              <a:solidFill>
                <a:schemeClr val="tx1">
                  <a:lumMod val="65000"/>
                  <a:lumOff val="35000"/>
                </a:schemeClr>
              </a:solidFill>
            </a:endParaRPr>
          </a:p>
        </p:txBody>
      </p:sp>
      <p:sp>
        <p:nvSpPr>
          <p:cNvPr id="20" name="TextBox 19">
            <a:extLst>
              <a:ext uri="{FF2B5EF4-FFF2-40B4-BE49-F238E27FC236}">
                <a16:creationId xmlns:a16="http://schemas.microsoft.com/office/drawing/2014/main" id="{8556437D-D34D-E3CE-AD58-E189BEA79F51}"/>
              </a:ext>
            </a:extLst>
          </p:cNvPr>
          <p:cNvSpPr txBox="1"/>
          <p:nvPr/>
        </p:nvSpPr>
        <p:spPr>
          <a:xfrm>
            <a:off x="372657" y="688716"/>
            <a:ext cx="10811164" cy="5719964"/>
          </a:xfrm>
          <a:prstGeom prst="rect">
            <a:avLst/>
          </a:prstGeom>
          <a:noFill/>
        </p:spPr>
        <p:txBody>
          <a:bodyPr wrap="square">
            <a:spAutoFit/>
          </a:bodyPr>
          <a:lstStyle/>
          <a:p>
            <a:pPr marL="285750" indent="-285750">
              <a:buFont typeface="Arial" panose="020B0604020202020204" pitchFamily="34" charset="0"/>
              <a:buChar char="•"/>
            </a:pPr>
            <a:r>
              <a:rPr lang="en-US" sz="1600" b="1" dirty="0"/>
              <a:t>Loss of the dopamine loop:</a:t>
            </a:r>
            <a:r>
              <a:rPr lang="en-US" sz="1600" dirty="0"/>
              <a:t> </a:t>
            </a:r>
          </a:p>
          <a:p>
            <a:pPr marL="742950" lvl="1" indent="-285750">
              <a:lnSpc>
                <a:spcPct val="150000"/>
              </a:lnSpc>
              <a:buFont typeface="Arial" panose="020B0604020202020204" pitchFamily="34" charset="0"/>
              <a:buChar char="•"/>
            </a:pPr>
            <a:r>
              <a:rPr lang="en-US" sz="1600" dirty="0"/>
              <a:t>Writing code is satisfying. You see progress with every keystroke. </a:t>
            </a:r>
          </a:p>
          <a:p>
            <a:pPr marL="742950" lvl="1" indent="-285750">
              <a:lnSpc>
                <a:spcPct val="150000"/>
              </a:lnSpc>
              <a:buFont typeface="Arial" panose="020B0604020202020204" pitchFamily="34" charset="0"/>
              <a:buChar char="•"/>
            </a:pPr>
            <a:r>
              <a:rPr lang="en-US" sz="1600" dirty="0">
                <a:solidFill>
                  <a:schemeClr val="accent6">
                    <a:lumMod val="75000"/>
                  </a:schemeClr>
                </a:solidFill>
              </a:rPr>
              <a:t>Reviewing AI output is slower-feeling, even when it's faster in wall-clock terms.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Identity threat:</a:t>
            </a:r>
            <a:r>
              <a:rPr lang="en-US" sz="1600" dirty="0"/>
              <a:t> </a:t>
            </a:r>
          </a:p>
          <a:p>
            <a:pPr marL="742950" lvl="1" indent="-285750">
              <a:buFont typeface="Arial" panose="020B0604020202020204" pitchFamily="34" charset="0"/>
              <a:buChar char="•"/>
            </a:pPr>
            <a:r>
              <a:rPr lang="en-US" sz="1600" dirty="0"/>
              <a:t>"I'm a coder" is many engineers' professional identity. </a:t>
            </a:r>
          </a:p>
          <a:p>
            <a:pPr marL="742950" lvl="1" indent="-285750">
              <a:buFont typeface="Arial" panose="020B0604020202020204" pitchFamily="34" charset="0"/>
              <a:buChar char="•"/>
            </a:pPr>
            <a:r>
              <a:rPr lang="en-US" sz="1600" dirty="0">
                <a:solidFill>
                  <a:schemeClr val="accent6">
                    <a:lumMod val="75000"/>
                  </a:schemeClr>
                </a:solidFill>
              </a:rPr>
              <a:t>Becoming someone who directs coders (even AI ones) feels like demotion or detachment, especially early 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The verification trap:</a:t>
            </a:r>
            <a:r>
              <a:rPr lang="en-US" sz="1600" dirty="0"/>
              <a:t> </a:t>
            </a:r>
          </a:p>
          <a:p>
            <a:pPr marL="742950" lvl="1" indent="-285750">
              <a:lnSpc>
                <a:spcPct val="150000"/>
              </a:lnSpc>
              <a:buFont typeface="Arial" panose="020B0604020202020204" pitchFamily="34" charset="0"/>
              <a:buChar char="•"/>
            </a:pPr>
            <a:r>
              <a:rPr lang="en-US" sz="1600" dirty="0"/>
              <a:t>It's tempting to just trust the output </a:t>
            </a:r>
            <a:r>
              <a:rPr lang="en-US" sz="1600" dirty="0">
                <a:solidFill>
                  <a:schemeClr val="accent6">
                    <a:lumMod val="75000"/>
                  </a:schemeClr>
                </a:solidFill>
              </a:rPr>
              <a:t>because reading it carefully is tedious</a:t>
            </a:r>
            <a:r>
              <a:rPr lang="en-US" sz="1600" dirty="0"/>
              <a:t>. </a:t>
            </a:r>
          </a:p>
          <a:p>
            <a:pPr marL="742950" lvl="1" indent="-285750">
              <a:lnSpc>
                <a:spcPct val="150000"/>
              </a:lnSpc>
              <a:buFont typeface="Arial" panose="020B0604020202020204" pitchFamily="34" charset="0"/>
              <a:buChar char="•"/>
            </a:pPr>
            <a:r>
              <a:rPr lang="en-US" sz="1600" dirty="0"/>
              <a:t>Verification is the job now — and the engineers who skip it ship the bugs.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Specification is harder than coding:</a:t>
            </a:r>
            <a:r>
              <a:rPr lang="en-US" sz="1600" dirty="0"/>
              <a:t> </a:t>
            </a:r>
          </a:p>
          <a:p>
            <a:pPr marL="742950" lvl="1" indent="-285750">
              <a:lnSpc>
                <a:spcPct val="150000"/>
              </a:lnSpc>
              <a:buFont typeface="Arial" panose="020B0604020202020204" pitchFamily="34" charset="0"/>
              <a:buChar char="•"/>
            </a:pPr>
            <a:r>
              <a:rPr lang="en-US" sz="1600" dirty="0"/>
              <a:t>Most "I can't get the AI to do this" complaints are actually "I haven't specified what I want.“</a:t>
            </a:r>
          </a:p>
          <a:p>
            <a:pPr marL="742950" lvl="1" indent="-285750">
              <a:lnSpc>
                <a:spcPct val="150000"/>
              </a:lnSpc>
              <a:buFont typeface="Arial" panose="020B0604020202020204" pitchFamily="34" charset="0"/>
              <a:buChar char="•"/>
            </a:pPr>
            <a:r>
              <a:rPr lang="en-US" sz="1600" dirty="0">
                <a:solidFill>
                  <a:schemeClr val="accent6">
                    <a:lumMod val="75000"/>
                  </a:schemeClr>
                </a:solidFill>
              </a:rPr>
              <a:t>Writing a clear spec that an agent can execute reveals every ambiguity in your own thinking.</a:t>
            </a:r>
            <a:r>
              <a:rPr lang="en-US" sz="1600" dirty="0"/>
              <a:t> </a:t>
            </a:r>
          </a:p>
          <a:p>
            <a:endParaRPr lang="en-US" sz="1600" dirty="0"/>
          </a:p>
          <a:p>
            <a:endParaRPr lang="en-US" sz="1600" dirty="0"/>
          </a:p>
          <a:p>
            <a:pPr>
              <a:lnSpc>
                <a:spcPct val="150000"/>
              </a:lnSpc>
            </a:pPr>
            <a:r>
              <a:rPr lang="en-US" sz="1600" dirty="0"/>
              <a:t>Senior engineers ship 2.5× more AI code than juniors — not because they're faster typists, but because they catch mistakes faster. </a:t>
            </a:r>
            <a:r>
              <a:rPr lang="en-US" sz="1600" dirty="0">
                <a:solidFill>
                  <a:schemeClr val="accent6">
                    <a:lumMod val="75000"/>
                  </a:schemeClr>
                </a:solidFill>
              </a:rPr>
              <a:t>The skill that matters is judgment</a:t>
            </a:r>
            <a:r>
              <a:rPr lang="en-US" sz="1600" dirty="0"/>
              <a:t>, not generation.</a:t>
            </a:r>
          </a:p>
        </p:txBody>
      </p:sp>
    </p:spTree>
    <p:extLst>
      <p:ext uri="{BB962C8B-B14F-4D97-AF65-F5344CB8AC3E}">
        <p14:creationId xmlns:p14="http://schemas.microsoft.com/office/powerpoint/2010/main" val="821665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AD0DA-AE5C-6811-AFA1-FCBE2FED4AC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C37B7A6-270B-5E4A-7FDC-04FDF26F1F9A}"/>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05F1DFE-01B1-D786-A738-FFE57B4C0E5D}"/>
              </a:ext>
            </a:extLst>
          </p:cNvPr>
          <p:cNvSpPr txBox="1"/>
          <p:nvPr/>
        </p:nvSpPr>
        <p:spPr>
          <a:xfrm>
            <a:off x="73572" y="15030"/>
            <a:ext cx="3516091" cy="400110"/>
          </a:xfrm>
          <a:prstGeom prst="rect">
            <a:avLst/>
          </a:prstGeom>
          <a:noFill/>
        </p:spPr>
        <p:txBody>
          <a:bodyPr wrap="none" rtlCol="0">
            <a:spAutoFit/>
          </a:bodyPr>
          <a:lstStyle/>
          <a:p>
            <a:r>
              <a:rPr lang="en-US" sz="2000" b="1" dirty="0">
                <a:solidFill>
                  <a:schemeClr val="tx1">
                    <a:lumMod val="65000"/>
                    <a:lumOff val="35000"/>
                  </a:schemeClr>
                </a:solidFill>
              </a:rPr>
              <a:t>Mindset Migration – The big 5</a:t>
            </a:r>
          </a:p>
        </p:txBody>
      </p:sp>
      <p:sp>
        <p:nvSpPr>
          <p:cNvPr id="5" name="TextBox 4">
            <a:extLst>
              <a:ext uri="{FF2B5EF4-FFF2-40B4-BE49-F238E27FC236}">
                <a16:creationId xmlns:a16="http://schemas.microsoft.com/office/drawing/2014/main" id="{150E37C4-402D-4FAD-E926-22B96FA5D8E0}"/>
              </a:ext>
            </a:extLst>
          </p:cNvPr>
          <p:cNvSpPr txBox="1"/>
          <p:nvPr/>
        </p:nvSpPr>
        <p:spPr>
          <a:xfrm>
            <a:off x="217054" y="708536"/>
            <a:ext cx="11757892" cy="4616648"/>
          </a:xfrm>
          <a:prstGeom prst="rect">
            <a:avLst/>
          </a:prstGeom>
          <a:noFill/>
        </p:spPr>
        <p:txBody>
          <a:bodyPr wrap="square">
            <a:spAutoFit/>
          </a:bodyPr>
          <a:lstStyle/>
          <a:p>
            <a:r>
              <a:rPr lang="en-US" sz="1400" b="1" dirty="0"/>
              <a:t>A. From "writing code" → "specifying outcomes"</a:t>
            </a:r>
          </a:p>
          <a:p>
            <a:r>
              <a:rPr lang="en-US" sz="1400" dirty="0"/>
              <a:t>Stop thinking about how the code should be written. Start thinking about what done looks like: inputs, outputs, edge cases, constraints, tests that must pass. The clearer your spec, the better the agent performs. Vague spec → vague result. This is closer to writing a bug ticket than writing code.</a:t>
            </a:r>
          </a:p>
          <a:p>
            <a:endParaRPr lang="en-US" sz="1400" dirty="0"/>
          </a:p>
          <a:p>
            <a:r>
              <a:rPr lang="en-US" sz="1400" b="1" dirty="0"/>
              <a:t>B. From "trusting your fingers" → "trusting your review"</a:t>
            </a:r>
          </a:p>
          <a:p>
            <a:r>
              <a:rPr lang="en-US" sz="1400" dirty="0"/>
              <a:t>You can no longer trust that code is correct because you wrote it. The agent wrote it. Your typing-time has moved to reading-time. Review every diff with the same skepticism you'd apply to a junior's PR — even when (especially when) it looks plausible. Confident-sounding wrong answers are the most dangerous output.</a:t>
            </a:r>
          </a:p>
          <a:p>
            <a:endParaRPr lang="en-US" sz="1400" dirty="0"/>
          </a:p>
          <a:p>
            <a:r>
              <a:rPr lang="en-US" sz="1400" b="1" dirty="0"/>
              <a:t>C. From "one task at a time" → "supervising parallel work"</a:t>
            </a:r>
          </a:p>
          <a:p>
            <a:r>
              <a:rPr lang="en-US" sz="1400" dirty="0"/>
              <a:t>A coder works on one thing. A director can have 3–5 agents running in parallel — one refactoring, one writing tests, one drafting docs. The bottleneck shifts from typing speed to attention bandwidth. New skill: knowing what to delegate, what to do yourself, and when to interrupt an agent that's going off-track.</a:t>
            </a:r>
          </a:p>
          <a:p>
            <a:endParaRPr lang="en-US" sz="1400" dirty="0"/>
          </a:p>
          <a:p>
            <a:r>
              <a:rPr lang="en-US" sz="1400" b="1" dirty="0"/>
              <a:t>D. From "AI as autocomplete" → "AI as a teammate with</a:t>
            </a:r>
            <a:r>
              <a:rPr lang="en-US" sz="1400" b="1" dirty="0">
                <a:solidFill>
                  <a:schemeClr val="tx1">
                    <a:lumMod val="65000"/>
                    <a:lumOff val="35000"/>
                  </a:schemeClr>
                </a:solidFill>
              </a:rPr>
              <a:t> </a:t>
            </a:r>
            <a:r>
              <a:rPr lang="en-US" sz="1400" b="1" dirty="0">
                <a:solidFill>
                  <a:srgbClr val="0070C0"/>
                </a:solidFill>
                <a:highlight>
                  <a:srgbClr val="FFFF00"/>
                </a:highlight>
              </a:rPr>
              <a:t>limits</a:t>
            </a:r>
            <a:r>
              <a:rPr lang="en-US" sz="1400" b="1" dirty="0"/>
              <a:t>"</a:t>
            </a:r>
          </a:p>
          <a:p>
            <a:r>
              <a:rPr lang="en-US" sz="1400" dirty="0"/>
              <a:t>A teammate has strengths, weaknesses, and predictable failure modes. You learn theirs and you scope work to fit. Agents are the same: great at boilerplate, refactors, well-defined tasks; weak at architectural decisions, ambiguous requirements, novel domains. Knowing the boundary is the skill.</a:t>
            </a:r>
          </a:p>
          <a:p>
            <a:endParaRPr lang="en-US" sz="1400" dirty="0"/>
          </a:p>
          <a:p>
            <a:r>
              <a:rPr lang="en-US" sz="1400" b="1" dirty="0"/>
              <a:t>E. From "owning the code" → "owning the system"</a:t>
            </a:r>
          </a:p>
          <a:p>
            <a:r>
              <a:rPr lang="en-US" sz="1400" dirty="0"/>
              <a:t>You're still accountable for what ships — the agent isn't. But what you own has shifted up a level: the prompts, the tools the agent has access to, the review gates, the eval suite, the rollback plan. You're now the engineer of the system that produces code, not the producer of code itself.</a:t>
            </a:r>
          </a:p>
        </p:txBody>
      </p:sp>
    </p:spTree>
    <p:extLst>
      <p:ext uri="{BB962C8B-B14F-4D97-AF65-F5344CB8AC3E}">
        <p14:creationId xmlns:p14="http://schemas.microsoft.com/office/powerpoint/2010/main" val="4048779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91B02-062A-0F3A-6B4C-0AE784022A3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85E6C8F-5DF0-4D07-D0CC-8079F6334DF2}"/>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51DBFC5-C7E7-DC56-4D63-848B70703814}"/>
              </a:ext>
            </a:extLst>
          </p:cNvPr>
          <p:cNvSpPr txBox="1"/>
          <p:nvPr/>
        </p:nvSpPr>
        <p:spPr>
          <a:xfrm>
            <a:off x="73572" y="15030"/>
            <a:ext cx="3534750" cy="400110"/>
          </a:xfrm>
          <a:prstGeom prst="rect">
            <a:avLst/>
          </a:prstGeom>
          <a:noFill/>
        </p:spPr>
        <p:txBody>
          <a:bodyPr wrap="none" rtlCol="0">
            <a:spAutoFit/>
          </a:bodyPr>
          <a:lstStyle/>
          <a:p>
            <a:r>
              <a:rPr lang="en-US" sz="2000" b="1" dirty="0">
                <a:solidFill>
                  <a:schemeClr val="tx1">
                    <a:lumMod val="65000"/>
                    <a:lumOff val="35000"/>
                  </a:schemeClr>
                </a:solidFill>
              </a:rPr>
              <a:t>Mindset Migration – New role</a:t>
            </a:r>
          </a:p>
        </p:txBody>
      </p:sp>
      <p:sp>
        <p:nvSpPr>
          <p:cNvPr id="5" name="TextBox 4">
            <a:extLst>
              <a:ext uri="{FF2B5EF4-FFF2-40B4-BE49-F238E27FC236}">
                <a16:creationId xmlns:a16="http://schemas.microsoft.com/office/drawing/2014/main" id="{DEBE07FC-AC07-4BE0-FC9C-4C0FCACF6F4C}"/>
              </a:ext>
            </a:extLst>
          </p:cNvPr>
          <p:cNvSpPr txBox="1"/>
          <p:nvPr/>
        </p:nvSpPr>
        <p:spPr>
          <a:xfrm>
            <a:off x="81533" y="896944"/>
            <a:ext cx="6377710" cy="3694538"/>
          </a:xfrm>
          <a:prstGeom prst="rect">
            <a:avLst/>
          </a:prstGeom>
          <a:noFill/>
        </p:spPr>
        <p:txBody>
          <a:bodyPr wrap="square">
            <a:spAutoFit/>
          </a:bodyPr>
          <a:lstStyle/>
          <a:p>
            <a:r>
              <a:rPr lang="en-US" sz="1400" dirty="0"/>
              <a:t>A senior engineer's day used to be ~70% writing code, 30% everything else.</a:t>
            </a:r>
          </a:p>
          <a:p>
            <a:endParaRPr lang="en-US" sz="1400" dirty="0"/>
          </a:p>
          <a:p>
            <a:r>
              <a:rPr lang="en-US" sz="1400" dirty="0"/>
              <a:t>In an agentic workflow it inverts:</a:t>
            </a:r>
          </a:p>
          <a:p>
            <a:pPr marL="285750" indent="-285750">
              <a:lnSpc>
                <a:spcPct val="200000"/>
              </a:lnSpc>
              <a:buFont typeface="Wingdings" panose="05000000000000000000" pitchFamily="2" charset="2"/>
              <a:buChar char="ü"/>
            </a:pPr>
            <a:r>
              <a:rPr lang="en-US" sz="1400" dirty="0"/>
              <a:t>20% writing code — the parts that genuinely require human judgment</a:t>
            </a:r>
          </a:p>
          <a:p>
            <a:pPr marL="285750" indent="-285750">
              <a:lnSpc>
                <a:spcPct val="200000"/>
              </a:lnSpc>
              <a:buFont typeface="Wingdings" panose="05000000000000000000" pitchFamily="2" charset="2"/>
              <a:buChar char="ü"/>
            </a:pPr>
            <a:r>
              <a:rPr lang="en-US" sz="1400" dirty="0"/>
              <a:t>30% writing specs and prompts — describing tasks crisply enough that agents can execute</a:t>
            </a:r>
          </a:p>
          <a:p>
            <a:pPr marL="285750" indent="-285750">
              <a:lnSpc>
                <a:spcPct val="200000"/>
              </a:lnSpc>
              <a:buFont typeface="Wingdings" panose="05000000000000000000" pitchFamily="2" charset="2"/>
              <a:buChar char="ü"/>
            </a:pPr>
            <a:r>
              <a:rPr lang="en-US" sz="1400" dirty="0"/>
              <a:t>30% reviewing agent output — reading diffs, running tests, catching mistakes</a:t>
            </a:r>
          </a:p>
          <a:p>
            <a:pPr marL="285750" indent="-285750">
              <a:lnSpc>
                <a:spcPct val="200000"/>
              </a:lnSpc>
              <a:buFont typeface="Wingdings" panose="05000000000000000000" pitchFamily="2" charset="2"/>
              <a:buChar char="ü"/>
            </a:pPr>
            <a:r>
              <a:rPr lang="en-US" sz="1400" dirty="0"/>
              <a:t>20% systems work — improving prompts, tools, evals, guardrails so future tasks go smoother</a:t>
            </a:r>
          </a:p>
          <a:p>
            <a:pPr marL="285750" indent="-285750">
              <a:lnSpc>
                <a:spcPct val="200000"/>
              </a:lnSpc>
              <a:buFont typeface="Wingdings" panose="05000000000000000000" pitchFamily="2" charset="2"/>
              <a:buChar char="ü"/>
            </a:pPr>
            <a:r>
              <a:rPr lang="en-US" sz="1400" dirty="0"/>
              <a:t>The work shifts from production to direction and curation</a:t>
            </a:r>
          </a:p>
        </p:txBody>
      </p:sp>
      <p:sp>
        <p:nvSpPr>
          <p:cNvPr id="25" name="TextBox 24">
            <a:extLst>
              <a:ext uri="{FF2B5EF4-FFF2-40B4-BE49-F238E27FC236}">
                <a16:creationId xmlns:a16="http://schemas.microsoft.com/office/drawing/2014/main" id="{CA7F09B2-0AE2-EDEE-5D60-9FCC8068997E}"/>
              </a:ext>
            </a:extLst>
          </p:cNvPr>
          <p:cNvSpPr txBox="1"/>
          <p:nvPr/>
        </p:nvSpPr>
        <p:spPr>
          <a:xfrm>
            <a:off x="6628042" y="896944"/>
            <a:ext cx="4925928" cy="553998"/>
          </a:xfrm>
          <a:prstGeom prst="rect">
            <a:avLst/>
          </a:prstGeom>
          <a:noFill/>
        </p:spPr>
        <p:txBody>
          <a:bodyPr wrap="square">
            <a:spAutoFit/>
          </a:bodyPr>
          <a:lstStyle/>
          <a:p>
            <a:r>
              <a:rPr lang="en-US" sz="1600" b="1" dirty="0"/>
              <a:t>You know an engineer (or team) has migrated, when:</a:t>
            </a:r>
          </a:p>
          <a:p>
            <a:endParaRPr lang="en-US" sz="1400" b="1" dirty="0"/>
          </a:p>
        </p:txBody>
      </p:sp>
      <p:sp>
        <p:nvSpPr>
          <p:cNvPr id="29" name="TextBox 28">
            <a:extLst>
              <a:ext uri="{FF2B5EF4-FFF2-40B4-BE49-F238E27FC236}">
                <a16:creationId xmlns:a16="http://schemas.microsoft.com/office/drawing/2014/main" id="{48AFB7E0-CD96-9B83-70A5-D28D546F9BEA}"/>
              </a:ext>
            </a:extLst>
          </p:cNvPr>
          <p:cNvSpPr txBox="1"/>
          <p:nvPr/>
        </p:nvSpPr>
        <p:spPr>
          <a:xfrm>
            <a:off x="6628042" y="1564746"/>
            <a:ext cx="5370868" cy="4340868"/>
          </a:xfrm>
          <a:prstGeom prst="rect">
            <a:avLst/>
          </a:prstGeom>
          <a:noFill/>
        </p:spPr>
        <p:txBody>
          <a:bodyPr wrap="square">
            <a:spAutoFit/>
          </a:bodyPr>
          <a:lstStyle/>
          <a:p>
            <a:pPr marL="285750" indent="-285750">
              <a:lnSpc>
                <a:spcPct val="200000"/>
              </a:lnSpc>
              <a:buFont typeface="Wingdings" panose="05000000000000000000" pitchFamily="2" charset="2"/>
              <a:buChar char="ü"/>
            </a:pPr>
            <a:r>
              <a:rPr lang="en-US" sz="1400" dirty="0"/>
              <a:t>They write a one-paragraph spec before launching an agent — every time.</a:t>
            </a:r>
          </a:p>
          <a:p>
            <a:pPr marL="285750" indent="-285750">
              <a:lnSpc>
                <a:spcPct val="200000"/>
              </a:lnSpc>
              <a:buFont typeface="Wingdings" panose="05000000000000000000" pitchFamily="2" charset="2"/>
              <a:buChar char="ü"/>
            </a:pPr>
            <a:r>
              <a:rPr lang="en-US" sz="1400" dirty="0"/>
              <a:t>They review every diff before merging, no matter how confident the agent sounds.</a:t>
            </a:r>
          </a:p>
          <a:p>
            <a:pPr marL="285750" indent="-285750">
              <a:lnSpc>
                <a:spcPct val="200000"/>
              </a:lnSpc>
              <a:buFont typeface="Wingdings" panose="05000000000000000000" pitchFamily="2" charset="2"/>
              <a:buChar char="ü"/>
            </a:pPr>
            <a:r>
              <a:rPr lang="en-US" sz="1400" dirty="0"/>
              <a:t>They can articulate, for any task, why it should or shouldn't be delegated to an agent.</a:t>
            </a:r>
          </a:p>
          <a:p>
            <a:pPr marL="285750" indent="-285750">
              <a:lnSpc>
                <a:spcPct val="200000"/>
              </a:lnSpc>
              <a:buFont typeface="Wingdings" panose="05000000000000000000" pitchFamily="2" charset="2"/>
              <a:buChar char="ü"/>
            </a:pPr>
            <a:r>
              <a:rPr lang="en-US" sz="1400" dirty="0"/>
              <a:t>They invest time improving their prompts and tools, not just using them.</a:t>
            </a:r>
          </a:p>
          <a:p>
            <a:pPr marL="285750" indent="-285750">
              <a:lnSpc>
                <a:spcPct val="200000"/>
              </a:lnSpc>
              <a:buFont typeface="Wingdings" panose="05000000000000000000" pitchFamily="2" charset="2"/>
              <a:buChar char="ü"/>
            </a:pPr>
            <a:r>
              <a:rPr lang="en-US" sz="1400" dirty="0"/>
              <a:t>They measure themselves on tasks shipped, not lines written.</a:t>
            </a:r>
          </a:p>
          <a:p>
            <a:pPr marL="285750" indent="-285750">
              <a:lnSpc>
                <a:spcPct val="200000"/>
              </a:lnSpc>
              <a:buFont typeface="Wingdings" panose="05000000000000000000" pitchFamily="2" charset="2"/>
              <a:buChar char="ü"/>
            </a:pPr>
            <a:r>
              <a:rPr lang="en-US" sz="1400" dirty="0"/>
              <a:t>They feel less productive but ship more.</a:t>
            </a:r>
          </a:p>
        </p:txBody>
      </p:sp>
      <p:cxnSp>
        <p:nvCxnSpPr>
          <p:cNvPr id="3" name="Straight Connector 2">
            <a:extLst>
              <a:ext uri="{FF2B5EF4-FFF2-40B4-BE49-F238E27FC236}">
                <a16:creationId xmlns:a16="http://schemas.microsoft.com/office/drawing/2014/main" id="{439BEACA-1BD8-AF69-0594-A8E9B751A1FC}"/>
              </a:ext>
            </a:extLst>
          </p:cNvPr>
          <p:cNvCxnSpPr/>
          <p:nvPr/>
        </p:nvCxnSpPr>
        <p:spPr>
          <a:xfrm>
            <a:off x="6543642" y="415140"/>
            <a:ext cx="0" cy="64428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9150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FC658-016B-4C5C-2729-59B6522993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BBA9C1-2C6F-0EE0-092C-9EB0E3159C00}"/>
              </a:ext>
            </a:extLst>
          </p:cNvPr>
          <p:cNvSpPr txBox="1"/>
          <p:nvPr/>
        </p:nvSpPr>
        <p:spPr>
          <a:xfrm>
            <a:off x="0" y="753226"/>
            <a:ext cx="12192000" cy="646331"/>
          </a:xfrm>
          <a:prstGeom prst="rect">
            <a:avLst/>
          </a:prstGeom>
          <a:noFill/>
        </p:spPr>
        <p:txBody>
          <a:bodyPr wrap="square" rtlCol="0">
            <a:spAutoFit/>
          </a:bodyPr>
          <a:lstStyle/>
          <a:p>
            <a:pPr algn="ctr"/>
            <a:r>
              <a:rPr lang="en-US" sz="3600" dirty="0"/>
              <a:t>Agentic Development workflow</a:t>
            </a:r>
          </a:p>
        </p:txBody>
      </p:sp>
      <p:grpSp>
        <p:nvGrpSpPr>
          <p:cNvPr id="11" name="Group 10">
            <a:extLst>
              <a:ext uri="{FF2B5EF4-FFF2-40B4-BE49-F238E27FC236}">
                <a16:creationId xmlns:a16="http://schemas.microsoft.com/office/drawing/2014/main" id="{6E5AFF78-3054-CD2A-45CC-7D081A47B2EF}"/>
              </a:ext>
            </a:extLst>
          </p:cNvPr>
          <p:cNvGrpSpPr/>
          <p:nvPr/>
        </p:nvGrpSpPr>
        <p:grpSpPr>
          <a:xfrm>
            <a:off x="1513079" y="2013650"/>
            <a:ext cx="9099504" cy="4069899"/>
            <a:chOff x="1383770" y="2133722"/>
            <a:chExt cx="9099504" cy="4069899"/>
          </a:xfrm>
        </p:grpSpPr>
        <p:graphicFrame>
          <p:nvGraphicFramePr>
            <p:cNvPr id="4" name="Diagram 3">
              <a:extLst>
                <a:ext uri="{FF2B5EF4-FFF2-40B4-BE49-F238E27FC236}">
                  <a16:creationId xmlns:a16="http://schemas.microsoft.com/office/drawing/2014/main" id="{1D2A9A35-5360-845D-52B6-5182527BF352}"/>
                </a:ext>
              </a:extLst>
            </p:cNvPr>
            <p:cNvGraphicFramePr/>
            <p:nvPr>
              <p:extLst>
                <p:ext uri="{D42A27DB-BD31-4B8C-83A1-F6EECF244321}">
                  <p14:modId xmlns:p14="http://schemas.microsoft.com/office/powerpoint/2010/main" val="3195864304"/>
                </p:ext>
              </p:extLst>
            </p:nvPr>
          </p:nvGraphicFramePr>
          <p:xfrm>
            <a:off x="3055552" y="2503054"/>
            <a:ext cx="5035503" cy="35521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4818D3E1-F0A3-3D6D-14F0-45FF58C4B6C1}"/>
                </a:ext>
              </a:extLst>
            </p:cNvPr>
            <p:cNvSpPr txBox="1"/>
            <p:nvPr/>
          </p:nvSpPr>
          <p:spPr>
            <a:xfrm>
              <a:off x="5966691" y="2133722"/>
              <a:ext cx="2549237" cy="738664"/>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t>Define: Write the intent and acceptance criteria before prompting.</a:t>
              </a:r>
            </a:p>
          </p:txBody>
        </p:sp>
        <p:sp>
          <p:nvSpPr>
            <p:cNvPr id="7" name="TextBox 6">
              <a:extLst>
                <a:ext uri="{FF2B5EF4-FFF2-40B4-BE49-F238E27FC236}">
                  <a16:creationId xmlns:a16="http://schemas.microsoft.com/office/drawing/2014/main" id="{D3BA8E57-36E2-9875-A154-083BCCFA9046}"/>
                </a:ext>
              </a:extLst>
            </p:cNvPr>
            <p:cNvSpPr txBox="1"/>
            <p:nvPr/>
          </p:nvSpPr>
          <p:spPr>
            <a:xfrm>
              <a:off x="7241309" y="3431468"/>
              <a:ext cx="3241965" cy="738664"/>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solidFill>
                    <a:srgbClr val="2C3E50"/>
                  </a:solidFill>
                </a:rPr>
                <a:t>Think before doing: Agent proposes an approach. Human reviews before execution.</a:t>
              </a:r>
              <a:endParaRPr lang="en-US" sz="1400" dirty="0"/>
            </a:p>
          </p:txBody>
        </p:sp>
        <p:sp>
          <p:nvSpPr>
            <p:cNvPr id="8" name="TextBox 7">
              <a:extLst>
                <a:ext uri="{FF2B5EF4-FFF2-40B4-BE49-F238E27FC236}">
                  <a16:creationId xmlns:a16="http://schemas.microsoft.com/office/drawing/2014/main" id="{9580B30E-8FC9-E549-65CF-13D1A0372870}"/>
                </a:ext>
              </a:extLst>
            </p:cNvPr>
            <p:cNvSpPr txBox="1"/>
            <p:nvPr/>
          </p:nvSpPr>
          <p:spPr>
            <a:xfrm>
              <a:off x="2361965" y="5680401"/>
              <a:ext cx="2802702" cy="523220"/>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solidFill>
                    <a:srgbClr val="2C3E50"/>
                  </a:solidFill>
                </a:rPr>
                <a:t>Execute: Agent executes with small diffs and frequent commits.</a:t>
              </a:r>
              <a:endParaRPr lang="en-US" sz="1400" dirty="0"/>
            </a:p>
          </p:txBody>
        </p:sp>
        <p:sp>
          <p:nvSpPr>
            <p:cNvPr id="9" name="TextBox 8">
              <a:extLst>
                <a:ext uri="{FF2B5EF4-FFF2-40B4-BE49-F238E27FC236}">
                  <a16:creationId xmlns:a16="http://schemas.microsoft.com/office/drawing/2014/main" id="{FE9925F0-F08C-FDE6-8946-6202C905B69B}"/>
                </a:ext>
              </a:extLst>
            </p:cNvPr>
            <p:cNvSpPr txBox="1"/>
            <p:nvPr/>
          </p:nvSpPr>
          <p:spPr>
            <a:xfrm>
              <a:off x="1383770" y="3539190"/>
              <a:ext cx="2646219" cy="523220"/>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400" dirty="0">
                  <a:solidFill>
                    <a:srgbClr val="2C3E50"/>
                  </a:solidFill>
                </a:rPr>
                <a:t>Validate: Tests, evals, and a human gate before merge.</a:t>
              </a:r>
              <a:endParaRPr lang="en-US" sz="1400" dirty="0"/>
            </a:p>
          </p:txBody>
        </p:sp>
      </p:grpSp>
    </p:spTree>
    <p:extLst>
      <p:ext uri="{BB962C8B-B14F-4D97-AF65-F5344CB8AC3E}">
        <p14:creationId xmlns:p14="http://schemas.microsoft.com/office/powerpoint/2010/main" val="3042682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1EA50-535D-3A88-179E-F68C4AF9AB5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27C2D09-C303-F50F-36EB-38443E905C71}"/>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7A9DCD8-1DDC-9522-5C1F-96C943E0B6BE}"/>
              </a:ext>
            </a:extLst>
          </p:cNvPr>
          <p:cNvSpPr txBox="1"/>
          <p:nvPr/>
        </p:nvSpPr>
        <p:spPr>
          <a:xfrm>
            <a:off x="73572" y="15030"/>
            <a:ext cx="5299977" cy="400110"/>
          </a:xfrm>
          <a:prstGeom prst="rect">
            <a:avLst/>
          </a:prstGeom>
          <a:noFill/>
        </p:spPr>
        <p:txBody>
          <a:bodyPr wrap="none" rtlCol="0">
            <a:spAutoFit/>
          </a:bodyPr>
          <a:lstStyle/>
          <a:p>
            <a:r>
              <a:rPr lang="en-US" sz="2000" b="1" dirty="0">
                <a:solidFill>
                  <a:srgbClr val="7030A0"/>
                </a:solidFill>
              </a:rPr>
              <a:t>Agentic Development Workflow - Specifications </a:t>
            </a:r>
          </a:p>
        </p:txBody>
      </p:sp>
      <p:sp>
        <p:nvSpPr>
          <p:cNvPr id="13" name="TextBox 12">
            <a:extLst>
              <a:ext uri="{FF2B5EF4-FFF2-40B4-BE49-F238E27FC236}">
                <a16:creationId xmlns:a16="http://schemas.microsoft.com/office/drawing/2014/main" id="{5F6BFE8D-645C-DF70-4A7D-7025A3AFCC86}"/>
              </a:ext>
            </a:extLst>
          </p:cNvPr>
          <p:cNvSpPr txBox="1"/>
          <p:nvPr/>
        </p:nvSpPr>
        <p:spPr>
          <a:xfrm>
            <a:off x="1385219" y="1887651"/>
            <a:ext cx="9676915" cy="2126864"/>
          </a:xfrm>
          <a:prstGeom prst="rect">
            <a:avLst/>
          </a:prstGeom>
          <a:noFill/>
        </p:spPr>
        <p:txBody>
          <a:bodyPr wrap="square">
            <a:spAutoFit/>
          </a:bodyPr>
          <a:lstStyle/>
          <a:p>
            <a:pPr>
              <a:lnSpc>
                <a:spcPct val="150000"/>
              </a:lnSpc>
            </a:pPr>
            <a:r>
              <a:rPr lang="en-US" dirty="0"/>
              <a:t>This is the </a:t>
            </a:r>
            <a:r>
              <a:rPr lang="en-US" b="1" dirty="0"/>
              <a:t>"what"</a:t>
            </a:r>
            <a:r>
              <a:rPr lang="en-US" dirty="0"/>
              <a:t> phase — the AI analyzes the task and defines what needs to be built.</a:t>
            </a:r>
          </a:p>
          <a:p>
            <a:pPr marL="285750" indent="-285750">
              <a:lnSpc>
                <a:spcPct val="150000"/>
              </a:lnSpc>
              <a:buFont typeface="Arial" panose="020B0604020202020204" pitchFamily="34" charset="0"/>
              <a:buChar char="•"/>
            </a:pPr>
            <a:r>
              <a:rPr lang="en-US" dirty="0"/>
              <a:t>Understands the requirements from your prompt</a:t>
            </a:r>
          </a:p>
          <a:p>
            <a:pPr marL="285750" indent="-285750">
              <a:lnSpc>
                <a:spcPct val="150000"/>
              </a:lnSpc>
              <a:buFont typeface="Arial" panose="020B0604020202020204" pitchFamily="34" charset="0"/>
              <a:buChar char="•"/>
            </a:pPr>
            <a:r>
              <a:rPr lang="en-US" dirty="0"/>
              <a:t>Identifies edge cases, constraints, and dependencies</a:t>
            </a:r>
          </a:p>
          <a:p>
            <a:pPr marL="285750" indent="-285750">
              <a:lnSpc>
                <a:spcPct val="150000"/>
              </a:lnSpc>
              <a:buFont typeface="Arial" panose="020B0604020202020204" pitchFamily="34" charset="0"/>
              <a:buChar char="•"/>
            </a:pPr>
            <a:r>
              <a:rPr lang="en-US" dirty="0"/>
              <a:t>Clarifies ambiguities before writing any code</a:t>
            </a:r>
          </a:p>
          <a:p>
            <a:pPr marL="285750" indent="-285750">
              <a:lnSpc>
                <a:spcPct val="150000"/>
              </a:lnSpc>
              <a:buFont typeface="Arial" panose="020B0604020202020204" pitchFamily="34" charset="0"/>
              <a:buChar char="•"/>
            </a:pPr>
            <a:r>
              <a:rPr lang="en-US" dirty="0"/>
              <a:t>Produces a clear definition of the problem to solve</a:t>
            </a:r>
          </a:p>
        </p:txBody>
      </p:sp>
      <p:sp>
        <p:nvSpPr>
          <p:cNvPr id="14" name="TextBox 13">
            <a:extLst>
              <a:ext uri="{FF2B5EF4-FFF2-40B4-BE49-F238E27FC236}">
                <a16:creationId xmlns:a16="http://schemas.microsoft.com/office/drawing/2014/main" id="{70ADD91D-1B53-4F12-8DEE-170CB76C8D6F}"/>
              </a:ext>
            </a:extLst>
          </p:cNvPr>
          <p:cNvSpPr txBox="1"/>
          <p:nvPr/>
        </p:nvSpPr>
        <p:spPr>
          <a:xfrm>
            <a:off x="1385219" y="1471954"/>
            <a:ext cx="2180725" cy="461665"/>
          </a:xfrm>
          <a:prstGeom prst="rect">
            <a:avLst/>
          </a:prstGeom>
          <a:noFill/>
        </p:spPr>
        <p:txBody>
          <a:bodyPr wrap="none" rtlCol="0">
            <a:spAutoFit/>
          </a:bodyPr>
          <a:lstStyle/>
          <a:p>
            <a:r>
              <a:rPr lang="en-US" sz="2400" b="1" dirty="0"/>
              <a:t>What is a Spec?</a:t>
            </a:r>
          </a:p>
        </p:txBody>
      </p:sp>
      <p:sp>
        <p:nvSpPr>
          <p:cNvPr id="16" name="TextBox 15">
            <a:extLst>
              <a:ext uri="{FF2B5EF4-FFF2-40B4-BE49-F238E27FC236}">
                <a16:creationId xmlns:a16="http://schemas.microsoft.com/office/drawing/2014/main" id="{5ACA0D02-F6A5-5828-3EED-D9C64417DA5D}"/>
              </a:ext>
            </a:extLst>
          </p:cNvPr>
          <p:cNvSpPr txBox="1"/>
          <p:nvPr/>
        </p:nvSpPr>
        <p:spPr>
          <a:xfrm>
            <a:off x="1385219" y="580999"/>
            <a:ext cx="6096000" cy="461665"/>
          </a:xfrm>
          <a:prstGeom prst="rect">
            <a:avLst/>
          </a:prstGeom>
          <a:noFill/>
        </p:spPr>
        <p:txBody>
          <a:bodyPr wrap="square">
            <a:spAutoFit/>
          </a:bodyPr>
          <a:lstStyle/>
          <a:p>
            <a:r>
              <a:rPr lang="en-US" sz="2400" dirty="0"/>
              <a:t>Specs are the new source code. </a:t>
            </a:r>
          </a:p>
        </p:txBody>
      </p:sp>
      <p:sp>
        <p:nvSpPr>
          <p:cNvPr id="20" name="TextBox 19">
            <a:extLst>
              <a:ext uri="{FF2B5EF4-FFF2-40B4-BE49-F238E27FC236}">
                <a16:creationId xmlns:a16="http://schemas.microsoft.com/office/drawing/2014/main" id="{6D6DA901-0CA0-DFE4-2E0A-A4177BE3BA9A}"/>
              </a:ext>
            </a:extLst>
          </p:cNvPr>
          <p:cNvSpPr txBox="1"/>
          <p:nvPr/>
        </p:nvSpPr>
        <p:spPr>
          <a:xfrm>
            <a:off x="1385219" y="4985936"/>
            <a:ext cx="7151601" cy="400110"/>
          </a:xfrm>
          <a:prstGeom prst="rect">
            <a:avLst/>
          </a:prstGeom>
          <a:noFill/>
        </p:spPr>
        <p:txBody>
          <a:bodyPr wrap="square">
            <a:spAutoFit/>
          </a:bodyPr>
          <a:lstStyle/>
          <a:p>
            <a:r>
              <a:rPr lang="en-US" sz="2000" dirty="0">
                <a:solidFill>
                  <a:srgbClr val="0070C0"/>
                </a:solidFill>
              </a:rPr>
              <a:t>Specs require knowing the codebase, not just the task.</a:t>
            </a:r>
          </a:p>
        </p:txBody>
      </p:sp>
    </p:spTree>
    <p:extLst>
      <p:ext uri="{BB962C8B-B14F-4D97-AF65-F5344CB8AC3E}">
        <p14:creationId xmlns:p14="http://schemas.microsoft.com/office/powerpoint/2010/main" val="3860553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58420-F048-0B48-12B6-12D0CE7B69C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5195600-8CC7-76B7-B10E-775F2ADCC7C1}"/>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DB75C6F-AA8C-2D17-8923-8EC1B45C5E6A}"/>
              </a:ext>
            </a:extLst>
          </p:cNvPr>
          <p:cNvSpPr txBox="1"/>
          <p:nvPr/>
        </p:nvSpPr>
        <p:spPr>
          <a:xfrm>
            <a:off x="73572" y="15030"/>
            <a:ext cx="5299977" cy="400110"/>
          </a:xfrm>
          <a:prstGeom prst="rect">
            <a:avLst/>
          </a:prstGeom>
          <a:noFill/>
        </p:spPr>
        <p:txBody>
          <a:bodyPr wrap="none" rtlCol="0">
            <a:spAutoFit/>
          </a:bodyPr>
          <a:lstStyle/>
          <a:p>
            <a:r>
              <a:rPr lang="en-US" sz="2000" b="1" dirty="0">
                <a:solidFill>
                  <a:srgbClr val="7030A0"/>
                </a:solidFill>
              </a:rPr>
              <a:t>Agentic Development Workflow - Specifications </a:t>
            </a:r>
          </a:p>
        </p:txBody>
      </p:sp>
      <p:sp>
        <p:nvSpPr>
          <p:cNvPr id="13" name="TextBox 12">
            <a:extLst>
              <a:ext uri="{FF2B5EF4-FFF2-40B4-BE49-F238E27FC236}">
                <a16:creationId xmlns:a16="http://schemas.microsoft.com/office/drawing/2014/main" id="{E4042609-EAF4-D524-DF42-60B9F68BE265}"/>
              </a:ext>
            </a:extLst>
          </p:cNvPr>
          <p:cNvSpPr txBox="1"/>
          <p:nvPr/>
        </p:nvSpPr>
        <p:spPr>
          <a:xfrm>
            <a:off x="348211" y="1552724"/>
            <a:ext cx="11660909" cy="4185761"/>
          </a:xfrm>
          <a:prstGeom prst="rect">
            <a:avLst/>
          </a:prstGeom>
          <a:noFill/>
        </p:spPr>
        <p:txBody>
          <a:bodyPr wrap="square">
            <a:spAutoFit/>
          </a:bodyPr>
          <a:lstStyle/>
          <a:p>
            <a:r>
              <a:rPr lang="en-US" sz="1400" dirty="0"/>
              <a:t>1. </a:t>
            </a:r>
            <a:r>
              <a:rPr lang="en-US" sz="1400" b="1" dirty="0"/>
              <a:t>Goal</a:t>
            </a:r>
            <a:r>
              <a:rPr lang="en-US" sz="1400" dirty="0"/>
              <a:t> — what outcome are we producing?</a:t>
            </a:r>
          </a:p>
          <a:p>
            <a:r>
              <a:rPr lang="en-US" sz="1400" dirty="0"/>
              <a:t>Not "fix the bug" but "the checkout API should return 400 with {error: 'missing_email'} when called without an email field."</a:t>
            </a:r>
          </a:p>
          <a:p>
            <a:endParaRPr lang="en-US" sz="1400" dirty="0"/>
          </a:p>
          <a:p>
            <a:r>
              <a:rPr lang="en-US" sz="1400" dirty="0"/>
              <a:t>2. </a:t>
            </a:r>
            <a:r>
              <a:rPr lang="en-US" sz="1400" b="1" dirty="0"/>
              <a:t>Context</a:t>
            </a:r>
            <a:r>
              <a:rPr lang="en-US" sz="1400" dirty="0"/>
              <a:t> — what does the agent need to know?</a:t>
            </a:r>
          </a:p>
          <a:p>
            <a:r>
              <a:rPr lang="en-US" sz="1400" dirty="0"/>
              <a:t>Relevant files, prior decisions, conventions, related code, the architecture it's working inside. This is where most specs fail — engineers assume the agent shares their mental model.</a:t>
            </a:r>
          </a:p>
          <a:p>
            <a:endParaRPr lang="en-US" sz="1400" dirty="0"/>
          </a:p>
          <a:p>
            <a:r>
              <a:rPr lang="en-US" sz="1400" dirty="0"/>
              <a:t>3. </a:t>
            </a:r>
            <a:r>
              <a:rPr lang="en-US" sz="1400" b="1" dirty="0"/>
              <a:t>Constraints</a:t>
            </a:r>
            <a:r>
              <a:rPr lang="en-US" sz="1400" dirty="0"/>
              <a:t> — what must be true of the solution?</a:t>
            </a:r>
          </a:p>
          <a:p>
            <a:r>
              <a:rPr lang="en-US" sz="1400" dirty="0"/>
              <a:t>"Don't change the database schema." "Stay within the existing auth middleware." "Match the style of services/payments/*." Negative space matters as much as positive instruction.</a:t>
            </a:r>
          </a:p>
          <a:p>
            <a:endParaRPr lang="en-US" sz="1400" dirty="0"/>
          </a:p>
          <a:p>
            <a:r>
              <a:rPr lang="en-US" sz="1400" dirty="0"/>
              <a:t>4. </a:t>
            </a:r>
            <a:r>
              <a:rPr lang="en-US" sz="1400" b="1" dirty="0"/>
              <a:t>Non-goals </a:t>
            </a:r>
            <a:r>
              <a:rPr lang="en-US" sz="1400" dirty="0"/>
              <a:t>— what is explicitly out of scope?</a:t>
            </a:r>
          </a:p>
          <a:p>
            <a:r>
              <a:rPr lang="en-US" sz="1400" dirty="0"/>
              <a:t>"Don't refactor the surrounding code." "Don't add new dependencies." "Don't touch the test infrastructure." Without these, agents tend to over-deliver.</a:t>
            </a:r>
          </a:p>
          <a:p>
            <a:endParaRPr lang="en-US" sz="1400" dirty="0"/>
          </a:p>
          <a:p>
            <a:r>
              <a:rPr lang="en-US" sz="1400" dirty="0"/>
              <a:t>5. </a:t>
            </a:r>
            <a:r>
              <a:rPr lang="en-US" sz="1400" b="1" dirty="0"/>
              <a:t>Acceptance criteria</a:t>
            </a:r>
            <a:r>
              <a:rPr lang="en-US" sz="1400" dirty="0"/>
              <a:t> — how will we know it's done?</a:t>
            </a:r>
          </a:p>
          <a:p>
            <a:r>
              <a:rPr lang="en-US" sz="1400" dirty="0"/>
              <a:t>Concrete, checkable, ideally automated: "All existing tests pass. New test added for the missing-email case. </a:t>
            </a:r>
            <a:r>
              <a:rPr lang="en-US" sz="1400" dirty="0" err="1"/>
              <a:t>npm</a:t>
            </a:r>
            <a:r>
              <a:rPr lang="en-US" sz="1400" dirty="0"/>
              <a:t> run lint clean. Diff under 50 lines."</a:t>
            </a:r>
          </a:p>
          <a:p>
            <a:endParaRPr lang="en-US" sz="1400" dirty="0"/>
          </a:p>
          <a:p>
            <a:r>
              <a:rPr lang="en-US" sz="1400" dirty="0"/>
              <a:t>6. </a:t>
            </a:r>
            <a:r>
              <a:rPr lang="en-US" sz="1400" b="1" dirty="0"/>
              <a:t>Interfaces</a:t>
            </a:r>
            <a:r>
              <a:rPr lang="en-US" sz="1400" dirty="0"/>
              <a:t> — what's the shape of inputs and outputs?</a:t>
            </a:r>
          </a:p>
          <a:p>
            <a:r>
              <a:rPr lang="en-US" sz="1400" dirty="0"/>
              <a:t>Function signatures, API contracts, data schemas. The places where the new code touches existing code are where specs need to be tightest.</a:t>
            </a:r>
          </a:p>
        </p:txBody>
      </p:sp>
      <p:sp>
        <p:nvSpPr>
          <p:cNvPr id="16" name="TextBox 15">
            <a:extLst>
              <a:ext uri="{FF2B5EF4-FFF2-40B4-BE49-F238E27FC236}">
                <a16:creationId xmlns:a16="http://schemas.microsoft.com/office/drawing/2014/main" id="{32697653-BE5D-BAA6-EDC7-BC626EE52C08}"/>
              </a:ext>
            </a:extLst>
          </p:cNvPr>
          <p:cNvSpPr txBox="1"/>
          <p:nvPr/>
        </p:nvSpPr>
        <p:spPr>
          <a:xfrm>
            <a:off x="182880" y="660172"/>
            <a:ext cx="6096000" cy="892552"/>
          </a:xfrm>
          <a:prstGeom prst="rect">
            <a:avLst/>
          </a:prstGeom>
          <a:noFill/>
        </p:spPr>
        <p:txBody>
          <a:bodyPr wrap="square">
            <a:spAutoFit/>
          </a:bodyPr>
          <a:lstStyle/>
          <a:p>
            <a:r>
              <a:rPr lang="en-US" sz="2000" dirty="0"/>
              <a:t>The anatomy of a good spec</a:t>
            </a:r>
          </a:p>
          <a:p>
            <a:r>
              <a:rPr lang="en-US" sz="1600" dirty="0"/>
              <a:t>    </a:t>
            </a:r>
          </a:p>
          <a:p>
            <a:r>
              <a:rPr lang="en-US" sz="1600" dirty="0"/>
              <a:t>    Every spec regardless of length, answers 6 questions:</a:t>
            </a:r>
          </a:p>
        </p:txBody>
      </p:sp>
    </p:spTree>
    <p:extLst>
      <p:ext uri="{BB962C8B-B14F-4D97-AF65-F5344CB8AC3E}">
        <p14:creationId xmlns:p14="http://schemas.microsoft.com/office/powerpoint/2010/main" val="4022677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E65E-5A44-7068-718F-30E18D1BC84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1D2FDE3-20C1-3631-6474-B3C35349037F}"/>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8379F79-804A-49E0-B8E7-E5A9614A690E}"/>
              </a:ext>
            </a:extLst>
          </p:cNvPr>
          <p:cNvSpPr txBox="1"/>
          <p:nvPr/>
        </p:nvSpPr>
        <p:spPr>
          <a:xfrm>
            <a:off x="73572" y="15030"/>
            <a:ext cx="5299977" cy="400110"/>
          </a:xfrm>
          <a:prstGeom prst="rect">
            <a:avLst/>
          </a:prstGeom>
          <a:noFill/>
        </p:spPr>
        <p:txBody>
          <a:bodyPr wrap="none" rtlCol="0">
            <a:spAutoFit/>
          </a:bodyPr>
          <a:lstStyle/>
          <a:p>
            <a:r>
              <a:rPr lang="en-US" sz="2000" b="1" dirty="0">
                <a:solidFill>
                  <a:srgbClr val="7030A0"/>
                </a:solidFill>
              </a:rPr>
              <a:t>Agentic Development Workflow - Specifications </a:t>
            </a:r>
          </a:p>
        </p:txBody>
      </p:sp>
      <p:sp>
        <p:nvSpPr>
          <p:cNvPr id="13" name="TextBox 12">
            <a:extLst>
              <a:ext uri="{FF2B5EF4-FFF2-40B4-BE49-F238E27FC236}">
                <a16:creationId xmlns:a16="http://schemas.microsoft.com/office/drawing/2014/main" id="{F60EEEB2-6CD7-83B5-4C28-E26756C3EA02}"/>
              </a:ext>
            </a:extLst>
          </p:cNvPr>
          <p:cNvSpPr txBox="1"/>
          <p:nvPr/>
        </p:nvSpPr>
        <p:spPr>
          <a:xfrm>
            <a:off x="265545" y="922804"/>
            <a:ext cx="11660909" cy="4708981"/>
          </a:xfrm>
          <a:prstGeom prst="rect">
            <a:avLst/>
          </a:prstGeom>
          <a:noFill/>
        </p:spPr>
        <p:txBody>
          <a:bodyPr wrap="square">
            <a:spAutoFit/>
          </a:bodyPr>
          <a:lstStyle/>
          <a:p>
            <a:r>
              <a:rPr lang="en-US" sz="2000" dirty="0"/>
              <a:t>Examples of Spec quality:</a:t>
            </a:r>
          </a:p>
          <a:p>
            <a:r>
              <a:rPr lang="en-US" sz="1400" dirty="0"/>
              <a:t>Same task, three spec qualities:</a:t>
            </a:r>
          </a:p>
          <a:p>
            <a:endParaRPr lang="en-US" sz="1400" dirty="0"/>
          </a:p>
          <a:p>
            <a:r>
              <a:rPr lang="en-US" sz="1400" dirty="0"/>
              <a:t>❌ Bad spec (chat-window prompt):</a:t>
            </a:r>
          </a:p>
          <a:p>
            <a:r>
              <a:rPr lang="en-US" sz="1400" dirty="0"/>
              <a:t>"Add input validation to the checkout endpoint.“</a:t>
            </a:r>
          </a:p>
          <a:p>
            <a:r>
              <a:rPr lang="en-US" sz="1400" dirty="0"/>
              <a:t>→ Agent guesses what to validate, where to add it, what error format to return, whether to add tests. You get something that compiles and probably ships a bug.</a:t>
            </a:r>
          </a:p>
          <a:p>
            <a:endParaRPr lang="en-US" sz="1400" dirty="0"/>
          </a:p>
          <a:p>
            <a:r>
              <a:rPr lang="en-US" sz="1400" dirty="0"/>
              <a:t>🟡 Okay spec:</a:t>
            </a:r>
          </a:p>
          <a:p>
            <a:r>
              <a:rPr lang="en-US" sz="1400" dirty="0"/>
              <a:t>"In routes/</a:t>
            </a:r>
            <a:r>
              <a:rPr lang="en-US" sz="1400" dirty="0" err="1"/>
              <a:t>checkout.ts</a:t>
            </a:r>
            <a:r>
              <a:rPr lang="en-US" sz="1400" dirty="0"/>
              <a:t>, add validation for required fields: email, items, </a:t>
            </a:r>
            <a:r>
              <a:rPr lang="en-US" sz="1400" dirty="0" err="1"/>
              <a:t>shipping_address</a:t>
            </a:r>
            <a:r>
              <a:rPr lang="en-US" sz="1400" dirty="0"/>
              <a:t>. Return 400 if missing.“</a:t>
            </a:r>
          </a:p>
          <a:p>
            <a:r>
              <a:rPr lang="en-US" sz="1400" dirty="0"/>
              <a:t>→ Agent knows what to validate. Still guesses error format, test approach, whether to extract a helper. Output is plausible but inconsistent with the codebase.</a:t>
            </a:r>
          </a:p>
          <a:p>
            <a:endParaRPr lang="en-US" sz="1400" dirty="0"/>
          </a:p>
          <a:p>
            <a:r>
              <a:rPr lang="en-US" sz="1400" dirty="0"/>
              <a:t>✅ Good spec:</a:t>
            </a:r>
          </a:p>
          <a:p>
            <a:r>
              <a:rPr lang="en-US" sz="1400" b="1" dirty="0"/>
              <a:t>Goal:</a:t>
            </a:r>
            <a:r>
              <a:rPr lang="en-US" sz="1400" dirty="0"/>
              <a:t> Validate required fields on POST /checkout before hitting the payment processor. </a:t>
            </a:r>
          </a:p>
          <a:p>
            <a:r>
              <a:rPr lang="en-US" sz="1400" b="1" dirty="0"/>
              <a:t>Context</a:t>
            </a:r>
            <a:r>
              <a:rPr lang="en-US" sz="1400" dirty="0"/>
              <a:t>: Endpoint lives in routes/</a:t>
            </a:r>
            <a:r>
              <a:rPr lang="en-US" sz="1400" dirty="0" err="1"/>
              <a:t>checkout.ts</a:t>
            </a:r>
            <a:r>
              <a:rPr lang="en-US" sz="1400" dirty="0"/>
              <a:t>. Existing pattern in routes/orders.ts:42 shows the validation style we use (</a:t>
            </a:r>
            <a:r>
              <a:rPr lang="en-US" sz="1400" dirty="0" err="1"/>
              <a:t>assertRequired</a:t>
            </a:r>
            <a:r>
              <a:rPr lang="en-US" sz="1400" dirty="0"/>
              <a:t> helper from lib/validators). </a:t>
            </a:r>
          </a:p>
          <a:p>
            <a:r>
              <a:rPr lang="en-US" sz="1400" b="1" dirty="0"/>
              <a:t>Constraints:</a:t>
            </a:r>
            <a:r>
              <a:rPr lang="en-US" sz="1400" dirty="0"/>
              <a:t> Use the existing </a:t>
            </a:r>
            <a:r>
              <a:rPr lang="en-US" sz="1400" dirty="0" err="1"/>
              <a:t>assertRequired</a:t>
            </a:r>
            <a:r>
              <a:rPr lang="en-US" sz="1400" dirty="0"/>
              <a:t> helper. Match the error response shape from </a:t>
            </a:r>
            <a:r>
              <a:rPr lang="en-US" sz="1400" dirty="0" err="1"/>
              <a:t>orders.ts</a:t>
            </a:r>
            <a:r>
              <a:rPr lang="en-US" sz="1400" dirty="0"/>
              <a:t>. No new dependencies. </a:t>
            </a:r>
          </a:p>
          <a:p>
            <a:r>
              <a:rPr lang="en-US" sz="1400" b="1" dirty="0"/>
              <a:t>Non-goals:</a:t>
            </a:r>
            <a:r>
              <a:rPr lang="en-US" sz="1400" dirty="0"/>
              <a:t> Don't refactor the route handler. Don't add validation for optional fields. </a:t>
            </a:r>
          </a:p>
          <a:p>
            <a:r>
              <a:rPr lang="en-US" sz="1400" b="1" dirty="0"/>
              <a:t>Acceptance: </a:t>
            </a:r>
            <a:r>
              <a:rPr lang="en-US" sz="1400" dirty="0"/>
              <a:t>Returns 400 {error: '</a:t>
            </a:r>
            <a:r>
              <a:rPr lang="en-US" sz="1400" dirty="0" err="1"/>
              <a:t>missing_field</a:t>
            </a:r>
            <a:r>
              <a:rPr lang="en-US" sz="1400" dirty="0"/>
              <a:t>', field: '...'} for missing email/items/</a:t>
            </a:r>
            <a:r>
              <a:rPr lang="en-US" sz="1400" dirty="0" err="1"/>
              <a:t>shipping_address</a:t>
            </a:r>
            <a:r>
              <a:rPr lang="en-US" sz="1400" dirty="0"/>
              <a:t>. Existing checkout tests still pass. New test case for each missing field. Diff under ~40 lines.</a:t>
            </a:r>
          </a:p>
          <a:p>
            <a:r>
              <a:rPr lang="en-US" sz="1400" dirty="0"/>
              <a:t>→ Agent produces the right code on the first try. You review a small, clean diff against criteria you wrote.</a:t>
            </a:r>
          </a:p>
        </p:txBody>
      </p:sp>
    </p:spTree>
    <p:extLst>
      <p:ext uri="{BB962C8B-B14F-4D97-AF65-F5344CB8AC3E}">
        <p14:creationId xmlns:p14="http://schemas.microsoft.com/office/powerpoint/2010/main" val="3460292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1A76-2CB0-B529-7126-262B96B6B60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3E445EF-784B-675B-72E7-616D93C760CB}"/>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19E4981-54B2-B05E-573A-1509CA954F14}"/>
              </a:ext>
            </a:extLst>
          </p:cNvPr>
          <p:cNvSpPr txBox="1"/>
          <p:nvPr/>
        </p:nvSpPr>
        <p:spPr>
          <a:xfrm>
            <a:off x="73572" y="15030"/>
            <a:ext cx="5299977" cy="400110"/>
          </a:xfrm>
          <a:prstGeom prst="rect">
            <a:avLst/>
          </a:prstGeom>
          <a:noFill/>
        </p:spPr>
        <p:txBody>
          <a:bodyPr wrap="none" rtlCol="0">
            <a:spAutoFit/>
          </a:bodyPr>
          <a:lstStyle/>
          <a:p>
            <a:r>
              <a:rPr lang="en-US" sz="2000" b="1" dirty="0">
                <a:solidFill>
                  <a:srgbClr val="7030A0"/>
                </a:solidFill>
              </a:rPr>
              <a:t>Agentic Development Workflow - Specifications </a:t>
            </a:r>
          </a:p>
        </p:txBody>
      </p:sp>
      <p:sp>
        <p:nvSpPr>
          <p:cNvPr id="13" name="TextBox 12">
            <a:extLst>
              <a:ext uri="{FF2B5EF4-FFF2-40B4-BE49-F238E27FC236}">
                <a16:creationId xmlns:a16="http://schemas.microsoft.com/office/drawing/2014/main" id="{F70EA88A-D8AE-F3CB-3D7D-BD17609D2E34}"/>
              </a:ext>
            </a:extLst>
          </p:cNvPr>
          <p:cNvSpPr txBox="1"/>
          <p:nvPr/>
        </p:nvSpPr>
        <p:spPr>
          <a:xfrm>
            <a:off x="336665" y="861844"/>
            <a:ext cx="11660909" cy="3323987"/>
          </a:xfrm>
          <a:prstGeom prst="rect">
            <a:avLst/>
          </a:prstGeom>
          <a:noFill/>
        </p:spPr>
        <p:txBody>
          <a:bodyPr wrap="square">
            <a:spAutoFit/>
          </a:bodyPr>
          <a:lstStyle/>
          <a:p>
            <a:r>
              <a:rPr lang="en-US" sz="2000" b="1" dirty="0"/>
              <a:t>Spec patterns:</a:t>
            </a:r>
          </a:p>
          <a:p>
            <a:endParaRPr lang="en-US" sz="1400" dirty="0"/>
          </a:p>
          <a:p>
            <a:pPr marL="285750" indent="-285750">
              <a:buFont typeface="Arial" panose="020B0604020202020204" pitchFamily="34" charset="0"/>
              <a:buChar char="•"/>
            </a:pPr>
            <a:r>
              <a:rPr lang="en-US" sz="1600" b="1" dirty="0"/>
              <a:t>Spec templates:</a:t>
            </a:r>
            <a:r>
              <a:rPr lang="en-US" sz="1600" dirty="0"/>
              <a:t> A team-shared markdown template with the six anatomy fields. Reduces missed sections, shortens authoring time.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Spec-then-code:</a:t>
            </a:r>
            <a:r>
              <a:rPr lang="en-US" sz="1600" dirty="0"/>
              <a:t> The spec gets reviewed by a teammate (or a meta-agent) before execution. Catches ambiguity early.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Spec lives in the PR:</a:t>
            </a:r>
            <a:r>
              <a:rPr lang="en-US" sz="1600" dirty="0"/>
              <a:t> The final PR description is the spec. Reviewers verify code-vs-spec instead of code-vs-vibes.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Spec libraries:</a:t>
            </a:r>
            <a:r>
              <a:rPr lang="en-US" sz="1600" dirty="0"/>
              <a:t> Reusable spec fragments for common patterns — "add a feature flag," "introduce a new endpoint," "migrate a query." Stops engineers re-inventing the wheel.</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Spec evals:</a:t>
            </a:r>
            <a:r>
              <a:rPr lang="en-US" sz="1600" dirty="0"/>
              <a:t> Run the same spec across multiple models or prompts to see which produces better output. The spec is the fixed input; the output is what's measured.</a:t>
            </a:r>
          </a:p>
        </p:txBody>
      </p:sp>
    </p:spTree>
    <p:extLst>
      <p:ext uri="{BB962C8B-B14F-4D97-AF65-F5344CB8AC3E}">
        <p14:creationId xmlns:p14="http://schemas.microsoft.com/office/powerpoint/2010/main" val="196799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46493-6C08-CE9D-1596-E8A18CD9C1A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A06994B-6E7B-07C8-9486-5CB00075490B}"/>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F069CA2-DB42-098B-8841-CB8A6C5FBCEB}"/>
              </a:ext>
            </a:extLst>
          </p:cNvPr>
          <p:cNvSpPr txBox="1"/>
          <p:nvPr/>
        </p:nvSpPr>
        <p:spPr>
          <a:xfrm>
            <a:off x="73572" y="15030"/>
            <a:ext cx="5125827"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Planning </a:t>
            </a:r>
          </a:p>
        </p:txBody>
      </p:sp>
      <p:sp>
        <p:nvSpPr>
          <p:cNvPr id="8" name="TextBox 7">
            <a:extLst>
              <a:ext uri="{FF2B5EF4-FFF2-40B4-BE49-F238E27FC236}">
                <a16:creationId xmlns:a16="http://schemas.microsoft.com/office/drawing/2014/main" id="{5A7ADA1E-B8D7-E2CB-835A-453A35292883}"/>
              </a:ext>
            </a:extLst>
          </p:cNvPr>
          <p:cNvSpPr txBox="1"/>
          <p:nvPr/>
        </p:nvSpPr>
        <p:spPr>
          <a:xfrm>
            <a:off x="199528" y="569561"/>
            <a:ext cx="9064782" cy="1988365"/>
          </a:xfrm>
          <a:prstGeom prst="rect">
            <a:avLst/>
          </a:prstGeom>
          <a:noFill/>
        </p:spPr>
        <p:txBody>
          <a:bodyPr wrap="square">
            <a:spAutoFit/>
          </a:bodyPr>
          <a:lstStyle/>
          <a:p>
            <a:r>
              <a:rPr lang="en-US" dirty="0"/>
              <a:t>This is the "how" phase — the AI lays out a step-by-step approach to implement the spec.</a:t>
            </a:r>
          </a:p>
          <a:p>
            <a:pPr marL="285750" indent="-285750">
              <a:lnSpc>
                <a:spcPct val="150000"/>
              </a:lnSpc>
              <a:buFont typeface="Arial" panose="020B0604020202020204" pitchFamily="34" charset="0"/>
              <a:buChar char="•"/>
            </a:pPr>
            <a:r>
              <a:rPr lang="en-US" dirty="0"/>
              <a:t>Breaks the work into concrete steps or subtasks</a:t>
            </a:r>
          </a:p>
          <a:p>
            <a:pPr marL="285750" indent="-285750">
              <a:lnSpc>
                <a:spcPct val="150000"/>
              </a:lnSpc>
              <a:buFont typeface="Arial" panose="020B0604020202020204" pitchFamily="34" charset="0"/>
              <a:buChar char="•"/>
            </a:pPr>
            <a:r>
              <a:rPr lang="en-US" dirty="0"/>
              <a:t>Identifies which files to create or modify</a:t>
            </a:r>
          </a:p>
          <a:p>
            <a:pPr marL="285750" indent="-285750">
              <a:lnSpc>
                <a:spcPct val="150000"/>
              </a:lnSpc>
              <a:buFont typeface="Arial" panose="020B0604020202020204" pitchFamily="34" charset="0"/>
              <a:buChar char="•"/>
            </a:pPr>
            <a:r>
              <a:rPr lang="en-US" dirty="0"/>
              <a:t>Decides on architecture, patterns, and tools to use</a:t>
            </a:r>
          </a:p>
          <a:p>
            <a:pPr marL="285750" indent="-285750">
              <a:lnSpc>
                <a:spcPct val="150000"/>
              </a:lnSpc>
              <a:buFont typeface="Arial" panose="020B0604020202020204" pitchFamily="34" charset="0"/>
              <a:buChar char="•"/>
            </a:pPr>
            <a:r>
              <a:rPr lang="en-US" dirty="0"/>
              <a:t>Sequences the work in a logical order before executing</a:t>
            </a:r>
          </a:p>
        </p:txBody>
      </p:sp>
      <p:sp>
        <p:nvSpPr>
          <p:cNvPr id="14" name="TextBox 13">
            <a:extLst>
              <a:ext uri="{FF2B5EF4-FFF2-40B4-BE49-F238E27FC236}">
                <a16:creationId xmlns:a16="http://schemas.microsoft.com/office/drawing/2014/main" id="{1DE6E15D-C613-0C15-FB0F-482EA6604D8A}"/>
              </a:ext>
            </a:extLst>
          </p:cNvPr>
          <p:cNvSpPr txBox="1"/>
          <p:nvPr/>
        </p:nvSpPr>
        <p:spPr>
          <a:xfrm>
            <a:off x="5248343" y="2840112"/>
            <a:ext cx="6943657" cy="2406877"/>
          </a:xfrm>
          <a:prstGeom prst="rect">
            <a:avLst/>
          </a:prstGeom>
          <a:noFill/>
        </p:spPr>
        <p:txBody>
          <a:bodyPr wrap="square">
            <a:spAutoFit/>
          </a:bodyPr>
          <a:lstStyle/>
          <a:p>
            <a:r>
              <a:rPr lang="en-US" dirty="0">
                <a:solidFill>
                  <a:srgbClr val="0070C0"/>
                </a:solidFill>
              </a:rPr>
              <a:t>Having the </a:t>
            </a:r>
            <a:r>
              <a:rPr lang="en-US" b="1" dirty="0">
                <a:solidFill>
                  <a:srgbClr val="0070C0"/>
                </a:solidFill>
              </a:rPr>
              <a:t>AI spec and plan</a:t>
            </a:r>
            <a:r>
              <a:rPr lang="en-US" dirty="0">
                <a:solidFill>
                  <a:srgbClr val="0070C0"/>
                </a:solidFill>
              </a:rPr>
              <a:t> before coding leads to:</a:t>
            </a:r>
          </a:p>
          <a:p>
            <a:pPr marL="285750" indent="-285750">
              <a:lnSpc>
                <a:spcPct val="150000"/>
              </a:lnSpc>
              <a:buFont typeface="Arial" panose="020B0604020202020204" pitchFamily="34" charset="0"/>
              <a:buChar char="•"/>
            </a:pPr>
            <a:r>
              <a:rPr lang="en-US" dirty="0">
                <a:solidFill>
                  <a:srgbClr val="0070C0"/>
                </a:solidFill>
              </a:rPr>
              <a:t>Fewer mistakes — problems are caught before code is written</a:t>
            </a:r>
          </a:p>
          <a:p>
            <a:pPr marL="285750" indent="-285750">
              <a:lnSpc>
                <a:spcPct val="150000"/>
              </a:lnSpc>
              <a:buFont typeface="Arial" panose="020B0604020202020204" pitchFamily="34" charset="0"/>
              <a:buChar char="•"/>
            </a:pPr>
            <a:r>
              <a:rPr lang="en-US" dirty="0">
                <a:solidFill>
                  <a:srgbClr val="0070C0"/>
                </a:solidFill>
              </a:rPr>
              <a:t>Better structure — the solution is thought through holistically</a:t>
            </a:r>
          </a:p>
          <a:p>
            <a:pPr marL="285750" indent="-285750">
              <a:lnSpc>
                <a:spcPct val="150000"/>
              </a:lnSpc>
              <a:buFont typeface="Arial" panose="020B0604020202020204" pitchFamily="34" charset="0"/>
              <a:buChar char="•"/>
            </a:pPr>
            <a:r>
              <a:rPr lang="en-US" dirty="0">
                <a:solidFill>
                  <a:srgbClr val="0070C0"/>
                </a:solidFill>
              </a:rPr>
              <a:t>More predictable output — you can review and correct the plan early</a:t>
            </a:r>
          </a:p>
          <a:p>
            <a:pPr marL="285750" indent="-285750">
              <a:lnSpc>
                <a:spcPct val="150000"/>
              </a:lnSpc>
              <a:buFont typeface="Arial" panose="020B0604020202020204" pitchFamily="34" charset="0"/>
              <a:buChar char="•"/>
            </a:pPr>
            <a:r>
              <a:rPr lang="en-US" dirty="0">
                <a:solidFill>
                  <a:srgbClr val="0070C0"/>
                </a:solidFill>
              </a:rPr>
              <a:t>Less wasted work — avoids going down the wrong path</a:t>
            </a:r>
          </a:p>
        </p:txBody>
      </p:sp>
      <p:sp>
        <p:nvSpPr>
          <p:cNvPr id="20" name="TextBox 19">
            <a:extLst>
              <a:ext uri="{FF2B5EF4-FFF2-40B4-BE49-F238E27FC236}">
                <a16:creationId xmlns:a16="http://schemas.microsoft.com/office/drawing/2014/main" id="{B940D41E-24DD-8165-6188-627E9CF54A57}"/>
              </a:ext>
            </a:extLst>
          </p:cNvPr>
          <p:cNvSpPr txBox="1"/>
          <p:nvPr/>
        </p:nvSpPr>
        <p:spPr>
          <a:xfrm>
            <a:off x="393444" y="6070349"/>
            <a:ext cx="9365765" cy="369332"/>
          </a:xfrm>
          <a:prstGeom prst="rect">
            <a:avLst/>
          </a:prstGeom>
          <a:noFill/>
        </p:spPr>
        <p:txBody>
          <a:bodyPr wrap="square">
            <a:spAutoFit/>
          </a:bodyPr>
          <a:lstStyle/>
          <a:p>
            <a:r>
              <a:rPr lang="en-US" b="1" dirty="0">
                <a:solidFill>
                  <a:schemeClr val="accent2">
                    <a:lumMod val="75000"/>
                  </a:schemeClr>
                </a:solidFill>
              </a:rPr>
              <a:t>Prompt:</a:t>
            </a:r>
            <a:r>
              <a:rPr lang="en-US" dirty="0">
                <a:solidFill>
                  <a:schemeClr val="accent2">
                    <a:lumMod val="75000"/>
                  </a:schemeClr>
                </a:solidFill>
              </a:rPr>
              <a:t> Before writing any code, spec out what needs to be built and create a plan.</a:t>
            </a:r>
          </a:p>
        </p:txBody>
      </p:sp>
    </p:spTree>
    <p:extLst>
      <p:ext uri="{BB962C8B-B14F-4D97-AF65-F5344CB8AC3E}">
        <p14:creationId xmlns:p14="http://schemas.microsoft.com/office/powerpoint/2010/main" val="2083081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5B315-CA89-DC82-83AB-F122E0564EC4}"/>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11DCC71D-6FC7-AF86-6C93-75B416FA10B8}"/>
              </a:ext>
            </a:extLst>
          </p:cNvPr>
          <p:cNvSpPr txBox="1"/>
          <p:nvPr/>
        </p:nvSpPr>
        <p:spPr>
          <a:xfrm>
            <a:off x="0" y="2262200"/>
            <a:ext cx="12192000" cy="1498680"/>
          </a:xfrm>
          <a:prstGeom prst="rect">
            <a:avLst/>
          </a:prstGeom>
          <a:noFill/>
        </p:spPr>
        <p:txBody>
          <a:bodyPr wrap="square">
            <a:spAutoFit/>
          </a:bodyPr>
          <a:lstStyle/>
          <a:p>
            <a:pPr algn="ctr">
              <a:lnSpc>
                <a:spcPct val="150000"/>
              </a:lnSpc>
            </a:pPr>
            <a:r>
              <a:rPr lang="en-US" sz="3200" dirty="0"/>
              <a:t>Agentic Development Workflow</a:t>
            </a:r>
          </a:p>
          <a:p>
            <a:pPr algn="ctr">
              <a:lnSpc>
                <a:spcPct val="150000"/>
              </a:lnSpc>
            </a:pPr>
            <a:r>
              <a:rPr lang="en-US" sz="3200" dirty="0"/>
              <a:t>User Story</a:t>
            </a:r>
          </a:p>
        </p:txBody>
      </p:sp>
    </p:spTree>
    <p:extLst>
      <p:ext uri="{BB962C8B-B14F-4D97-AF65-F5344CB8AC3E}">
        <p14:creationId xmlns:p14="http://schemas.microsoft.com/office/powerpoint/2010/main" val="2668712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40FFB-DE53-F3A1-666A-8ED80336C94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1964834-A268-EEF6-A70C-021FBA4B6FE5}"/>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93D2D7B-A6E1-3C9C-B722-4A90F942C4B8}"/>
              </a:ext>
            </a:extLst>
          </p:cNvPr>
          <p:cNvSpPr txBox="1"/>
          <p:nvPr/>
        </p:nvSpPr>
        <p:spPr>
          <a:xfrm>
            <a:off x="73572" y="15030"/>
            <a:ext cx="7427867"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User Story Planning &amp; Specs </a:t>
            </a:r>
          </a:p>
        </p:txBody>
      </p:sp>
      <p:sp>
        <p:nvSpPr>
          <p:cNvPr id="22" name="TextBox 21">
            <a:extLst>
              <a:ext uri="{FF2B5EF4-FFF2-40B4-BE49-F238E27FC236}">
                <a16:creationId xmlns:a16="http://schemas.microsoft.com/office/drawing/2014/main" id="{B5C0D6B9-C833-C025-78BE-E2AD092E20CA}"/>
              </a:ext>
            </a:extLst>
          </p:cNvPr>
          <p:cNvSpPr txBox="1"/>
          <p:nvPr/>
        </p:nvSpPr>
        <p:spPr>
          <a:xfrm>
            <a:off x="6748660" y="866765"/>
            <a:ext cx="4093633" cy="3618748"/>
          </a:xfrm>
          <a:prstGeom prst="rect">
            <a:avLst/>
          </a:prstGeom>
          <a:noFill/>
        </p:spPr>
        <p:txBody>
          <a:bodyPr wrap="square">
            <a:spAutoFit/>
          </a:bodyPr>
          <a:lstStyle/>
          <a:p>
            <a:r>
              <a:rPr lang="en-US" b="1" dirty="0"/>
              <a:t>Core Planning (How) Artifacts</a:t>
            </a:r>
          </a:p>
          <a:p>
            <a:pPr marL="342900" indent="-342900">
              <a:lnSpc>
                <a:spcPct val="200000"/>
              </a:lnSpc>
              <a:buAutoNum type="arabicPeriod"/>
            </a:pPr>
            <a:r>
              <a:rPr lang="en-US" dirty="0"/>
              <a:t>Problem Statement</a:t>
            </a:r>
          </a:p>
          <a:p>
            <a:pPr marL="342900" indent="-342900">
              <a:lnSpc>
                <a:spcPct val="200000"/>
              </a:lnSpc>
              <a:buAutoNum type="arabicPeriod"/>
            </a:pPr>
            <a:r>
              <a:rPr lang="en-US" dirty="0"/>
              <a:t>User Personas</a:t>
            </a:r>
          </a:p>
          <a:p>
            <a:pPr marL="342900" indent="-342900">
              <a:lnSpc>
                <a:spcPct val="200000"/>
              </a:lnSpc>
              <a:buAutoNum type="arabicPeriod"/>
            </a:pPr>
            <a:r>
              <a:rPr lang="en-US" dirty="0"/>
              <a:t>Feature List (prioritized)</a:t>
            </a:r>
          </a:p>
          <a:p>
            <a:pPr marL="342900" indent="-342900">
              <a:lnSpc>
                <a:spcPct val="200000"/>
              </a:lnSpc>
              <a:buAutoNum type="arabicPeriod"/>
            </a:pPr>
            <a:r>
              <a:rPr lang="en-US" dirty="0"/>
              <a:t>User Story Map</a:t>
            </a:r>
          </a:p>
          <a:p>
            <a:pPr marL="342900" indent="-342900">
              <a:lnSpc>
                <a:spcPct val="200000"/>
              </a:lnSpc>
              <a:buAutoNum type="arabicPeriod"/>
            </a:pPr>
            <a:r>
              <a:rPr lang="en-US" dirty="0"/>
              <a:t>Release Plan / Milestone breakdown</a:t>
            </a:r>
          </a:p>
          <a:p>
            <a:pPr marL="342900" indent="-342900">
              <a:lnSpc>
                <a:spcPct val="200000"/>
              </a:lnSpc>
              <a:buAutoNum type="arabicPeriod"/>
            </a:pPr>
            <a:r>
              <a:rPr lang="en-US" dirty="0"/>
              <a:t>Assumptions + Risks log</a:t>
            </a:r>
          </a:p>
        </p:txBody>
      </p:sp>
      <p:sp>
        <p:nvSpPr>
          <p:cNvPr id="25" name="TextBox 24">
            <a:extLst>
              <a:ext uri="{FF2B5EF4-FFF2-40B4-BE49-F238E27FC236}">
                <a16:creationId xmlns:a16="http://schemas.microsoft.com/office/drawing/2014/main" id="{61D0A770-76D2-D317-7E42-A385B62A7A49}"/>
              </a:ext>
            </a:extLst>
          </p:cNvPr>
          <p:cNvSpPr txBox="1"/>
          <p:nvPr/>
        </p:nvSpPr>
        <p:spPr>
          <a:xfrm>
            <a:off x="761878" y="866765"/>
            <a:ext cx="3706706" cy="4172745"/>
          </a:xfrm>
          <a:prstGeom prst="rect">
            <a:avLst/>
          </a:prstGeom>
          <a:noFill/>
        </p:spPr>
        <p:txBody>
          <a:bodyPr wrap="square">
            <a:spAutoFit/>
          </a:bodyPr>
          <a:lstStyle/>
          <a:p>
            <a:r>
              <a:rPr lang="en-US" b="1" dirty="0"/>
              <a:t>Core Spec (What) Artifacts</a:t>
            </a:r>
          </a:p>
          <a:p>
            <a:pPr marL="342900" indent="-342900">
              <a:lnSpc>
                <a:spcPct val="200000"/>
              </a:lnSpc>
              <a:buAutoNum type="arabicPeriod"/>
            </a:pPr>
            <a:r>
              <a:rPr lang="en-US" dirty="0"/>
              <a:t>Functional Specification</a:t>
            </a:r>
          </a:p>
          <a:p>
            <a:pPr marL="342900" indent="-342900">
              <a:lnSpc>
                <a:spcPct val="200000"/>
              </a:lnSpc>
              <a:buAutoNum type="arabicPeriod"/>
            </a:pPr>
            <a:r>
              <a:rPr lang="en-US" dirty="0"/>
              <a:t>UX/Interaction Specification</a:t>
            </a:r>
          </a:p>
          <a:p>
            <a:pPr marL="342900" indent="-342900">
              <a:lnSpc>
                <a:spcPct val="200000"/>
              </a:lnSpc>
              <a:buAutoNum type="arabicPeriod"/>
            </a:pPr>
            <a:r>
              <a:rPr lang="en-US" dirty="0"/>
              <a:t>Data Specification</a:t>
            </a:r>
          </a:p>
          <a:p>
            <a:pPr marL="342900" indent="-342900">
              <a:lnSpc>
                <a:spcPct val="200000"/>
              </a:lnSpc>
              <a:buAutoNum type="arabicPeriod"/>
            </a:pPr>
            <a:r>
              <a:rPr lang="en-US" dirty="0"/>
              <a:t>API / Interface Specification</a:t>
            </a:r>
          </a:p>
          <a:p>
            <a:pPr marL="342900" indent="-342900">
              <a:lnSpc>
                <a:spcPct val="200000"/>
              </a:lnSpc>
              <a:buAutoNum type="arabicPeriod"/>
            </a:pPr>
            <a:r>
              <a:rPr lang="en-US" dirty="0"/>
              <a:t>Edge Case + Error State Catalog</a:t>
            </a:r>
          </a:p>
          <a:p>
            <a:pPr marL="342900" indent="-342900">
              <a:lnSpc>
                <a:spcPct val="200000"/>
              </a:lnSpc>
              <a:buAutoNum type="arabicPeriod"/>
            </a:pPr>
            <a:r>
              <a:rPr lang="en-US" dirty="0"/>
              <a:t>Non-Functional Requirements</a:t>
            </a:r>
          </a:p>
          <a:p>
            <a:pPr marL="342900" indent="-342900">
              <a:lnSpc>
                <a:spcPct val="200000"/>
              </a:lnSpc>
              <a:buAutoNum type="arabicPeriod"/>
            </a:pPr>
            <a:r>
              <a:rPr lang="en-US" dirty="0"/>
              <a:t>Acceptance Criteria (detailed)</a:t>
            </a:r>
          </a:p>
        </p:txBody>
      </p:sp>
    </p:spTree>
    <p:extLst>
      <p:ext uri="{BB962C8B-B14F-4D97-AF65-F5344CB8AC3E}">
        <p14:creationId xmlns:p14="http://schemas.microsoft.com/office/powerpoint/2010/main" val="4143175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E0B5E-0EB6-EDF2-5846-3E237F05D39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9B306BA-63DE-D411-BF95-30BD20F67C65}"/>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B201DDF-F776-52A2-16AA-41562811EFEF}"/>
              </a:ext>
            </a:extLst>
          </p:cNvPr>
          <p:cNvSpPr txBox="1"/>
          <p:nvPr/>
        </p:nvSpPr>
        <p:spPr>
          <a:xfrm>
            <a:off x="73572" y="15030"/>
            <a:ext cx="7791492"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Example Prompts for User Story</a:t>
            </a:r>
          </a:p>
        </p:txBody>
      </p:sp>
      <p:sp>
        <p:nvSpPr>
          <p:cNvPr id="2" name="TextBox 1">
            <a:extLst>
              <a:ext uri="{FF2B5EF4-FFF2-40B4-BE49-F238E27FC236}">
                <a16:creationId xmlns:a16="http://schemas.microsoft.com/office/drawing/2014/main" id="{45632359-3FEC-4350-315C-506B925560E7}"/>
              </a:ext>
            </a:extLst>
          </p:cNvPr>
          <p:cNvSpPr txBox="1"/>
          <p:nvPr/>
        </p:nvSpPr>
        <p:spPr>
          <a:xfrm>
            <a:off x="345440" y="563800"/>
            <a:ext cx="2772362" cy="707886"/>
          </a:xfrm>
          <a:prstGeom prst="rect">
            <a:avLst/>
          </a:prstGeom>
          <a:noFill/>
        </p:spPr>
        <p:txBody>
          <a:bodyPr wrap="none" rtlCol="0">
            <a:spAutoFit/>
          </a:bodyPr>
          <a:lstStyle/>
          <a:p>
            <a:r>
              <a:rPr lang="en-US" sz="2000" dirty="0"/>
              <a:t>Planning for user stories:</a:t>
            </a:r>
          </a:p>
          <a:p>
            <a:endParaRPr lang="en-US" sz="2000" dirty="0"/>
          </a:p>
        </p:txBody>
      </p:sp>
      <p:sp>
        <p:nvSpPr>
          <p:cNvPr id="6" name="TextBox 5">
            <a:extLst>
              <a:ext uri="{FF2B5EF4-FFF2-40B4-BE49-F238E27FC236}">
                <a16:creationId xmlns:a16="http://schemas.microsoft.com/office/drawing/2014/main" id="{D224E1AC-EC81-6408-ED76-E3D69F1A94BA}"/>
              </a:ext>
            </a:extLst>
          </p:cNvPr>
          <p:cNvSpPr txBox="1"/>
          <p:nvPr/>
        </p:nvSpPr>
        <p:spPr>
          <a:xfrm>
            <a:off x="345440" y="1451124"/>
            <a:ext cx="6116320" cy="2893100"/>
          </a:xfrm>
          <a:prstGeom prst="rect">
            <a:avLst/>
          </a:prstGeom>
          <a:noFill/>
        </p:spPr>
        <p:txBody>
          <a:bodyPr wrap="square">
            <a:spAutoFit/>
          </a:bodyPr>
          <a:lstStyle/>
          <a:p>
            <a:r>
              <a:rPr lang="en-US" sz="1400" b="1" u="sng" dirty="0"/>
              <a:t>User Story Creation Prompts</a:t>
            </a:r>
          </a:p>
          <a:p>
            <a:r>
              <a:rPr lang="en-US" sz="1400" dirty="0"/>
              <a:t>Before writing this user story, identify: </a:t>
            </a:r>
          </a:p>
          <a:p>
            <a:pPr marL="285750" indent="-285750">
              <a:buFont typeface="Arial" panose="020B0604020202020204" pitchFamily="34" charset="0"/>
              <a:buChar char="•"/>
            </a:pPr>
            <a:r>
              <a:rPr lang="en-US" sz="1400" dirty="0"/>
              <a:t>Who specifically is the user (role, context, technical level)</a:t>
            </a:r>
          </a:p>
          <a:p>
            <a:pPr marL="285750" indent="-285750">
              <a:buFont typeface="Arial" panose="020B0604020202020204" pitchFamily="34" charset="0"/>
              <a:buChar char="•"/>
            </a:pPr>
            <a:r>
              <a:rPr lang="en-US" sz="1400" dirty="0"/>
              <a:t>What job are they trying to accomplish</a:t>
            </a:r>
          </a:p>
          <a:p>
            <a:pPr marL="285750" indent="-285750">
              <a:buFont typeface="Arial" panose="020B0604020202020204" pitchFamily="34" charset="0"/>
              <a:buChar char="•"/>
            </a:pPr>
            <a:r>
              <a:rPr lang="en-US" sz="1400" dirty="0"/>
              <a:t>What pain does this solve or value does it deliver</a:t>
            </a:r>
          </a:p>
          <a:p>
            <a:pPr marL="285750" indent="-285750">
              <a:buFont typeface="Arial" panose="020B0604020202020204" pitchFamily="34" charset="0"/>
              <a:buChar char="•"/>
            </a:pPr>
            <a:r>
              <a:rPr lang="en-US" sz="1400" dirty="0"/>
              <a:t>What assumptions are we making about their context</a:t>
            </a:r>
          </a:p>
          <a:p>
            <a:endParaRPr lang="en-US" sz="1400" dirty="0"/>
          </a:p>
          <a:p>
            <a:r>
              <a:rPr lang="en-US" sz="1400" dirty="0"/>
              <a:t>Write this user story in the format:</a:t>
            </a:r>
          </a:p>
          <a:p>
            <a:r>
              <a:rPr lang="en-US" sz="1400" dirty="0"/>
              <a:t>"As a [specific persona], I want to [action], so that [outcome].“</a:t>
            </a:r>
          </a:p>
          <a:p>
            <a:r>
              <a:rPr lang="en-US" sz="1400" dirty="0"/>
              <a:t>Then challenge your own story: does the outcome actually follow from the action?</a:t>
            </a:r>
          </a:p>
          <a:p>
            <a:r>
              <a:rPr lang="en-US" sz="1400" dirty="0"/>
              <a:t>List every assumption baked into this user story.</a:t>
            </a:r>
          </a:p>
          <a:p>
            <a:r>
              <a:rPr lang="en-US" sz="1400" dirty="0"/>
              <a:t>Flag which ones are unverified by user research or product data.</a:t>
            </a:r>
          </a:p>
        </p:txBody>
      </p:sp>
      <p:sp>
        <p:nvSpPr>
          <p:cNvPr id="8" name="TextBox 7">
            <a:extLst>
              <a:ext uri="{FF2B5EF4-FFF2-40B4-BE49-F238E27FC236}">
                <a16:creationId xmlns:a16="http://schemas.microsoft.com/office/drawing/2014/main" id="{6E8FE426-9A1F-6519-1A01-501079C9DBDE}"/>
              </a:ext>
            </a:extLst>
          </p:cNvPr>
          <p:cNvSpPr txBox="1"/>
          <p:nvPr/>
        </p:nvSpPr>
        <p:spPr>
          <a:xfrm>
            <a:off x="345440" y="902354"/>
            <a:ext cx="9408160" cy="338554"/>
          </a:xfrm>
          <a:prstGeom prst="rect">
            <a:avLst/>
          </a:prstGeom>
          <a:noFill/>
        </p:spPr>
        <p:txBody>
          <a:bodyPr wrap="square">
            <a:spAutoFit/>
          </a:bodyPr>
          <a:lstStyle/>
          <a:p>
            <a:r>
              <a:rPr lang="en-US" sz="1600" dirty="0"/>
              <a:t>For user stories, you want AI Agent to be thorough about product and user thinking.</a:t>
            </a:r>
          </a:p>
        </p:txBody>
      </p:sp>
      <p:sp>
        <p:nvSpPr>
          <p:cNvPr id="13" name="TextBox 12">
            <a:extLst>
              <a:ext uri="{FF2B5EF4-FFF2-40B4-BE49-F238E27FC236}">
                <a16:creationId xmlns:a16="http://schemas.microsoft.com/office/drawing/2014/main" id="{D3BC525E-707B-D587-0C74-72FD99EC845D}"/>
              </a:ext>
            </a:extLst>
          </p:cNvPr>
          <p:cNvSpPr txBox="1"/>
          <p:nvPr/>
        </p:nvSpPr>
        <p:spPr>
          <a:xfrm>
            <a:off x="6238240" y="1404642"/>
            <a:ext cx="5933440" cy="2246769"/>
          </a:xfrm>
          <a:prstGeom prst="rect">
            <a:avLst/>
          </a:prstGeom>
          <a:noFill/>
        </p:spPr>
        <p:txBody>
          <a:bodyPr wrap="square">
            <a:spAutoFit/>
          </a:bodyPr>
          <a:lstStyle/>
          <a:p>
            <a:r>
              <a:rPr lang="en-US" sz="1400" b="1" u="sng" dirty="0"/>
              <a:t>Acceptance Criteria Prompts</a:t>
            </a:r>
          </a:p>
          <a:p>
            <a:r>
              <a:rPr lang="en-US" sz="1400" dirty="0"/>
              <a:t>Write acceptance criteria for this story that are:</a:t>
            </a:r>
          </a:p>
          <a:p>
            <a:pPr marL="285750" indent="-285750">
              <a:buFont typeface="Arial" panose="020B0604020202020204" pitchFamily="34" charset="0"/>
              <a:buChar char="•"/>
            </a:pPr>
            <a:r>
              <a:rPr lang="en-US" sz="1400" dirty="0"/>
              <a:t>Testable (pass/fail, not subjective)</a:t>
            </a:r>
          </a:p>
          <a:p>
            <a:pPr marL="285750" indent="-285750">
              <a:buFont typeface="Arial" panose="020B0604020202020204" pitchFamily="34" charset="0"/>
              <a:buChar char="•"/>
            </a:pPr>
            <a:r>
              <a:rPr lang="en-US" sz="1400" dirty="0"/>
              <a:t>Written from the user's perspective, not the system’s</a:t>
            </a:r>
          </a:p>
          <a:p>
            <a:pPr marL="285750" indent="-285750">
              <a:buFont typeface="Arial" panose="020B0604020202020204" pitchFamily="34" charset="0"/>
              <a:buChar char="•"/>
            </a:pPr>
            <a:r>
              <a:rPr lang="en-US" sz="1400" dirty="0"/>
              <a:t>Covering the happy path, at least two edge cases, and at least one error state</a:t>
            </a:r>
          </a:p>
          <a:p>
            <a:r>
              <a:rPr lang="en-US" sz="1400" dirty="0"/>
              <a:t>For each acceptance criterion, write a one-line test description that a QA engineer could execute without asking any clarifying questions.</a:t>
            </a:r>
          </a:p>
          <a:p>
            <a:r>
              <a:rPr lang="en-US" sz="1400" dirty="0"/>
              <a:t>What is explicitly out of scope for this story?</a:t>
            </a:r>
          </a:p>
          <a:p>
            <a:r>
              <a:rPr lang="en-US" sz="1400" dirty="0"/>
              <a:t>List at least three things that could reasonably be assumed in scope but aren't.</a:t>
            </a:r>
          </a:p>
        </p:txBody>
      </p:sp>
      <p:sp>
        <p:nvSpPr>
          <p:cNvPr id="16" name="TextBox 15">
            <a:extLst>
              <a:ext uri="{FF2B5EF4-FFF2-40B4-BE49-F238E27FC236}">
                <a16:creationId xmlns:a16="http://schemas.microsoft.com/office/drawing/2014/main" id="{6CEC2E7F-E291-12EA-9B84-B6BAAF53FC9B}"/>
              </a:ext>
            </a:extLst>
          </p:cNvPr>
          <p:cNvSpPr txBox="1"/>
          <p:nvPr/>
        </p:nvSpPr>
        <p:spPr>
          <a:xfrm>
            <a:off x="274320" y="4492884"/>
            <a:ext cx="5963920" cy="2031325"/>
          </a:xfrm>
          <a:prstGeom prst="rect">
            <a:avLst/>
          </a:prstGeom>
          <a:noFill/>
        </p:spPr>
        <p:txBody>
          <a:bodyPr wrap="square">
            <a:spAutoFit/>
          </a:bodyPr>
          <a:lstStyle/>
          <a:p>
            <a:r>
              <a:rPr lang="en-US" sz="1400" b="1" u="sng" dirty="0"/>
              <a:t>Refinement and Clarity Prompts</a:t>
            </a:r>
          </a:p>
          <a:p>
            <a:r>
              <a:rPr lang="en-US" sz="1400" dirty="0"/>
              <a:t>A developer is picking this story up cold with no context.</a:t>
            </a:r>
          </a:p>
          <a:p>
            <a:r>
              <a:rPr lang="en-US" sz="1400" dirty="0"/>
              <a:t>What will confuse them? What implicit knowledge does this story assume?</a:t>
            </a:r>
          </a:p>
          <a:p>
            <a:r>
              <a:rPr lang="en-US" sz="1400" dirty="0"/>
              <a:t>Rewrite to make it self-contained.</a:t>
            </a:r>
          </a:p>
          <a:p>
            <a:r>
              <a:rPr lang="en-US" sz="1400" dirty="0"/>
              <a:t>Does this story encode any irreversible product decisions —data structures, public-facing behavior, user-visible contracts?</a:t>
            </a:r>
          </a:p>
          <a:p>
            <a:r>
              <a:rPr lang="en-US" sz="1400" dirty="0"/>
              <a:t>Flag them for explicit review before development starts.</a:t>
            </a:r>
          </a:p>
          <a:p>
            <a:r>
              <a:rPr lang="en-US" sz="1400" dirty="0"/>
              <a:t>Split this story into: must-have for launch, should-have, and nice-to-have.</a:t>
            </a:r>
          </a:p>
          <a:p>
            <a:r>
              <a:rPr lang="en-US" sz="1400" dirty="0"/>
              <a:t>If everything is must-have, challenge that assumption.</a:t>
            </a:r>
          </a:p>
        </p:txBody>
      </p:sp>
      <p:sp>
        <p:nvSpPr>
          <p:cNvPr id="19" name="TextBox 18">
            <a:extLst>
              <a:ext uri="{FF2B5EF4-FFF2-40B4-BE49-F238E27FC236}">
                <a16:creationId xmlns:a16="http://schemas.microsoft.com/office/drawing/2014/main" id="{41294584-6F6F-C811-0D5B-8A5D098B740B}"/>
              </a:ext>
            </a:extLst>
          </p:cNvPr>
          <p:cNvSpPr txBox="1"/>
          <p:nvPr/>
        </p:nvSpPr>
        <p:spPr>
          <a:xfrm>
            <a:off x="6238240" y="3891106"/>
            <a:ext cx="5933440" cy="2462213"/>
          </a:xfrm>
          <a:prstGeom prst="rect">
            <a:avLst/>
          </a:prstGeom>
          <a:noFill/>
        </p:spPr>
        <p:txBody>
          <a:bodyPr wrap="square">
            <a:spAutoFit/>
          </a:bodyPr>
          <a:lstStyle/>
          <a:p>
            <a:r>
              <a:rPr lang="en-US" sz="1400" b="1" u="sng" dirty="0"/>
              <a:t>Dependency and Risk Prompts</a:t>
            </a:r>
          </a:p>
          <a:p>
            <a:r>
              <a:rPr lang="en-US" sz="1400" dirty="0"/>
              <a:t>What does this story depend on — other stories, systems, APIs, team decisions?</a:t>
            </a:r>
          </a:p>
          <a:p>
            <a:r>
              <a:rPr lang="en-US" sz="1400" dirty="0"/>
              <a:t>What stories or work does this story block?</a:t>
            </a:r>
          </a:p>
          <a:p>
            <a:r>
              <a:rPr lang="en-US" sz="1400" dirty="0"/>
              <a:t>Flag any circular dependencies.</a:t>
            </a:r>
          </a:p>
          <a:p>
            <a:r>
              <a:rPr lang="en-US" sz="1400" dirty="0"/>
              <a:t>What is the most likely way this story gets mis implemented?</a:t>
            </a:r>
          </a:p>
          <a:p>
            <a:r>
              <a:rPr lang="en-US" sz="1400" dirty="0"/>
              <a:t>What ambiguity in the current wording would lead a developer in the wrong direction?</a:t>
            </a:r>
          </a:p>
          <a:p>
            <a:r>
              <a:rPr lang="en-US" sz="1400" dirty="0"/>
              <a:t>Run a pre-mortem on this story: it's shipped and users hate it or it caused a bug.</a:t>
            </a:r>
          </a:p>
          <a:p>
            <a:r>
              <a:rPr lang="en-US" sz="1400" dirty="0"/>
              <a:t>What went wrong, and does the current story wording prevent that?</a:t>
            </a:r>
          </a:p>
        </p:txBody>
      </p:sp>
    </p:spTree>
    <p:extLst>
      <p:ext uri="{BB962C8B-B14F-4D97-AF65-F5344CB8AC3E}">
        <p14:creationId xmlns:p14="http://schemas.microsoft.com/office/powerpoint/2010/main" val="3418011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3E5C0-4419-D5A8-2E23-678AB1BF289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9C0DE62-3690-53EA-BD06-44186F49E5A8}"/>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79BD6F4-1C83-9839-0288-44DDEC3B88F1}"/>
              </a:ext>
            </a:extLst>
          </p:cNvPr>
          <p:cNvSpPr txBox="1"/>
          <p:nvPr/>
        </p:nvSpPr>
        <p:spPr>
          <a:xfrm>
            <a:off x="73572" y="15030"/>
            <a:ext cx="7084312"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Implementation planning </a:t>
            </a:r>
          </a:p>
        </p:txBody>
      </p:sp>
      <p:sp>
        <p:nvSpPr>
          <p:cNvPr id="9" name="TextBox 8">
            <a:extLst>
              <a:ext uri="{FF2B5EF4-FFF2-40B4-BE49-F238E27FC236}">
                <a16:creationId xmlns:a16="http://schemas.microsoft.com/office/drawing/2014/main" id="{26956D18-73EF-8143-3AFC-B9698542C32B}"/>
              </a:ext>
            </a:extLst>
          </p:cNvPr>
          <p:cNvSpPr txBox="1"/>
          <p:nvPr/>
        </p:nvSpPr>
        <p:spPr>
          <a:xfrm>
            <a:off x="194186" y="569021"/>
            <a:ext cx="11566013" cy="5262979"/>
          </a:xfrm>
          <a:prstGeom prst="rect">
            <a:avLst/>
          </a:prstGeom>
          <a:noFill/>
        </p:spPr>
        <p:txBody>
          <a:bodyPr wrap="square">
            <a:spAutoFit/>
          </a:bodyPr>
          <a:lstStyle/>
          <a:p>
            <a:r>
              <a:rPr lang="en-US" dirty="0"/>
              <a:t>Before starting implementation…</a:t>
            </a:r>
          </a:p>
          <a:p>
            <a:endParaRPr lang="en-US" sz="1600" dirty="0"/>
          </a:p>
          <a:p>
            <a:r>
              <a:rPr lang="en-US" sz="1400" dirty="0">
                <a:solidFill>
                  <a:schemeClr val="accent5">
                    <a:lumMod val="60000"/>
                    <a:lumOff val="40000"/>
                  </a:schemeClr>
                </a:solidFill>
              </a:rPr>
              <a:t>"</a:t>
            </a:r>
            <a:r>
              <a:rPr lang="en-US" sz="1400" dirty="0">
                <a:solidFill>
                  <a:schemeClr val="accent2">
                    <a:lumMod val="75000"/>
                  </a:schemeClr>
                </a:solidFill>
              </a:rPr>
              <a:t>Think through this design carefully. Give me a numbered decision log covering: what you'll build, what you won't build, assumptions you're making, and </a:t>
            </a:r>
            <a:r>
              <a:rPr lang="en-US" sz="1400" b="1" dirty="0">
                <a:solidFill>
                  <a:schemeClr val="accent2">
                    <a:lumMod val="75000"/>
                  </a:schemeClr>
                </a:solidFill>
              </a:rPr>
              <a:t>alternatives</a:t>
            </a:r>
            <a:r>
              <a:rPr lang="en-US" sz="1400" dirty="0">
                <a:solidFill>
                  <a:schemeClr val="accent2">
                    <a:lumMod val="75000"/>
                  </a:schemeClr>
                </a:solidFill>
              </a:rPr>
              <a:t> you considered</a:t>
            </a:r>
            <a:r>
              <a:rPr lang="en-US" sz="1400" dirty="0">
                <a:solidFill>
                  <a:schemeClr val="accent5">
                    <a:lumMod val="60000"/>
                    <a:lumOff val="40000"/>
                  </a:schemeClr>
                </a:solidFill>
              </a:rPr>
              <a:t>. </a:t>
            </a:r>
          </a:p>
          <a:p>
            <a:r>
              <a:rPr lang="en-US" sz="1400" dirty="0">
                <a:solidFill>
                  <a:schemeClr val="accent2">
                    <a:lumMod val="75000"/>
                  </a:schemeClr>
                </a:solidFill>
              </a:rPr>
              <a:t>Lay out your full design plan: components, data flow, file structure, key decisions and tradeoffs. </a:t>
            </a:r>
            <a:r>
              <a:rPr lang="en-US" sz="1400" b="1" dirty="0">
                <a:solidFill>
                  <a:schemeClr val="accent2">
                    <a:lumMod val="75000"/>
                  </a:schemeClr>
                </a:solidFill>
              </a:rPr>
              <a:t>Wait for my approval before implementing</a:t>
            </a:r>
            <a:r>
              <a:rPr lang="en-US" sz="1400" dirty="0">
                <a:solidFill>
                  <a:schemeClr val="accent2">
                    <a:lumMod val="75000"/>
                  </a:schemeClr>
                </a:solidFill>
              </a:rPr>
              <a:t>.</a:t>
            </a:r>
            <a:r>
              <a:rPr lang="en-US" sz="1400" dirty="0">
                <a:solidFill>
                  <a:schemeClr val="accent5">
                    <a:lumMod val="60000"/>
                    <a:lumOff val="40000"/>
                  </a:schemeClr>
                </a:solidFill>
              </a:rPr>
              <a:t>“</a:t>
            </a:r>
          </a:p>
          <a:p>
            <a:endParaRPr lang="en-US" sz="1400" dirty="0">
              <a:solidFill>
                <a:schemeClr val="accent5">
                  <a:lumMod val="60000"/>
                  <a:lumOff val="40000"/>
                </a:schemeClr>
              </a:solidFill>
            </a:endParaRPr>
          </a:p>
          <a:p>
            <a:pPr marL="285750" indent="-285750">
              <a:lnSpc>
                <a:spcPct val="150000"/>
              </a:lnSpc>
              <a:buFont typeface="Arial" panose="020B0604020202020204" pitchFamily="34" charset="0"/>
              <a:buChar char="•"/>
            </a:pPr>
            <a:r>
              <a:rPr lang="en-US" sz="1400" dirty="0"/>
              <a:t>The "alternatives you considered" part forces genuine reasoning rather than just restating the task back to you.</a:t>
            </a:r>
          </a:p>
          <a:p>
            <a:pPr marL="285750" indent="-285750">
              <a:lnSpc>
                <a:spcPct val="150000"/>
              </a:lnSpc>
              <a:buFont typeface="Arial" panose="020B0604020202020204" pitchFamily="34" charset="0"/>
              <a:buChar char="•"/>
            </a:pPr>
            <a:r>
              <a:rPr lang="en-US" sz="1400" dirty="0"/>
              <a:t>The "wait for my approval" part is critical — without it, Claude Code will often outline </a:t>
            </a:r>
            <a:r>
              <a:rPr lang="en-US" sz="1400" i="1" dirty="0"/>
              <a:t>and then immediately start coding</a:t>
            </a:r>
            <a:r>
              <a:rPr lang="en-US" sz="1400" dirty="0"/>
              <a:t> in the same response.</a:t>
            </a:r>
          </a:p>
          <a:p>
            <a:endParaRPr lang="en-US" sz="1400" dirty="0"/>
          </a:p>
          <a:p>
            <a:endParaRPr lang="en-US" sz="1400" dirty="0"/>
          </a:p>
          <a:p>
            <a:endParaRPr lang="en-US" sz="1400" dirty="0"/>
          </a:p>
          <a:p>
            <a:endParaRPr lang="en-US" sz="1400" dirty="0"/>
          </a:p>
          <a:p>
            <a:r>
              <a:rPr lang="en-US" sz="1400" dirty="0"/>
              <a:t>or add below in claude.md file</a:t>
            </a:r>
          </a:p>
          <a:p>
            <a:endParaRPr lang="en-US" sz="1600" dirty="0"/>
          </a:p>
          <a:p>
            <a:r>
              <a:rPr lang="en-US" sz="1600" b="1" dirty="0"/>
              <a:t>## Workflow Rules</a:t>
            </a:r>
            <a:r>
              <a:rPr lang="en-US" sz="1400" dirty="0"/>
              <a:t> </a:t>
            </a:r>
          </a:p>
          <a:p>
            <a:pPr marL="285750" indent="-285750">
              <a:lnSpc>
                <a:spcPct val="150000"/>
              </a:lnSpc>
              <a:buFontTx/>
              <a:buChar char="-"/>
            </a:pPr>
            <a:r>
              <a:rPr lang="en-US" sz="1400" dirty="0"/>
              <a:t>For any non-trivial task, produce a design plan first</a:t>
            </a:r>
          </a:p>
          <a:p>
            <a:pPr marL="742950" lvl="1" indent="-285750">
              <a:lnSpc>
                <a:spcPct val="150000"/>
              </a:lnSpc>
              <a:buFontTx/>
              <a:buChar char="-"/>
            </a:pPr>
            <a:r>
              <a:rPr lang="en-US" sz="1400" dirty="0"/>
              <a:t>Include: A numbered decision log covering: In scope, Out of scope, assumptions, and alternatives</a:t>
            </a:r>
          </a:p>
          <a:p>
            <a:pPr marL="742950" lvl="1" indent="-285750">
              <a:lnSpc>
                <a:spcPct val="150000"/>
              </a:lnSpc>
              <a:buFontTx/>
              <a:buChar char="-"/>
            </a:pPr>
            <a:r>
              <a:rPr lang="en-US" sz="1400" dirty="0"/>
              <a:t>Include: file structure, component breakdown, data flow, key decisions, alternatives you considered</a:t>
            </a:r>
          </a:p>
          <a:p>
            <a:pPr marL="742950" lvl="1" indent="-285750">
              <a:lnSpc>
                <a:spcPct val="150000"/>
              </a:lnSpc>
              <a:buFontTx/>
              <a:buChar char="-"/>
            </a:pPr>
            <a:r>
              <a:rPr lang="en-US" sz="1400" dirty="0"/>
              <a:t>Do not write implementation code until the plan is explicitly approved</a:t>
            </a:r>
          </a:p>
          <a:p>
            <a:endParaRPr lang="en-US" dirty="0"/>
          </a:p>
        </p:txBody>
      </p:sp>
    </p:spTree>
    <p:extLst>
      <p:ext uri="{BB962C8B-B14F-4D97-AF65-F5344CB8AC3E}">
        <p14:creationId xmlns:p14="http://schemas.microsoft.com/office/powerpoint/2010/main" val="2168913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9AA6D-2E8E-3EC3-C951-299A2648B23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318BAD2-934D-BE45-C5D9-D799858CDE56}"/>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10E3D8-7A5E-668A-131C-62C911777A52}"/>
              </a:ext>
            </a:extLst>
          </p:cNvPr>
          <p:cNvSpPr txBox="1"/>
          <p:nvPr/>
        </p:nvSpPr>
        <p:spPr>
          <a:xfrm>
            <a:off x="73572" y="15030"/>
            <a:ext cx="7048468"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Example with Claude.md </a:t>
            </a:r>
          </a:p>
        </p:txBody>
      </p:sp>
      <p:sp>
        <p:nvSpPr>
          <p:cNvPr id="9" name="TextBox 8">
            <a:extLst>
              <a:ext uri="{FF2B5EF4-FFF2-40B4-BE49-F238E27FC236}">
                <a16:creationId xmlns:a16="http://schemas.microsoft.com/office/drawing/2014/main" id="{D2003A48-E818-6D6B-556B-A6B49D6B4E92}"/>
              </a:ext>
            </a:extLst>
          </p:cNvPr>
          <p:cNvSpPr txBox="1"/>
          <p:nvPr/>
        </p:nvSpPr>
        <p:spPr>
          <a:xfrm>
            <a:off x="237066" y="647342"/>
            <a:ext cx="5613401" cy="5262979"/>
          </a:xfrm>
          <a:prstGeom prst="rect">
            <a:avLst/>
          </a:prstGeom>
          <a:noFill/>
        </p:spPr>
        <p:txBody>
          <a:bodyPr wrap="square">
            <a:spAutoFit/>
          </a:bodyPr>
          <a:lstStyle/>
          <a:p>
            <a:r>
              <a:rPr lang="en-US" sz="1400" dirty="0"/>
              <a:t># Planning and Spec Protocol</a:t>
            </a:r>
          </a:p>
          <a:p>
            <a:r>
              <a:rPr lang="en-US" sz="1400" dirty="0"/>
              <a:t>## Planning Phase</a:t>
            </a:r>
          </a:p>
          <a:p>
            <a:r>
              <a:rPr lang="en-US" sz="1400" dirty="0"/>
              <a:t>###When to run planning</a:t>
            </a:r>
          </a:p>
          <a:p>
            <a:r>
              <a:rPr lang="en-US" sz="1400" dirty="0"/>
              <a:t>Run planning when: starting a new feature, epic, or product area.</a:t>
            </a:r>
          </a:p>
          <a:p>
            <a:r>
              <a:rPr lang="en-US" sz="1400" dirty="0"/>
              <a:t>Do not start spec work until planning artifacts are approved.</a:t>
            </a:r>
          </a:p>
          <a:p>
            <a:endParaRPr lang="en-US" sz="1400" dirty="0"/>
          </a:p>
          <a:p>
            <a:r>
              <a:rPr lang="en-US" sz="1400" dirty="0"/>
              <a:t>### Required planning artifacts</a:t>
            </a:r>
          </a:p>
          <a:p>
            <a:pPr marL="342900" indent="-342900">
              <a:buAutoNum type="arabicPeriod"/>
            </a:pPr>
            <a:r>
              <a:rPr lang="en-US" sz="1400" dirty="0"/>
              <a:t>Problem statement — measurable outcomes only, no vague language</a:t>
            </a:r>
          </a:p>
          <a:p>
            <a:pPr marL="342900" indent="-342900">
              <a:buAutoNum type="arabicPeriod"/>
            </a:pPr>
            <a:r>
              <a:rPr lang="en-US" sz="1400" dirty="0"/>
              <a:t>Personas — specific enough to make design decisions from</a:t>
            </a:r>
          </a:p>
          <a:p>
            <a:pPr marL="342900" indent="-342900">
              <a:buAutoNum type="arabicPeriod"/>
            </a:pPr>
            <a:r>
              <a:rPr lang="en-US" sz="1400" dirty="0"/>
              <a:t>Prioritized feature list — </a:t>
            </a:r>
            <a:r>
              <a:rPr lang="en-US" sz="1400" dirty="0" err="1"/>
              <a:t>MoSCoW</a:t>
            </a:r>
            <a:r>
              <a:rPr lang="en-US" sz="1400" dirty="0"/>
              <a:t> with documented rationale</a:t>
            </a:r>
          </a:p>
          <a:p>
            <a:pPr marL="342900" indent="-342900">
              <a:buAutoNum type="arabicPeriod"/>
            </a:pPr>
            <a:r>
              <a:rPr lang="en-US" sz="1400" dirty="0"/>
              <a:t>User story map — activity &gt; task &gt; story hierarchy</a:t>
            </a:r>
          </a:p>
          <a:p>
            <a:pPr marL="342900" indent="-342900">
              <a:buAutoNum type="arabicPeriod"/>
            </a:pPr>
            <a:r>
              <a:rPr lang="en-US" sz="1400" dirty="0"/>
              <a:t>Release plan — MVP / V1 / V2 with milestone outcomes defined</a:t>
            </a:r>
          </a:p>
          <a:p>
            <a:pPr marL="342900" indent="-342900">
              <a:buAutoNum type="arabicPeriod"/>
            </a:pPr>
            <a:r>
              <a:rPr lang="en-US" sz="1400" dirty="0"/>
              <a:t>Assumption log — verified vs unverified flagged</a:t>
            </a:r>
          </a:p>
          <a:p>
            <a:pPr marL="342900" indent="-342900">
              <a:buAutoNum type="arabicPeriod"/>
            </a:pPr>
            <a:r>
              <a:rPr lang="en-US" sz="1400" dirty="0"/>
              <a:t>Risk log — probability + impact matrix, H/H items escalated</a:t>
            </a:r>
          </a:p>
          <a:p>
            <a:pPr marL="342900" indent="-342900">
              <a:buAutoNum type="arabicPeriod"/>
            </a:pPr>
            <a:r>
              <a:rPr lang="en-US" sz="1400" dirty="0"/>
              <a:t>Dependency log — external blockers identified</a:t>
            </a:r>
          </a:p>
          <a:p>
            <a:endParaRPr lang="en-US" sz="1400" dirty="0"/>
          </a:p>
          <a:p>
            <a:r>
              <a:rPr lang="en-US" sz="1400" dirty="0"/>
              <a:t>### Planning rules</a:t>
            </a:r>
          </a:p>
          <a:p>
            <a:pPr marL="285750" indent="-285750">
              <a:buFontTx/>
              <a:buChar char="-"/>
            </a:pPr>
            <a:r>
              <a:rPr lang="en-US" sz="1400" dirty="0"/>
              <a:t>Every outcome must be observable and measurable</a:t>
            </a:r>
          </a:p>
          <a:p>
            <a:pPr marL="285750" indent="-285750">
              <a:buFontTx/>
              <a:buChar char="-"/>
            </a:pPr>
            <a:r>
              <a:rPr lang="en-US" sz="1400" dirty="0"/>
              <a:t>Every Must Have must justify why it blocks the release</a:t>
            </a:r>
          </a:p>
          <a:p>
            <a:pPr marL="285750" indent="-285750">
              <a:buFontTx/>
              <a:buChar char="-"/>
            </a:pPr>
            <a:r>
              <a:rPr lang="en-US" sz="1400" dirty="0"/>
              <a:t>Every Won't Have must be documented to prevent relitigating</a:t>
            </a:r>
          </a:p>
          <a:p>
            <a:pPr marL="285750" indent="-285750">
              <a:buFontTx/>
              <a:buChar char="-"/>
            </a:pPr>
            <a:r>
              <a:rPr lang="en-US" sz="1400" dirty="0"/>
              <a:t>Story map must tell a coherent user journey narrative</a:t>
            </a:r>
          </a:p>
          <a:p>
            <a:pPr marL="285750" indent="-285750">
              <a:buFontTx/>
              <a:buChar char="-"/>
            </a:pPr>
            <a:r>
              <a:rPr lang="en-US" sz="1400" dirty="0"/>
              <a:t>No story enters spec phase without planning approval</a:t>
            </a:r>
          </a:p>
          <a:p>
            <a:r>
              <a:rPr lang="en-US" sz="1400" dirty="0"/>
              <a:t>---</a:t>
            </a:r>
          </a:p>
          <a:p>
            <a:endParaRPr lang="en-US" sz="1400" dirty="0"/>
          </a:p>
        </p:txBody>
      </p:sp>
      <p:sp>
        <p:nvSpPr>
          <p:cNvPr id="15" name="TextBox 14">
            <a:extLst>
              <a:ext uri="{FF2B5EF4-FFF2-40B4-BE49-F238E27FC236}">
                <a16:creationId xmlns:a16="http://schemas.microsoft.com/office/drawing/2014/main" id="{A7145F4B-0398-1AD7-02D6-013438698CDC}"/>
              </a:ext>
            </a:extLst>
          </p:cNvPr>
          <p:cNvSpPr txBox="1"/>
          <p:nvPr/>
        </p:nvSpPr>
        <p:spPr>
          <a:xfrm>
            <a:off x="6443132" y="647342"/>
            <a:ext cx="5748868" cy="5693866"/>
          </a:xfrm>
          <a:prstGeom prst="rect">
            <a:avLst/>
          </a:prstGeom>
          <a:noFill/>
        </p:spPr>
        <p:txBody>
          <a:bodyPr wrap="square">
            <a:spAutoFit/>
          </a:bodyPr>
          <a:lstStyle/>
          <a:p>
            <a:r>
              <a:rPr lang="en-US" sz="1400" dirty="0"/>
              <a:t>## Spec Phase</a:t>
            </a:r>
          </a:p>
          <a:p>
            <a:r>
              <a:rPr lang="en-US" sz="1400" dirty="0"/>
              <a:t>### When to run spec</a:t>
            </a:r>
          </a:p>
          <a:p>
            <a:r>
              <a:rPr lang="en-US" sz="1400" dirty="0"/>
              <a:t>Run spec when: a story is approved in planning and assigned to a development milestone.</a:t>
            </a:r>
          </a:p>
          <a:p>
            <a:r>
              <a:rPr lang="en-US" sz="1400" dirty="0"/>
              <a:t>Do not begin implementation until spec is approved.</a:t>
            </a:r>
          </a:p>
          <a:p>
            <a:endParaRPr lang="en-US" sz="1400" dirty="0"/>
          </a:p>
          <a:p>
            <a:r>
              <a:rPr lang="en-US" sz="1400" dirty="0"/>
              <a:t>### Required spec artifacts</a:t>
            </a:r>
          </a:p>
          <a:p>
            <a:pPr marL="342900" indent="-342900">
              <a:buAutoNum type="arabicPeriod"/>
            </a:pPr>
            <a:r>
              <a:rPr lang="en-US" sz="1400" dirty="0"/>
              <a:t>Functional specification — behavior only, no implementation</a:t>
            </a:r>
          </a:p>
          <a:p>
            <a:pPr marL="342900" indent="-342900">
              <a:buAutoNum type="arabicPeriod"/>
            </a:pPr>
            <a:r>
              <a:rPr lang="en-US" sz="1400" dirty="0"/>
              <a:t>UX/interaction spec — every state, action, and transition</a:t>
            </a:r>
          </a:p>
          <a:p>
            <a:pPr marL="342900" indent="-342900">
              <a:buAutoNum type="arabicPeriod"/>
            </a:pPr>
            <a:r>
              <a:rPr lang="en-US" sz="1400" dirty="0"/>
              <a:t>Data spec — every entity, field, constraint, relationship</a:t>
            </a:r>
          </a:p>
          <a:p>
            <a:pPr marL="342900" indent="-342900">
              <a:buAutoNum type="arabicPeriod"/>
            </a:pPr>
            <a:r>
              <a:rPr lang="en-US" sz="1400" dirty="0"/>
              <a:t>API spec — every endpoint as a contract with error schemas</a:t>
            </a:r>
          </a:p>
          <a:p>
            <a:pPr marL="342900" indent="-342900">
              <a:buAutoNum type="arabicPeriod"/>
            </a:pPr>
            <a:r>
              <a:rPr lang="en-US" sz="1400" dirty="0"/>
              <a:t>Edge case catalog — across input, state, data, permission, network</a:t>
            </a:r>
          </a:p>
          <a:p>
            <a:pPr marL="342900" indent="-342900">
              <a:buAutoNum type="arabicPeriod"/>
            </a:pPr>
            <a:r>
              <a:rPr lang="en-US" sz="1400" dirty="0"/>
              <a:t>Non-functional requirements — measurable with verification method</a:t>
            </a:r>
          </a:p>
          <a:p>
            <a:pPr marL="342900" indent="-342900">
              <a:buAutoNum type="arabicPeriod"/>
            </a:pPr>
            <a:r>
              <a:rPr lang="en-US" sz="1400" dirty="0"/>
              <a:t>Gherkin acceptance criteria — every scenario executable by QA</a:t>
            </a:r>
          </a:p>
          <a:p>
            <a:pPr marL="342900" indent="-342900">
              <a:buAutoNum type="arabicPeriod"/>
            </a:pPr>
            <a:r>
              <a:rPr lang="en-US" sz="1400" dirty="0"/>
              <a:t>Open questions log — owners and deadlines assigned</a:t>
            </a:r>
          </a:p>
          <a:p>
            <a:endParaRPr lang="en-US" sz="1400"/>
          </a:p>
          <a:p>
            <a:r>
              <a:rPr lang="en-US" sz="1400"/>
              <a:t>### </a:t>
            </a:r>
            <a:r>
              <a:rPr lang="en-US" sz="1400" dirty="0"/>
              <a:t>Spec rules</a:t>
            </a:r>
          </a:p>
          <a:p>
            <a:pPr marL="285750" indent="-285750">
              <a:buFontTx/>
              <a:buChar char="-"/>
            </a:pPr>
            <a:r>
              <a:rPr lang="en-US" sz="1400" dirty="0"/>
              <a:t>Ambiguity must be flagged as open questions, never resolved  with silent assumptions</a:t>
            </a:r>
          </a:p>
          <a:p>
            <a:pPr marL="285750" indent="-285750">
              <a:buFontTx/>
              <a:buChar char="-"/>
            </a:pPr>
            <a:r>
              <a:rPr lang="en-US" sz="1400" dirty="0"/>
              <a:t>Every error state must have a user-visible message defined</a:t>
            </a:r>
          </a:p>
          <a:p>
            <a:pPr marL="285750" indent="-285750">
              <a:buFontTx/>
              <a:buChar char="-"/>
            </a:pPr>
            <a:r>
              <a:rPr lang="en-US" sz="1400" dirty="0"/>
              <a:t>Every irreversible decision must be explicitly flagged</a:t>
            </a:r>
          </a:p>
          <a:p>
            <a:pPr marL="285750" indent="-285750">
              <a:buFontTx/>
              <a:buChar char="-"/>
            </a:pPr>
            <a:r>
              <a:rPr lang="en-US" sz="1400" dirty="0"/>
              <a:t>API specs are contracts — implementation must match exactly</a:t>
            </a:r>
          </a:p>
          <a:p>
            <a:pPr marL="285750" indent="-285750">
              <a:buFontTx/>
              <a:buChar char="-"/>
            </a:pPr>
            <a:r>
              <a:rPr lang="en-US" sz="1400" dirty="0"/>
              <a:t>Non-functional requirements must define how they are verified,  not just what they are</a:t>
            </a:r>
          </a:p>
          <a:p>
            <a:pPr marL="285750" indent="-285750">
              <a:buFontTx/>
              <a:buChar char="-"/>
            </a:pPr>
            <a:r>
              <a:rPr lang="en-US" sz="1400" dirty="0"/>
              <a:t>No story enters development without spec approval</a:t>
            </a:r>
          </a:p>
          <a:p>
            <a:r>
              <a:rPr lang="en-US" sz="1400" dirty="0"/>
              <a:t>---</a:t>
            </a:r>
          </a:p>
        </p:txBody>
      </p:sp>
    </p:spTree>
    <p:extLst>
      <p:ext uri="{BB962C8B-B14F-4D97-AF65-F5344CB8AC3E}">
        <p14:creationId xmlns:p14="http://schemas.microsoft.com/office/powerpoint/2010/main" val="1488065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744D2-7FF1-C60C-B39A-C41DF7095CE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8394793-DAED-D721-92FC-B51E86A6304D}"/>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8B37FEC-2065-8F64-FAA9-4349D3B63BB2}"/>
              </a:ext>
            </a:extLst>
          </p:cNvPr>
          <p:cNvSpPr txBox="1"/>
          <p:nvPr/>
        </p:nvSpPr>
        <p:spPr>
          <a:xfrm>
            <a:off x="73572" y="15030"/>
            <a:ext cx="7048468"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Example with Claude.md </a:t>
            </a:r>
          </a:p>
        </p:txBody>
      </p:sp>
      <p:sp>
        <p:nvSpPr>
          <p:cNvPr id="9" name="TextBox 8">
            <a:extLst>
              <a:ext uri="{FF2B5EF4-FFF2-40B4-BE49-F238E27FC236}">
                <a16:creationId xmlns:a16="http://schemas.microsoft.com/office/drawing/2014/main" id="{7A75A26E-8D39-9C28-AD26-E5580B157AA1}"/>
              </a:ext>
            </a:extLst>
          </p:cNvPr>
          <p:cNvSpPr txBox="1"/>
          <p:nvPr/>
        </p:nvSpPr>
        <p:spPr>
          <a:xfrm>
            <a:off x="225886" y="545742"/>
            <a:ext cx="5613401" cy="6124754"/>
          </a:xfrm>
          <a:prstGeom prst="rect">
            <a:avLst/>
          </a:prstGeom>
          <a:noFill/>
        </p:spPr>
        <p:txBody>
          <a:bodyPr wrap="square">
            <a:spAutoFit/>
          </a:bodyPr>
          <a:lstStyle/>
          <a:p>
            <a:r>
              <a:rPr lang="en-US" sz="1400" dirty="0"/>
              <a:t>## Output Formats</a:t>
            </a:r>
          </a:p>
          <a:p>
            <a:r>
              <a:rPr lang="en-US" sz="1400" dirty="0"/>
              <a:t>### Planning output format</a:t>
            </a:r>
          </a:p>
          <a:p>
            <a:r>
              <a:rPr lang="en-US" sz="1400" dirty="0"/>
              <a:t>---</a:t>
            </a:r>
          </a:p>
          <a:p>
            <a:r>
              <a:rPr lang="en-US" sz="1400" dirty="0"/>
              <a:t>**Problem Statement**</a:t>
            </a:r>
          </a:p>
          <a:p>
            <a:r>
              <a:rPr lang="en-US" sz="1400" dirty="0"/>
              <a:t>[One paragraph: problem, who has it, cost of not solving, measurable success]</a:t>
            </a:r>
          </a:p>
          <a:p>
            <a:r>
              <a:rPr lang="en-US" sz="1400" dirty="0"/>
              <a:t>**Personas**</a:t>
            </a:r>
          </a:p>
          <a:p>
            <a:pPr marL="285750" indent="-285750">
              <a:buFontTx/>
              <a:buChar char="-"/>
            </a:pPr>
            <a:r>
              <a:rPr lang="en-US" sz="1400" dirty="0"/>
              <a:t>[Persona 1: role, context, goal, frustration, success measure]</a:t>
            </a:r>
          </a:p>
          <a:p>
            <a:pPr marL="285750" indent="-285750">
              <a:buFontTx/>
              <a:buChar char="-"/>
            </a:pPr>
            <a:r>
              <a:rPr lang="en-US" sz="1400" dirty="0"/>
              <a:t>[Persona 2: ...]</a:t>
            </a:r>
          </a:p>
          <a:p>
            <a:r>
              <a:rPr lang="en-US" sz="1400" dirty="0"/>
              <a:t>**Feature Priority**</a:t>
            </a:r>
          </a:p>
          <a:p>
            <a:r>
              <a:rPr lang="en-US" sz="1400" dirty="0"/>
              <a:t>Must Have: [list with rationale]</a:t>
            </a:r>
          </a:p>
          <a:p>
            <a:r>
              <a:rPr lang="en-US" sz="1400" dirty="0"/>
              <a:t>Should Have: [list]</a:t>
            </a:r>
          </a:p>
          <a:p>
            <a:r>
              <a:rPr lang="en-US" sz="1400" dirty="0"/>
              <a:t>Could Have: [list]</a:t>
            </a:r>
          </a:p>
          <a:p>
            <a:r>
              <a:rPr lang="en-US" sz="1400" dirty="0"/>
              <a:t>Won't Have (this release): [list with deferral reason]</a:t>
            </a:r>
          </a:p>
          <a:p>
            <a:r>
              <a:rPr lang="en-US" sz="1400" dirty="0"/>
              <a:t>**Release Plan**</a:t>
            </a:r>
          </a:p>
          <a:p>
            <a:r>
              <a:rPr lang="en-US" sz="1400" dirty="0"/>
              <a:t>MVP: [user outcome unlocked] | Deferred: [list] | Assumption to validate: [...]</a:t>
            </a:r>
          </a:p>
          <a:p>
            <a:r>
              <a:rPr lang="en-US" sz="1400" dirty="0"/>
              <a:t>V1: [user outcome unlocked] | Deferred: [list] | Assumption to validate: [...]</a:t>
            </a:r>
          </a:p>
          <a:p>
            <a:r>
              <a:rPr lang="en-US" sz="1400" dirty="0"/>
              <a:t>V2: [user outcome unlocked] | Deferred: [list]</a:t>
            </a:r>
          </a:p>
          <a:p>
            <a:r>
              <a:rPr lang="en-US" sz="1400" dirty="0"/>
              <a:t>**Assumptions Log**</a:t>
            </a:r>
          </a:p>
          <a:p>
            <a:pPr marL="285750" indent="-285750">
              <a:buFontTx/>
              <a:buChar char="-"/>
            </a:pPr>
            <a:r>
              <a:rPr lang="en-US" sz="1400" dirty="0"/>
              <a:t>[Assumption] — verified / unverified*</a:t>
            </a:r>
          </a:p>
          <a:p>
            <a:r>
              <a:rPr lang="en-US" sz="1400" dirty="0"/>
              <a:t>*Risk Log**</a:t>
            </a:r>
          </a:p>
          <a:p>
            <a:pPr marL="285750" indent="-285750">
              <a:buFontTx/>
              <a:buChar char="-"/>
            </a:pPr>
            <a:r>
              <a:rPr lang="en-US" sz="1400" dirty="0"/>
              <a:t>[Risk] — Probability: H/M/L | Impact: H/M/L</a:t>
            </a:r>
          </a:p>
          <a:p>
            <a:r>
              <a:rPr lang="en-US" sz="1400" dirty="0"/>
              <a:t>**Dependency Log**</a:t>
            </a:r>
          </a:p>
          <a:p>
            <a:pPr marL="285750" indent="-285750">
              <a:buFontTx/>
              <a:buChar char="-"/>
            </a:pPr>
            <a:r>
              <a:rPr lang="en-US" sz="1400" dirty="0"/>
              <a:t>[Dependency] — Owner: [...] | Blocking: yes/no</a:t>
            </a:r>
          </a:p>
          <a:p>
            <a:endParaRPr lang="en-US" sz="1400" dirty="0"/>
          </a:p>
          <a:p>
            <a:r>
              <a:rPr lang="en-US" sz="1400" dirty="0"/>
              <a:t>---</a:t>
            </a:r>
          </a:p>
        </p:txBody>
      </p:sp>
      <p:sp>
        <p:nvSpPr>
          <p:cNvPr id="15" name="TextBox 14">
            <a:extLst>
              <a:ext uri="{FF2B5EF4-FFF2-40B4-BE49-F238E27FC236}">
                <a16:creationId xmlns:a16="http://schemas.microsoft.com/office/drawing/2014/main" id="{B8BF8816-4CB1-7316-76BB-09C8C48C9B57}"/>
              </a:ext>
            </a:extLst>
          </p:cNvPr>
          <p:cNvSpPr txBox="1"/>
          <p:nvPr/>
        </p:nvSpPr>
        <p:spPr>
          <a:xfrm>
            <a:off x="6443132" y="647342"/>
            <a:ext cx="5748868" cy="5693866"/>
          </a:xfrm>
          <a:prstGeom prst="rect">
            <a:avLst/>
          </a:prstGeom>
          <a:noFill/>
        </p:spPr>
        <p:txBody>
          <a:bodyPr wrap="square">
            <a:spAutoFit/>
          </a:bodyPr>
          <a:lstStyle/>
          <a:p>
            <a:r>
              <a:rPr lang="en-US" sz="1400" dirty="0"/>
              <a:t>### Spec output format</a:t>
            </a:r>
          </a:p>
          <a:p>
            <a:r>
              <a:rPr lang="en-US" sz="1400" dirty="0"/>
              <a:t>---</a:t>
            </a:r>
          </a:p>
          <a:p>
            <a:r>
              <a:rPr lang="en-US" sz="1400" dirty="0"/>
              <a:t>**Feature**</a:t>
            </a:r>
          </a:p>
          <a:p>
            <a:r>
              <a:rPr lang="en-US" sz="1400" dirty="0"/>
              <a:t>[Name and one-line description]</a:t>
            </a:r>
          </a:p>
          <a:p>
            <a:r>
              <a:rPr lang="en-US" sz="1400" dirty="0"/>
              <a:t>**User Flow**</a:t>
            </a:r>
          </a:p>
          <a:p>
            <a:pPr marL="342900" indent="-342900">
              <a:buAutoNum type="arabicPeriod"/>
            </a:pPr>
            <a:r>
              <a:rPr lang="en-US" sz="1400" dirty="0"/>
              <a:t>[Step]</a:t>
            </a:r>
          </a:p>
          <a:p>
            <a:pPr marL="342900" indent="-342900">
              <a:buAutoNum type="arabicPeriod"/>
            </a:pPr>
            <a:r>
              <a:rPr lang="en-US" sz="1400" dirty="0"/>
              <a:t>[Step — include decision points and branches]</a:t>
            </a:r>
          </a:p>
          <a:p>
            <a:r>
              <a:rPr lang="en-US" sz="1400" dirty="0"/>
              <a:t>**UX States**</a:t>
            </a:r>
          </a:p>
          <a:p>
            <a:pPr marL="285750" indent="-285750">
              <a:buFontTx/>
              <a:buChar char="-"/>
            </a:pPr>
            <a:r>
              <a:rPr lang="en-US" sz="1400" dirty="0"/>
              <a:t>[State name]: [what user sees] | Actions available: [list]</a:t>
            </a:r>
          </a:p>
          <a:p>
            <a:r>
              <a:rPr lang="en-US" sz="1400" dirty="0"/>
              <a:t>**Data Model**</a:t>
            </a:r>
          </a:p>
          <a:p>
            <a:pPr marL="285750" indent="-285750">
              <a:buFontTx/>
              <a:buChar char="-"/>
            </a:pPr>
            <a:r>
              <a:rPr lang="en-US" sz="1400" dirty="0"/>
              <a:t>[Entity]: [fields with types and constraints]</a:t>
            </a:r>
          </a:p>
          <a:p>
            <a:r>
              <a:rPr lang="en-US" sz="1400" dirty="0"/>
              <a:t>**API Contracts**</a:t>
            </a:r>
          </a:p>
          <a:p>
            <a:pPr marL="285750" indent="-285750">
              <a:buFontTx/>
              <a:buChar char="-"/>
            </a:pPr>
            <a:r>
              <a:rPr lang="en-US" sz="1400" dirty="0"/>
              <a:t>[METHOD] /path — Request: [...] | Success: [...] | Errors: [...]</a:t>
            </a:r>
          </a:p>
          <a:p>
            <a:r>
              <a:rPr lang="en-US" sz="1400" dirty="0"/>
              <a:t>**Edge Cases**</a:t>
            </a:r>
          </a:p>
          <a:p>
            <a:pPr marL="285750" indent="-285750">
              <a:buFontTx/>
              <a:buChar char="-"/>
            </a:pPr>
            <a:r>
              <a:rPr lang="en-US" sz="1400" dirty="0"/>
              <a:t>[Scenario] — Expected behavior: [...] | Handled: yes/no</a:t>
            </a:r>
          </a:p>
          <a:p>
            <a:r>
              <a:rPr lang="en-US" sz="1400" dirty="0"/>
              <a:t>**Non-Functional Requirements**</a:t>
            </a:r>
          </a:p>
          <a:p>
            <a:pPr marL="285750" indent="-285750">
              <a:buFontTx/>
              <a:buChar char="-"/>
            </a:pPr>
            <a:r>
              <a:rPr lang="en-US" sz="1400" dirty="0"/>
              <a:t>[Requirement] — Target: [...] | Verified by: [...]</a:t>
            </a:r>
          </a:p>
          <a:p>
            <a:r>
              <a:rPr lang="en-US" sz="1400" dirty="0"/>
              <a:t>**Acceptance Criteria**</a:t>
            </a:r>
          </a:p>
          <a:p>
            <a:r>
              <a:rPr lang="en-US" sz="1400" dirty="0"/>
              <a:t>Given [...]When [...]Then [...]</a:t>
            </a:r>
          </a:p>
          <a:p>
            <a:r>
              <a:rPr lang="en-US" sz="1400" dirty="0"/>
              <a:t>**Open Questions**</a:t>
            </a:r>
          </a:p>
          <a:p>
            <a:pPr marL="285750" indent="-285750">
              <a:buFontTx/>
              <a:buChar char="-"/>
            </a:pPr>
            <a:r>
              <a:rPr lang="en-US" sz="1400" dirty="0"/>
              <a:t>[Question] — Owner: [...] | Deadline: [...] | Default assumption: [...]</a:t>
            </a:r>
          </a:p>
          <a:p>
            <a:r>
              <a:rPr lang="en-US" sz="1400" dirty="0"/>
              <a:t>**Out of Scope**</a:t>
            </a:r>
          </a:p>
          <a:p>
            <a:pPr marL="285750" indent="-285750">
              <a:buFontTx/>
              <a:buChar char="-"/>
            </a:pPr>
            <a:r>
              <a:rPr lang="en-US" sz="1400" dirty="0"/>
              <a:t>[Item 1]</a:t>
            </a:r>
          </a:p>
          <a:p>
            <a:pPr marL="285750" indent="-285750">
              <a:buFontTx/>
              <a:buChar char="-"/>
            </a:pPr>
            <a:r>
              <a:rPr lang="en-US" sz="1400" dirty="0"/>
              <a:t>[Item 2]</a:t>
            </a:r>
          </a:p>
          <a:p>
            <a:endParaRPr lang="en-US" sz="1400" dirty="0"/>
          </a:p>
          <a:p>
            <a:r>
              <a:rPr lang="en-US" sz="1400" dirty="0"/>
              <a:t>---</a:t>
            </a:r>
          </a:p>
        </p:txBody>
      </p:sp>
    </p:spTree>
    <p:extLst>
      <p:ext uri="{BB962C8B-B14F-4D97-AF65-F5344CB8AC3E}">
        <p14:creationId xmlns:p14="http://schemas.microsoft.com/office/powerpoint/2010/main" val="1826083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EB7A9-8CAF-06A1-C88D-01D7643EF64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0D1F84D-864C-F4E7-9D9B-A0A84B1126CD}"/>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97BC5B9-34E1-D6D0-8B9C-865982D83947}"/>
              </a:ext>
            </a:extLst>
          </p:cNvPr>
          <p:cNvSpPr txBox="1"/>
          <p:nvPr/>
        </p:nvSpPr>
        <p:spPr>
          <a:xfrm>
            <a:off x="73572" y="15030"/>
            <a:ext cx="7048468"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Example with Claude.md </a:t>
            </a:r>
          </a:p>
        </p:txBody>
      </p:sp>
      <p:sp>
        <p:nvSpPr>
          <p:cNvPr id="9" name="TextBox 8">
            <a:extLst>
              <a:ext uri="{FF2B5EF4-FFF2-40B4-BE49-F238E27FC236}">
                <a16:creationId xmlns:a16="http://schemas.microsoft.com/office/drawing/2014/main" id="{B341103C-5B74-8205-A53F-1126BF2974EB}"/>
              </a:ext>
            </a:extLst>
          </p:cNvPr>
          <p:cNvSpPr txBox="1"/>
          <p:nvPr/>
        </p:nvSpPr>
        <p:spPr>
          <a:xfrm>
            <a:off x="225886" y="545742"/>
            <a:ext cx="5613401" cy="4616648"/>
          </a:xfrm>
          <a:prstGeom prst="rect">
            <a:avLst/>
          </a:prstGeom>
          <a:noFill/>
        </p:spPr>
        <p:txBody>
          <a:bodyPr wrap="square">
            <a:spAutoFit/>
          </a:bodyPr>
          <a:lstStyle/>
          <a:p>
            <a:r>
              <a:rPr lang="en-US" sz="1400" dirty="0"/>
              <a:t>## Quality Gates### </a:t>
            </a:r>
          </a:p>
          <a:p>
            <a:r>
              <a:rPr lang="en-US" sz="1400" dirty="0"/>
              <a:t>Planning is approved when:</a:t>
            </a:r>
          </a:p>
          <a:p>
            <a:pPr marL="285750" indent="-285750">
              <a:buFontTx/>
              <a:buChar char="-"/>
            </a:pPr>
            <a:r>
              <a:rPr lang="en-US" sz="1400" dirty="0"/>
              <a:t>All outcomes are measurable</a:t>
            </a:r>
          </a:p>
          <a:p>
            <a:pPr marL="285750" indent="-285750">
              <a:buFontTx/>
              <a:buChar char="-"/>
            </a:pPr>
            <a:r>
              <a:rPr lang="en-US" sz="1400" dirty="0"/>
              <a:t>All H/H risks have mitigation plans</a:t>
            </a:r>
          </a:p>
          <a:p>
            <a:pPr marL="285750" indent="-285750">
              <a:buFontTx/>
              <a:buChar char="-"/>
            </a:pPr>
            <a:r>
              <a:rPr lang="en-US" sz="1400" dirty="0"/>
              <a:t>Release plan has clear milestone outcomes</a:t>
            </a:r>
          </a:p>
          <a:p>
            <a:pPr marL="285750" indent="-285750">
              <a:buFontTx/>
              <a:buChar char="-"/>
            </a:pPr>
            <a:r>
              <a:rPr lang="en-US" sz="1400" dirty="0"/>
              <a:t>No unresolved open questions on Must Have scope</a:t>
            </a:r>
          </a:p>
          <a:p>
            <a:r>
              <a:rPr lang="en-US" sz="1400" dirty="0"/>
              <a:t>### Spec is approved when:</a:t>
            </a:r>
          </a:p>
          <a:p>
            <a:pPr marL="285750" indent="-285750">
              <a:buFontTx/>
              <a:buChar char="-"/>
            </a:pPr>
            <a:r>
              <a:rPr lang="en-US" sz="1400" dirty="0"/>
              <a:t>All states and transitions are defined</a:t>
            </a:r>
          </a:p>
          <a:p>
            <a:pPr marL="285750" indent="-285750">
              <a:buFontTx/>
              <a:buChar char="-"/>
            </a:pPr>
            <a:r>
              <a:rPr lang="en-US" sz="1400" dirty="0"/>
              <a:t>All error states have user-visible messages</a:t>
            </a:r>
          </a:p>
          <a:p>
            <a:pPr marL="285750" indent="-285750">
              <a:buFontTx/>
              <a:buChar char="-"/>
            </a:pPr>
            <a:r>
              <a:rPr lang="en-US" sz="1400" dirty="0"/>
              <a:t>All acceptance criteria are Gherkin-formatted and executable</a:t>
            </a:r>
          </a:p>
          <a:p>
            <a:pPr marL="285750" indent="-285750">
              <a:buFontTx/>
              <a:buChar char="-"/>
            </a:pPr>
            <a:r>
              <a:rPr lang="en-US" sz="1400" dirty="0"/>
              <a:t>All open questions have owners and deadlines</a:t>
            </a:r>
          </a:p>
          <a:p>
            <a:pPr marL="285750" indent="-285750">
              <a:buFontTx/>
              <a:buChar char="-"/>
            </a:pPr>
            <a:r>
              <a:rPr lang="en-US" sz="1400" dirty="0"/>
              <a:t>No ambiguity remains that a developer would need to resolve alone</a:t>
            </a:r>
          </a:p>
          <a:p>
            <a:r>
              <a:rPr lang="en-US" sz="1400" dirty="0"/>
              <a:t>## Planning to Spec Handoff</a:t>
            </a:r>
          </a:p>
          <a:p>
            <a:r>
              <a:rPr lang="en-US" sz="1400" dirty="0"/>
              <a:t>Before writing a spec, confirm these inputs exist from planning:</a:t>
            </a:r>
          </a:p>
          <a:p>
            <a:pPr marL="285750" indent="-285750">
              <a:buFontTx/>
              <a:buChar char="-"/>
            </a:pPr>
            <a:r>
              <a:rPr lang="en-US" sz="1400" dirty="0"/>
              <a:t>[ ] Approved problem statement</a:t>
            </a:r>
          </a:p>
          <a:p>
            <a:pPr marL="285750" indent="-285750">
              <a:buFontTx/>
              <a:buChar char="-"/>
            </a:pPr>
            <a:r>
              <a:rPr lang="en-US" sz="1400" dirty="0"/>
              <a:t>[ ] Relevant persona(s) identified</a:t>
            </a:r>
          </a:p>
          <a:p>
            <a:pPr marL="285750" indent="-285750">
              <a:buFontTx/>
              <a:buChar char="-"/>
            </a:pPr>
            <a:r>
              <a:rPr lang="en-US" sz="1400" dirty="0"/>
              <a:t>[ ] Story confirmed as Must Have in approved release plan</a:t>
            </a:r>
          </a:p>
          <a:p>
            <a:pPr marL="285750" indent="-285750">
              <a:buFontTx/>
              <a:buChar char="-"/>
            </a:pPr>
            <a:r>
              <a:rPr lang="en-US" sz="1400" dirty="0"/>
              <a:t>[ ] Assumption log reviewed for relevant unverified assumptions</a:t>
            </a:r>
          </a:p>
          <a:p>
            <a:pPr marL="285750" indent="-285750">
              <a:buFontTx/>
              <a:buChar char="-"/>
            </a:pPr>
            <a:r>
              <a:rPr lang="en-US" sz="1400" dirty="0"/>
              <a:t>[ ] Risk log reviewed for relevant risks to cover in edge cases</a:t>
            </a:r>
          </a:p>
          <a:p>
            <a:r>
              <a:rPr lang="en-US" sz="1400" dirty="0"/>
              <a:t>If any input is missing, return to planning rather than making assumptions in the spec.</a:t>
            </a:r>
          </a:p>
        </p:txBody>
      </p:sp>
      <p:sp>
        <p:nvSpPr>
          <p:cNvPr id="7" name="TextBox 6">
            <a:extLst>
              <a:ext uri="{FF2B5EF4-FFF2-40B4-BE49-F238E27FC236}">
                <a16:creationId xmlns:a16="http://schemas.microsoft.com/office/drawing/2014/main" id="{7ECDBFD8-0920-3C9A-FEB7-8D442856E9A2}"/>
              </a:ext>
            </a:extLst>
          </p:cNvPr>
          <p:cNvSpPr txBox="1"/>
          <p:nvPr/>
        </p:nvSpPr>
        <p:spPr>
          <a:xfrm>
            <a:off x="7230533" y="1828562"/>
            <a:ext cx="4893733" cy="1600438"/>
          </a:xfrm>
          <a:prstGeom prst="rect">
            <a:avLst/>
          </a:prstGeom>
          <a:noFill/>
        </p:spPr>
        <p:txBody>
          <a:bodyPr wrap="square">
            <a:spAutoFit/>
          </a:bodyPr>
          <a:lstStyle/>
          <a:p>
            <a:r>
              <a:rPr lang="en-US" sz="1400" b="1" dirty="0"/>
              <a:t>Planning produces:</a:t>
            </a:r>
            <a:r>
              <a:rPr lang="en-US" sz="1400" dirty="0"/>
              <a:t>		</a:t>
            </a:r>
            <a:r>
              <a:rPr lang="en-US" sz="1400" b="1" dirty="0"/>
              <a:t>Spec consumes:</a:t>
            </a:r>
          </a:p>
          <a:p>
            <a:r>
              <a:rPr lang="en-US" sz="1400" dirty="0"/>
              <a:t>Problem statement	→	Functional spec context</a:t>
            </a:r>
          </a:p>
          <a:p>
            <a:r>
              <a:rPr lang="en-US" sz="1400" dirty="0"/>
              <a:t>Personas			→	UX spec user perspective</a:t>
            </a:r>
          </a:p>
          <a:p>
            <a:r>
              <a:rPr lang="en-US" sz="1400" dirty="0"/>
              <a:t>Prioritized stories		→	Spec scope and out-of-scope</a:t>
            </a:r>
          </a:p>
          <a:p>
            <a:r>
              <a:rPr lang="en-US" sz="1400" dirty="0"/>
              <a:t>Assumption log		→	Open questions starting point</a:t>
            </a:r>
          </a:p>
          <a:p>
            <a:r>
              <a:rPr lang="en-US" sz="1400" dirty="0"/>
              <a:t>Release milestone		→	Non-functional requirements bar</a:t>
            </a:r>
          </a:p>
          <a:p>
            <a:r>
              <a:rPr lang="en-US" sz="1400" dirty="0"/>
              <a:t>Risk log			→	Edge case catalog starting point</a:t>
            </a:r>
          </a:p>
        </p:txBody>
      </p:sp>
      <p:sp>
        <p:nvSpPr>
          <p:cNvPr id="11" name="TextBox 10">
            <a:extLst>
              <a:ext uri="{FF2B5EF4-FFF2-40B4-BE49-F238E27FC236}">
                <a16:creationId xmlns:a16="http://schemas.microsoft.com/office/drawing/2014/main" id="{44ECBA1E-8F33-2C5C-4072-0DDD7A92364D}"/>
              </a:ext>
            </a:extLst>
          </p:cNvPr>
          <p:cNvSpPr txBox="1"/>
          <p:nvPr/>
        </p:nvSpPr>
        <p:spPr>
          <a:xfrm>
            <a:off x="7230533" y="1263287"/>
            <a:ext cx="3816912" cy="369332"/>
          </a:xfrm>
          <a:prstGeom prst="rect">
            <a:avLst/>
          </a:prstGeom>
          <a:noFill/>
        </p:spPr>
        <p:txBody>
          <a:bodyPr wrap="square">
            <a:spAutoFit/>
          </a:bodyPr>
          <a:lstStyle/>
          <a:p>
            <a:r>
              <a:rPr lang="en-US" dirty="0"/>
              <a:t>How Planning and Spec Connect</a:t>
            </a:r>
          </a:p>
        </p:txBody>
      </p:sp>
    </p:spTree>
    <p:extLst>
      <p:ext uri="{BB962C8B-B14F-4D97-AF65-F5344CB8AC3E}">
        <p14:creationId xmlns:p14="http://schemas.microsoft.com/office/powerpoint/2010/main" val="800986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2014-A716-F52B-D4CE-AC3C6E600E9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44E0A39-F69C-37A1-4279-B17D8A3026DB}"/>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DB5C320-C4C0-2BB2-B1D0-3FFD0774C510}"/>
              </a:ext>
            </a:extLst>
          </p:cNvPr>
          <p:cNvSpPr txBox="1"/>
          <p:nvPr/>
        </p:nvSpPr>
        <p:spPr>
          <a:xfrm>
            <a:off x="73572" y="15030"/>
            <a:ext cx="7101368"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Example with Claude.md  </a:t>
            </a:r>
          </a:p>
        </p:txBody>
      </p:sp>
      <p:sp>
        <p:nvSpPr>
          <p:cNvPr id="8" name="TextBox 7">
            <a:extLst>
              <a:ext uri="{FF2B5EF4-FFF2-40B4-BE49-F238E27FC236}">
                <a16:creationId xmlns:a16="http://schemas.microsoft.com/office/drawing/2014/main" id="{1F572883-7CA9-E98A-11BE-61DE31E4049F}"/>
              </a:ext>
            </a:extLst>
          </p:cNvPr>
          <p:cNvSpPr txBox="1"/>
          <p:nvPr/>
        </p:nvSpPr>
        <p:spPr>
          <a:xfrm>
            <a:off x="73572" y="838234"/>
            <a:ext cx="6417733" cy="5632311"/>
          </a:xfrm>
          <a:prstGeom prst="rect">
            <a:avLst/>
          </a:prstGeom>
          <a:noFill/>
        </p:spPr>
        <p:txBody>
          <a:bodyPr wrap="square">
            <a:spAutoFit/>
          </a:bodyPr>
          <a:lstStyle/>
          <a:p>
            <a:r>
              <a:rPr lang="en-US" sz="1200" dirty="0"/>
              <a:t># User Story Protocol</a:t>
            </a:r>
          </a:p>
          <a:p>
            <a:r>
              <a:rPr lang="en-US" sz="1200" dirty="0"/>
              <a:t>## Story Creation</a:t>
            </a:r>
          </a:p>
          <a:p>
            <a:r>
              <a:rPr lang="en-US" sz="1200" dirty="0"/>
              <a:t>When asked to write or refine a user story, always:</a:t>
            </a:r>
          </a:p>
          <a:p>
            <a:pPr marL="228600" indent="-228600">
              <a:buAutoNum type="arabicPeriod"/>
            </a:pPr>
            <a:r>
              <a:rPr lang="en-US" sz="1200" dirty="0"/>
              <a:t>Identify the persona specifically — role, context, technical level</a:t>
            </a:r>
          </a:p>
          <a:p>
            <a:pPr marL="228600" indent="-228600">
              <a:buAutoNum type="arabicPeriod"/>
            </a:pPr>
            <a:r>
              <a:rPr lang="en-US" sz="1200" dirty="0"/>
              <a:t>Validate the "so that" clause — does the outcome actually follow from the action?</a:t>
            </a:r>
          </a:p>
          <a:p>
            <a:pPr marL="228600" indent="-228600">
              <a:buAutoNum type="arabicPeriod"/>
            </a:pPr>
            <a:r>
              <a:rPr lang="en-US" sz="1200" dirty="0"/>
              <a:t>Surface all assumptions — flag which are unverified</a:t>
            </a:r>
          </a:p>
          <a:p>
            <a:pPr marL="228600" indent="-228600">
              <a:buAutoNum type="arabicPeriod"/>
            </a:pPr>
            <a:r>
              <a:rPr lang="en-US" sz="1200" dirty="0"/>
              <a:t>Write the story in strict format: "As a [specific persona], I want to [action], so that [outcome].“</a:t>
            </a:r>
          </a:p>
          <a:p>
            <a:r>
              <a:rPr lang="en-US" sz="1200" dirty="0"/>
              <a:t>## Acceptance Criteria</a:t>
            </a:r>
          </a:p>
          <a:p>
            <a:r>
              <a:rPr lang="en-US" sz="1200" dirty="0"/>
              <a:t>Every story must include:</a:t>
            </a:r>
          </a:p>
          <a:p>
            <a:pPr marL="228600" indent="-228600">
              <a:buAutoNum type="arabicPeriod"/>
            </a:pPr>
            <a:r>
              <a:rPr lang="en-US" sz="1200" dirty="0"/>
              <a:t>Happy path criterion</a:t>
            </a:r>
          </a:p>
          <a:p>
            <a:pPr marL="228600" indent="-228600">
              <a:buAutoNum type="arabicPeriod"/>
            </a:pPr>
            <a:r>
              <a:rPr lang="en-US" sz="1200" dirty="0"/>
              <a:t>At least two edge cases</a:t>
            </a:r>
          </a:p>
          <a:p>
            <a:pPr marL="228600" indent="-228600">
              <a:buAutoNum type="arabicPeriod"/>
            </a:pPr>
            <a:r>
              <a:rPr lang="en-US" sz="1200" dirty="0"/>
              <a:t>At least one error state</a:t>
            </a:r>
          </a:p>
          <a:p>
            <a:pPr marL="228600" indent="-228600">
              <a:buAutoNum type="arabicPeriod"/>
            </a:pPr>
            <a:r>
              <a:rPr lang="en-US" sz="1200" dirty="0"/>
              <a:t>An explicit "out of scope" list (minimum three items)</a:t>
            </a:r>
          </a:p>
          <a:p>
            <a:pPr marL="228600" indent="-228600">
              <a:buAutoNum type="arabicPeriod"/>
            </a:pPr>
            <a:r>
              <a:rPr lang="en-US" sz="1200" dirty="0"/>
              <a:t>Each criterion must be testable — no subjective language like "user has a good experience“</a:t>
            </a:r>
          </a:p>
          <a:p>
            <a:r>
              <a:rPr lang="en-US" sz="1200" dirty="0"/>
              <a:t>## Refinement Check</a:t>
            </a:r>
          </a:p>
          <a:p>
            <a:r>
              <a:rPr lang="en-US" sz="1200" dirty="0"/>
              <a:t>Before finalizing any story, run these checks:</a:t>
            </a:r>
          </a:p>
          <a:p>
            <a:pPr marL="228600" indent="-228600">
              <a:buAutoNum type="arabicPeriod"/>
            </a:pPr>
            <a:r>
              <a:rPr lang="en-US" sz="1200" dirty="0"/>
              <a:t>Cold developer test — would a developer picking this up cold understand it fully with no clarification?</a:t>
            </a:r>
          </a:p>
          <a:p>
            <a:pPr marL="228600" indent="-228600">
              <a:buAutoNum type="arabicPeriod"/>
            </a:pPr>
            <a:r>
              <a:rPr lang="en-US" sz="1200" dirty="0"/>
              <a:t>Irreversibility flag — does this story encode any irreversible decisions? If yes, flag for explicit review.</a:t>
            </a:r>
          </a:p>
          <a:p>
            <a:pPr marL="228600" indent="-228600">
              <a:buAutoNum type="arabicPeriod"/>
            </a:pPr>
            <a:r>
              <a:rPr lang="en-US" sz="1200" dirty="0"/>
              <a:t>Dependency map — what does this block or get blocked by?</a:t>
            </a:r>
          </a:p>
          <a:p>
            <a:pPr marL="228600" indent="-228600">
              <a:buAutoNum type="arabicPeriod"/>
            </a:pPr>
            <a:r>
              <a:rPr lang="en-US" sz="1200" dirty="0"/>
              <a:t>Mis-implementation risk — what ambiguity could lead a developer in the wrong direction?</a:t>
            </a:r>
          </a:p>
          <a:p>
            <a:r>
              <a:rPr lang="en-US" sz="1200" dirty="0"/>
              <a:t>## Scope Discipline</a:t>
            </a:r>
          </a:p>
          <a:p>
            <a:r>
              <a:rPr lang="en-US" sz="1200" dirty="0"/>
              <a:t>For every story, produce a "will not do" list. If you cannot find at least three out-of-scope items, the story scope is probably too vague.</a:t>
            </a:r>
          </a:p>
          <a:p>
            <a:r>
              <a:rPr lang="en-US" sz="1200" dirty="0"/>
              <a:t>## Pre-Mortem</a:t>
            </a:r>
          </a:p>
          <a:p>
            <a:r>
              <a:rPr lang="en-US" sz="1200" dirty="0"/>
              <a:t>For any story touching core user flows, payments, auth, or irreversible data changes — run a one-paragraph pre-mortem before finalizing:</a:t>
            </a:r>
          </a:p>
          <a:p>
            <a:r>
              <a:rPr lang="en-US" sz="1200" dirty="0"/>
              <a:t>"This shipped and failed. What went wrong?“</a:t>
            </a:r>
          </a:p>
        </p:txBody>
      </p:sp>
      <p:sp>
        <p:nvSpPr>
          <p:cNvPr id="3" name="TextBox 2">
            <a:extLst>
              <a:ext uri="{FF2B5EF4-FFF2-40B4-BE49-F238E27FC236}">
                <a16:creationId xmlns:a16="http://schemas.microsoft.com/office/drawing/2014/main" id="{E75455C7-FFC4-4004-B0F9-75A7A7E3CA0A}"/>
              </a:ext>
            </a:extLst>
          </p:cNvPr>
          <p:cNvSpPr txBox="1"/>
          <p:nvPr/>
        </p:nvSpPr>
        <p:spPr>
          <a:xfrm>
            <a:off x="6739468" y="837755"/>
            <a:ext cx="5943600" cy="5447645"/>
          </a:xfrm>
          <a:prstGeom prst="rect">
            <a:avLst/>
          </a:prstGeom>
          <a:noFill/>
        </p:spPr>
        <p:txBody>
          <a:bodyPr wrap="square">
            <a:spAutoFit/>
          </a:bodyPr>
          <a:lstStyle/>
          <a:p>
            <a:r>
              <a:rPr lang="en-US" sz="1200" dirty="0"/>
              <a:t>## Output Format</a:t>
            </a:r>
          </a:p>
          <a:p>
            <a:r>
              <a:rPr lang="en-US" sz="1200" dirty="0"/>
              <a:t>Always produce stories in this structure:---</a:t>
            </a:r>
          </a:p>
          <a:p>
            <a:r>
              <a:rPr lang="en-US" sz="1200" dirty="0"/>
              <a:t>**Story**</a:t>
            </a:r>
          </a:p>
          <a:p>
            <a:r>
              <a:rPr lang="en-US" sz="1200" dirty="0"/>
              <a:t>As a [persona], I want to [action], so that [outcome].</a:t>
            </a:r>
          </a:p>
          <a:p>
            <a:r>
              <a:rPr lang="en-US" sz="1200" dirty="0"/>
              <a:t>**Context**</a:t>
            </a:r>
          </a:p>
          <a:p>
            <a:r>
              <a:rPr lang="en-US" sz="1200" dirty="0"/>
              <a:t>[What the user is trying to accomplish and why]</a:t>
            </a:r>
          </a:p>
          <a:p>
            <a:r>
              <a:rPr lang="en-US" sz="1200" dirty="0"/>
              <a:t>**Acceptance Criteria**</a:t>
            </a:r>
          </a:p>
          <a:p>
            <a:r>
              <a:rPr lang="en-US" sz="1200" dirty="0"/>
              <a:t>-    [ ] [Testable criterion 1 — happy path]</a:t>
            </a:r>
          </a:p>
          <a:p>
            <a:pPr marL="171450" indent="-171450">
              <a:buFontTx/>
              <a:buChar char="-"/>
            </a:pPr>
            <a:r>
              <a:rPr lang="en-US" sz="1200" dirty="0"/>
              <a:t>[ ] [Testable criterion 2 — edge case]</a:t>
            </a:r>
          </a:p>
          <a:p>
            <a:pPr marL="171450" indent="-171450">
              <a:buFontTx/>
              <a:buChar char="-"/>
            </a:pPr>
            <a:r>
              <a:rPr lang="en-US" sz="1200" dirty="0"/>
              <a:t>[ ] [Testable criterion 3 — edge case]</a:t>
            </a:r>
          </a:p>
          <a:p>
            <a:pPr marL="171450" indent="-171450">
              <a:buFontTx/>
              <a:buChar char="-"/>
            </a:pPr>
            <a:r>
              <a:rPr lang="en-US" sz="1200" dirty="0"/>
              <a:t>[ ] [Testable criterion 4 — error state]</a:t>
            </a:r>
          </a:p>
          <a:p>
            <a:r>
              <a:rPr lang="en-US" sz="1200" dirty="0"/>
              <a:t>**Out of Scope**</a:t>
            </a:r>
          </a:p>
          <a:p>
            <a:pPr marL="171450" indent="-171450">
              <a:buFontTx/>
              <a:buChar char="-"/>
            </a:pPr>
            <a:r>
              <a:rPr lang="en-US" sz="1200" dirty="0"/>
              <a:t>[Item 1]</a:t>
            </a:r>
          </a:p>
          <a:p>
            <a:pPr marL="171450" indent="-171450">
              <a:buFontTx/>
              <a:buChar char="-"/>
            </a:pPr>
            <a:r>
              <a:rPr lang="en-US" sz="1200" dirty="0"/>
              <a:t>[Item 2]</a:t>
            </a:r>
          </a:p>
          <a:p>
            <a:pPr marL="171450" indent="-171450">
              <a:buFontTx/>
              <a:buChar char="-"/>
            </a:pPr>
            <a:r>
              <a:rPr lang="en-US" sz="1200" dirty="0"/>
              <a:t>[Item 3]</a:t>
            </a:r>
          </a:p>
          <a:p>
            <a:r>
              <a:rPr lang="en-US" sz="1200" dirty="0"/>
              <a:t>**Assumptions**</a:t>
            </a:r>
          </a:p>
          <a:p>
            <a:pPr marL="171450" indent="-171450">
              <a:buFontTx/>
              <a:buChar char="-"/>
            </a:pPr>
            <a:r>
              <a:rPr lang="en-US" sz="1200" dirty="0"/>
              <a:t>[Assumption 1] — verified / unverified</a:t>
            </a:r>
          </a:p>
          <a:p>
            <a:pPr marL="171450" indent="-171450">
              <a:buFontTx/>
              <a:buChar char="-"/>
            </a:pPr>
            <a:r>
              <a:rPr lang="en-US" sz="1200" dirty="0"/>
              <a:t>[Assumption 2] — verified / unverified</a:t>
            </a:r>
          </a:p>
          <a:p>
            <a:r>
              <a:rPr lang="en-US" sz="1200" dirty="0"/>
              <a:t>**Dependencies**</a:t>
            </a:r>
          </a:p>
          <a:p>
            <a:pPr marL="171450" indent="-171450">
              <a:buFontTx/>
              <a:buChar char="-"/>
            </a:pPr>
            <a:r>
              <a:rPr lang="en-US" sz="1200" dirty="0"/>
              <a:t>Blocked by: [story or system]</a:t>
            </a:r>
          </a:p>
          <a:p>
            <a:pPr marL="171450" indent="-171450">
              <a:buFontTx/>
              <a:buChar char="-"/>
            </a:pPr>
            <a:r>
              <a:rPr lang="en-US" sz="1200" dirty="0"/>
              <a:t>Blocks: [story or system]</a:t>
            </a:r>
          </a:p>
          <a:p>
            <a:r>
              <a:rPr lang="en-US" sz="1200" dirty="0"/>
              <a:t>**Risks**</a:t>
            </a:r>
          </a:p>
          <a:p>
            <a:pPr marL="171450" indent="-171450">
              <a:buFontTx/>
              <a:buChar char="-"/>
            </a:pPr>
            <a:r>
              <a:rPr lang="en-US" sz="1200" dirty="0"/>
              <a:t>[Most likely mis-implementation or failure mode]</a:t>
            </a:r>
          </a:p>
          <a:p>
            <a:r>
              <a:rPr lang="en-US" sz="1200" dirty="0"/>
              <a:t>## What Not To Do</a:t>
            </a:r>
          </a:p>
          <a:p>
            <a:pPr marL="171450" indent="-171450">
              <a:buFontTx/>
              <a:buChar char="-"/>
            </a:pPr>
            <a:r>
              <a:rPr lang="en-US" sz="1200" dirty="0"/>
              <a:t>Do not write acceptance criteria in system language   ("the API returns 200") unless it directly maps to a user observable outcome</a:t>
            </a:r>
          </a:p>
          <a:p>
            <a:pPr marL="171450" indent="-171450">
              <a:buFontTx/>
              <a:buChar char="-"/>
            </a:pPr>
            <a:r>
              <a:rPr lang="en-US" sz="1200" dirty="0"/>
              <a:t>Do not treat every item as must-have without challenge</a:t>
            </a:r>
          </a:p>
          <a:p>
            <a:pPr marL="171450" indent="-171450">
              <a:buFontTx/>
              <a:buChar char="-"/>
            </a:pPr>
            <a:r>
              <a:rPr lang="en-US" sz="1200" dirty="0"/>
              <a:t>Do not finalize a story with unresolved assumptions  on irreversible decisions</a:t>
            </a:r>
          </a:p>
          <a:p>
            <a:pPr marL="171450" indent="-171450">
              <a:buFontTx/>
              <a:buChar char="-"/>
            </a:pPr>
            <a:r>
              <a:rPr lang="en-US" sz="1200" dirty="0"/>
              <a:t>Do not skip the out-of-scope list</a:t>
            </a:r>
          </a:p>
        </p:txBody>
      </p:sp>
      <p:sp>
        <p:nvSpPr>
          <p:cNvPr id="9" name="TextBox 8">
            <a:extLst>
              <a:ext uri="{FF2B5EF4-FFF2-40B4-BE49-F238E27FC236}">
                <a16:creationId xmlns:a16="http://schemas.microsoft.com/office/drawing/2014/main" id="{56BFF05E-36E8-EA05-D0EA-85BE33C3171F}"/>
              </a:ext>
            </a:extLst>
          </p:cNvPr>
          <p:cNvSpPr txBox="1"/>
          <p:nvPr/>
        </p:nvSpPr>
        <p:spPr>
          <a:xfrm>
            <a:off x="73572" y="442021"/>
            <a:ext cx="6345766" cy="369332"/>
          </a:xfrm>
          <a:prstGeom prst="rect">
            <a:avLst/>
          </a:prstGeom>
          <a:noFill/>
        </p:spPr>
        <p:txBody>
          <a:bodyPr wrap="square">
            <a:spAutoFit/>
          </a:bodyPr>
          <a:lstStyle/>
          <a:p>
            <a:r>
              <a:rPr lang="en-US" dirty="0"/>
              <a:t>Add below in your claude.md file.</a:t>
            </a:r>
          </a:p>
        </p:txBody>
      </p:sp>
    </p:spTree>
    <p:extLst>
      <p:ext uri="{BB962C8B-B14F-4D97-AF65-F5344CB8AC3E}">
        <p14:creationId xmlns:p14="http://schemas.microsoft.com/office/powerpoint/2010/main" val="452656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6415-E743-7BA0-63B3-09B56DB4217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78A4AF4-ACD5-CF0A-80E3-87445B47065E}"/>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8F29924-2ACC-5343-41C0-28C05E0D0EAF}"/>
              </a:ext>
            </a:extLst>
          </p:cNvPr>
          <p:cNvSpPr txBox="1"/>
          <p:nvPr/>
        </p:nvSpPr>
        <p:spPr>
          <a:xfrm>
            <a:off x="73572" y="15030"/>
            <a:ext cx="7285841" cy="400110"/>
          </a:xfrm>
          <a:prstGeom prst="rect">
            <a:avLst/>
          </a:prstGeom>
          <a:noFill/>
        </p:spPr>
        <p:txBody>
          <a:bodyPr wrap="none" rtlCol="0">
            <a:spAutoFit/>
          </a:bodyPr>
          <a:lstStyle/>
          <a:p>
            <a:r>
              <a:rPr lang="en-US" sz="2000" b="1" dirty="0">
                <a:solidFill>
                  <a:srgbClr val="7030A0"/>
                </a:solidFill>
              </a:rPr>
              <a:t>Agentic Development Workflow – Development checklist - Claude  </a:t>
            </a:r>
          </a:p>
        </p:txBody>
      </p:sp>
      <p:sp>
        <p:nvSpPr>
          <p:cNvPr id="3" name="TextBox 2">
            <a:extLst>
              <a:ext uri="{FF2B5EF4-FFF2-40B4-BE49-F238E27FC236}">
                <a16:creationId xmlns:a16="http://schemas.microsoft.com/office/drawing/2014/main" id="{DB2491BE-33C6-5C3D-4255-4C38ED54AD0A}"/>
              </a:ext>
            </a:extLst>
          </p:cNvPr>
          <p:cNvSpPr txBox="1"/>
          <p:nvPr/>
        </p:nvSpPr>
        <p:spPr>
          <a:xfrm>
            <a:off x="1138977" y="947004"/>
            <a:ext cx="7705979" cy="2230739"/>
          </a:xfrm>
          <a:prstGeom prst="rect">
            <a:avLst/>
          </a:prstGeom>
          <a:noFill/>
        </p:spPr>
        <p:txBody>
          <a:bodyPr wrap="square">
            <a:spAutoFit/>
          </a:bodyPr>
          <a:lstStyle/>
          <a:p>
            <a:pPr>
              <a:lnSpc>
                <a:spcPct val="200000"/>
              </a:lnSpc>
            </a:pPr>
            <a:r>
              <a:rPr lang="en-US" dirty="0"/>
              <a:t>1. Don’t assume. Don’t hide confusion. Surface tradeoffs.</a:t>
            </a:r>
          </a:p>
          <a:p>
            <a:pPr>
              <a:lnSpc>
                <a:spcPct val="200000"/>
              </a:lnSpc>
            </a:pPr>
            <a:r>
              <a:rPr lang="en-US" dirty="0"/>
              <a:t>2. Minimum code that solves the problem. Nothing speculative.</a:t>
            </a:r>
          </a:p>
          <a:p>
            <a:pPr>
              <a:lnSpc>
                <a:spcPct val="200000"/>
              </a:lnSpc>
            </a:pPr>
            <a:r>
              <a:rPr lang="en-US" dirty="0"/>
              <a:t>3. Touch only what you must. Clean up only your own mess.</a:t>
            </a:r>
          </a:p>
          <a:p>
            <a:pPr>
              <a:lnSpc>
                <a:spcPct val="200000"/>
              </a:lnSpc>
            </a:pPr>
            <a:r>
              <a:rPr lang="en-US" dirty="0"/>
              <a:t>4. Define success criteria. Loop until verified.</a:t>
            </a:r>
          </a:p>
        </p:txBody>
      </p:sp>
    </p:spTree>
    <p:extLst>
      <p:ext uri="{BB962C8B-B14F-4D97-AF65-F5344CB8AC3E}">
        <p14:creationId xmlns:p14="http://schemas.microsoft.com/office/powerpoint/2010/main" val="2693762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AA535-0AC2-BB22-0983-DB6F6E8A707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D84ACC9-802B-30CC-17FB-3459D0B63E37}"/>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3AA7169-F2EB-2617-C4E8-98CC3D47AC30}"/>
              </a:ext>
            </a:extLst>
          </p:cNvPr>
          <p:cNvSpPr txBox="1"/>
          <p:nvPr/>
        </p:nvSpPr>
        <p:spPr>
          <a:xfrm>
            <a:off x="73572" y="15030"/>
            <a:ext cx="7101368"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Example with Claude.md  </a:t>
            </a:r>
          </a:p>
        </p:txBody>
      </p:sp>
      <p:sp>
        <p:nvSpPr>
          <p:cNvPr id="4" name="TextBox 3">
            <a:extLst>
              <a:ext uri="{FF2B5EF4-FFF2-40B4-BE49-F238E27FC236}">
                <a16:creationId xmlns:a16="http://schemas.microsoft.com/office/drawing/2014/main" id="{B667A852-A7A4-C06E-C174-37E33BD6879A}"/>
              </a:ext>
            </a:extLst>
          </p:cNvPr>
          <p:cNvSpPr txBox="1"/>
          <p:nvPr/>
        </p:nvSpPr>
        <p:spPr>
          <a:xfrm>
            <a:off x="73572" y="516327"/>
            <a:ext cx="5562118" cy="5078313"/>
          </a:xfrm>
          <a:prstGeom prst="rect">
            <a:avLst/>
          </a:prstGeom>
          <a:noFill/>
        </p:spPr>
        <p:txBody>
          <a:bodyPr wrap="square">
            <a:spAutoFit/>
          </a:bodyPr>
          <a:lstStyle/>
          <a:p>
            <a:r>
              <a:rPr lang="en-US" sz="1200" dirty="0"/>
              <a:t>Behavioral guidelines to reduce common LLM coding mistakes. Merge with project-specific instructions as needed.</a:t>
            </a:r>
          </a:p>
          <a:p>
            <a:endParaRPr lang="en-US" sz="1200" dirty="0"/>
          </a:p>
          <a:p>
            <a:r>
              <a:rPr lang="en-US" sz="1200" dirty="0"/>
              <a:t>**Tradeoff:** These guidelines bias toward caution over speed. For trivial tasks, use judgment.</a:t>
            </a:r>
          </a:p>
          <a:p>
            <a:endParaRPr lang="en-US" sz="1200" dirty="0"/>
          </a:p>
          <a:p>
            <a:r>
              <a:rPr lang="en-US" sz="1200" dirty="0"/>
              <a:t>## 1. Think Before Coding</a:t>
            </a:r>
          </a:p>
          <a:p>
            <a:endParaRPr lang="en-US" sz="1200" dirty="0"/>
          </a:p>
          <a:p>
            <a:r>
              <a:rPr lang="en-US" sz="1200" dirty="0"/>
              <a:t>**Don't assume. Don't hide confusion. Surface tradeoffs.**</a:t>
            </a:r>
          </a:p>
          <a:p>
            <a:endParaRPr lang="en-US" sz="1200" dirty="0"/>
          </a:p>
          <a:p>
            <a:r>
              <a:rPr lang="en-US" sz="1200" dirty="0"/>
              <a:t>Before implementing:</a:t>
            </a:r>
          </a:p>
          <a:p>
            <a:r>
              <a:rPr lang="en-US" sz="1200" dirty="0"/>
              <a:t>- State your assumptions explicitly. If uncertain, ask.</a:t>
            </a:r>
          </a:p>
          <a:p>
            <a:r>
              <a:rPr lang="en-US" sz="1200" dirty="0"/>
              <a:t>- If multiple interpretations exist, present them - don't pick silently.</a:t>
            </a:r>
          </a:p>
          <a:p>
            <a:r>
              <a:rPr lang="en-US" sz="1200" dirty="0"/>
              <a:t>- If a simpler approach exists, say so. Push back when warranted.</a:t>
            </a:r>
          </a:p>
          <a:p>
            <a:r>
              <a:rPr lang="en-US" sz="1200" dirty="0"/>
              <a:t>- If something is unclear, stop. Name what's confusing. Ask.</a:t>
            </a:r>
          </a:p>
          <a:p>
            <a:endParaRPr lang="en-US" sz="1200" dirty="0"/>
          </a:p>
          <a:p>
            <a:r>
              <a:rPr lang="en-US" sz="1200" dirty="0"/>
              <a:t>## 2. Simplicity First</a:t>
            </a:r>
          </a:p>
          <a:p>
            <a:endParaRPr lang="en-US" sz="1200" dirty="0"/>
          </a:p>
          <a:p>
            <a:r>
              <a:rPr lang="en-US" sz="1200" dirty="0"/>
              <a:t>**Minimum code that solves the problem. Nothing speculative.**</a:t>
            </a:r>
          </a:p>
          <a:p>
            <a:endParaRPr lang="en-US" sz="1200" dirty="0"/>
          </a:p>
          <a:p>
            <a:r>
              <a:rPr lang="en-US" sz="1200" dirty="0"/>
              <a:t>- No features beyond what was asked.</a:t>
            </a:r>
          </a:p>
          <a:p>
            <a:r>
              <a:rPr lang="en-US" sz="1200" dirty="0"/>
              <a:t>- No abstractions for single-use code.</a:t>
            </a:r>
          </a:p>
          <a:p>
            <a:r>
              <a:rPr lang="en-US" sz="1200" dirty="0"/>
              <a:t>- No "flexibility" or "configurability" that wasn't requested.</a:t>
            </a:r>
          </a:p>
          <a:p>
            <a:r>
              <a:rPr lang="en-US" sz="1200" dirty="0"/>
              <a:t>- No error handling for impossible scenarios.</a:t>
            </a:r>
          </a:p>
          <a:p>
            <a:r>
              <a:rPr lang="en-US" sz="1200" dirty="0"/>
              <a:t>- If you write 200 lines and it could be 50, rewrite it.</a:t>
            </a:r>
          </a:p>
          <a:p>
            <a:endParaRPr lang="en-US" sz="1200" dirty="0"/>
          </a:p>
          <a:p>
            <a:r>
              <a:rPr lang="en-US" sz="1200" dirty="0"/>
              <a:t>Ask yourself: "Would a senior engineer say this is overcomplicated?" If yes, simplify.</a:t>
            </a:r>
          </a:p>
        </p:txBody>
      </p:sp>
      <p:sp>
        <p:nvSpPr>
          <p:cNvPr id="5" name="TextBox 4">
            <a:extLst>
              <a:ext uri="{FF2B5EF4-FFF2-40B4-BE49-F238E27FC236}">
                <a16:creationId xmlns:a16="http://schemas.microsoft.com/office/drawing/2014/main" id="{2396AAA8-639D-9DA3-72E1-5E849AD23ED8}"/>
              </a:ext>
            </a:extLst>
          </p:cNvPr>
          <p:cNvSpPr txBox="1"/>
          <p:nvPr/>
        </p:nvSpPr>
        <p:spPr>
          <a:xfrm>
            <a:off x="5922607" y="516327"/>
            <a:ext cx="6269393" cy="6370975"/>
          </a:xfrm>
          <a:prstGeom prst="rect">
            <a:avLst/>
          </a:prstGeom>
          <a:noFill/>
        </p:spPr>
        <p:txBody>
          <a:bodyPr wrap="square">
            <a:spAutoFit/>
          </a:bodyPr>
          <a:lstStyle/>
          <a:p>
            <a:r>
              <a:rPr lang="en-US" sz="1200" dirty="0"/>
              <a:t>## 3. Surgical Changes</a:t>
            </a:r>
          </a:p>
          <a:p>
            <a:r>
              <a:rPr lang="en-US" sz="1200" dirty="0"/>
              <a:t>**Touch only what you must. Clean up only your own mess.**</a:t>
            </a:r>
          </a:p>
          <a:p>
            <a:r>
              <a:rPr lang="en-US" sz="1200" dirty="0"/>
              <a:t>When editing existing code:</a:t>
            </a:r>
          </a:p>
          <a:p>
            <a:r>
              <a:rPr lang="en-US" sz="1200" dirty="0"/>
              <a:t>- Don't "improve" adjacent code, comments, or formatting.</a:t>
            </a:r>
          </a:p>
          <a:p>
            <a:r>
              <a:rPr lang="en-US" sz="1200" dirty="0"/>
              <a:t>- Don't refactor things that aren't broken.</a:t>
            </a:r>
          </a:p>
          <a:p>
            <a:r>
              <a:rPr lang="en-US" sz="1200" dirty="0"/>
              <a:t>- Match existing style, even if you'd do it differently.</a:t>
            </a:r>
          </a:p>
          <a:p>
            <a:r>
              <a:rPr lang="en-US" sz="1200" dirty="0"/>
              <a:t>- If you notice unrelated dead code, mention it - don't delete it.</a:t>
            </a:r>
          </a:p>
          <a:p>
            <a:endParaRPr lang="en-US" sz="1200" dirty="0"/>
          </a:p>
          <a:p>
            <a:r>
              <a:rPr lang="en-US" sz="1200" dirty="0"/>
              <a:t>When your changes create orphans:</a:t>
            </a:r>
          </a:p>
          <a:p>
            <a:r>
              <a:rPr lang="en-US" sz="1200" dirty="0"/>
              <a:t>- Remove imports/variables/functions that YOUR changes made unused.</a:t>
            </a:r>
          </a:p>
          <a:p>
            <a:r>
              <a:rPr lang="en-US" sz="1200" dirty="0"/>
              <a:t>- Don't remove pre-existing dead code unless asked.</a:t>
            </a:r>
          </a:p>
          <a:p>
            <a:endParaRPr lang="en-US" sz="1200" dirty="0"/>
          </a:p>
          <a:p>
            <a:r>
              <a:rPr lang="en-US" sz="1200" dirty="0"/>
              <a:t>The test: Every changed line should trace directly to the user's request.</a:t>
            </a:r>
          </a:p>
          <a:p>
            <a:endParaRPr lang="en-US" sz="1200" dirty="0"/>
          </a:p>
          <a:p>
            <a:r>
              <a:rPr lang="en-US" sz="1200" dirty="0"/>
              <a:t>## 4. Goal-Driven Execution</a:t>
            </a:r>
          </a:p>
          <a:p>
            <a:r>
              <a:rPr lang="en-US" sz="1200" dirty="0"/>
              <a:t>**Define success criteria. Loop until verified.**</a:t>
            </a:r>
          </a:p>
          <a:p>
            <a:r>
              <a:rPr lang="en-US" sz="1200" dirty="0"/>
              <a:t>Transform tasks into verifiable goals:</a:t>
            </a:r>
          </a:p>
          <a:p>
            <a:r>
              <a:rPr lang="en-US" sz="1200" dirty="0"/>
              <a:t>- "Add validation" → "Write tests for invalid inputs, then make them pass"</a:t>
            </a:r>
          </a:p>
          <a:p>
            <a:r>
              <a:rPr lang="en-US" sz="1200" dirty="0"/>
              <a:t>- "Fix the bug" → "Write a test that reproduces it, then make it pass"</a:t>
            </a:r>
          </a:p>
          <a:p>
            <a:r>
              <a:rPr lang="en-US" sz="1200" dirty="0"/>
              <a:t>- "Refactor X" → "Ensure tests pass before and after"</a:t>
            </a:r>
          </a:p>
          <a:p>
            <a:endParaRPr lang="en-US" sz="1200" dirty="0"/>
          </a:p>
          <a:p>
            <a:r>
              <a:rPr lang="en-US" sz="1200" dirty="0"/>
              <a:t>For multi-step tasks, state a brief plan:</a:t>
            </a:r>
          </a:p>
          <a:p>
            <a:r>
              <a:rPr lang="en-US" sz="1200" dirty="0"/>
              <a:t>```</a:t>
            </a:r>
          </a:p>
          <a:p>
            <a:r>
              <a:rPr lang="en-US" sz="1200" dirty="0"/>
              <a:t>1. [Step] → verify: [check]</a:t>
            </a:r>
          </a:p>
          <a:p>
            <a:r>
              <a:rPr lang="en-US" sz="1200" dirty="0"/>
              <a:t>2. [Step] → verify: [check]</a:t>
            </a:r>
          </a:p>
          <a:p>
            <a:r>
              <a:rPr lang="en-US" sz="1200" dirty="0"/>
              <a:t>3. [Step] → verify: [check]</a:t>
            </a:r>
          </a:p>
          <a:p>
            <a:r>
              <a:rPr lang="en-US" sz="1200" dirty="0"/>
              <a:t>```</a:t>
            </a:r>
          </a:p>
          <a:p>
            <a:r>
              <a:rPr lang="en-US" sz="1200" dirty="0"/>
              <a:t>Strong success criteria let you loop independently. Weak criteria ("make it work") require constant clarification.</a:t>
            </a:r>
          </a:p>
          <a:p>
            <a:r>
              <a:rPr lang="en-US" sz="1200" dirty="0"/>
              <a:t>---</a:t>
            </a:r>
          </a:p>
          <a:p>
            <a:endParaRPr lang="en-US" sz="1200" dirty="0"/>
          </a:p>
          <a:p>
            <a:r>
              <a:rPr lang="en-US" sz="1200" dirty="0"/>
              <a:t>**These guidelines are working if:** fewer unnecessary changes in diffs, fewer rewrites due to overcomplication, and clarifying questions come before implementation rather than after mistakes.</a:t>
            </a:r>
          </a:p>
        </p:txBody>
      </p:sp>
    </p:spTree>
    <p:extLst>
      <p:ext uri="{BB962C8B-B14F-4D97-AF65-F5344CB8AC3E}">
        <p14:creationId xmlns:p14="http://schemas.microsoft.com/office/powerpoint/2010/main" val="41294742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97364-0A24-110D-07FE-3A7C9AC5FC76}"/>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3979E620-2B3D-E921-D8C9-6AC02F5BBD73}"/>
              </a:ext>
            </a:extLst>
          </p:cNvPr>
          <p:cNvSpPr txBox="1"/>
          <p:nvPr/>
        </p:nvSpPr>
        <p:spPr>
          <a:xfrm>
            <a:off x="0" y="2262200"/>
            <a:ext cx="12192000" cy="1498680"/>
          </a:xfrm>
          <a:prstGeom prst="rect">
            <a:avLst/>
          </a:prstGeom>
          <a:noFill/>
        </p:spPr>
        <p:txBody>
          <a:bodyPr wrap="square">
            <a:spAutoFit/>
          </a:bodyPr>
          <a:lstStyle/>
          <a:p>
            <a:pPr algn="ctr">
              <a:lnSpc>
                <a:spcPct val="150000"/>
              </a:lnSpc>
            </a:pPr>
            <a:r>
              <a:rPr lang="en-US" sz="3200" dirty="0"/>
              <a:t>Agentic Development Workflow</a:t>
            </a:r>
          </a:p>
          <a:p>
            <a:pPr algn="ctr">
              <a:lnSpc>
                <a:spcPct val="150000"/>
              </a:lnSpc>
            </a:pPr>
            <a:r>
              <a:rPr lang="en-US" sz="3200" dirty="0"/>
              <a:t>Architecture</a:t>
            </a:r>
          </a:p>
        </p:txBody>
      </p:sp>
    </p:spTree>
    <p:extLst>
      <p:ext uri="{BB962C8B-B14F-4D97-AF65-F5344CB8AC3E}">
        <p14:creationId xmlns:p14="http://schemas.microsoft.com/office/powerpoint/2010/main" val="2915198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EF266-A3E4-A20C-34B5-15267207D84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237FC8D-B87F-A79F-215C-CCDA2986DC51}"/>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E188AFD-F1D0-D771-94CE-45F951A5FAD9}"/>
              </a:ext>
            </a:extLst>
          </p:cNvPr>
          <p:cNvSpPr txBox="1"/>
          <p:nvPr/>
        </p:nvSpPr>
        <p:spPr>
          <a:xfrm>
            <a:off x="73572" y="15030"/>
            <a:ext cx="5819414"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Specifications </a:t>
            </a:r>
          </a:p>
        </p:txBody>
      </p:sp>
      <p:sp>
        <p:nvSpPr>
          <p:cNvPr id="6" name="TextBox 5">
            <a:extLst>
              <a:ext uri="{FF2B5EF4-FFF2-40B4-BE49-F238E27FC236}">
                <a16:creationId xmlns:a16="http://schemas.microsoft.com/office/drawing/2014/main" id="{660CD9F8-18CC-106D-7B76-C87BE9D52188}"/>
              </a:ext>
            </a:extLst>
          </p:cNvPr>
          <p:cNvSpPr txBox="1"/>
          <p:nvPr/>
        </p:nvSpPr>
        <p:spPr>
          <a:xfrm>
            <a:off x="421640" y="863077"/>
            <a:ext cx="11104880" cy="4216539"/>
          </a:xfrm>
          <a:prstGeom prst="rect">
            <a:avLst/>
          </a:prstGeom>
          <a:noFill/>
        </p:spPr>
        <p:txBody>
          <a:bodyPr wrap="square">
            <a:spAutoFit/>
          </a:bodyPr>
          <a:lstStyle/>
          <a:p>
            <a:r>
              <a:rPr lang="en-US" sz="1400" b="1" dirty="0"/>
              <a:t>1. Force a specific output format</a:t>
            </a:r>
            <a:r>
              <a:rPr lang="en-US" sz="1600" dirty="0"/>
              <a:t> </a:t>
            </a:r>
          </a:p>
          <a:p>
            <a:r>
              <a:rPr lang="en-US" sz="1400" dirty="0"/>
              <a:t>Structure your prompt to require a formal artifact:</a:t>
            </a:r>
          </a:p>
          <a:p>
            <a:r>
              <a:rPr lang="en-US" sz="1400" dirty="0">
                <a:solidFill>
                  <a:schemeClr val="accent2">
                    <a:lumMod val="75000"/>
                  </a:schemeClr>
                </a:solidFill>
              </a:rPr>
              <a:t>"Before implementing, produce an Architecture Decision Record (ADR) with these sections: Context, Decision, Alternatives Considered, Consequences, and Open Questions. Do not proceed until I respond 'approved’.”</a:t>
            </a:r>
          </a:p>
          <a:p>
            <a:r>
              <a:rPr lang="en-US" sz="1400" dirty="0"/>
              <a:t>ADR format is particularly powerful because it forces AI Agent to articulate why not just what, which surfaces bad assumptions early.</a:t>
            </a:r>
          </a:p>
          <a:p>
            <a:endParaRPr lang="en-US" sz="1400" dirty="0"/>
          </a:p>
          <a:p>
            <a:r>
              <a:rPr lang="en-US" sz="1400" b="1" dirty="0"/>
              <a:t>2. Use adversarial prompting</a:t>
            </a:r>
          </a:p>
          <a:p>
            <a:r>
              <a:rPr lang="en-US" sz="1400" dirty="0"/>
              <a:t>After it produces a plan, immediately follow up with:</a:t>
            </a:r>
          </a:p>
          <a:p>
            <a:r>
              <a:rPr lang="en-US" sz="1400" dirty="0">
                <a:solidFill>
                  <a:schemeClr val="accent2">
                    <a:lumMod val="75000"/>
                  </a:schemeClr>
                </a:solidFill>
              </a:rPr>
              <a:t>"Now argue against your own plan. What are the three most likely ways this architecture fails in production?"</a:t>
            </a:r>
          </a:p>
          <a:p>
            <a:r>
              <a:rPr lang="en-US" sz="1400" dirty="0"/>
              <a:t>This breaks the "confident but wrong" pattern. Claude Code is good at critique — make it critique itself before you do.</a:t>
            </a:r>
          </a:p>
          <a:p>
            <a:endParaRPr lang="en-US" sz="1400" dirty="0"/>
          </a:p>
          <a:p>
            <a:r>
              <a:rPr lang="en-US" sz="1400" b="1" dirty="0"/>
              <a:t>3. Demand explicit rejection of alternatives</a:t>
            </a:r>
          </a:p>
          <a:p>
            <a:r>
              <a:rPr lang="en-US" sz="1400" dirty="0">
                <a:solidFill>
                  <a:schemeClr val="accent2">
                    <a:lumMod val="75000"/>
                  </a:schemeClr>
                </a:solidFill>
              </a:rPr>
              <a:t>"For each major decision, name at least two alternatives you considered and explain why you rejected them."</a:t>
            </a:r>
          </a:p>
          <a:p>
            <a:r>
              <a:rPr lang="en-US" sz="1400" dirty="0"/>
              <a:t>Without this, you get the first reasonable solution, not the best one. Forcing rejection reasoning reveals whether it explored the space or just pattern-matched to the obvious answer.</a:t>
            </a:r>
          </a:p>
          <a:p>
            <a:endParaRPr lang="en-US" sz="1400" dirty="0"/>
          </a:p>
          <a:p>
            <a:r>
              <a:rPr lang="en-US" sz="1400" b="1" dirty="0"/>
              <a:t>4. Scope locking</a:t>
            </a:r>
          </a:p>
          <a:p>
            <a:r>
              <a:rPr lang="en-US" sz="1400" dirty="0">
                <a:solidFill>
                  <a:schemeClr val="accent2">
                    <a:lumMod val="75000"/>
                  </a:schemeClr>
                </a:solidFill>
              </a:rPr>
              <a:t>"After the plan, produce a 'will not do' list — features, patterns, or approaches that are explicitly out of scope for this implementation.“</a:t>
            </a:r>
          </a:p>
          <a:p>
            <a:r>
              <a:rPr lang="en-US" sz="1400" dirty="0"/>
              <a:t>This prevents scope creep during implementation and gives you something to point to when AI Agent starts gold-plating.</a:t>
            </a:r>
          </a:p>
        </p:txBody>
      </p:sp>
    </p:spTree>
    <p:extLst>
      <p:ext uri="{BB962C8B-B14F-4D97-AF65-F5344CB8AC3E}">
        <p14:creationId xmlns:p14="http://schemas.microsoft.com/office/powerpoint/2010/main" val="23077723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F3A60-4C02-9FF2-83EC-66793BC4767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78E2D7C-BEBA-BD15-F005-68BB5C927A40}"/>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51A3DE1-F7B7-65E1-97A0-FEDB30D93326}"/>
              </a:ext>
            </a:extLst>
          </p:cNvPr>
          <p:cNvSpPr txBox="1"/>
          <p:nvPr/>
        </p:nvSpPr>
        <p:spPr>
          <a:xfrm>
            <a:off x="73572" y="15030"/>
            <a:ext cx="5787354"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Specifications </a:t>
            </a:r>
          </a:p>
        </p:txBody>
      </p:sp>
      <p:sp>
        <p:nvSpPr>
          <p:cNvPr id="6" name="TextBox 5">
            <a:extLst>
              <a:ext uri="{FF2B5EF4-FFF2-40B4-BE49-F238E27FC236}">
                <a16:creationId xmlns:a16="http://schemas.microsoft.com/office/drawing/2014/main" id="{49B40AB6-EFC7-D783-3BD1-C474F8EDAF81}"/>
              </a:ext>
            </a:extLst>
          </p:cNvPr>
          <p:cNvSpPr txBox="1"/>
          <p:nvPr/>
        </p:nvSpPr>
        <p:spPr>
          <a:xfrm>
            <a:off x="320040" y="744544"/>
            <a:ext cx="11104880" cy="4001095"/>
          </a:xfrm>
          <a:prstGeom prst="rect">
            <a:avLst/>
          </a:prstGeom>
          <a:noFill/>
        </p:spPr>
        <p:txBody>
          <a:bodyPr wrap="square">
            <a:spAutoFit/>
          </a:bodyPr>
          <a:lstStyle/>
          <a:p>
            <a:r>
              <a:rPr lang="en-US" sz="1400" b="1" dirty="0"/>
              <a:t>5. Ask for a dependency graph before any code</a:t>
            </a:r>
          </a:p>
          <a:p>
            <a:r>
              <a:rPr lang="en-US" sz="1600" dirty="0"/>
              <a:t> </a:t>
            </a:r>
            <a:r>
              <a:rPr lang="en-US" sz="1400" dirty="0">
                <a:solidFill>
                  <a:schemeClr val="accent2">
                    <a:lumMod val="75000"/>
                  </a:schemeClr>
                </a:solidFill>
              </a:rPr>
              <a:t>"Map out every dependency: libraries, services, internal modules, environment variables. Flag anything that doesn't already exist in this codebase.“</a:t>
            </a:r>
          </a:p>
          <a:p>
            <a:r>
              <a:rPr lang="en-US" sz="1400" dirty="0"/>
              <a:t>AI Agent frequently plans around libraries it hallucinated or assumes infrastructure that doesn't exist. A dependency audit catches this before implementation.</a:t>
            </a:r>
          </a:p>
          <a:p>
            <a:endParaRPr lang="en-US" sz="1400" dirty="0"/>
          </a:p>
          <a:p>
            <a:r>
              <a:rPr lang="en-US" sz="1400" b="1" dirty="0"/>
              <a:t>6. Threat model the architecture</a:t>
            </a:r>
          </a:p>
          <a:p>
            <a:r>
              <a:rPr lang="en-US" sz="1400" dirty="0">
                <a:solidFill>
                  <a:schemeClr val="accent2">
                    <a:lumMod val="75000"/>
                  </a:schemeClr>
                </a:solidFill>
              </a:rPr>
              <a:t>"Before implementing, identify the top 5 security concerns with this design and how the architecture addresses each one.“</a:t>
            </a:r>
          </a:p>
          <a:p>
            <a:r>
              <a:rPr lang="en-US" sz="1400" dirty="0"/>
              <a:t>Especially useful for anything touching auth, payments, or user data. Forces security to be a first-class architectural concern rather than an afterthought.</a:t>
            </a:r>
          </a:p>
          <a:p>
            <a:endParaRPr lang="en-US" sz="1400" dirty="0"/>
          </a:p>
          <a:p>
            <a:r>
              <a:rPr lang="en-US" sz="1400" b="1" dirty="0"/>
              <a:t>7. The rubber duck protocol</a:t>
            </a:r>
          </a:p>
          <a:p>
            <a:r>
              <a:rPr lang="en-US" sz="1400" dirty="0">
                <a:solidFill>
                  <a:schemeClr val="accent2">
                    <a:lumMod val="75000"/>
                  </a:schemeClr>
                </a:solidFill>
              </a:rPr>
              <a:t>"Explain this architecture to me as if I'm a senior engineer who is skeptical of every decision. Anticipate my objections.“</a:t>
            </a:r>
          </a:p>
          <a:p>
            <a:r>
              <a:rPr lang="en-US" sz="1400" dirty="0"/>
              <a:t>The adversarial audience framing produces much more rigorous justifications than neutral explanation.</a:t>
            </a:r>
          </a:p>
          <a:p>
            <a:endParaRPr lang="en-US" sz="1400" dirty="0"/>
          </a:p>
          <a:p>
            <a:r>
              <a:rPr lang="en-US" sz="1400" b="1" dirty="0"/>
              <a:t>8. Complexity budget</a:t>
            </a:r>
          </a:p>
          <a:p>
            <a:r>
              <a:rPr lang="en-US" sz="1400" dirty="0">
                <a:solidFill>
                  <a:schemeClr val="accent2">
                    <a:lumMod val="75000"/>
                  </a:schemeClr>
                </a:solidFill>
              </a:rPr>
              <a:t>"Rate the complexity of this architecture on a 1–10 scale and justify the score. If it's above a 6, propose a simpler alternative.“</a:t>
            </a:r>
          </a:p>
          <a:p>
            <a:r>
              <a:rPr lang="en-US" sz="1400" dirty="0"/>
              <a:t>AI-generated architectures tend to creep toward unnecessary sophistication. Giving complexity an explicit score forces acknowledgment of it.</a:t>
            </a:r>
          </a:p>
        </p:txBody>
      </p:sp>
    </p:spTree>
    <p:extLst>
      <p:ext uri="{BB962C8B-B14F-4D97-AF65-F5344CB8AC3E}">
        <p14:creationId xmlns:p14="http://schemas.microsoft.com/office/powerpoint/2010/main" val="872613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5AE9-2E06-50EC-26EC-38C0D95FEAF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B99E10F-41F0-D481-E60D-31559E8F5B7A}"/>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DEC9457-1309-ECFB-8F24-D7260312E430}"/>
              </a:ext>
            </a:extLst>
          </p:cNvPr>
          <p:cNvSpPr txBox="1"/>
          <p:nvPr/>
        </p:nvSpPr>
        <p:spPr>
          <a:xfrm>
            <a:off x="73572" y="15030"/>
            <a:ext cx="5787354"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Specifications </a:t>
            </a:r>
          </a:p>
        </p:txBody>
      </p:sp>
      <p:sp>
        <p:nvSpPr>
          <p:cNvPr id="6" name="TextBox 5">
            <a:extLst>
              <a:ext uri="{FF2B5EF4-FFF2-40B4-BE49-F238E27FC236}">
                <a16:creationId xmlns:a16="http://schemas.microsoft.com/office/drawing/2014/main" id="{4E46F390-B4C0-2377-CA8C-2DB9AD55AE43}"/>
              </a:ext>
            </a:extLst>
          </p:cNvPr>
          <p:cNvSpPr txBox="1"/>
          <p:nvPr/>
        </p:nvSpPr>
        <p:spPr>
          <a:xfrm>
            <a:off x="311574" y="837677"/>
            <a:ext cx="11104880" cy="3539430"/>
          </a:xfrm>
          <a:prstGeom prst="rect">
            <a:avLst/>
          </a:prstGeom>
          <a:noFill/>
        </p:spPr>
        <p:txBody>
          <a:bodyPr wrap="square">
            <a:spAutoFit/>
          </a:bodyPr>
          <a:lstStyle/>
          <a:p>
            <a:r>
              <a:rPr lang="en-US" sz="1400" b="1" dirty="0"/>
              <a:t>9. Milestone decomposition</a:t>
            </a:r>
          </a:p>
          <a:p>
            <a:r>
              <a:rPr lang="en-US" sz="1400" dirty="0">
                <a:solidFill>
                  <a:schemeClr val="accent2">
                    <a:lumMod val="75000"/>
                  </a:schemeClr>
                </a:solidFill>
              </a:rPr>
              <a:t>"Break the implementation into milestones where each one produces a working, testable artifact. Define what 'done' looks like for each milestone before writing any code.“</a:t>
            </a:r>
          </a:p>
          <a:p>
            <a:r>
              <a:rPr lang="en-US" sz="1400" dirty="0"/>
              <a:t>This prevents the failure mode where Claude Code writes 800 lines and the whole thing only works if everything is perfect. Milestone decomposition creates natural review checkpoints.</a:t>
            </a:r>
          </a:p>
          <a:p>
            <a:endParaRPr lang="en-US" sz="1400" dirty="0"/>
          </a:p>
          <a:p>
            <a:r>
              <a:rPr lang="en-US" sz="1400" b="1" dirty="0"/>
              <a:t>10. Ask what could go wrong operationally</a:t>
            </a:r>
          </a:p>
          <a:p>
            <a:r>
              <a:rPr lang="en-US" sz="1400" dirty="0">
                <a:solidFill>
                  <a:schemeClr val="accent2">
                    <a:lumMod val="75000"/>
                  </a:schemeClr>
                </a:solidFill>
              </a:rPr>
              <a:t>"Assume this is running in production with real users. What monitoring, alerting, and failure modes should the architecture account for?“</a:t>
            </a:r>
          </a:p>
          <a:p>
            <a:r>
              <a:rPr lang="en-US" sz="1400" dirty="0"/>
              <a:t>Most AI-generated plans are dev-environment thinking. This prompt forces production-grade consideration of observability, degradation, and recovery.</a:t>
            </a:r>
          </a:p>
          <a:p>
            <a:endParaRPr lang="en-US" sz="1400" dirty="0"/>
          </a:p>
          <a:p>
            <a:r>
              <a:rPr lang="en-US" sz="1400" b="1" dirty="0"/>
              <a:t>11. The "week 6 problem" prompt</a:t>
            </a:r>
          </a:p>
          <a:p>
            <a:r>
              <a:rPr lang="en-US" sz="1400" dirty="0">
                <a:solidFill>
                  <a:schemeClr val="accent2">
                    <a:lumMod val="75000"/>
                  </a:schemeClr>
                </a:solidFill>
              </a:rPr>
              <a:t>"Imagine a junior developer inherits this codebase 6 weeks from now. What will confuse them most about this architecture, and how does the design mitigate that?"</a:t>
            </a:r>
          </a:p>
          <a:p>
            <a:r>
              <a:rPr lang="en-US" sz="1400" dirty="0"/>
              <a:t>This surfaces implicit assumptions baked into the plan that will become maintenance debt.</a:t>
            </a:r>
          </a:p>
          <a:p>
            <a:endParaRPr lang="en-US" sz="1400" dirty="0"/>
          </a:p>
        </p:txBody>
      </p:sp>
    </p:spTree>
    <p:extLst>
      <p:ext uri="{BB962C8B-B14F-4D97-AF65-F5344CB8AC3E}">
        <p14:creationId xmlns:p14="http://schemas.microsoft.com/office/powerpoint/2010/main" val="2633450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541EC-FD6A-8D4C-D16E-4DCC4923ADF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9C88965-E306-42F8-1892-21125B32C918}"/>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6AAA4D9-A132-3C01-8905-E845757BAAC8}"/>
              </a:ext>
            </a:extLst>
          </p:cNvPr>
          <p:cNvSpPr txBox="1"/>
          <p:nvPr/>
        </p:nvSpPr>
        <p:spPr>
          <a:xfrm>
            <a:off x="73572" y="15030"/>
            <a:ext cx="7048468"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Example with Claude.md </a:t>
            </a:r>
          </a:p>
        </p:txBody>
      </p:sp>
      <p:sp>
        <p:nvSpPr>
          <p:cNvPr id="7" name="TextBox 6">
            <a:extLst>
              <a:ext uri="{FF2B5EF4-FFF2-40B4-BE49-F238E27FC236}">
                <a16:creationId xmlns:a16="http://schemas.microsoft.com/office/drawing/2014/main" id="{A76D955B-4C2A-2D87-F9AF-0B313645D6E0}"/>
              </a:ext>
            </a:extLst>
          </p:cNvPr>
          <p:cNvSpPr txBox="1"/>
          <p:nvPr/>
        </p:nvSpPr>
        <p:spPr>
          <a:xfrm>
            <a:off x="518159" y="1006237"/>
            <a:ext cx="10352003" cy="4662815"/>
          </a:xfrm>
          <a:prstGeom prst="rect">
            <a:avLst/>
          </a:prstGeom>
          <a:noFill/>
        </p:spPr>
        <p:txBody>
          <a:bodyPr wrap="square">
            <a:spAutoFit/>
          </a:bodyPr>
          <a:lstStyle/>
          <a:p>
            <a:r>
              <a:rPr lang="en-US" dirty="0"/>
              <a:t>Add below in your claude.md file</a:t>
            </a:r>
          </a:p>
          <a:p>
            <a:endParaRPr lang="en-US" dirty="0"/>
          </a:p>
          <a:p>
            <a:r>
              <a:rPr lang="en-US" dirty="0"/>
              <a:t>## Architecture Review Protocol</a:t>
            </a:r>
          </a:p>
          <a:p>
            <a:r>
              <a:rPr lang="en-US" dirty="0"/>
              <a:t>For any task estimated &gt;1 hour of implementation, you must first produce:</a:t>
            </a:r>
          </a:p>
          <a:p>
            <a:pPr marL="342900" indent="-342900">
              <a:lnSpc>
                <a:spcPct val="150000"/>
              </a:lnSpc>
              <a:buAutoNum type="arabicPeriod"/>
            </a:pPr>
            <a:r>
              <a:rPr lang="en-US" dirty="0"/>
              <a:t>**ADR** — Context, Decision, Alternatives Rejected, Consequences</a:t>
            </a:r>
          </a:p>
          <a:p>
            <a:pPr marL="342900" indent="-342900">
              <a:lnSpc>
                <a:spcPct val="150000"/>
              </a:lnSpc>
              <a:buAutoNum type="arabicPeriod"/>
            </a:pPr>
            <a:r>
              <a:rPr lang="en-US" dirty="0"/>
              <a:t>**Dependency Audit** — Every external lib, service, env var needed</a:t>
            </a:r>
          </a:p>
          <a:p>
            <a:pPr marL="342900" indent="-342900">
              <a:lnSpc>
                <a:spcPct val="150000"/>
              </a:lnSpc>
              <a:buAutoNum type="arabicPeriod"/>
            </a:pPr>
            <a:r>
              <a:rPr lang="en-US" dirty="0"/>
              <a:t>**Scope Lock** — Explicit "will not do" list</a:t>
            </a:r>
          </a:p>
          <a:p>
            <a:pPr marL="342900" indent="-342900">
              <a:lnSpc>
                <a:spcPct val="150000"/>
              </a:lnSpc>
              <a:buAutoNum type="arabicPeriod"/>
            </a:pPr>
            <a:r>
              <a:rPr lang="en-US" dirty="0"/>
              <a:t>**Complexity Score** — 1–10 with justification; propose simpler if &gt;6</a:t>
            </a:r>
          </a:p>
          <a:p>
            <a:pPr marL="342900" indent="-342900">
              <a:lnSpc>
                <a:spcPct val="150000"/>
              </a:lnSpc>
              <a:buAutoNum type="arabicPeriod"/>
            </a:pPr>
            <a:r>
              <a:rPr lang="en-US" dirty="0"/>
              <a:t>**Milestone Plan** — Ordered steps, each producing testable output</a:t>
            </a:r>
          </a:p>
          <a:p>
            <a:pPr marL="342900" indent="-342900">
              <a:lnSpc>
                <a:spcPct val="150000"/>
              </a:lnSpc>
              <a:buAutoNum type="arabicPeriod"/>
            </a:pPr>
            <a:r>
              <a:rPr lang="en-US" dirty="0"/>
              <a:t>**Failure Modes** — Top 3 ways this fails in production</a:t>
            </a:r>
          </a:p>
          <a:p>
            <a:pPr marL="342900" indent="-342900">
              <a:lnSpc>
                <a:spcPct val="150000"/>
              </a:lnSpc>
              <a:buAutoNum type="arabicPeriod"/>
            </a:pPr>
            <a:r>
              <a:rPr lang="en-US" dirty="0"/>
              <a:t>**Self-Critique** — Strongest argument against your own plan</a:t>
            </a:r>
          </a:p>
          <a:p>
            <a:endParaRPr lang="en-US" dirty="0"/>
          </a:p>
          <a:p>
            <a:r>
              <a:rPr lang="en-US" dirty="0"/>
              <a:t>Do not write implementation code until the user responds "approved" or "approved with changes: [...]"</a:t>
            </a:r>
          </a:p>
        </p:txBody>
      </p:sp>
    </p:spTree>
    <p:extLst>
      <p:ext uri="{BB962C8B-B14F-4D97-AF65-F5344CB8AC3E}">
        <p14:creationId xmlns:p14="http://schemas.microsoft.com/office/powerpoint/2010/main" val="27108671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F064D-49D7-1F5F-729C-54ADDDF5A5E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BC04A5-E6FB-47CC-62A7-3FFDC5746E40}"/>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46B8DBD-0382-3A4E-184D-B6772B01FEA4}"/>
              </a:ext>
            </a:extLst>
          </p:cNvPr>
          <p:cNvSpPr txBox="1"/>
          <p:nvPr/>
        </p:nvSpPr>
        <p:spPr>
          <a:xfrm>
            <a:off x="73572" y="15030"/>
            <a:ext cx="6532494" cy="400110"/>
          </a:xfrm>
          <a:prstGeom prst="rect">
            <a:avLst/>
          </a:prstGeom>
          <a:noFill/>
        </p:spPr>
        <p:txBody>
          <a:bodyPr wrap="none" rtlCol="0">
            <a:spAutoFit/>
          </a:bodyPr>
          <a:lstStyle/>
          <a:p>
            <a:r>
              <a:rPr lang="en-US" sz="2000" b="1" dirty="0">
                <a:solidFill>
                  <a:srgbClr val="7030A0"/>
                </a:solidFill>
              </a:rPr>
              <a:t>Agentic Development Workflow – Example with Claude.md </a:t>
            </a:r>
          </a:p>
        </p:txBody>
      </p:sp>
      <p:sp>
        <p:nvSpPr>
          <p:cNvPr id="5" name="TextBox 4">
            <a:extLst>
              <a:ext uri="{FF2B5EF4-FFF2-40B4-BE49-F238E27FC236}">
                <a16:creationId xmlns:a16="http://schemas.microsoft.com/office/drawing/2014/main" id="{7516C789-26D8-AC65-25F8-38719EED51AF}"/>
              </a:ext>
            </a:extLst>
          </p:cNvPr>
          <p:cNvSpPr txBox="1"/>
          <p:nvPr/>
        </p:nvSpPr>
        <p:spPr>
          <a:xfrm>
            <a:off x="599440" y="764739"/>
            <a:ext cx="11287760" cy="4385816"/>
          </a:xfrm>
          <a:prstGeom prst="rect">
            <a:avLst/>
          </a:prstGeom>
          <a:noFill/>
        </p:spPr>
        <p:txBody>
          <a:bodyPr wrap="square">
            <a:spAutoFit/>
          </a:bodyPr>
          <a:lstStyle/>
          <a:p>
            <a:r>
              <a:rPr lang="en-US" dirty="0"/>
              <a:t>#Architecture Reviewer</a:t>
            </a:r>
          </a:p>
          <a:p>
            <a:endParaRPr lang="en-US" dirty="0"/>
          </a:p>
          <a:p>
            <a:r>
              <a:rPr lang="en-US" dirty="0"/>
              <a:t>You are a skeptical senior architect reviewing plans produced by another AI.</a:t>
            </a:r>
          </a:p>
          <a:p>
            <a:r>
              <a:rPr lang="en-US" dirty="0"/>
              <a:t>Your job is to find flaws, not validate.</a:t>
            </a:r>
          </a:p>
          <a:p>
            <a:endParaRPr lang="en-US" dirty="0"/>
          </a:p>
          <a:p>
            <a:r>
              <a:rPr lang="en-US" dirty="0"/>
              <a:t>For every plan submitted:</a:t>
            </a:r>
          </a:p>
          <a:p>
            <a:pPr marL="342900" indent="-342900">
              <a:lnSpc>
                <a:spcPct val="150000"/>
              </a:lnSpc>
              <a:buAutoNum type="arabicPeriod"/>
            </a:pPr>
            <a:r>
              <a:rPr lang="en-US" dirty="0"/>
              <a:t>Identify the three weakest assumptions</a:t>
            </a:r>
          </a:p>
          <a:p>
            <a:pPr marL="342900" indent="-342900">
              <a:lnSpc>
                <a:spcPct val="150000"/>
              </a:lnSpc>
              <a:buAutoNum type="arabicPeriod"/>
            </a:pPr>
            <a:r>
              <a:rPr lang="en-US" dirty="0"/>
              <a:t>Find the most likely scaling bottleneck</a:t>
            </a:r>
          </a:p>
          <a:p>
            <a:pPr marL="342900" indent="-342900">
              <a:lnSpc>
                <a:spcPct val="150000"/>
              </a:lnSpc>
              <a:buAutoNum type="arabicPeriod"/>
            </a:pPr>
            <a:r>
              <a:rPr lang="en-US" dirty="0"/>
              <a:t>Name what's missing from the failure mode analysis</a:t>
            </a:r>
          </a:p>
          <a:p>
            <a:pPr marL="342900" indent="-342900">
              <a:lnSpc>
                <a:spcPct val="150000"/>
              </a:lnSpc>
              <a:buAutoNum type="arabicPeriod"/>
            </a:pPr>
            <a:r>
              <a:rPr lang="en-US" dirty="0"/>
              <a:t>Challenge every "we'll add this later" deferral</a:t>
            </a:r>
          </a:p>
          <a:p>
            <a:pPr marL="342900" indent="-342900">
              <a:lnSpc>
                <a:spcPct val="150000"/>
              </a:lnSpc>
              <a:buAutoNum type="arabicPeriod"/>
            </a:pPr>
            <a:r>
              <a:rPr lang="en-US" dirty="0"/>
              <a:t>Score the plan's reversibility (what's hard to undo)</a:t>
            </a:r>
          </a:p>
          <a:p>
            <a:endParaRPr lang="en-US" dirty="0"/>
          </a:p>
          <a:p>
            <a:r>
              <a:rPr lang="en-US" dirty="0"/>
              <a:t>Do not suggest fixes — only surface problems. The submitting engineer decides what to do with each finding.</a:t>
            </a:r>
          </a:p>
        </p:txBody>
      </p:sp>
    </p:spTree>
    <p:extLst>
      <p:ext uri="{BB962C8B-B14F-4D97-AF65-F5344CB8AC3E}">
        <p14:creationId xmlns:p14="http://schemas.microsoft.com/office/powerpoint/2010/main" val="1227078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5612C-9F54-36FE-0B36-A0C4294AEA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2A53B9-B62E-E798-8AF2-EE4C99EAC843}"/>
              </a:ext>
            </a:extLst>
          </p:cNvPr>
          <p:cNvSpPr txBox="1"/>
          <p:nvPr/>
        </p:nvSpPr>
        <p:spPr>
          <a:xfrm>
            <a:off x="4665134" y="2209800"/>
            <a:ext cx="2314031" cy="646331"/>
          </a:xfrm>
          <a:prstGeom prst="rect">
            <a:avLst/>
          </a:prstGeom>
          <a:noFill/>
        </p:spPr>
        <p:txBody>
          <a:bodyPr wrap="none" rtlCol="0">
            <a:spAutoFit/>
          </a:bodyPr>
          <a:lstStyle/>
          <a:p>
            <a:r>
              <a:rPr lang="en-US" sz="3600" dirty="0"/>
              <a:t>Evaluations</a:t>
            </a:r>
          </a:p>
        </p:txBody>
      </p:sp>
    </p:spTree>
    <p:extLst>
      <p:ext uri="{BB962C8B-B14F-4D97-AF65-F5344CB8AC3E}">
        <p14:creationId xmlns:p14="http://schemas.microsoft.com/office/powerpoint/2010/main" val="3801425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DDA0A-7EAE-61BA-2EC7-A0BA6F2137C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81FF9ED-F9DF-6C44-7805-4E804F6CAEB4}"/>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4B4A5DE-CF59-38D4-996F-9A21A83ACBB0}"/>
              </a:ext>
            </a:extLst>
          </p:cNvPr>
          <p:cNvSpPr txBox="1"/>
          <p:nvPr/>
        </p:nvSpPr>
        <p:spPr>
          <a:xfrm>
            <a:off x="73572" y="15030"/>
            <a:ext cx="5474256"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Evaluations </a:t>
            </a:r>
          </a:p>
        </p:txBody>
      </p:sp>
      <p:sp>
        <p:nvSpPr>
          <p:cNvPr id="24" name="TextBox 23">
            <a:extLst>
              <a:ext uri="{FF2B5EF4-FFF2-40B4-BE49-F238E27FC236}">
                <a16:creationId xmlns:a16="http://schemas.microsoft.com/office/drawing/2014/main" id="{2F102B18-D457-D05F-0DEB-CA8750D8EA08}"/>
              </a:ext>
            </a:extLst>
          </p:cNvPr>
          <p:cNvSpPr txBox="1"/>
          <p:nvPr/>
        </p:nvSpPr>
        <p:spPr>
          <a:xfrm>
            <a:off x="262466" y="1134196"/>
            <a:ext cx="4864862" cy="3216265"/>
          </a:xfrm>
          <a:prstGeom prst="rect">
            <a:avLst/>
          </a:prstGeom>
          <a:noFill/>
        </p:spPr>
        <p:txBody>
          <a:bodyPr wrap="square">
            <a:spAutoFit/>
          </a:bodyPr>
          <a:lstStyle/>
          <a:p>
            <a:r>
              <a:rPr lang="en-US" sz="1400" dirty="0"/>
              <a:t>After AI Agent generates a story, immediately run below prompt:</a:t>
            </a:r>
          </a:p>
          <a:p>
            <a:endParaRPr lang="en-US" sz="1400" dirty="0"/>
          </a:p>
          <a:p>
            <a:r>
              <a:rPr lang="en-US" sz="1400" dirty="0"/>
              <a:t>Score this user story against these dimensions, 1-5 each:</a:t>
            </a:r>
          </a:p>
          <a:p>
            <a:pPr marL="285750" indent="-285750">
              <a:lnSpc>
                <a:spcPct val="150000"/>
              </a:lnSpc>
              <a:buFontTx/>
              <a:buChar char="-"/>
            </a:pPr>
            <a:r>
              <a:rPr lang="en-US" sz="1400" dirty="0"/>
              <a:t>Persona specificity</a:t>
            </a:r>
          </a:p>
          <a:p>
            <a:pPr marL="285750" indent="-285750">
              <a:lnSpc>
                <a:spcPct val="150000"/>
              </a:lnSpc>
              <a:buFontTx/>
              <a:buChar char="-"/>
            </a:pPr>
            <a:r>
              <a:rPr lang="en-US" sz="1400" dirty="0"/>
              <a:t>Outcome validity (does "so that" express real value)</a:t>
            </a:r>
          </a:p>
          <a:p>
            <a:pPr marL="285750" indent="-285750">
              <a:lnSpc>
                <a:spcPct val="150000"/>
              </a:lnSpc>
              <a:buFontTx/>
              <a:buChar char="-"/>
            </a:pPr>
            <a:r>
              <a:rPr lang="en-US" sz="1400" dirty="0"/>
              <a:t>Acceptance criteria testability</a:t>
            </a:r>
          </a:p>
          <a:p>
            <a:pPr marL="285750" indent="-285750">
              <a:lnSpc>
                <a:spcPct val="150000"/>
              </a:lnSpc>
              <a:buFontTx/>
              <a:buChar char="-"/>
            </a:pPr>
            <a:r>
              <a:rPr lang="en-US" sz="1400" dirty="0"/>
              <a:t>Edge case coverage</a:t>
            </a:r>
          </a:p>
          <a:p>
            <a:pPr marL="285750" indent="-285750">
              <a:lnSpc>
                <a:spcPct val="150000"/>
              </a:lnSpc>
              <a:buFontTx/>
              <a:buChar char="-"/>
            </a:pPr>
            <a:r>
              <a:rPr lang="en-US" sz="1400" dirty="0"/>
              <a:t>Scope clarity</a:t>
            </a:r>
          </a:p>
          <a:p>
            <a:pPr marL="285750" indent="-285750">
              <a:lnSpc>
                <a:spcPct val="150000"/>
              </a:lnSpc>
              <a:buFontTx/>
              <a:buChar char="-"/>
            </a:pPr>
            <a:r>
              <a:rPr lang="en-US" sz="1400" dirty="0"/>
              <a:t>Assumption transparency</a:t>
            </a:r>
          </a:p>
          <a:p>
            <a:pPr marL="285750" indent="-285750">
              <a:lnSpc>
                <a:spcPct val="150000"/>
              </a:lnSpc>
              <a:buFontTx/>
              <a:buChar char="-"/>
            </a:pPr>
            <a:r>
              <a:rPr lang="en-US" sz="1400" dirty="0"/>
              <a:t>Self-containment</a:t>
            </a:r>
          </a:p>
          <a:p>
            <a:r>
              <a:rPr lang="en-US" sz="1400" dirty="0"/>
              <a:t>For any dimension scoring below 4, rewrite that section.</a:t>
            </a:r>
          </a:p>
        </p:txBody>
      </p:sp>
      <p:sp>
        <p:nvSpPr>
          <p:cNvPr id="28" name="TextBox 27">
            <a:extLst>
              <a:ext uri="{FF2B5EF4-FFF2-40B4-BE49-F238E27FC236}">
                <a16:creationId xmlns:a16="http://schemas.microsoft.com/office/drawing/2014/main" id="{6D7E7344-A0F4-FD99-A3FE-0BB188BAFD88}"/>
              </a:ext>
            </a:extLst>
          </p:cNvPr>
          <p:cNvSpPr txBox="1"/>
          <p:nvPr/>
        </p:nvSpPr>
        <p:spPr>
          <a:xfrm>
            <a:off x="5613400" y="1134196"/>
            <a:ext cx="6451599" cy="3213637"/>
          </a:xfrm>
          <a:prstGeom prst="rect">
            <a:avLst/>
          </a:prstGeom>
          <a:noFill/>
        </p:spPr>
        <p:txBody>
          <a:bodyPr wrap="square">
            <a:spAutoFit/>
          </a:bodyPr>
          <a:lstStyle/>
          <a:p>
            <a:r>
              <a:rPr lang="en-US" sz="1600" b="1" dirty="0"/>
              <a:t>Red flags that indicate AI-generated story failure</a:t>
            </a:r>
          </a:p>
          <a:p>
            <a:pPr marL="285750" indent="-285750">
              <a:lnSpc>
                <a:spcPct val="150000"/>
              </a:lnSpc>
              <a:buFont typeface="Arial" panose="020B0604020202020204" pitchFamily="34" charset="0"/>
              <a:buChar char="•"/>
            </a:pPr>
            <a:r>
              <a:rPr lang="en-US" sz="1400" dirty="0"/>
              <a:t>Acceptance criteria starting with "The system should..." — system language, not user language</a:t>
            </a:r>
          </a:p>
          <a:p>
            <a:pPr marL="285750" indent="-285750">
              <a:lnSpc>
                <a:spcPct val="150000"/>
              </a:lnSpc>
              <a:buFont typeface="Arial" panose="020B0604020202020204" pitchFamily="34" charset="0"/>
              <a:buChar char="•"/>
            </a:pPr>
            <a:r>
              <a:rPr lang="en-US" sz="1400" dirty="0"/>
              <a:t>"So that the user can use the feature" — circular, no real value statement</a:t>
            </a:r>
          </a:p>
          <a:p>
            <a:pPr marL="285750" indent="-285750">
              <a:lnSpc>
                <a:spcPct val="150000"/>
              </a:lnSpc>
              <a:buFont typeface="Arial" panose="020B0604020202020204" pitchFamily="34" charset="0"/>
              <a:buChar char="•"/>
            </a:pPr>
            <a:r>
              <a:rPr lang="en-US" sz="1400" dirty="0"/>
              <a:t>Acceptance criteria with words like "appropriate", "correctly", "properly", "good" — untestable</a:t>
            </a:r>
          </a:p>
          <a:p>
            <a:pPr marL="285750" indent="-285750">
              <a:lnSpc>
                <a:spcPct val="150000"/>
              </a:lnSpc>
              <a:buFont typeface="Arial" panose="020B0604020202020204" pitchFamily="34" charset="0"/>
              <a:buChar char="•"/>
            </a:pPr>
            <a:r>
              <a:rPr lang="en-US" sz="1400" dirty="0"/>
              <a:t>No error states — AI almost always skips these</a:t>
            </a:r>
          </a:p>
          <a:p>
            <a:pPr marL="285750" indent="-285750">
              <a:lnSpc>
                <a:spcPct val="150000"/>
              </a:lnSpc>
              <a:buFont typeface="Arial" panose="020B0604020202020204" pitchFamily="34" charset="0"/>
              <a:buChar char="•"/>
            </a:pPr>
            <a:r>
              <a:rPr lang="en-US" sz="1400" dirty="0"/>
              <a:t>Out-of-scope list missing or only one item — story boundary is undefined</a:t>
            </a:r>
          </a:p>
          <a:p>
            <a:pPr marL="285750" indent="-285750">
              <a:lnSpc>
                <a:spcPct val="150000"/>
              </a:lnSpc>
              <a:buFont typeface="Arial" panose="020B0604020202020204" pitchFamily="34" charset="0"/>
              <a:buChar char="•"/>
            </a:pPr>
            <a:r>
              <a:rPr lang="en-US" sz="1400" dirty="0"/>
              <a:t>All assumptions marked as verified — AI doesn't know what your team has actually validated</a:t>
            </a:r>
          </a:p>
        </p:txBody>
      </p:sp>
      <p:sp>
        <p:nvSpPr>
          <p:cNvPr id="32" name="TextBox 31">
            <a:extLst>
              <a:ext uri="{FF2B5EF4-FFF2-40B4-BE49-F238E27FC236}">
                <a16:creationId xmlns:a16="http://schemas.microsoft.com/office/drawing/2014/main" id="{428CC782-1F78-4CC8-031D-310468F9B8E6}"/>
              </a:ext>
            </a:extLst>
          </p:cNvPr>
          <p:cNvSpPr txBox="1"/>
          <p:nvPr/>
        </p:nvSpPr>
        <p:spPr>
          <a:xfrm>
            <a:off x="262466" y="590002"/>
            <a:ext cx="6096000" cy="369332"/>
          </a:xfrm>
          <a:prstGeom prst="rect">
            <a:avLst/>
          </a:prstGeom>
          <a:noFill/>
        </p:spPr>
        <p:txBody>
          <a:bodyPr wrap="square">
            <a:spAutoFit/>
          </a:bodyPr>
          <a:lstStyle/>
          <a:p>
            <a:r>
              <a:rPr lang="en-US" dirty="0"/>
              <a:t>Prompt to self-evaluate AI –Generated User Stories</a:t>
            </a:r>
          </a:p>
        </p:txBody>
      </p:sp>
    </p:spTree>
    <p:extLst>
      <p:ext uri="{BB962C8B-B14F-4D97-AF65-F5344CB8AC3E}">
        <p14:creationId xmlns:p14="http://schemas.microsoft.com/office/powerpoint/2010/main" val="32351522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11588-2957-9540-3773-F4099F66A3B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C2380F4-E09B-9DF2-6FC0-51A3BAA83137}"/>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4AC92A5-FFC3-F8A3-C2FD-A140004640D1}"/>
              </a:ext>
            </a:extLst>
          </p:cNvPr>
          <p:cNvSpPr txBox="1"/>
          <p:nvPr/>
        </p:nvSpPr>
        <p:spPr>
          <a:xfrm>
            <a:off x="73572" y="15030"/>
            <a:ext cx="5474256"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Evaluations </a:t>
            </a:r>
          </a:p>
        </p:txBody>
      </p:sp>
      <p:sp>
        <p:nvSpPr>
          <p:cNvPr id="24" name="TextBox 23">
            <a:extLst>
              <a:ext uri="{FF2B5EF4-FFF2-40B4-BE49-F238E27FC236}">
                <a16:creationId xmlns:a16="http://schemas.microsoft.com/office/drawing/2014/main" id="{012735A3-8C23-143C-A4DC-77D070BCD7F0}"/>
              </a:ext>
            </a:extLst>
          </p:cNvPr>
          <p:cNvSpPr txBox="1"/>
          <p:nvPr/>
        </p:nvSpPr>
        <p:spPr>
          <a:xfrm>
            <a:off x="1756287" y="1731724"/>
            <a:ext cx="9618134" cy="3970318"/>
          </a:xfrm>
          <a:prstGeom prst="rect">
            <a:avLst/>
          </a:prstGeom>
          <a:noFill/>
        </p:spPr>
        <p:txBody>
          <a:bodyPr wrap="square">
            <a:spAutoFit/>
          </a:bodyPr>
          <a:lstStyle/>
          <a:p>
            <a:r>
              <a:rPr lang="en-US" dirty="0"/>
              <a:t>After AI Agent generates code, immediately run below prompt:</a:t>
            </a:r>
          </a:p>
          <a:p>
            <a:endParaRPr lang="en-US" dirty="0"/>
          </a:p>
          <a:p>
            <a:r>
              <a:rPr lang="en-US" dirty="0"/>
              <a:t>Review the code you just produced against these dimensions: </a:t>
            </a:r>
          </a:p>
          <a:p>
            <a:pPr marL="342900" indent="-342900">
              <a:lnSpc>
                <a:spcPct val="150000"/>
              </a:lnSpc>
              <a:buAutoNum type="arabicPeriod"/>
            </a:pPr>
            <a:r>
              <a:rPr lang="en-US" dirty="0"/>
              <a:t>Correctness — identify any edge cases not handled</a:t>
            </a:r>
          </a:p>
          <a:p>
            <a:pPr marL="342900" indent="-342900">
              <a:lnSpc>
                <a:spcPct val="150000"/>
              </a:lnSpc>
              <a:buAutoNum type="arabicPeriod"/>
            </a:pPr>
            <a:r>
              <a:rPr lang="en-US" dirty="0"/>
              <a:t>Security — flag any input validation or auth concerns</a:t>
            </a:r>
          </a:p>
          <a:p>
            <a:pPr marL="342900" indent="-342900">
              <a:lnSpc>
                <a:spcPct val="150000"/>
              </a:lnSpc>
              <a:buAutoNum type="arabicPeriod"/>
            </a:pPr>
            <a:r>
              <a:rPr lang="en-US" dirty="0"/>
              <a:t>Codebase fit — what doesn't match our existing patterns</a:t>
            </a:r>
          </a:p>
          <a:p>
            <a:pPr marL="342900" indent="-342900">
              <a:lnSpc>
                <a:spcPct val="150000"/>
              </a:lnSpc>
              <a:buAutoNum type="arabicPeriod"/>
            </a:pPr>
            <a:r>
              <a:rPr lang="en-US" dirty="0"/>
              <a:t>Hallucination check — are all libraries and APIs real and current?</a:t>
            </a:r>
          </a:p>
          <a:p>
            <a:pPr marL="342900" indent="-342900">
              <a:lnSpc>
                <a:spcPct val="150000"/>
              </a:lnSpc>
              <a:buAutoNum type="arabicPeriod"/>
            </a:pPr>
            <a:r>
              <a:rPr lang="en-US" dirty="0"/>
              <a:t>Testability — what would be hard to unit test and why</a:t>
            </a:r>
          </a:p>
          <a:p>
            <a:pPr marL="342900" indent="-342900">
              <a:lnSpc>
                <a:spcPct val="150000"/>
              </a:lnSpc>
              <a:buAutoNum type="arabicPeriod"/>
            </a:pPr>
            <a:r>
              <a:rPr lang="en-US" dirty="0"/>
              <a:t>Performance — identify any operations that won't scale</a:t>
            </a:r>
          </a:p>
          <a:p>
            <a:endParaRPr lang="en-US" dirty="0"/>
          </a:p>
          <a:p>
            <a:r>
              <a:rPr lang="en-US" dirty="0"/>
              <a:t>Score each 1-5. Rewrite any section scoring below 4.</a:t>
            </a:r>
          </a:p>
        </p:txBody>
      </p:sp>
      <p:sp>
        <p:nvSpPr>
          <p:cNvPr id="32" name="TextBox 31">
            <a:extLst>
              <a:ext uri="{FF2B5EF4-FFF2-40B4-BE49-F238E27FC236}">
                <a16:creationId xmlns:a16="http://schemas.microsoft.com/office/drawing/2014/main" id="{6F3A9905-DFA8-96CC-9FAE-981FF6B5B8EF}"/>
              </a:ext>
            </a:extLst>
          </p:cNvPr>
          <p:cNvSpPr txBox="1"/>
          <p:nvPr/>
        </p:nvSpPr>
        <p:spPr>
          <a:xfrm>
            <a:off x="262466" y="590002"/>
            <a:ext cx="6096000" cy="400110"/>
          </a:xfrm>
          <a:prstGeom prst="rect">
            <a:avLst/>
          </a:prstGeom>
          <a:noFill/>
        </p:spPr>
        <p:txBody>
          <a:bodyPr wrap="square">
            <a:spAutoFit/>
          </a:bodyPr>
          <a:lstStyle/>
          <a:p>
            <a:r>
              <a:rPr lang="en-US" sz="2000" b="1" dirty="0"/>
              <a:t>Prompt to self-evaluate generated code</a:t>
            </a:r>
          </a:p>
        </p:txBody>
      </p:sp>
    </p:spTree>
    <p:extLst>
      <p:ext uri="{BB962C8B-B14F-4D97-AF65-F5344CB8AC3E}">
        <p14:creationId xmlns:p14="http://schemas.microsoft.com/office/powerpoint/2010/main" val="357509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41C9-E6EA-8952-E3C7-9D4DCF19682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7655609-1AC6-E377-1345-4231686CD9B2}"/>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5E83411-1A6D-80D7-6501-DAFA8F983EAC}"/>
              </a:ext>
            </a:extLst>
          </p:cNvPr>
          <p:cNvSpPr txBox="1"/>
          <p:nvPr/>
        </p:nvSpPr>
        <p:spPr>
          <a:xfrm>
            <a:off x="73572" y="15030"/>
            <a:ext cx="5472460"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Code graph </a:t>
            </a:r>
          </a:p>
        </p:txBody>
      </p:sp>
      <p:sp>
        <p:nvSpPr>
          <p:cNvPr id="3" name="TextBox 2">
            <a:extLst>
              <a:ext uri="{FF2B5EF4-FFF2-40B4-BE49-F238E27FC236}">
                <a16:creationId xmlns:a16="http://schemas.microsoft.com/office/drawing/2014/main" id="{D8719721-0AD1-91C1-FF07-DCB6BC412801}"/>
              </a:ext>
            </a:extLst>
          </p:cNvPr>
          <p:cNvSpPr txBox="1"/>
          <p:nvPr/>
        </p:nvSpPr>
        <p:spPr>
          <a:xfrm>
            <a:off x="196297" y="590160"/>
            <a:ext cx="7138781" cy="6001643"/>
          </a:xfrm>
          <a:prstGeom prst="rect">
            <a:avLst/>
          </a:prstGeom>
          <a:noFill/>
        </p:spPr>
        <p:txBody>
          <a:bodyPr wrap="square">
            <a:spAutoFit/>
          </a:bodyPr>
          <a:lstStyle/>
          <a:p>
            <a:r>
              <a:rPr lang="en-US" sz="1200" dirty="0"/>
              <a:t>Analyze this C# project and create a comprehensive code dependency map. Do the following: </a:t>
            </a:r>
          </a:p>
          <a:p>
            <a:pPr marL="228600" indent="-228600">
              <a:buAutoNum type="arabicPeriod"/>
            </a:pPr>
            <a:r>
              <a:rPr lang="en-US" sz="1200" dirty="0"/>
              <a:t>**Scan the solution structure** </a:t>
            </a:r>
          </a:p>
          <a:p>
            <a:r>
              <a:rPr lang="en-US" sz="1200" dirty="0"/>
              <a:t>	- Find all .</a:t>
            </a:r>
            <a:r>
              <a:rPr lang="en-US" sz="1200" dirty="0" err="1"/>
              <a:t>csproj</a:t>
            </a:r>
            <a:r>
              <a:rPr lang="en-US" sz="1200" dirty="0"/>
              <a:t> files and their references to each other </a:t>
            </a:r>
          </a:p>
          <a:p>
            <a:r>
              <a:rPr lang="en-US" sz="1200" dirty="0"/>
              <a:t>	- Identify NuGet package dependencies from .</a:t>
            </a:r>
            <a:r>
              <a:rPr lang="en-US" sz="1200" dirty="0" err="1"/>
              <a:t>csproj</a:t>
            </a:r>
            <a:r>
              <a:rPr lang="en-US" sz="1200" dirty="0"/>
              <a:t> and </a:t>
            </a:r>
            <a:r>
              <a:rPr lang="en-US" sz="1200" dirty="0" err="1"/>
              <a:t>packages.config</a:t>
            </a:r>
            <a:r>
              <a:rPr lang="en-US" sz="1200" dirty="0"/>
              <a:t> files </a:t>
            </a:r>
          </a:p>
          <a:p>
            <a:r>
              <a:rPr lang="en-US" sz="1200" dirty="0"/>
              <a:t>	- Map the namespace hierarchy across all projects </a:t>
            </a:r>
          </a:p>
          <a:p>
            <a:r>
              <a:rPr lang="en-US" sz="1200" dirty="0"/>
              <a:t>2. **Build a class-level dependency graph** </a:t>
            </a:r>
          </a:p>
          <a:p>
            <a:r>
              <a:rPr lang="en-US" sz="1200" dirty="0"/>
              <a:t>	- For each class, identify: what it inherits from, what interfaces it implements, what it injects via constructor (DI), and what it directly instantiates</a:t>
            </a:r>
          </a:p>
          <a:p>
            <a:r>
              <a:rPr lang="en-US" sz="1200" dirty="0"/>
              <a:t>	- Flag circular dependencies if found </a:t>
            </a:r>
          </a:p>
          <a:p>
            <a:r>
              <a:rPr lang="en-US" sz="1200" dirty="0"/>
              <a:t>3. **Identify key architectural layers** </a:t>
            </a:r>
          </a:p>
          <a:p>
            <a:r>
              <a:rPr lang="en-US" sz="1200" dirty="0"/>
              <a:t>	- Group classes by layer (Controller / Service / Repository / Domain / Infrastructure / etc.) </a:t>
            </a:r>
          </a:p>
          <a:p>
            <a:r>
              <a:rPr lang="en-US" sz="1200" dirty="0"/>
              <a:t>	- Identify cross-layer violations (e.g., a Repository directly called from a Controller) </a:t>
            </a:r>
          </a:p>
          <a:p>
            <a:r>
              <a:rPr lang="en-US" sz="1200" dirty="0"/>
              <a:t>4. **Map entry points and critical paths** </a:t>
            </a:r>
          </a:p>
          <a:p>
            <a:r>
              <a:rPr lang="en-US" sz="1200" dirty="0"/>
              <a:t>	- Find all API controllers and their action methods </a:t>
            </a:r>
          </a:p>
          <a:p>
            <a:r>
              <a:rPr lang="en-US" sz="1200" dirty="0"/>
              <a:t>	- Trace the call chain for the 3 most complex endpoints (most dependencies touched) </a:t>
            </a:r>
          </a:p>
          <a:p>
            <a:r>
              <a:rPr lang="en-US" sz="1200" dirty="0"/>
              <a:t>	- Identify background jobs, hosted services, or event handlers </a:t>
            </a:r>
          </a:p>
          <a:p>
            <a:r>
              <a:rPr lang="en-US" sz="1200" dirty="0"/>
              <a:t>5. **Output the results as two files:** </a:t>
            </a:r>
          </a:p>
          <a:p>
            <a:r>
              <a:rPr lang="en-US" sz="1200" dirty="0"/>
              <a:t>	A) `</a:t>
            </a:r>
            <a:r>
              <a:rPr lang="en-US" sz="1200" dirty="0">
                <a:solidFill>
                  <a:schemeClr val="accent2">
                    <a:lumMod val="75000"/>
                  </a:schemeClr>
                </a:solidFill>
              </a:rPr>
              <a:t>&lt;project root&gt;</a:t>
            </a:r>
            <a:r>
              <a:rPr lang="en-US" sz="1200" dirty="0"/>
              <a:t>/architecture.md` —  human-readable dependency map: </a:t>
            </a:r>
          </a:p>
          <a:p>
            <a:r>
              <a:rPr lang="en-US" sz="1200" dirty="0"/>
              <a:t>		- Solution structure diagram (text-based) </a:t>
            </a:r>
          </a:p>
          <a:p>
            <a:r>
              <a:rPr lang="en-US" sz="1200" dirty="0"/>
              <a:t>		- Layer diagram showing how projects relate </a:t>
            </a:r>
          </a:p>
          <a:p>
            <a:r>
              <a:rPr lang="en-US" sz="1200" dirty="0"/>
              <a:t>		- Top 10 most-depended-upon classes (highest fan-in) </a:t>
            </a:r>
          </a:p>
          <a:p>
            <a:r>
              <a:rPr lang="en-US" sz="1200" dirty="0"/>
              <a:t>		- Top 10 classes with most dependencies (highest fan-out) </a:t>
            </a:r>
          </a:p>
          <a:p>
            <a:r>
              <a:rPr lang="en-US" sz="1200" dirty="0"/>
              <a:t>		- Critical call chains in plain text flow format 	</a:t>
            </a:r>
          </a:p>
          <a:p>
            <a:r>
              <a:rPr lang="en-US" sz="1200" dirty="0"/>
              <a:t>	B) `</a:t>
            </a:r>
            <a:r>
              <a:rPr lang="en-US" sz="1200" dirty="0">
                <a:solidFill>
                  <a:schemeClr val="accent2">
                    <a:lumMod val="75000"/>
                  </a:schemeClr>
                </a:solidFill>
              </a:rPr>
              <a:t>&lt;project root&gt;</a:t>
            </a:r>
            <a:r>
              <a:rPr lang="en-US" sz="1200" dirty="0"/>
              <a:t>/CLAUDE.md` — optimized for future Claude Code sessions: </a:t>
            </a:r>
          </a:p>
          <a:p>
            <a:r>
              <a:rPr lang="en-US" sz="1200" dirty="0"/>
              <a:t>		- 3-5 sentence project summary </a:t>
            </a:r>
          </a:p>
          <a:p>
            <a:r>
              <a:rPr lang="en-US" sz="1200" dirty="0"/>
              <a:t>		- Directory map with one-line purpose per folder </a:t>
            </a:r>
          </a:p>
          <a:p>
            <a:r>
              <a:rPr lang="en-US" sz="1200" dirty="0"/>
              <a:t>		- Key entry points with file paths </a:t>
            </a:r>
          </a:p>
          <a:p>
            <a:r>
              <a:rPr lang="en-US" sz="1200" dirty="0"/>
              <a:t>		- Core conventions (naming, patterns, DI style, error handling) </a:t>
            </a:r>
          </a:p>
          <a:p>
            <a:r>
              <a:rPr lang="en-US" sz="1200" dirty="0"/>
              <a:t>		- What to NEVER do (gotchas, anti-patterns found in the codebase) </a:t>
            </a:r>
          </a:p>
          <a:p>
            <a:r>
              <a:rPr lang="en-US" sz="1200" dirty="0"/>
              <a:t>		- Pointer to architecture.md for the full graph </a:t>
            </a:r>
          </a:p>
          <a:p>
            <a:r>
              <a:rPr lang="en-US" sz="1200" dirty="0"/>
              <a:t>Focus on accuracy over completeness. If a file is ambiguous, note it rather than guess. </a:t>
            </a:r>
          </a:p>
          <a:p>
            <a:r>
              <a:rPr lang="en-US" sz="1200" dirty="0"/>
              <a:t>Do not read test projects deeply — just note they exist and what they cover.</a:t>
            </a:r>
          </a:p>
        </p:txBody>
      </p:sp>
    </p:spTree>
    <p:extLst>
      <p:ext uri="{BB962C8B-B14F-4D97-AF65-F5344CB8AC3E}">
        <p14:creationId xmlns:p14="http://schemas.microsoft.com/office/powerpoint/2010/main" val="2774176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9EDA9-A8C5-2672-E2EE-91138466C09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AE2E499-2643-2BAC-2460-ED795DFB4E27}"/>
              </a:ext>
            </a:extLst>
          </p:cNvPr>
          <p:cNvSpPr/>
          <p:nvPr/>
        </p:nvSpPr>
        <p:spPr>
          <a:xfrm>
            <a:off x="0" y="-3258"/>
            <a:ext cx="12192000" cy="3993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204E5D5-BD7E-73F5-5BA0-40140B26EC24}"/>
              </a:ext>
            </a:extLst>
          </p:cNvPr>
          <p:cNvSpPr txBox="1"/>
          <p:nvPr/>
        </p:nvSpPr>
        <p:spPr>
          <a:xfrm>
            <a:off x="73572" y="15030"/>
            <a:ext cx="5741252" cy="400110"/>
          </a:xfrm>
          <a:prstGeom prst="rect">
            <a:avLst/>
          </a:prstGeom>
          <a:noFill/>
        </p:spPr>
        <p:txBody>
          <a:bodyPr wrap="none" rtlCol="0">
            <a:spAutoFit/>
          </a:bodyPr>
          <a:lstStyle/>
          <a:p>
            <a:r>
              <a:rPr lang="en-US" sz="2000" b="1" dirty="0">
                <a:solidFill>
                  <a:schemeClr val="tx1">
                    <a:lumMod val="65000"/>
                    <a:lumOff val="35000"/>
                  </a:schemeClr>
                </a:solidFill>
              </a:rPr>
              <a:t>Agentic Development Workflow – .</a:t>
            </a:r>
            <a:r>
              <a:rPr lang="en-US" sz="2000" b="1" dirty="0" err="1">
                <a:solidFill>
                  <a:schemeClr val="tx1">
                    <a:lumMod val="65000"/>
                    <a:lumOff val="35000"/>
                  </a:schemeClr>
                </a:solidFill>
              </a:rPr>
              <a:t>claudeignore</a:t>
            </a:r>
            <a:r>
              <a:rPr lang="en-US" sz="2000" b="1" dirty="0">
                <a:solidFill>
                  <a:schemeClr val="tx1">
                    <a:lumMod val="65000"/>
                    <a:lumOff val="35000"/>
                  </a:schemeClr>
                </a:solidFill>
              </a:rPr>
              <a:t> </a:t>
            </a:r>
          </a:p>
        </p:txBody>
      </p:sp>
      <p:sp>
        <p:nvSpPr>
          <p:cNvPr id="8" name="TextBox 7">
            <a:extLst>
              <a:ext uri="{FF2B5EF4-FFF2-40B4-BE49-F238E27FC236}">
                <a16:creationId xmlns:a16="http://schemas.microsoft.com/office/drawing/2014/main" id="{FC7641AD-ED65-DDE4-694C-BFB1412E0139}"/>
              </a:ext>
            </a:extLst>
          </p:cNvPr>
          <p:cNvSpPr txBox="1"/>
          <p:nvPr/>
        </p:nvSpPr>
        <p:spPr>
          <a:xfrm>
            <a:off x="163026" y="641281"/>
            <a:ext cx="7915004" cy="6073458"/>
          </a:xfrm>
          <a:prstGeom prst="rect">
            <a:avLst/>
          </a:prstGeom>
          <a:noFill/>
        </p:spPr>
        <p:txBody>
          <a:bodyPr wrap="square">
            <a:spAutoFit/>
          </a:bodyPr>
          <a:lstStyle/>
          <a:p>
            <a:pPr>
              <a:spcBef>
                <a:spcPts val="200"/>
              </a:spcBef>
              <a:spcAft>
                <a:spcPts val="200"/>
              </a:spcAft>
            </a:pPr>
            <a:r>
              <a:rPr lang="en-US" sz="1200" dirty="0"/>
              <a:t>Analyze this C# project and generate an optimized .</a:t>
            </a:r>
            <a:r>
              <a:rPr lang="en-US" sz="1200" dirty="0" err="1"/>
              <a:t>claudeignore</a:t>
            </a:r>
            <a:r>
              <a:rPr lang="en-US" sz="1200" dirty="0"/>
              <a:t> file. </a:t>
            </a:r>
          </a:p>
          <a:p>
            <a:pPr>
              <a:spcBef>
                <a:spcPts val="200"/>
              </a:spcBef>
              <a:spcAft>
                <a:spcPts val="200"/>
              </a:spcAft>
            </a:pPr>
            <a:r>
              <a:rPr lang="en-US" sz="1200" dirty="0"/>
              <a:t>Do the following: </a:t>
            </a:r>
          </a:p>
          <a:p>
            <a:pPr marL="228600" indent="-228600">
              <a:spcBef>
                <a:spcPts val="200"/>
              </a:spcBef>
              <a:spcAft>
                <a:spcPts val="200"/>
              </a:spcAft>
              <a:buAutoNum type="arabicPeriod"/>
            </a:pPr>
            <a:r>
              <a:rPr lang="en-US" sz="1200" dirty="0"/>
              <a:t>**Scan the project structure** and identify all files/folders that are: </a:t>
            </a:r>
          </a:p>
          <a:p>
            <a:pPr>
              <a:spcBef>
                <a:spcPts val="200"/>
              </a:spcBef>
              <a:spcAft>
                <a:spcPts val="200"/>
              </a:spcAft>
            </a:pPr>
            <a:r>
              <a:rPr lang="en-US" sz="1200" dirty="0"/>
              <a:t>	- Build outputs (bin/, obj/, </a:t>
            </a:r>
            <a:r>
              <a:rPr lang="en-US" sz="1200" dirty="0" err="1"/>
              <a:t>dist</a:t>
            </a:r>
            <a:r>
              <a:rPr lang="en-US" sz="1200" dirty="0"/>
              <a:t>/, out/, publish/) </a:t>
            </a:r>
          </a:p>
          <a:p>
            <a:pPr>
              <a:spcBef>
                <a:spcPts val="200"/>
              </a:spcBef>
              <a:spcAft>
                <a:spcPts val="200"/>
              </a:spcAft>
            </a:pPr>
            <a:r>
              <a:rPr lang="en-US" sz="1200" dirty="0"/>
              <a:t>	- Package caches (</a:t>
            </a:r>
            <a:r>
              <a:rPr lang="en-US" sz="1200" dirty="0" err="1"/>
              <a:t>node_modules</a:t>
            </a:r>
            <a:r>
              <a:rPr lang="en-US" sz="1200" dirty="0"/>
              <a:t>/, .</a:t>
            </a:r>
            <a:r>
              <a:rPr lang="en-US" sz="1200" dirty="0" err="1"/>
              <a:t>nuget</a:t>
            </a:r>
            <a:r>
              <a:rPr lang="en-US" sz="1200" dirty="0"/>
              <a:t>/, packages/) </a:t>
            </a:r>
          </a:p>
          <a:p>
            <a:pPr>
              <a:spcBef>
                <a:spcPts val="200"/>
              </a:spcBef>
              <a:spcAft>
                <a:spcPts val="200"/>
              </a:spcAft>
            </a:pPr>
            <a:r>
              <a:rPr lang="en-US" sz="1200" dirty="0"/>
              <a:t>	- Auto-generated code (*.</a:t>
            </a:r>
            <a:r>
              <a:rPr lang="en-US" sz="1200" dirty="0" err="1"/>
              <a:t>Designer.cs</a:t>
            </a:r>
            <a:r>
              <a:rPr lang="en-US" sz="1200" dirty="0"/>
              <a:t>, *.</a:t>
            </a:r>
            <a:r>
              <a:rPr lang="en-US" sz="1200" dirty="0" err="1"/>
              <a:t>g.cs</a:t>
            </a:r>
            <a:r>
              <a:rPr lang="en-US" sz="1200" dirty="0"/>
              <a:t>, *.</a:t>
            </a:r>
            <a:r>
              <a:rPr lang="en-US" sz="1200" dirty="0" err="1"/>
              <a:t>generated.cs</a:t>
            </a:r>
            <a:r>
              <a:rPr lang="en-US" sz="1200" dirty="0"/>
              <a:t>, **/Migrations/*.cs) </a:t>
            </a:r>
          </a:p>
          <a:p>
            <a:pPr>
              <a:spcBef>
                <a:spcPts val="200"/>
              </a:spcBef>
              <a:spcAft>
                <a:spcPts val="200"/>
              </a:spcAft>
            </a:pPr>
            <a:r>
              <a:rPr lang="en-US" sz="1200" dirty="0"/>
              <a:t>	- IDE and tooling metadata (.vs/, .idea/, .</a:t>
            </a:r>
            <a:r>
              <a:rPr lang="en-US" sz="1200" dirty="0" err="1"/>
              <a:t>vscode</a:t>
            </a:r>
            <a:r>
              <a:rPr lang="en-US" sz="1200" dirty="0"/>
              <a:t>/, *.user, *.</a:t>
            </a:r>
            <a:r>
              <a:rPr lang="en-US" sz="1200" dirty="0" err="1"/>
              <a:t>suo</a:t>
            </a:r>
            <a:r>
              <a:rPr lang="en-US" sz="1200" dirty="0"/>
              <a:t>) </a:t>
            </a:r>
          </a:p>
          <a:p>
            <a:pPr>
              <a:spcBef>
                <a:spcPts val="200"/>
              </a:spcBef>
              <a:spcAft>
                <a:spcPts val="200"/>
              </a:spcAft>
            </a:pPr>
            <a:r>
              <a:rPr lang="en-US" sz="1200" dirty="0"/>
              <a:t>	- Logs and temp files (*.log, *.</a:t>
            </a:r>
            <a:r>
              <a:rPr lang="en-US" sz="1200" dirty="0" err="1"/>
              <a:t>tmp</a:t>
            </a:r>
            <a:r>
              <a:rPr lang="en-US" sz="1200" dirty="0"/>
              <a:t>, </a:t>
            </a:r>
            <a:r>
              <a:rPr lang="en-US" sz="1200" dirty="0" err="1"/>
              <a:t>TestResults</a:t>
            </a:r>
            <a:r>
              <a:rPr lang="en-US" sz="1200" dirty="0"/>
              <a:t>/, coverage/) </a:t>
            </a:r>
          </a:p>
          <a:p>
            <a:pPr>
              <a:spcBef>
                <a:spcPts val="200"/>
              </a:spcBef>
              <a:spcAft>
                <a:spcPts val="200"/>
              </a:spcAft>
            </a:pPr>
            <a:r>
              <a:rPr lang="en-US" sz="1200" dirty="0"/>
              <a:t>	- Lock files (</a:t>
            </a:r>
            <a:r>
              <a:rPr lang="en-US" sz="1200" dirty="0" err="1"/>
              <a:t>packages.lock.json</a:t>
            </a:r>
            <a:r>
              <a:rPr lang="en-US" sz="1200" dirty="0"/>
              <a:t>, </a:t>
            </a:r>
            <a:r>
              <a:rPr lang="en-US" sz="1200" dirty="0" err="1"/>
              <a:t>yarn.lock</a:t>
            </a:r>
            <a:r>
              <a:rPr lang="en-US" sz="1200" dirty="0"/>
              <a:t>, package-</a:t>
            </a:r>
            <a:r>
              <a:rPr lang="en-US" sz="1200" dirty="0" err="1"/>
              <a:t>lock.json</a:t>
            </a:r>
            <a:r>
              <a:rPr lang="en-US" sz="1200" dirty="0"/>
              <a:t>) </a:t>
            </a:r>
          </a:p>
          <a:p>
            <a:pPr>
              <a:spcBef>
                <a:spcPts val="200"/>
              </a:spcBef>
              <a:spcAft>
                <a:spcPts val="200"/>
              </a:spcAft>
            </a:pPr>
            <a:r>
              <a:rPr lang="en-US" sz="1200" dirty="0"/>
              <a:t>	- Large binary or media assets (*.</a:t>
            </a:r>
            <a:r>
              <a:rPr lang="en-US" sz="1200" dirty="0" err="1"/>
              <a:t>png</a:t>
            </a:r>
            <a:r>
              <a:rPr lang="en-US" sz="1200" dirty="0"/>
              <a:t>, *.jpg, *.pdf, *.zip, *.exe, *.</a:t>
            </a:r>
            <a:r>
              <a:rPr lang="en-US" sz="1200" dirty="0" err="1"/>
              <a:t>dll</a:t>
            </a:r>
            <a:r>
              <a:rPr lang="en-US" sz="1200" dirty="0"/>
              <a:t>) </a:t>
            </a:r>
          </a:p>
          <a:p>
            <a:pPr>
              <a:spcBef>
                <a:spcPts val="200"/>
              </a:spcBef>
              <a:spcAft>
                <a:spcPts val="200"/>
              </a:spcAft>
            </a:pPr>
            <a:r>
              <a:rPr lang="en-US" sz="1200" dirty="0"/>
              <a:t>	- Environment and secrets files (.env, *.</a:t>
            </a:r>
            <a:r>
              <a:rPr lang="en-US" sz="1200" dirty="0" err="1"/>
              <a:t>pfx</a:t>
            </a:r>
            <a:r>
              <a:rPr lang="en-US" sz="1200" dirty="0"/>
              <a:t>, *.</a:t>
            </a:r>
            <a:r>
              <a:rPr lang="en-US" sz="1200" dirty="0" err="1"/>
              <a:t>pem</a:t>
            </a:r>
            <a:r>
              <a:rPr lang="en-US" sz="1200" dirty="0"/>
              <a:t>, </a:t>
            </a:r>
            <a:r>
              <a:rPr lang="en-US" sz="1200" dirty="0" err="1"/>
              <a:t>appsettings</a:t>
            </a:r>
            <a:r>
              <a:rPr lang="en-US" sz="1200" dirty="0"/>
              <a:t>.*.</a:t>
            </a:r>
            <a:r>
              <a:rPr lang="en-US" sz="1200" dirty="0" err="1"/>
              <a:t>json</a:t>
            </a:r>
            <a:r>
              <a:rPr lang="en-US" sz="1200" dirty="0"/>
              <a:t> EXCEPT </a:t>
            </a:r>
            <a:r>
              <a:rPr lang="en-US" sz="1200" dirty="0" err="1"/>
              <a:t>appsettings.json</a:t>
            </a:r>
            <a:r>
              <a:rPr lang="en-US" sz="1200" dirty="0"/>
              <a:t> and </a:t>
            </a:r>
            <a:r>
              <a:rPr lang="en-US" sz="1200" dirty="0" err="1"/>
              <a:t>appsettings.Development.json</a:t>
            </a:r>
            <a:r>
              <a:rPr lang="en-US" sz="1200" dirty="0"/>
              <a:t>) </a:t>
            </a:r>
          </a:p>
          <a:p>
            <a:pPr>
              <a:spcBef>
                <a:spcPts val="200"/>
              </a:spcBef>
              <a:spcAft>
                <a:spcPts val="200"/>
              </a:spcAft>
            </a:pPr>
            <a:r>
              <a:rPr lang="en-US" sz="1200" dirty="0"/>
              <a:t>	- CI/CD pipeline definitions (.</a:t>
            </a:r>
            <a:r>
              <a:rPr lang="en-US" sz="1200" dirty="0" err="1"/>
              <a:t>github</a:t>
            </a:r>
            <a:r>
              <a:rPr lang="en-US" sz="1200" dirty="0"/>
              <a:t>/, .</a:t>
            </a:r>
            <a:r>
              <a:rPr lang="en-US" sz="1200" dirty="0" err="1"/>
              <a:t>azuredevops</a:t>
            </a:r>
            <a:r>
              <a:rPr lang="en-US" sz="1200" dirty="0"/>
              <a:t>/, azure-</a:t>
            </a:r>
            <a:r>
              <a:rPr lang="en-US" sz="1200" dirty="0" err="1"/>
              <a:t>pipelines.yml</a:t>
            </a:r>
            <a:r>
              <a:rPr lang="en-US" sz="1200" dirty="0"/>
              <a:t>) unless they contain app logic worth knowing about </a:t>
            </a:r>
          </a:p>
          <a:p>
            <a:pPr>
              <a:spcBef>
                <a:spcPts val="200"/>
              </a:spcBef>
              <a:spcAft>
                <a:spcPts val="200"/>
              </a:spcAft>
            </a:pPr>
            <a:r>
              <a:rPr lang="en-US" sz="1200" dirty="0"/>
              <a:t>2. **Check what's already in .</a:t>
            </a:r>
            <a:r>
              <a:rPr lang="en-US" sz="1200" dirty="0" err="1"/>
              <a:t>gitignore</a:t>
            </a:r>
            <a:r>
              <a:rPr lang="en-US" sz="1200" dirty="0"/>
              <a:t>** — reuse anything relevant, since what Git ignores Claude usually should too </a:t>
            </a:r>
          </a:p>
          <a:p>
            <a:pPr>
              <a:spcBef>
                <a:spcPts val="200"/>
              </a:spcBef>
              <a:spcAft>
                <a:spcPts val="200"/>
              </a:spcAft>
            </a:pPr>
            <a:r>
              <a:rPr lang="en-US" sz="1200" dirty="0"/>
              <a:t>3. **Flag anything that should NOT be ignored**, even if commonly excluded: </a:t>
            </a:r>
          </a:p>
          <a:p>
            <a:pPr>
              <a:spcBef>
                <a:spcPts val="200"/>
              </a:spcBef>
              <a:spcAft>
                <a:spcPts val="200"/>
              </a:spcAft>
            </a:pPr>
            <a:r>
              <a:rPr lang="en-US" sz="1200" dirty="0"/>
              <a:t>	- Migrations/ if the project uses EF Core (schema history matters) </a:t>
            </a:r>
          </a:p>
          <a:p>
            <a:pPr>
              <a:spcBef>
                <a:spcPts val="200"/>
              </a:spcBef>
              <a:spcAft>
                <a:spcPts val="200"/>
              </a:spcAft>
            </a:pPr>
            <a:r>
              <a:rPr lang="en-US" sz="1200" dirty="0"/>
              <a:t>	- Any *.</a:t>
            </a:r>
            <a:r>
              <a:rPr lang="en-US" sz="1200" dirty="0" err="1"/>
              <a:t>generated.cs</a:t>
            </a:r>
            <a:r>
              <a:rPr lang="en-US" sz="1200" dirty="0"/>
              <a:t> files that contain domain logic (note them) </a:t>
            </a:r>
          </a:p>
          <a:p>
            <a:pPr>
              <a:spcBef>
                <a:spcPts val="200"/>
              </a:spcBef>
              <a:spcAft>
                <a:spcPts val="200"/>
              </a:spcAft>
            </a:pPr>
            <a:r>
              <a:rPr lang="en-US" sz="1200" dirty="0"/>
              <a:t>	- </a:t>
            </a:r>
            <a:r>
              <a:rPr lang="en-US" sz="1200" dirty="0" err="1"/>
              <a:t>appsettings.json</a:t>
            </a:r>
            <a:r>
              <a:rPr lang="en-US" sz="1200" dirty="0"/>
              <a:t> (Claude needs this for config structure) </a:t>
            </a:r>
          </a:p>
          <a:p>
            <a:pPr>
              <a:spcBef>
                <a:spcPts val="200"/>
              </a:spcBef>
              <a:spcAft>
                <a:spcPts val="200"/>
              </a:spcAft>
            </a:pPr>
            <a:r>
              <a:rPr lang="en-US" sz="1200" dirty="0"/>
              <a:t>4. **Write the .</a:t>
            </a:r>
            <a:r>
              <a:rPr lang="en-US" sz="1200" dirty="0" err="1"/>
              <a:t>claudeignore</a:t>
            </a:r>
            <a:r>
              <a:rPr lang="en-US" sz="1200" dirty="0"/>
              <a:t> file** to the project root with: </a:t>
            </a:r>
          </a:p>
          <a:p>
            <a:pPr>
              <a:spcBef>
                <a:spcPts val="200"/>
              </a:spcBef>
              <a:spcAft>
                <a:spcPts val="200"/>
              </a:spcAft>
            </a:pPr>
            <a:r>
              <a:rPr lang="en-US" sz="1200" dirty="0"/>
              <a:t>	- Grouped sections with comments (Build Artifacts, Dependencies, IDE Files, Test Output, Secrets, Media Assets) </a:t>
            </a:r>
          </a:p>
          <a:p>
            <a:pPr>
              <a:spcBef>
                <a:spcPts val="200"/>
              </a:spcBef>
              <a:spcAft>
                <a:spcPts val="200"/>
              </a:spcAft>
            </a:pPr>
            <a:r>
              <a:rPr lang="en-US" sz="1200" dirty="0"/>
              <a:t>	- A short header comment explaining when to update it </a:t>
            </a:r>
          </a:p>
          <a:p>
            <a:pPr>
              <a:spcBef>
                <a:spcPts val="200"/>
              </a:spcBef>
              <a:spcAft>
                <a:spcPts val="200"/>
              </a:spcAft>
            </a:pPr>
            <a:r>
              <a:rPr lang="en-US" sz="1200" dirty="0"/>
              <a:t>5. **Print a summary** of: </a:t>
            </a:r>
          </a:p>
          <a:p>
            <a:pPr>
              <a:spcBef>
                <a:spcPts val="200"/>
              </a:spcBef>
              <a:spcAft>
                <a:spcPts val="200"/>
              </a:spcAft>
            </a:pPr>
            <a:r>
              <a:rPr lang="en-US" sz="1200" dirty="0"/>
              <a:t>	- How many files/folders will be excluded 	</a:t>
            </a:r>
          </a:p>
          <a:p>
            <a:pPr>
              <a:spcBef>
                <a:spcPts val="200"/>
              </a:spcBef>
              <a:spcAft>
                <a:spcPts val="200"/>
              </a:spcAft>
            </a:pPr>
            <a:r>
              <a:rPr lang="en-US" sz="1200" dirty="0"/>
              <a:t>	- Any judgment calls made (things you chose to include or exclude that weren't obvious) </a:t>
            </a:r>
          </a:p>
          <a:p>
            <a:pPr>
              <a:spcBef>
                <a:spcPts val="200"/>
              </a:spcBef>
              <a:spcAft>
                <a:spcPts val="200"/>
              </a:spcAft>
            </a:pPr>
            <a:r>
              <a:rPr lang="en-US" sz="1200" dirty="0"/>
              <a:t>	- Any files flagged as "review manually before ignoring"</a:t>
            </a:r>
          </a:p>
        </p:txBody>
      </p:sp>
      <p:sp>
        <p:nvSpPr>
          <p:cNvPr id="6" name="TextBox 5">
            <a:extLst>
              <a:ext uri="{FF2B5EF4-FFF2-40B4-BE49-F238E27FC236}">
                <a16:creationId xmlns:a16="http://schemas.microsoft.com/office/drawing/2014/main" id="{F500260A-48AD-58A1-1F14-E478C4E67D43}"/>
              </a:ext>
            </a:extLst>
          </p:cNvPr>
          <p:cNvSpPr txBox="1"/>
          <p:nvPr/>
        </p:nvSpPr>
        <p:spPr>
          <a:xfrm>
            <a:off x="7903123" y="536214"/>
            <a:ext cx="4288877" cy="2250873"/>
          </a:xfrm>
          <a:prstGeom prst="rect">
            <a:avLst/>
          </a:prstGeom>
          <a:noFill/>
        </p:spPr>
        <p:txBody>
          <a:bodyPr wrap="square">
            <a:spAutoFit/>
          </a:bodyPr>
          <a:lstStyle/>
          <a:p>
            <a:r>
              <a:rPr lang="en-US" sz="1600" b="1" dirty="0"/>
              <a:t>Tips after generation:</a:t>
            </a:r>
          </a:p>
          <a:p>
            <a:pPr marL="171450" indent="-171450">
              <a:lnSpc>
                <a:spcPct val="150000"/>
              </a:lnSpc>
              <a:buFont typeface="Arial" panose="020B0604020202020204" pitchFamily="34" charset="0"/>
              <a:buChar char="•"/>
            </a:pPr>
            <a:r>
              <a:rPr lang="en-US" sz="1200" dirty="0"/>
              <a:t>Review Migrations/ — if you use Entity Framework, you usually want Claude to see migrations to understand schema evolution. Remove it from .</a:t>
            </a:r>
            <a:r>
              <a:rPr lang="en-US" sz="1200" dirty="0" err="1"/>
              <a:t>claudeignore</a:t>
            </a:r>
            <a:r>
              <a:rPr lang="en-US" sz="1200" dirty="0"/>
              <a:t> if present.</a:t>
            </a:r>
          </a:p>
          <a:p>
            <a:pPr marL="171450" indent="-171450">
              <a:lnSpc>
                <a:spcPct val="150000"/>
              </a:lnSpc>
              <a:buFont typeface="Arial" panose="020B0604020202020204" pitchFamily="34" charset="0"/>
              <a:buChar char="•"/>
            </a:pPr>
            <a:r>
              <a:rPr lang="en-US" sz="1200" dirty="0"/>
              <a:t>Keep </a:t>
            </a:r>
            <a:r>
              <a:rPr lang="en-US" sz="1200" dirty="0" err="1"/>
              <a:t>appsettings.json</a:t>
            </a:r>
            <a:r>
              <a:rPr lang="en-US" sz="1200" dirty="0"/>
              <a:t> visible so Claude understands your config structure (but ignore </a:t>
            </a:r>
            <a:r>
              <a:rPr lang="en-US" sz="1200" dirty="0" err="1"/>
              <a:t>appsettings.Production.json</a:t>
            </a:r>
            <a:r>
              <a:rPr lang="en-US" sz="1200" dirty="0"/>
              <a:t>).</a:t>
            </a:r>
          </a:p>
          <a:p>
            <a:pPr marL="171450" indent="-171450">
              <a:lnSpc>
                <a:spcPct val="150000"/>
              </a:lnSpc>
              <a:buFont typeface="Arial" panose="020B0604020202020204" pitchFamily="34" charset="0"/>
              <a:buChar char="•"/>
            </a:pPr>
            <a:r>
              <a:rPr lang="en-US" sz="1200" dirty="0"/>
              <a:t>Re-run this prompt whenever you add a major new dependency or restructure the project.</a:t>
            </a:r>
          </a:p>
        </p:txBody>
      </p:sp>
      <p:sp>
        <p:nvSpPr>
          <p:cNvPr id="7" name="TextBox 6">
            <a:extLst>
              <a:ext uri="{FF2B5EF4-FFF2-40B4-BE49-F238E27FC236}">
                <a16:creationId xmlns:a16="http://schemas.microsoft.com/office/drawing/2014/main" id="{77661D52-FAE3-FC87-7707-A88F9CBF9732}"/>
              </a:ext>
            </a:extLst>
          </p:cNvPr>
          <p:cNvSpPr txBox="1"/>
          <p:nvPr/>
        </p:nvSpPr>
        <p:spPr>
          <a:xfrm>
            <a:off x="163026" y="351548"/>
            <a:ext cx="5651798" cy="369332"/>
          </a:xfrm>
          <a:prstGeom prst="rect">
            <a:avLst/>
          </a:prstGeom>
          <a:noFill/>
        </p:spPr>
        <p:txBody>
          <a:bodyPr wrap="square" rtlCol="0">
            <a:spAutoFit/>
          </a:bodyPr>
          <a:lstStyle/>
          <a:p>
            <a:r>
              <a:rPr lang="en-US" b="1" dirty="0"/>
              <a:t>Prompt to autogenerate .</a:t>
            </a:r>
            <a:r>
              <a:rPr lang="en-US" b="1" dirty="0" err="1"/>
              <a:t>claudeignore</a:t>
            </a:r>
            <a:r>
              <a:rPr lang="en-US" b="1" dirty="0"/>
              <a:t> file</a:t>
            </a:r>
          </a:p>
        </p:txBody>
      </p:sp>
    </p:spTree>
    <p:extLst>
      <p:ext uri="{BB962C8B-B14F-4D97-AF65-F5344CB8AC3E}">
        <p14:creationId xmlns:p14="http://schemas.microsoft.com/office/powerpoint/2010/main" val="1430919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D9D87-23C4-1B74-73AD-3A03542E3852}"/>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47ACC4FF-C0AB-21BC-487D-049DC5E52590}"/>
              </a:ext>
            </a:extLst>
          </p:cNvPr>
          <p:cNvSpPr txBox="1"/>
          <p:nvPr/>
        </p:nvSpPr>
        <p:spPr>
          <a:xfrm>
            <a:off x="5054599" y="2283335"/>
            <a:ext cx="1261534" cy="584775"/>
          </a:xfrm>
          <a:prstGeom prst="rect">
            <a:avLst/>
          </a:prstGeom>
          <a:noFill/>
        </p:spPr>
        <p:txBody>
          <a:bodyPr wrap="square">
            <a:spAutoFit/>
          </a:bodyPr>
          <a:lstStyle/>
          <a:p>
            <a:r>
              <a:rPr lang="en-US" sz="3200" b="1" dirty="0"/>
              <a:t>Q &amp; A</a:t>
            </a:r>
          </a:p>
        </p:txBody>
      </p:sp>
    </p:spTree>
    <p:extLst>
      <p:ext uri="{BB962C8B-B14F-4D97-AF65-F5344CB8AC3E}">
        <p14:creationId xmlns:p14="http://schemas.microsoft.com/office/powerpoint/2010/main" val="1837965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796E7-A97E-76CA-5509-D4D499CE06C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47C3C8C-1F9F-A0A9-EB63-C07B9D01D137}"/>
              </a:ext>
            </a:extLst>
          </p:cNvPr>
          <p:cNvSpPr/>
          <p:nvPr/>
        </p:nvSpPr>
        <p:spPr>
          <a:xfrm>
            <a:off x="0" y="-3258"/>
            <a:ext cx="12192000" cy="399393"/>
          </a:xfrm>
          <a:prstGeom prst="rect">
            <a:avLst/>
          </a:prstGeom>
          <a:solidFill>
            <a:srgbClr val="F9F6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FFEADDD-8B7B-E7E7-9264-7D1DC6856B53}"/>
              </a:ext>
            </a:extLst>
          </p:cNvPr>
          <p:cNvSpPr txBox="1"/>
          <p:nvPr/>
        </p:nvSpPr>
        <p:spPr>
          <a:xfrm>
            <a:off x="73572" y="15030"/>
            <a:ext cx="5299977" cy="400110"/>
          </a:xfrm>
          <a:prstGeom prst="rect">
            <a:avLst/>
          </a:prstGeom>
          <a:noFill/>
        </p:spPr>
        <p:txBody>
          <a:bodyPr wrap="none" rtlCol="0">
            <a:spAutoFit/>
          </a:bodyPr>
          <a:lstStyle/>
          <a:p>
            <a:r>
              <a:rPr lang="en-US" sz="2000" b="1" dirty="0">
                <a:solidFill>
                  <a:srgbClr val="7030A0"/>
                </a:solidFill>
              </a:rPr>
              <a:t>Agentic Development Workflow - Specifications </a:t>
            </a:r>
          </a:p>
        </p:txBody>
      </p:sp>
      <p:sp>
        <p:nvSpPr>
          <p:cNvPr id="13" name="TextBox 12">
            <a:extLst>
              <a:ext uri="{FF2B5EF4-FFF2-40B4-BE49-F238E27FC236}">
                <a16:creationId xmlns:a16="http://schemas.microsoft.com/office/drawing/2014/main" id="{C0D68BB9-910B-204B-CF58-34BC2F1B06FA}"/>
              </a:ext>
            </a:extLst>
          </p:cNvPr>
          <p:cNvSpPr txBox="1"/>
          <p:nvPr/>
        </p:nvSpPr>
        <p:spPr>
          <a:xfrm>
            <a:off x="265545" y="2075906"/>
            <a:ext cx="11660909" cy="3373359"/>
          </a:xfrm>
          <a:prstGeom prst="rect">
            <a:avLst/>
          </a:prstGeom>
          <a:noFill/>
        </p:spPr>
        <p:txBody>
          <a:bodyPr wrap="square">
            <a:spAutoFit/>
          </a:bodyPr>
          <a:lstStyle/>
          <a:p>
            <a:r>
              <a:rPr lang="en-US" dirty="0"/>
              <a:t>A spec is a structured description of a task that an agent can execute against and a human can verify.</a:t>
            </a:r>
          </a:p>
          <a:p>
            <a:endParaRPr lang="en-US" dirty="0"/>
          </a:p>
          <a:p>
            <a:r>
              <a:rPr lang="en-US" dirty="0"/>
              <a:t>It's not a prompt thrown into a chat window. It's a deliberately constructed document — sometimes a paragraph, sometimes a page — that captures everything the agent needs to do the job and everything you need to check that it did.</a:t>
            </a:r>
          </a:p>
          <a:p>
            <a:endParaRPr lang="en-US" dirty="0"/>
          </a:p>
          <a:p>
            <a:r>
              <a:rPr lang="en-US" dirty="0"/>
              <a:t>Think of it as the love child of:</a:t>
            </a:r>
          </a:p>
          <a:p>
            <a:pPr marL="285750" indent="-285750">
              <a:lnSpc>
                <a:spcPct val="150000"/>
              </a:lnSpc>
              <a:buFont typeface="Arial" panose="020B0604020202020204" pitchFamily="34" charset="0"/>
              <a:buChar char="•"/>
            </a:pPr>
            <a:r>
              <a:rPr lang="en-US" dirty="0"/>
              <a:t>A bug ticket (problem statement, acceptance criteria)</a:t>
            </a:r>
          </a:p>
          <a:p>
            <a:pPr marL="285750" indent="-285750">
              <a:lnSpc>
                <a:spcPct val="150000"/>
              </a:lnSpc>
              <a:buFont typeface="Arial" panose="020B0604020202020204" pitchFamily="34" charset="0"/>
              <a:buChar char="•"/>
            </a:pPr>
            <a:r>
              <a:rPr lang="en-US" dirty="0"/>
              <a:t>A design doc (constraints, non-goals, references)</a:t>
            </a:r>
          </a:p>
          <a:p>
            <a:pPr marL="285750" indent="-285750">
              <a:lnSpc>
                <a:spcPct val="150000"/>
              </a:lnSpc>
              <a:buFont typeface="Arial" panose="020B0604020202020204" pitchFamily="34" charset="0"/>
              <a:buChar char="•"/>
            </a:pPr>
            <a:r>
              <a:rPr lang="en-US" dirty="0"/>
              <a:t>A test plan (how we'll know it worked)</a:t>
            </a:r>
          </a:p>
          <a:p>
            <a:pPr marL="285750" indent="-285750">
              <a:lnSpc>
                <a:spcPct val="150000"/>
              </a:lnSpc>
              <a:buFont typeface="Arial" panose="020B0604020202020204" pitchFamily="34" charset="0"/>
              <a:buChar char="•"/>
            </a:pPr>
            <a:r>
              <a:rPr lang="en-US" dirty="0"/>
              <a:t>Compressed into the smallest form that still removes ambiguity.</a:t>
            </a:r>
          </a:p>
        </p:txBody>
      </p:sp>
      <p:sp>
        <p:nvSpPr>
          <p:cNvPr id="14" name="TextBox 13">
            <a:extLst>
              <a:ext uri="{FF2B5EF4-FFF2-40B4-BE49-F238E27FC236}">
                <a16:creationId xmlns:a16="http://schemas.microsoft.com/office/drawing/2014/main" id="{58BC9341-EDC0-1077-98EB-555E53C6FD19}"/>
              </a:ext>
            </a:extLst>
          </p:cNvPr>
          <p:cNvSpPr txBox="1"/>
          <p:nvPr/>
        </p:nvSpPr>
        <p:spPr>
          <a:xfrm>
            <a:off x="265545" y="1592669"/>
            <a:ext cx="2180725" cy="461665"/>
          </a:xfrm>
          <a:prstGeom prst="rect">
            <a:avLst/>
          </a:prstGeom>
          <a:noFill/>
        </p:spPr>
        <p:txBody>
          <a:bodyPr wrap="none" rtlCol="0">
            <a:spAutoFit/>
          </a:bodyPr>
          <a:lstStyle/>
          <a:p>
            <a:r>
              <a:rPr lang="en-US" sz="2400" b="1" dirty="0"/>
              <a:t>What is a Spec?</a:t>
            </a:r>
          </a:p>
        </p:txBody>
      </p:sp>
      <p:sp>
        <p:nvSpPr>
          <p:cNvPr id="16" name="TextBox 15">
            <a:extLst>
              <a:ext uri="{FF2B5EF4-FFF2-40B4-BE49-F238E27FC236}">
                <a16:creationId xmlns:a16="http://schemas.microsoft.com/office/drawing/2014/main" id="{F196B0A3-6B59-1CAD-C283-B0BDCCF1A240}"/>
              </a:ext>
            </a:extLst>
          </p:cNvPr>
          <p:cNvSpPr txBox="1"/>
          <p:nvPr/>
        </p:nvSpPr>
        <p:spPr>
          <a:xfrm>
            <a:off x="3190240" y="660469"/>
            <a:ext cx="6096000" cy="461665"/>
          </a:xfrm>
          <a:prstGeom prst="rect">
            <a:avLst/>
          </a:prstGeom>
          <a:noFill/>
        </p:spPr>
        <p:txBody>
          <a:bodyPr wrap="square">
            <a:spAutoFit/>
          </a:bodyPr>
          <a:lstStyle/>
          <a:p>
            <a:r>
              <a:rPr lang="en-US" sz="2400" dirty="0"/>
              <a:t>Specs are the new source code. </a:t>
            </a:r>
          </a:p>
        </p:txBody>
      </p:sp>
      <p:sp>
        <p:nvSpPr>
          <p:cNvPr id="20" name="TextBox 19">
            <a:extLst>
              <a:ext uri="{FF2B5EF4-FFF2-40B4-BE49-F238E27FC236}">
                <a16:creationId xmlns:a16="http://schemas.microsoft.com/office/drawing/2014/main" id="{635CB633-955F-AD31-883F-EE2A3331F90C}"/>
              </a:ext>
            </a:extLst>
          </p:cNvPr>
          <p:cNvSpPr txBox="1"/>
          <p:nvPr/>
        </p:nvSpPr>
        <p:spPr>
          <a:xfrm>
            <a:off x="2573270" y="5919801"/>
            <a:ext cx="6096000" cy="400110"/>
          </a:xfrm>
          <a:prstGeom prst="rect">
            <a:avLst/>
          </a:prstGeom>
          <a:noFill/>
        </p:spPr>
        <p:txBody>
          <a:bodyPr wrap="square">
            <a:spAutoFit/>
          </a:bodyPr>
          <a:lstStyle/>
          <a:p>
            <a:r>
              <a:rPr lang="en-US" sz="2000" dirty="0"/>
              <a:t>Specs require knowing the codebase, not just the task.</a:t>
            </a:r>
          </a:p>
        </p:txBody>
      </p:sp>
    </p:spTree>
    <p:extLst>
      <p:ext uri="{BB962C8B-B14F-4D97-AF65-F5344CB8AC3E}">
        <p14:creationId xmlns:p14="http://schemas.microsoft.com/office/powerpoint/2010/main" val="35193667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3834</TotalTime>
  <Words>7775</Words>
  <Application>Microsoft Office PowerPoint</Application>
  <PresentationFormat>Widescreen</PresentationFormat>
  <Paragraphs>811</Paragraphs>
  <Slides>41</Slides>
  <Notes>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Aptos Display</vt:lpstr>
      <vt:lpstr>Arial</vt:lpstr>
      <vt:lpstr>Chiller</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Rawat, Vivek</dc:creator>
  <cp:lastModifiedBy>Rawat, Vivek</cp:lastModifiedBy>
  <cp:revision>8</cp:revision>
  <dcterms:created xsi:type="dcterms:W3CDTF">2026-04-27T14:29:50Z</dcterms:created>
  <dcterms:modified xsi:type="dcterms:W3CDTF">2026-05-12T15:07:33Z</dcterms:modified>
</cp:coreProperties>
</file>