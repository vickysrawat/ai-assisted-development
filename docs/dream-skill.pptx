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73" r:id="rId3"/>
    <p:sldId id="257" r:id="rId4"/>
    <p:sldId id="258" r:id="rId5"/>
    <p:sldId id="259" r:id="rId6"/>
    <p:sldId id="260" r:id="rId7"/>
    <p:sldId id="261" r:id="rId8"/>
    <p:sldId id="262" r:id="rId9"/>
    <p:sldId id="275" r:id="rId10"/>
    <p:sldId id="274" r:id="rId11"/>
    <p:sldId id="266" r:id="rId12"/>
    <p:sldId id="269" r:id="rId13"/>
    <p:sldId id="270" r:id="rId14"/>
    <p:sldId id="263" r:id="rId15"/>
    <p:sldId id="264" r:id="rId16"/>
    <p:sldId id="267" r:id="rId17"/>
    <p:sldId id="268" r:id="rId18"/>
    <p:sldId id="271" r:id="rId19"/>
    <p:sldId id="265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FE1CB"/>
    <a:srgbClr val="5B9585"/>
    <a:srgbClr val="04342C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9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8113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20990-F182-3D3E-C071-1D1B56A87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869E87-4630-D869-3DB1-1E549AEEBB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3ABAAD-B686-E34F-C42C-0E2DF16F44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727A5A-2F56-13D9-2479-189B1D98B9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9361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C4743-99F3-9871-DAAC-A96E6C9CC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B0CD52-9850-A91F-9916-DDDD42EED3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EF691F-5F76-9BD7-7906-F3E7E5EE68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B276C-37DD-7554-203C-2CB6F59904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0863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C4C75-3FDD-894C-EFA8-70C435D03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B17068-FFDC-7CAA-5F20-7F1244D589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792CBC-2BA4-5F2C-ECAD-CE93FDBAAB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ABB33C-38EC-2A31-A7BA-D574468FB1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8757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34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608911" y="393844"/>
            <a:ext cx="930729" cy="93072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49136" y="711925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9FE1C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Memory &amp;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1249136" y="1461733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Dream Skill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1249136" y="2815045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manual, auditable memory consolidation system for Claude Code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1249136" y="3455125"/>
            <a:ext cx="6858000" cy="0"/>
          </a:xfrm>
          <a:prstGeom prst="line">
            <a:avLst/>
          </a:prstGeom>
          <a:noFill/>
          <a:ln w="190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249136" y="3638005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Inspired by AutoDream  </a:t>
            </a:r>
            <a:r>
              <a:rPr lang="en-US" sz="16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r>
              <a:rPr lang="en-US" sz="16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Phase 1: Manual &amp; transparent</a:t>
            </a:r>
            <a:endParaRPr lang="en-US" sz="1600" dirty="0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10974B4E-B25D-C096-5162-66417B5CDEB4}"/>
              </a:ext>
            </a:extLst>
          </p:cNvPr>
          <p:cNvSpPr/>
          <p:nvPr/>
        </p:nvSpPr>
        <p:spPr>
          <a:xfrm>
            <a:off x="1326773" y="4781005"/>
            <a:ext cx="17511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Vivek Rawat</a:t>
            </a:r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75D82D66-35DB-244A-C3C0-154CA5F475BF}"/>
              </a:ext>
            </a:extLst>
          </p:cNvPr>
          <p:cNvSpPr/>
          <p:nvPr/>
        </p:nvSpPr>
        <p:spPr>
          <a:xfrm>
            <a:off x="1326773" y="5171265"/>
            <a:ext cx="17511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34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B815EC-1EFD-8BC0-12BE-F1E1F4508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B6446FD-1EF2-FB17-52CF-92A10012F14C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6A5132C5-7199-9F5B-6694-783C9D1FBC7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35000"/>
          </a:blip>
          <a:stretch>
            <a:fillRect/>
          </a:stretch>
        </p:blipFill>
        <p:spPr>
          <a:xfrm>
            <a:off x="10972800" y="131445"/>
            <a:ext cx="762000" cy="7620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60AE6100-CEA7-3BD9-91EF-9056A2DAB50B}"/>
              </a:ext>
            </a:extLst>
          </p:cNvPr>
          <p:cNvSpPr/>
          <p:nvPr/>
        </p:nvSpPr>
        <p:spPr>
          <a:xfrm>
            <a:off x="457200" y="-97940"/>
            <a:ext cx="121778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Index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2044CC-5453-0A09-089D-40CBD5B374FB}"/>
              </a:ext>
            </a:extLst>
          </p:cNvPr>
          <p:cNvSpPr txBox="1"/>
          <p:nvPr/>
        </p:nvSpPr>
        <p:spPr>
          <a:xfrm>
            <a:off x="1967593" y="679300"/>
            <a:ext cx="3984681" cy="59856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bg1"/>
                </a:solidFill>
              </a:rPr>
              <a:t>Dream analogy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bg1"/>
                </a:solidFill>
              </a:rPr>
              <a:t>The Problem - Memory Without Discipline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600" dirty="0" err="1">
                <a:solidFill>
                  <a:schemeClr val="bg1"/>
                </a:solidFill>
              </a:rPr>
              <a:t>AutoDream</a:t>
            </a:r>
            <a:r>
              <a:rPr lang="en-US" sz="1600" dirty="0">
                <a:solidFill>
                  <a:schemeClr val="bg1"/>
                </a:solidFill>
              </a:rPr>
              <a:t> (Challenges)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bg1"/>
                </a:solidFill>
              </a:rPr>
              <a:t>The Dream Skill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bg1"/>
                </a:solidFill>
              </a:rPr>
              <a:t>Confidence Scoring &amp; Memory Decay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bg1"/>
                </a:solidFill>
              </a:rPr>
              <a:t>The Six Operations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bg1"/>
                </a:solidFill>
              </a:rPr>
              <a:t>Review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bg1"/>
                </a:solidFill>
              </a:rPr>
              <a:t>Auto-capture Trigger points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bg1"/>
                </a:solidFill>
              </a:rPr>
              <a:t>The Ecosystem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bg1"/>
                </a:solidFill>
              </a:rPr>
              <a:t>Audit trail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bg1"/>
                </a:solidFill>
              </a:rPr>
              <a:t>Health Dashboard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bg1"/>
                </a:solidFill>
              </a:rPr>
              <a:t>File Structure &amp; Installation</a:t>
            </a:r>
          </a:p>
        </p:txBody>
      </p:sp>
    </p:spTree>
    <p:extLst>
      <p:ext uri="{BB962C8B-B14F-4D97-AF65-F5344CB8AC3E}">
        <p14:creationId xmlns:p14="http://schemas.microsoft.com/office/powerpoint/2010/main" val="1174393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434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9FE1C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 — Memory Without Discipline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1554480" cy="502920"/>
          </a:xfrm>
          <a:prstGeom prst="rect">
            <a:avLst/>
          </a:prstGeom>
          <a:solidFill>
            <a:srgbClr val="E1F5EE"/>
          </a:solidFill>
          <a:ln w="190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1430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920240"/>
            <a:ext cx="1554480" cy="502920"/>
          </a:xfrm>
          <a:prstGeom prst="rect">
            <a:avLst/>
          </a:prstGeom>
          <a:solidFill>
            <a:srgbClr val="E1F5EE"/>
          </a:solidFill>
          <a:ln w="190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9202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2697480"/>
            <a:ext cx="1554480" cy="502920"/>
          </a:xfrm>
          <a:prstGeom prst="rect">
            <a:avLst/>
          </a:prstGeom>
          <a:solidFill>
            <a:srgbClr val="E1F5EE"/>
          </a:solidFill>
          <a:ln w="190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" y="26974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3474720"/>
            <a:ext cx="1554480" cy="502920"/>
          </a:xfrm>
          <a:prstGeom prst="rect">
            <a:avLst/>
          </a:prstGeom>
          <a:solidFill>
            <a:srgbClr val="E1F5EE"/>
          </a:solidFill>
          <a:ln w="190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" y="34747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828800" y="1399032"/>
            <a:ext cx="502920" cy="1234440"/>
          </a:xfrm>
          <a:prstGeom prst="line">
            <a:avLst/>
          </a:prstGeom>
          <a:noFill/>
          <a:ln w="190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828800" y="2176272"/>
            <a:ext cx="502920" cy="457200"/>
          </a:xfrm>
          <a:prstGeom prst="line">
            <a:avLst/>
          </a:prstGeom>
          <a:noFill/>
          <a:ln w="190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828800" y="2953512"/>
            <a:ext cx="502920" cy="0"/>
          </a:xfrm>
          <a:prstGeom prst="line">
            <a:avLst/>
          </a:prstGeom>
          <a:noFill/>
          <a:ln w="190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828800" y="3730752"/>
            <a:ext cx="502920" cy="0"/>
          </a:xfrm>
          <a:prstGeom prst="line">
            <a:avLst/>
          </a:prstGeom>
          <a:noFill/>
          <a:ln w="190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331720" y="1005840"/>
            <a:ext cx="3200400" cy="5029200"/>
          </a:xfrm>
          <a:prstGeom prst="rect">
            <a:avLst/>
          </a:prstGeom>
          <a:solidFill>
            <a:srgbClr val="FFF8F5"/>
          </a:solidFill>
          <a:ln w="3175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331720" y="10789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712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MEMORY.md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2331720" y="1417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Unmanaged — grows every session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496312" y="1755648"/>
            <a:ext cx="2871216" cy="384048"/>
          </a:xfrm>
          <a:prstGeom prst="rect">
            <a:avLst/>
          </a:prstGeom>
          <a:solidFill>
            <a:srgbClr val="FAECE7"/>
          </a:solidFill>
          <a:ln w="10160">
            <a:solidFill>
              <a:srgbClr val="F09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496312" y="1755648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12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npm install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496312" y="2249424"/>
            <a:ext cx="2871216" cy="384048"/>
          </a:xfrm>
          <a:prstGeom prst="rect">
            <a:avLst/>
          </a:prstGeom>
          <a:solidFill>
            <a:srgbClr val="FAECE7"/>
          </a:solidFill>
          <a:ln w="10160">
            <a:solidFill>
              <a:srgbClr val="F09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496312" y="2249424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12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pnpm ← corrected s.12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496312" y="2743200"/>
            <a:ext cx="2871216" cy="384048"/>
          </a:xfrm>
          <a:prstGeom prst="rect">
            <a:avLst/>
          </a:prstGeom>
          <a:solidFill>
            <a:srgbClr val="FAECE7"/>
          </a:solidFill>
          <a:ln w="10160">
            <a:solidFill>
              <a:srgbClr val="F09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496312" y="2743200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12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Vitest for tests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496312" y="3236976"/>
            <a:ext cx="2871216" cy="384048"/>
          </a:xfrm>
          <a:prstGeom prst="rect">
            <a:avLst/>
          </a:prstGeom>
          <a:solidFill>
            <a:srgbClr val="FAECE7"/>
          </a:solidFill>
          <a:ln w="10160">
            <a:solidFill>
              <a:srgbClr val="F09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496312" y="3236976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12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Jest for tests ← old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2496312" y="3730752"/>
            <a:ext cx="2871216" cy="384048"/>
          </a:xfrm>
          <a:prstGeom prst="rect">
            <a:avLst/>
          </a:prstGeom>
          <a:solidFill>
            <a:srgbClr val="FAECE7"/>
          </a:solidFill>
          <a:ln w="10160">
            <a:solidFill>
              <a:srgbClr val="F09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496312" y="3730752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12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axios interceptors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496312" y="4224528"/>
            <a:ext cx="2871216" cy="384048"/>
          </a:xfrm>
          <a:prstGeom prst="rect">
            <a:avLst/>
          </a:prstGeom>
          <a:solidFill>
            <a:srgbClr val="F1EFE8"/>
          </a:solidFill>
          <a:ln w="10160">
            <a:solidFill>
              <a:srgbClr val="B4B2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496312" y="4224528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staging today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2496312" y="4718304"/>
            <a:ext cx="2871216" cy="384048"/>
          </a:xfrm>
          <a:prstGeom prst="rect">
            <a:avLst/>
          </a:prstGeom>
          <a:solidFill>
            <a:srgbClr val="F1EFE8"/>
          </a:solidFill>
          <a:ln w="10160">
            <a:solidFill>
              <a:srgbClr val="B4B2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496312" y="4718304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reviewing PR #44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2496312" y="5212080"/>
            <a:ext cx="2871216" cy="384048"/>
          </a:xfrm>
          <a:prstGeom prst="rect">
            <a:avLst/>
          </a:prstGeom>
          <a:solidFill>
            <a:srgbClr val="F1EFE8"/>
          </a:solidFill>
          <a:ln w="10160">
            <a:solidFill>
              <a:srgbClr val="B4B2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496312" y="5212080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200+ more lines …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2331720" y="4315968"/>
            <a:ext cx="3200400" cy="0"/>
          </a:xfrm>
          <a:prstGeom prst="line">
            <a:avLst/>
          </a:prstGeom>
          <a:noFill/>
          <a:ln w="25400">
            <a:solidFill>
              <a:srgbClr val="D85A3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331720" y="4059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200-line cutoff — Claude can't see below here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943600" y="1005840"/>
            <a:ext cx="5943600" cy="1874520"/>
          </a:xfrm>
          <a:prstGeom prst="rect">
            <a:avLst/>
          </a:prstGeom>
          <a:solidFill>
            <a:srgbClr val="FCEBEB"/>
          </a:solidFill>
          <a:ln w="22860">
            <a:solidFill>
              <a:srgbClr val="E24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080760" y="109728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3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Conflicts detected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080760" y="1536192"/>
            <a:ext cx="56692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79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npm vs pnpm — which is correct?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79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Jest vs Vitest — tool already migrated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79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Stale entries: "today", "PR #44", "John"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79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Context window filled with noise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943600" y="3063240"/>
            <a:ext cx="5943600" cy="1874520"/>
          </a:xfrm>
          <a:prstGeom prst="rect">
            <a:avLst/>
          </a:prstGeom>
          <a:solidFill>
            <a:srgbClr val="E1F5EE"/>
          </a:solidFill>
          <a:ln w="22860">
            <a:solidFill>
              <a:srgbClr val="1D9E7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080760" y="315468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 without consolidation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6080760" y="3593592"/>
            <a:ext cx="56692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Claude retries approaches that have already failed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Hard-won decisions get forgotten each session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Memory past 200 lines is invisible to Claude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Worse signal than having no memory at all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274320" y="6309360"/>
            <a:ext cx="1161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F5E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Unmanaged memory degrades quality over time</a:t>
            </a:r>
            <a:endParaRPr lang="en-US" sz="1600" dirty="0"/>
          </a:p>
        </p:txBody>
      </p:sp>
      <p:pic>
        <p:nvPicPr>
          <p:cNvPr id="44" name="Image 0" descr="preencoded.png">
            <a:extLst>
              <a:ext uri="{FF2B5EF4-FFF2-40B4-BE49-F238E27FC236}">
                <a16:creationId xmlns:a16="http://schemas.microsoft.com/office/drawing/2014/main" id="{0D1561C3-F0C3-73FC-DAD2-4D1B3069119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35000"/>
          </a:blip>
          <a:stretch>
            <a:fillRect/>
          </a:stretch>
        </p:blipFill>
        <p:spPr>
          <a:xfrm>
            <a:off x="10972800" y="131445"/>
            <a:ext cx="762000" cy="76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434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9FE1C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AutoDream — The Inspiration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5303520" cy="5303520"/>
          </a:xfrm>
          <a:prstGeom prst="rect">
            <a:avLst/>
          </a:prstGeom>
          <a:solidFill>
            <a:srgbClr val="E1F5EE"/>
          </a:solidFill>
          <a:ln w="12700">
            <a:solidFill>
              <a:srgbClr val="1D9E7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AutoDream does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737360"/>
            <a:ext cx="50292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20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memory consolidation in Claude Code</a:t>
            </a:r>
            <a:endParaRPr lang="en-US" sz="1500" dirty="0"/>
          </a:p>
          <a:p>
            <a:pPr marL="342900" indent="-342900">
              <a:lnSpc>
                <a:spcPct val="20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Operates like REM sleep — runs silently between sessions</a:t>
            </a:r>
            <a:endParaRPr lang="en-US" sz="1500" dirty="0"/>
          </a:p>
          <a:p>
            <a:pPr marL="342900" indent="-342900">
              <a:lnSpc>
                <a:spcPct val="20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memory files and maps current knowledge</a:t>
            </a:r>
            <a:endParaRPr lang="en-US" sz="1500" dirty="0"/>
          </a:p>
          <a:p>
            <a:pPr marL="342900" indent="-342900">
              <a:lnSpc>
                <a:spcPct val="20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outdated or conflicting memories (synaptic pruning)</a:t>
            </a:r>
            <a:endParaRPr lang="en-US" sz="1500" dirty="0"/>
          </a:p>
          <a:p>
            <a:pPr marL="342900" indent="-342900">
              <a:lnSpc>
                <a:spcPct val="20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Consolidates into organised indexed files</a:t>
            </a:r>
            <a:endParaRPr lang="en-US" sz="1500" dirty="0"/>
          </a:p>
          <a:p>
            <a:pPr marL="342900" indent="-342900">
              <a:lnSpc>
                <a:spcPct val="20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relative dates ("today") with ISO timestamps</a:t>
            </a:r>
            <a:endParaRPr lang="en-US" sz="1500" dirty="0"/>
          </a:p>
          <a:p>
            <a:pPr marL="342900" indent="-342900">
              <a:lnSpc>
                <a:spcPct val="20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24h elapsed + 5 sessions since last run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26480" y="1051560"/>
            <a:ext cx="5715000" cy="5303520"/>
          </a:xfrm>
          <a:prstGeom prst="rect">
            <a:avLst/>
          </a:prstGeom>
          <a:solidFill>
            <a:srgbClr val="FAEEDA"/>
          </a:solidFill>
          <a:ln w="19050">
            <a:solidFill>
              <a:srgbClr val="EF9F2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263640" y="118872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54F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we build our own</a:t>
            </a:r>
            <a:endParaRPr lang="en-US" sz="20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263640" y="169164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720840" y="1691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Opaque — We don't know what was pruned</a:t>
            </a:r>
            <a:endParaRPr lang="en-US" sz="15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263640" y="224028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720840" y="22402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 — hard to debug behaviour changes</a:t>
            </a:r>
            <a:endParaRPr lang="en-US" sz="15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263640" y="278892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720840" y="2788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per-project tuning — one size fits all</a:t>
            </a:r>
            <a:endParaRPr lang="en-US" sz="15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263640" y="3337560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720840" y="3337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automatically — no chance to review decisions</a:t>
            </a:r>
            <a:endParaRPr lang="en-US" sz="1500" dirty="0"/>
          </a:p>
        </p:txBody>
      </p:sp>
      <p:sp>
        <p:nvSpPr>
          <p:cNvPr id="17" name="Shape 11"/>
          <p:cNvSpPr/>
          <p:nvPr/>
        </p:nvSpPr>
        <p:spPr>
          <a:xfrm>
            <a:off x="6126480" y="4206240"/>
            <a:ext cx="5715000" cy="2148840"/>
          </a:xfrm>
          <a:prstGeom prst="rect">
            <a:avLst/>
          </a:prstGeom>
          <a:solidFill>
            <a:srgbClr val="04342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2"/>
          <p:cNvSpPr/>
          <p:nvPr/>
        </p:nvSpPr>
        <p:spPr>
          <a:xfrm>
            <a:off x="6309360" y="4370832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FE1C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AutoDream is the right idea.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6309360" y="4828032"/>
            <a:ext cx="5349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building a version with full visibility and control — so we understand exactly what changed and why, before automating anything.</a:t>
            </a:r>
            <a:endParaRPr lang="en-US" sz="1500" dirty="0"/>
          </a:p>
        </p:txBody>
      </p:sp>
      <p:pic>
        <p:nvPicPr>
          <p:cNvPr id="20" name="Image 0" descr="preencoded.png">
            <a:extLst>
              <a:ext uri="{FF2B5EF4-FFF2-40B4-BE49-F238E27FC236}">
                <a16:creationId xmlns:a16="http://schemas.microsoft.com/office/drawing/2014/main" id="{334AC4B0-FCF1-B57C-7921-B7A1A7FDF8B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alphaModFix amt="35000"/>
          </a:blip>
          <a:stretch>
            <a:fillRect/>
          </a:stretch>
        </p:blipFill>
        <p:spPr>
          <a:xfrm>
            <a:off x="10972800" y="131445"/>
            <a:ext cx="762000" cy="76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434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9FE1C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Dream Skill — Six Phases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931920" y="1005840"/>
            <a:ext cx="2743200" cy="640080"/>
          </a:xfrm>
          <a:prstGeom prst="rect">
            <a:avLst/>
          </a:prstGeom>
          <a:solidFill>
            <a:srgbClr val="FAEEDA"/>
          </a:solidFill>
          <a:ln w="1905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931920" y="10058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/dream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931920" y="13167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any prompt with /dream to start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303520" y="1645920"/>
            <a:ext cx="0" cy="320040"/>
          </a:xfrm>
          <a:prstGeom prst="line">
            <a:avLst/>
          </a:prstGeom>
          <a:noFill/>
          <a:ln w="254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1965960"/>
            <a:ext cx="1691640" cy="1417320"/>
          </a:xfrm>
          <a:prstGeom prst="rect">
            <a:avLst/>
          </a:prstGeom>
          <a:solidFill>
            <a:srgbClr val="E1F5EE"/>
          </a:solidFill>
          <a:ln w="190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2057400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20040" y="249631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20040" y="2807208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all files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" y="306324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knowledge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011680" y="2674620"/>
            <a:ext cx="164592" cy="0"/>
          </a:xfrm>
          <a:prstGeom prst="line">
            <a:avLst/>
          </a:prstGeom>
          <a:noFill/>
          <a:ln w="254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176272" y="1965960"/>
            <a:ext cx="1691640" cy="1417320"/>
          </a:xfrm>
          <a:prstGeom prst="rect">
            <a:avLst/>
          </a:prstGeom>
          <a:solidFill>
            <a:srgbClr val="E1F5EE"/>
          </a:solidFill>
          <a:ln w="190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176272" y="2057400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176272" y="249631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176272" y="2807208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176272" y="306324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 – 1.0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867912" y="2674620"/>
            <a:ext cx="164592" cy="0"/>
          </a:xfrm>
          <a:prstGeom prst="line">
            <a:avLst/>
          </a:prstGeom>
          <a:noFill/>
          <a:ln w="254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032504" y="1965960"/>
            <a:ext cx="1691640" cy="1417320"/>
          </a:xfrm>
          <a:prstGeom prst="rect">
            <a:avLst/>
          </a:prstGeom>
          <a:solidFill>
            <a:srgbClr val="E1F5EE"/>
          </a:solidFill>
          <a:ln w="190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032504" y="2057400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032504" y="249631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032504" y="2807208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UPDATE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032504" y="306324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PROMOTE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724144" y="2674620"/>
            <a:ext cx="164592" cy="0"/>
          </a:xfrm>
          <a:prstGeom prst="line">
            <a:avLst/>
          </a:prstGeom>
          <a:noFill/>
          <a:ln w="254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888736" y="1965960"/>
            <a:ext cx="1691640" cy="1417320"/>
          </a:xfrm>
          <a:prstGeom prst="rect">
            <a:avLst/>
          </a:prstGeom>
          <a:solidFill>
            <a:srgbClr val="04342C"/>
          </a:solidFill>
          <a:ln w="31750">
            <a:solidFill>
              <a:srgbClr val="1D9E7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888736" y="2057400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9FE1C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5888736" y="249631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888736" y="2807208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stop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888736" y="306324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You decide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580376" y="2674620"/>
            <a:ext cx="164592" cy="0"/>
          </a:xfrm>
          <a:prstGeom prst="line">
            <a:avLst/>
          </a:prstGeom>
          <a:noFill/>
          <a:ln w="254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744968" y="1965960"/>
            <a:ext cx="1691640" cy="1417320"/>
          </a:xfrm>
          <a:prstGeom prst="rect">
            <a:avLst/>
          </a:prstGeom>
          <a:solidFill>
            <a:srgbClr val="E1F5EE"/>
          </a:solidFill>
          <a:ln w="190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744968" y="2057400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7744968" y="249631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7744968" y="2807208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order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744968" y="306324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→ PROMOTE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436608" y="2674620"/>
            <a:ext cx="164592" cy="0"/>
          </a:xfrm>
          <a:prstGeom prst="line">
            <a:avLst/>
          </a:prstGeom>
          <a:noFill/>
          <a:ln w="254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9601200" y="1965960"/>
            <a:ext cx="1691640" cy="1417320"/>
          </a:xfrm>
          <a:prstGeom prst="rect">
            <a:avLst/>
          </a:prstGeom>
          <a:solidFill>
            <a:srgbClr val="E1F5EE"/>
          </a:solidFill>
          <a:ln w="190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9601200" y="2057400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800" dirty="0"/>
          </a:p>
        </p:txBody>
      </p:sp>
      <p:sp>
        <p:nvSpPr>
          <p:cNvPr id="40" name="Text 38"/>
          <p:cNvSpPr/>
          <p:nvPr/>
        </p:nvSpPr>
        <p:spPr>
          <a:xfrm>
            <a:off x="9601200" y="249631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9601200" y="2807208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601200" y="306324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dream-log.md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20040" y="3566160"/>
            <a:ext cx="11612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Three tiers of review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320040" y="3977640"/>
            <a:ext cx="3566160" cy="1719072"/>
          </a:xfrm>
          <a:prstGeom prst="rect">
            <a:avLst/>
          </a:prstGeom>
          <a:solidFill>
            <a:srgbClr val="E1F5EE"/>
          </a:solidFill>
          <a:ln w="190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57200" y="40416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— Auto-apply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457200" y="4389120"/>
            <a:ext cx="3291840" cy="0"/>
          </a:xfrm>
          <a:prstGeom prst="line">
            <a:avLst/>
          </a:prstGeom>
          <a:noFill/>
          <a:ln w="889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57200" y="4434840"/>
            <a:ext cx="3337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(any score)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(dates only)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minor (typos, format)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new topic (≥ 0.7)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Reported in aggregate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142232" y="3977640"/>
            <a:ext cx="3566160" cy="1719072"/>
          </a:xfrm>
          <a:prstGeom prst="rect">
            <a:avLst/>
          </a:prstGeom>
          <a:solidFill>
            <a:srgbClr val="FAEEDA"/>
          </a:solidFill>
          <a:ln w="1905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279392" y="40416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— Show diff, wait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4279392" y="4389120"/>
            <a:ext cx="3291840" cy="0"/>
          </a:xfrm>
          <a:prstGeom prst="line">
            <a:avLst/>
          </a:prstGeom>
          <a:noFill/>
          <a:ln w="889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279392" y="4434840"/>
            <a:ext cx="3337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major (content change)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existing topic file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(duplicate collapse)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borderline (0.2–0.4)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approve / skip / apply all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964424" y="3977640"/>
            <a:ext cx="3566160" cy="1719072"/>
          </a:xfrm>
          <a:prstGeom prst="rect">
            <a:avLst/>
          </a:prstGeom>
          <a:solidFill>
            <a:srgbClr val="FCEBEB"/>
          </a:solidFill>
          <a:ln w="1905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8101584" y="40416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— Always human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8101584" y="4389120"/>
            <a:ext cx="3291840" cy="0"/>
          </a:xfrm>
          <a:prstGeom prst="line">
            <a:avLst/>
          </a:prstGeom>
          <a:noFill/>
          <a:ln w="889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8101584" y="4434840"/>
            <a:ext cx="3337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→ CLAUDE.md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DEMOTE ← CLAUDE.md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low (≤ 0.2)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(always)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One at a time, explicit yes/no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0" y="5839096"/>
            <a:ext cx="12192000" cy="658368"/>
          </a:xfrm>
          <a:prstGeom prst="rect">
            <a:avLst/>
          </a:prstGeom>
          <a:solidFill>
            <a:srgbClr val="0434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320040" y="5839096"/>
            <a:ext cx="11521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principle: CLAUDE.md is the hard boundary — anything that touches it always needs your eyes</a:t>
            </a:r>
            <a:endParaRPr lang="en-US" sz="1350" dirty="0"/>
          </a:p>
        </p:txBody>
      </p:sp>
      <p:sp>
        <p:nvSpPr>
          <p:cNvPr id="58" name="Text 56"/>
          <p:cNvSpPr/>
          <p:nvPr/>
        </p:nvSpPr>
        <p:spPr>
          <a:xfrm>
            <a:off x="320040" y="6223144"/>
            <a:ext cx="1152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matter how high the confidence score, PROMOTE and DEMOTE are always Tier 3</a:t>
            </a:r>
            <a:endParaRPr lang="en-US" sz="1100" dirty="0"/>
          </a:p>
        </p:txBody>
      </p:sp>
      <p:pic>
        <p:nvPicPr>
          <p:cNvPr id="59" name="Image 0" descr="preencoded.png">
            <a:extLst>
              <a:ext uri="{FF2B5EF4-FFF2-40B4-BE49-F238E27FC236}">
                <a16:creationId xmlns:a16="http://schemas.microsoft.com/office/drawing/2014/main" id="{6651DCAF-35D7-CB96-11E3-394C51294C8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35000"/>
          </a:blip>
          <a:stretch>
            <a:fillRect/>
          </a:stretch>
        </p:blipFill>
        <p:spPr>
          <a:xfrm>
            <a:off x="10972800" y="131445"/>
            <a:ext cx="762000" cy="76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434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9FE1C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Confidence Scoring &amp; Memory Decay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194560" cy="594360"/>
          </a:xfrm>
          <a:prstGeom prst="rect">
            <a:avLst/>
          </a:prstGeom>
          <a:solidFill>
            <a:srgbClr val="E24B4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1247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 – 0.2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965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286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Superseded or wrong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0" y="1051560"/>
            <a:ext cx="2194560" cy="594360"/>
          </a:xfrm>
          <a:prstGeom prst="rect">
            <a:avLst/>
          </a:prstGeom>
          <a:solidFill>
            <a:srgbClr val="EF9F2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60320" y="11247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 – 0.4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560320" y="1965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needed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60320" y="2286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Contradicted / stale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051560"/>
            <a:ext cx="2194560" cy="594360"/>
          </a:xfrm>
          <a:prstGeom prst="rect">
            <a:avLst/>
          </a:prstGeom>
          <a:solidFill>
            <a:srgbClr val="BA751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54880" y="11247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– 0.6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0" y="1965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2286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session, unverified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49440" y="1051560"/>
            <a:ext cx="2194560" cy="594360"/>
          </a:xfrm>
          <a:prstGeom prst="rect">
            <a:avLst/>
          </a:prstGeom>
          <a:solidFill>
            <a:srgbClr val="1D9E7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949440" y="11247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 – 0.8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49440" y="1965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49440" y="2286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Confirmed, minor age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44000" y="1051560"/>
            <a:ext cx="2194560" cy="594360"/>
          </a:xfrm>
          <a:prstGeom prst="rect">
            <a:avLst/>
          </a:prstGeom>
          <a:solidFill>
            <a:srgbClr val="04342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144000" y="11247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 – 1.0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0" y="1965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candidate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0" y="2286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Confirmed, active, no conflicts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2651760"/>
            <a:ext cx="10972800" cy="713232"/>
          </a:xfrm>
          <a:prstGeom prst="rect">
            <a:avLst/>
          </a:prstGeom>
          <a:solidFill>
            <a:srgbClr val="F1EFE8"/>
          </a:solidFill>
          <a:ln w="12700">
            <a:solidFill>
              <a:srgbClr val="B4B2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5760" y="2697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Decay Rule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65760" y="296265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dream cycle an entry is not referenced  →  subtract 0.1 from confidence score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65760" y="34930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"deploy to staging today" — written in session 3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31520" y="4114800"/>
            <a:ext cx="768096" cy="768096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31520" y="4169664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31520" y="4425696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31520" y="4937760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499616" y="4498848"/>
            <a:ext cx="1060704" cy="0"/>
          </a:xfrm>
          <a:prstGeom prst="line">
            <a:avLst/>
          </a:prstGeom>
          <a:noFill/>
          <a:ln w="19050">
            <a:solidFill>
              <a:srgbClr val="B4B2A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2560320" y="4114800"/>
            <a:ext cx="768096" cy="768096"/>
          </a:xfrm>
          <a:prstGeom prst="ellipse">
            <a:avLst/>
          </a:prstGeom>
          <a:solidFill>
            <a:srgbClr val="BA75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560320" y="4169664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2560320" y="4425696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2560320" y="4937760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−0.1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328416" y="4498848"/>
            <a:ext cx="1060704" cy="0"/>
          </a:xfrm>
          <a:prstGeom prst="line">
            <a:avLst/>
          </a:prstGeom>
          <a:noFill/>
          <a:ln w="19050">
            <a:solidFill>
              <a:srgbClr val="B4B2A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389120" y="4114800"/>
            <a:ext cx="768096" cy="768096"/>
          </a:xfrm>
          <a:prstGeom prst="ellipse">
            <a:avLst/>
          </a:prstGeom>
          <a:solidFill>
            <a:srgbClr val="EF9F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389120" y="4169664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389120" y="4425696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389120" y="4937760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−0.1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157216" y="4498848"/>
            <a:ext cx="1060704" cy="0"/>
          </a:xfrm>
          <a:prstGeom prst="line">
            <a:avLst/>
          </a:prstGeom>
          <a:noFill/>
          <a:ln w="19050">
            <a:solidFill>
              <a:srgbClr val="B4B2A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217920" y="4114800"/>
            <a:ext cx="768096" cy="768096"/>
          </a:xfrm>
          <a:prstGeom prst="ellipse">
            <a:avLst/>
          </a:prstGeom>
          <a:solidFill>
            <a:srgbClr val="EF9F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217920" y="4169664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S12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217920" y="4425696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217920" y="4937760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−0.2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986016" y="4498848"/>
            <a:ext cx="1060704" cy="0"/>
          </a:xfrm>
          <a:prstGeom prst="line">
            <a:avLst/>
          </a:prstGeom>
          <a:noFill/>
          <a:ln w="19050">
            <a:solidFill>
              <a:srgbClr val="B4B2A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8046720" y="4114800"/>
            <a:ext cx="768096" cy="768096"/>
          </a:xfrm>
          <a:prstGeom prst="ellipse">
            <a:avLst/>
          </a:prstGeom>
          <a:solidFill>
            <a:srgbClr val="E24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8046720" y="4169664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S16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8046720" y="4425696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8046720" y="4937760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−0.2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9875520" y="4160520"/>
            <a:ext cx="1920240" cy="676656"/>
          </a:xfrm>
          <a:prstGeom prst="rect">
            <a:avLst/>
          </a:prstGeom>
          <a:solidFill>
            <a:srgbClr val="E24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9875520" y="4206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AUTO-DELETE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9875520" y="451713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≤ 0.2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8814816" y="4498848"/>
            <a:ext cx="1060704" cy="0"/>
          </a:xfrm>
          <a:prstGeom prst="line">
            <a:avLst/>
          </a:prstGeom>
          <a:noFill/>
          <a:ln w="254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0" y="5760720"/>
            <a:ext cx="12192000" cy="758952"/>
          </a:xfrm>
          <a:prstGeom prst="rect">
            <a:avLst/>
          </a:prstGeom>
          <a:solidFill>
            <a:srgbClr val="0434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365760" y="5806440"/>
            <a:ext cx="1143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FE1C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Decay is what makes the system self-cleaning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365760" y="6144768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entries surface automatically — no manual review needed to find them</a:t>
            </a:r>
            <a:endParaRPr lang="en-US" sz="1200" dirty="0"/>
          </a:p>
        </p:txBody>
      </p:sp>
      <p:pic>
        <p:nvPicPr>
          <p:cNvPr id="59" name="Image 0" descr="preencoded.png">
            <a:extLst>
              <a:ext uri="{FF2B5EF4-FFF2-40B4-BE49-F238E27FC236}">
                <a16:creationId xmlns:a16="http://schemas.microsoft.com/office/drawing/2014/main" id="{5A99E818-350B-E05C-0220-E053AA3368F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35000"/>
          </a:blip>
          <a:stretch>
            <a:fillRect/>
          </a:stretch>
        </p:blipFill>
        <p:spPr>
          <a:xfrm>
            <a:off x="10972800" y="131445"/>
            <a:ext cx="762000" cy="76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434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9FE1C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Six Operations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05345" y="1108710"/>
            <a:ext cx="5394960" cy="1645920"/>
          </a:xfrm>
          <a:prstGeom prst="rect">
            <a:avLst/>
          </a:prstGeom>
          <a:solidFill>
            <a:srgbClr val="E1F5EE"/>
          </a:solidFill>
          <a:ln w="19050">
            <a:solidFill>
              <a:srgbClr val="1D9E7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05345" y="1108710"/>
            <a:ext cx="128016" cy="164592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3945" y="1273302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33945" y="1730502"/>
            <a:ext cx="5029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knowledge from session notes — creates or appends to topic file. Requires confidence ≥ 0.7 for auto-approval.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523265" y="1108710"/>
            <a:ext cx="5394960" cy="1645920"/>
          </a:xfrm>
          <a:prstGeom prst="rect">
            <a:avLst/>
          </a:prstGeom>
          <a:solidFill>
            <a:srgbClr val="E1F5EE"/>
          </a:solidFill>
          <a:ln w="19050">
            <a:solidFill>
              <a:srgbClr val="1D9E7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523265" y="1108710"/>
            <a:ext cx="128016" cy="164592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751865" y="1273302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UPDATE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751865" y="1730502"/>
            <a:ext cx="5029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version of existing entry. Minor = auto-apply. Major (content change) = shows before/after diff and waits.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05345" y="2983230"/>
            <a:ext cx="5394960" cy="1645920"/>
          </a:xfrm>
          <a:prstGeom prst="rect">
            <a:avLst/>
          </a:prstGeom>
          <a:solidFill>
            <a:srgbClr val="FCEBEB"/>
          </a:solidFill>
          <a:ln w="19050">
            <a:solidFill>
              <a:srgbClr val="E24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05345" y="2983230"/>
            <a:ext cx="128016" cy="1645920"/>
          </a:xfrm>
          <a:prstGeom prst="rect">
            <a:avLst/>
          </a:prstGeom>
          <a:solidFill>
            <a:srgbClr val="E24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33945" y="3147822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3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DELETE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33945" y="3605022"/>
            <a:ext cx="5029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superseded, contradicted, or references things that no longer exist. Borderline = diff review. Low (≤ 0.2) = always human.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523265" y="2983230"/>
            <a:ext cx="5394960" cy="1645920"/>
          </a:xfrm>
          <a:prstGeom prst="rect">
            <a:avLst/>
          </a:prstGeom>
          <a:solidFill>
            <a:srgbClr val="FAEEDA"/>
          </a:solidFill>
          <a:ln w="19050">
            <a:solidFill>
              <a:srgbClr val="EF9F2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523265" y="2983230"/>
            <a:ext cx="128016" cy="1645920"/>
          </a:xfrm>
          <a:prstGeom prst="rect">
            <a:avLst/>
          </a:prstGeom>
          <a:solidFill>
            <a:srgbClr val="EF9F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751865" y="3147822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54F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PROMOTE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751865" y="3605022"/>
            <a:ext cx="5029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moves into CLAUDE.md. Confidence ≥ 0.85 + essential every session. Max 3 per run. Always Tier 3 — hard stop.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05345" y="4857750"/>
            <a:ext cx="5394960" cy="1645920"/>
          </a:xfrm>
          <a:prstGeom prst="rect">
            <a:avLst/>
          </a:prstGeom>
          <a:solidFill>
            <a:srgbClr val="FAEEDA"/>
          </a:solidFill>
          <a:ln w="19050">
            <a:solidFill>
              <a:srgbClr val="EF9F2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05345" y="4857750"/>
            <a:ext cx="128016" cy="1645920"/>
          </a:xfrm>
          <a:prstGeom prst="rect">
            <a:avLst/>
          </a:prstGeom>
          <a:solidFill>
            <a:srgbClr val="EF9F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33945" y="5022342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54F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DEMOTE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33945" y="5479542"/>
            <a:ext cx="5029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moves from CLAUDE.md back to topic file. Used when a promoted entry has become stale. Always Tier 3.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523265" y="4857750"/>
            <a:ext cx="5394960" cy="1645920"/>
          </a:xfrm>
          <a:prstGeom prst="rect">
            <a:avLst/>
          </a:prstGeom>
          <a:solidFill>
            <a:srgbClr val="F1EFE8"/>
          </a:solidFill>
          <a:ln w="19050">
            <a:solidFill>
              <a:srgbClr val="B4B2A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523265" y="4857750"/>
            <a:ext cx="128016" cy="1645920"/>
          </a:xfrm>
          <a:prstGeom prst="rect">
            <a:avLst/>
          </a:prstGeom>
          <a:solidFill>
            <a:srgbClr val="B4B2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751865" y="5022342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F5E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751865" y="5479542"/>
            <a:ext cx="5029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is healthy — no change needed. Auto-applied silently with no review. Reported in aggregate at end.</a:t>
            </a:r>
            <a:endParaRPr lang="en-US" sz="1350" dirty="0"/>
          </a:p>
        </p:txBody>
      </p:sp>
      <p:pic>
        <p:nvPicPr>
          <p:cNvPr id="28" name="Image 0" descr="preencoded.png">
            <a:extLst>
              <a:ext uri="{FF2B5EF4-FFF2-40B4-BE49-F238E27FC236}">
                <a16:creationId xmlns:a16="http://schemas.microsoft.com/office/drawing/2014/main" id="{ABC175E6-7417-48D8-7A92-4C1107F6B1C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35000"/>
          </a:blip>
          <a:stretch>
            <a:fillRect/>
          </a:stretch>
        </p:blipFill>
        <p:spPr>
          <a:xfrm>
            <a:off x="10972800" y="131445"/>
            <a:ext cx="762000" cy="76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434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9FE1C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Semi-Auto Review — Three Tiers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520440" cy="5029200"/>
          </a:xfrm>
          <a:prstGeom prst="rect">
            <a:avLst/>
          </a:prstGeom>
          <a:solidFill>
            <a:srgbClr val="E1F5EE"/>
          </a:solidFill>
          <a:ln w="25400">
            <a:solidFill>
              <a:srgbClr val="1D9E7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15568"/>
            <a:ext cx="475488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09728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1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48640" y="15727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Auto-apply, no review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011680"/>
            <a:ext cx="3154680" cy="0"/>
          </a:xfrm>
          <a:prstGeom prst="line">
            <a:avLst/>
          </a:prstGeom>
          <a:noFill/>
          <a:ln w="1016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48640" y="2148840"/>
            <a:ext cx="32004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20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2C2A"/>
                </a:solidFill>
              </a:rPr>
              <a:t>KEEP (any score)
TIMESTAMP — relative → ISO dates
UPDATE minor — typos/format only
ADD to new topic file (≥ 0.7)
→ Reported in aggregate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114800" y="1005840"/>
            <a:ext cx="3520440" cy="5029200"/>
          </a:xfrm>
          <a:prstGeom prst="rect">
            <a:avLst/>
          </a:prstGeom>
          <a:solidFill>
            <a:srgbClr val="FAEEDA"/>
          </a:solidFill>
          <a:ln w="25400">
            <a:solidFill>
              <a:srgbClr val="EF9F2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115568"/>
            <a:ext cx="475488" cy="4754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937760" y="109728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54F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2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4297680" y="15727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diff, wait for approval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297680" y="2011680"/>
            <a:ext cx="3154680" cy="0"/>
          </a:xfrm>
          <a:prstGeom prst="line">
            <a:avLst/>
          </a:prstGeom>
          <a:noFill/>
          <a:ln w="1016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4297680" y="2148840"/>
            <a:ext cx="32004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20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2C2A"/>
                </a:solidFill>
              </a:rPr>
              <a:t>UPDATE major — content change
ADD to existing topic file
MERGE — duplicate collapse
DELETE borderline (0.2–0.4)
→ approve / skip / apply all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7863840" y="1005840"/>
            <a:ext cx="3520440" cy="5029200"/>
          </a:xfrm>
          <a:prstGeom prst="rect">
            <a:avLst/>
          </a:prstGeom>
          <a:solidFill>
            <a:srgbClr val="FCEBEB"/>
          </a:solidFill>
          <a:ln w="25400">
            <a:solidFill>
              <a:srgbClr val="E24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1115568"/>
            <a:ext cx="475488" cy="4754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86800" y="109728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3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3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8046720" y="15727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human — hard stop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8046720" y="2011680"/>
            <a:ext cx="3154680" cy="0"/>
          </a:xfrm>
          <a:prstGeom prst="line">
            <a:avLst/>
          </a:prstGeom>
          <a:noFill/>
          <a:ln w="1016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8046720" y="2148840"/>
            <a:ext cx="32004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20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C2C2A"/>
                </a:solidFill>
              </a:rPr>
              <a:t>PROMOTE → CLAUDE.md
DEMOTE ← CLAUDE.md
DELETE low (≤ 0.2)
CONFLICT (always)
→ One at a time, explicit yes/no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0" y="6142808"/>
            <a:ext cx="12192000" cy="594360"/>
          </a:xfrm>
          <a:prstGeom prst="rect">
            <a:avLst/>
          </a:prstGeom>
          <a:solidFill>
            <a:srgbClr val="0434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365760" y="6126480"/>
            <a:ext cx="1143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is the hard boundary — PROMOTE and DEMOTE are always Tier 3, regardless of confidence score</a:t>
            </a:r>
            <a:endParaRPr lang="en-US" sz="1500" dirty="0"/>
          </a:p>
        </p:txBody>
      </p:sp>
      <p:pic>
        <p:nvPicPr>
          <p:cNvPr id="24" name="Image 0" descr="preencoded.png">
            <a:extLst>
              <a:ext uri="{FF2B5EF4-FFF2-40B4-BE49-F238E27FC236}">
                <a16:creationId xmlns:a16="http://schemas.microsoft.com/office/drawing/2014/main" id="{E551C5A8-3589-74FB-B160-5D26E25493F2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accent5">
                <a:tint val="45000"/>
                <a:satMod val="400000"/>
              </a:schemeClr>
            </a:duotone>
            <a:alphaModFix amt="35000"/>
          </a:blip>
          <a:stretch>
            <a:fillRect/>
          </a:stretch>
        </p:blipFill>
        <p:spPr>
          <a:xfrm>
            <a:off x="10972800" y="131445"/>
            <a:ext cx="762000" cy="76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34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430ADE-A7A4-043A-A1EE-6069747D6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0">
            <a:extLst>
              <a:ext uri="{FF2B5EF4-FFF2-40B4-BE49-F238E27FC236}">
                <a16:creationId xmlns:a16="http://schemas.microsoft.com/office/drawing/2014/main" id="{F04AAE16-080C-6CCD-3CC3-4F1CFE9BBD61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434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093D014C-70EE-A3B0-6684-1360CA60CA81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6109D6AF-C9B3-1B15-C1C1-125695135806}"/>
              </a:ext>
            </a:extLst>
          </p:cNvPr>
          <p:cNvSpPr/>
          <p:nvPr/>
        </p:nvSpPr>
        <p:spPr>
          <a:xfrm>
            <a:off x="365760" y="91440"/>
            <a:ext cx="11430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FE1C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Auto-Capture Trigger Points</a:t>
            </a:r>
            <a:endParaRPr lang="en-US" sz="2600" dirty="0">
              <a:solidFill>
                <a:srgbClr val="9FE1CB"/>
              </a:solidFill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6316A94B-3CE4-8CAD-B25E-A9306A1E2091}"/>
              </a:ext>
            </a:extLst>
          </p:cNvPr>
          <p:cNvSpPr/>
          <p:nvPr/>
        </p:nvSpPr>
        <p:spPr>
          <a:xfrm>
            <a:off x="365760" y="512064"/>
            <a:ext cx="1143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writes to memory automatically at 5 moments — no user prompting needed</a:t>
            </a:r>
            <a:endParaRPr lang="en-US" sz="1300" dirty="0"/>
          </a:p>
        </p:txBody>
      </p: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0DDA748C-5A6C-A58E-ADAD-47C9193E7C4C}"/>
              </a:ext>
            </a:extLst>
          </p:cNvPr>
          <p:cNvGrpSpPr/>
          <p:nvPr/>
        </p:nvGrpSpPr>
        <p:grpSpPr>
          <a:xfrm>
            <a:off x="667512" y="1060704"/>
            <a:ext cx="11438244" cy="3324824"/>
            <a:chOff x="667512" y="1060704"/>
            <a:chExt cx="11438244" cy="3324824"/>
          </a:xfrm>
        </p:grpSpPr>
        <p:sp>
          <p:nvSpPr>
            <p:cNvPr id="8" name="Shape 2">
              <a:extLst>
                <a:ext uri="{FF2B5EF4-FFF2-40B4-BE49-F238E27FC236}">
                  <a16:creationId xmlns:a16="http://schemas.microsoft.com/office/drawing/2014/main" id="{C55BD14A-CBE9-F88F-A633-E3734AD416BF}"/>
                </a:ext>
              </a:extLst>
            </p:cNvPr>
            <p:cNvSpPr/>
            <p:nvPr/>
          </p:nvSpPr>
          <p:spPr>
            <a:xfrm>
              <a:off x="3337560" y="1060704"/>
              <a:ext cx="3200400" cy="261910"/>
            </a:xfrm>
            <a:prstGeom prst="roundRect">
              <a:avLst>
                <a:gd name="adj" fmla="val 19355"/>
              </a:avLst>
            </a:prstGeom>
            <a:solidFill>
              <a:srgbClr val="F5F0EC"/>
            </a:solidFill>
            <a:ln w="15240">
              <a:solidFill>
                <a:srgbClr val="C8C0B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 3">
              <a:extLst>
                <a:ext uri="{FF2B5EF4-FFF2-40B4-BE49-F238E27FC236}">
                  <a16:creationId xmlns:a16="http://schemas.microsoft.com/office/drawing/2014/main" id="{6398858D-CD49-AF91-4498-0A8D1F8D081A}"/>
                </a:ext>
              </a:extLst>
            </p:cNvPr>
            <p:cNvSpPr/>
            <p:nvPr/>
          </p:nvSpPr>
          <p:spPr>
            <a:xfrm>
              <a:off x="3337560" y="1060704"/>
              <a:ext cx="3200400" cy="2619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700" b="1" dirty="0">
                  <a:solidFill>
                    <a:srgbClr val="3A353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Claude Code session</a:t>
              </a:r>
              <a:endParaRPr lang="en-US" sz="1700" dirty="0"/>
            </a:p>
          </p:txBody>
        </p:sp>
        <p:sp>
          <p:nvSpPr>
            <p:cNvPr id="10" name="Shape 4">
              <a:extLst>
                <a:ext uri="{FF2B5EF4-FFF2-40B4-BE49-F238E27FC236}">
                  <a16:creationId xmlns:a16="http://schemas.microsoft.com/office/drawing/2014/main" id="{F3907850-F528-24D5-0C69-653304EFA7C1}"/>
                </a:ext>
              </a:extLst>
            </p:cNvPr>
            <p:cNvSpPr/>
            <p:nvPr/>
          </p:nvSpPr>
          <p:spPr>
            <a:xfrm>
              <a:off x="4937760" y="1365072"/>
              <a:ext cx="0" cy="292608"/>
            </a:xfrm>
            <a:prstGeom prst="line">
              <a:avLst/>
            </a:prstGeom>
            <a:noFill/>
            <a:ln w="22860">
              <a:solidFill>
                <a:srgbClr val="C8C0B8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Shape 5">
              <a:extLst>
                <a:ext uri="{FF2B5EF4-FFF2-40B4-BE49-F238E27FC236}">
                  <a16:creationId xmlns:a16="http://schemas.microsoft.com/office/drawing/2014/main" id="{B8359E5F-80BE-4EBC-062F-16508A3BD9C2}"/>
                </a:ext>
              </a:extLst>
            </p:cNvPr>
            <p:cNvSpPr/>
            <p:nvPr/>
          </p:nvSpPr>
          <p:spPr>
            <a:xfrm>
              <a:off x="4937760" y="2001884"/>
              <a:ext cx="0" cy="2383644"/>
            </a:xfrm>
            <a:prstGeom prst="line">
              <a:avLst/>
            </a:prstGeom>
            <a:noFill/>
            <a:ln w="19050">
              <a:solidFill>
                <a:srgbClr val="C8C0B8"/>
              </a:solidFill>
              <a:prstDash val="dash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Shape 6">
              <a:extLst>
                <a:ext uri="{FF2B5EF4-FFF2-40B4-BE49-F238E27FC236}">
                  <a16:creationId xmlns:a16="http://schemas.microsoft.com/office/drawing/2014/main" id="{D64FD2DE-34AD-81B1-2588-08802D717D07}"/>
                </a:ext>
              </a:extLst>
            </p:cNvPr>
            <p:cNvSpPr/>
            <p:nvPr/>
          </p:nvSpPr>
          <p:spPr>
            <a:xfrm>
              <a:off x="3337560" y="1698173"/>
              <a:ext cx="3200400" cy="257666"/>
            </a:xfrm>
            <a:prstGeom prst="roundRect">
              <a:avLst>
                <a:gd name="adj" fmla="val 19355"/>
              </a:avLst>
            </a:prstGeom>
            <a:solidFill>
              <a:srgbClr val="F5F0EC"/>
            </a:solidFill>
            <a:ln w="19050">
              <a:solidFill>
                <a:srgbClr val="C8C0B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 7">
              <a:extLst>
                <a:ext uri="{FF2B5EF4-FFF2-40B4-BE49-F238E27FC236}">
                  <a16:creationId xmlns:a16="http://schemas.microsoft.com/office/drawing/2014/main" id="{CA3B1B91-A927-D720-B785-E95B5C6DA9B0}"/>
                </a:ext>
              </a:extLst>
            </p:cNvPr>
            <p:cNvSpPr/>
            <p:nvPr/>
          </p:nvSpPr>
          <p:spPr>
            <a:xfrm>
              <a:off x="3337560" y="1698172"/>
              <a:ext cx="3200400" cy="25766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3A353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Plan reviewed &amp; approved</a:t>
              </a:r>
              <a:endParaRPr lang="en-US" sz="1600" dirty="0"/>
            </a:p>
          </p:txBody>
        </p:sp>
        <p:sp>
          <p:nvSpPr>
            <p:cNvPr id="14" name="Shape 8">
              <a:extLst>
                <a:ext uri="{FF2B5EF4-FFF2-40B4-BE49-F238E27FC236}">
                  <a16:creationId xmlns:a16="http://schemas.microsoft.com/office/drawing/2014/main" id="{1D3256F1-C153-5C3D-4EB5-DDD8A1850F05}"/>
                </a:ext>
              </a:extLst>
            </p:cNvPr>
            <p:cNvSpPr/>
            <p:nvPr/>
          </p:nvSpPr>
          <p:spPr>
            <a:xfrm>
              <a:off x="6564412" y="1826192"/>
              <a:ext cx="457200" cy="0"/>
            </a:xfrm>
            <a:prstGeom prst="line">
              <a:avLst/>
            </a:prstGeom>
            <a:noFill/>
            <a:ln w="22860">
              <a:solidFill>
                <a:srgbClr val="1D9E75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Shape 9">
              <a:extLst>
                <a:ext uri="{FF2B5EF4-FFF2-40B4-BE49-F238E27FC236}">
                  <a16:creationId xmlns:a16="http://schemas.microsoft.com/office/drawing/2014/main" id="{24F7B84B-6A41-A43F-402D-415A5A1BD8A0}"/>
                </a:ext>
              </a:extLst>
            </p:cNvPr>
            <p:cNvSpPr/>
            <p:nvPr/>
          </p:nvSpPr>
          <p:spPr>
            <a:xfrm>
              <a:off x="7040880" y="1610767"/>
              <a:ext cx="2377440" cy="438908"/>
            </a:xfrm>
            <a:prstGeom prst="roundRect">
              <a:avLst>
                <a:gd name="adj" fmla="val 20690"/>
              </a:avLst>
            </a:prstGeom>
            <a:solidFill>
              <a:srgbClr val="CCEFE3"/>
            </a:solidFill>
            <a:ln w="15240">
              <a:solidFill>
                <a:srgbClr val="1D9E7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 10">
              <a:extLst>
                <a:ext uri="{FF2B5EF4-FFF2-40B4-BE49-F238E27FC236}">
                  <a16:creationId xmlns:a16="http://schemas.microsoft.com/office/drawing/2014/main" id="{04BF31F7-DDFA-60C6-B888-FE698B3F7581}"/>
                </a:ext>
              </a:extLst>
            </p:cNvPr>
            <p:cNvSpPr/>
            <p:nvPr/>
          </p:nvSpPr>
          <p:spPr>
            <a:xfrm>
              <a:off x="7040880" y="1610767"/>
              <a:ext cx="2194560" cy="4389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dirty="0">
                  <a:solidFill>
                    <a:srgbClr val="08504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approach agreed</a:t>
              </a:r>
              <a:endParaRPr lang="en-US" sz="1300" dirty="0"/>
            </a:p>
            <a:p>
              <a:pPr marL="0" indent="0" algn="ctr">
                <a:buNone/>
              </a:pPr>
              <a:r>
                <a:rPr lang="en-US" sz="1300" dirty="0">
                  <a:solidFill>
                    <a:srgbClr val="08504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tools &amp; constraints noted</a:t>
              </a:r>
              <a:endParaRPr lang="en-US" sz="1300" dirty="0"/>
            </a:p>
          </p:txBody>
        </p:sp>
        <p:sp>
          <p:nvSpPr>
            <p:cNvPr id="20" name="Shape 14">
              <a:extLst>
                <a:ext uri="{FF2B5EF4-FFF2-40B4-BE49-F238E27FC236}">
                  <a16:creationId xmlns:a16="http://schemas.microsoft.com/office/drawing/2014/main" id="{1C204131-19F3-F517-9B47-7C3242A2DB69}"/>
                </a:ext>
              </a:extLst>
            </p:cNvPr>
            <p:cNvSpPr/>
            <p:nvPr/>
          </p:nvSpPr>
          <p:spPr>
            <a:xfrm>
              <a:off x="3337560" y="2310491"/>
              <a:ext cx="3200400" cy="277586"/>
            </a:xfrm>
            <a:prstGeom prst="roundRect">
              <a:avLst>
                <a:gd name="adj" fmla="val 19355"/>
              </a:avLst>
            </a:prstGeom>
            <a:solidFill>
              <a:srgbClr val="F5F0EC"/>
            </a:solidFill>
            <a:ln w="19050">
              <a:solidFill>
                <a:srgbClr val="C8C0B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 15">
              <a:extLst>
                <a:ext uri="{FF2B5EF4-FFF2-40B4-BE49-F238E27FC236}">
                  <a16:creationId xmlns:a16="http://schemas.microsoft.com/office/drawing/2014/main" id="{9BAFCB7C-BF9C-E40A-B737-3581C6BBBEDF}"/>
                </a:ext>
              </a:extLst>
            </p:cNvPr>
            <p:cNvSpPr/>
            <p:nvPr/>
          </p:nvSpPr>
          <p:spPr>
            <a:xfrm>
              <a:off x="3337560" y="2310490"/>
              <a:ext cx="3200400" cy="27758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3A353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Task completed</a:t>
              </a:r>
              <a:endParaRPr lang="en-US" sz="1600" dirty="0"/>
            </a:p>
          </p:txBody>
        </p:sp>
        <p:sp>
          <p:nvSpPr>
            <p:cNvPr id="22" name="Shape 16">
              <a:extLst>
                <a:ext uri="{FF2B5EF4-FFF2-40B4-BE49-F238E27FC236}">
                  <a16:creationId xmlns:a16="http://schemas.microsoft.com/office/drawing/2014/main" id="{62A752AE-7C46-A182-2C62-C85D5D4C4706}"/>
                </a:ext>
              </a:extLst>
            </p:cNvPr>
            <p:cNvSpPr/>
            <p:nvPr/>
          </p:nvSpPr>
          <p:spPr>
            <a:xfrm>
              <a:off x="6582918" y="2431376"/>
              <a:ext cx="457200" cy="0"/>
            </a:xfrm>
            <a:prstGeom prst="line">
              <a:avLst/>
            </a:prstGeom>
            <a:noFill/>
            <a:ln w="22860">
              <a:solidFill>
                <a:srgbClr val="1D9E75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Shape 17">
              <a:extLst>
                <a:ext uri="{FF2B5EF4-FFF2-40B4-BE49-F238E27FC236}">
                  <a16:creationId xmlns:a16="http://schemas.microsoft.com/office/drawing/2014/main" id="{6D60DB3D-6CEC-7956-4A5A-88C8B92CCFFB}"/>
                </a:ext>
              </a:extLst>
            </p:cNvPr>
            <p:cNvSpPr/>
            <p:nvPr/>
          </p:nvSpPr>
          <p:spPr>
            <a:xfrm>
              <a:off x="7040880" y="2223348"/>
              <a:ext cx="2377440" cy="403975"/>
            </a:xfrm>
            <a:prstGeom prst="roundRect">
              <a:avLst>
                <a:gd name="adj" fmla="val 20690"/>
              </a:avLst>
            </a:prstGeom>
            <a:solidFill>
              <a:srgbClr val="CCEFE3"/>
            </a:solidFill>
            <a:ln w="15240">
              <a:solidFill>
                <a:srgbClr val="1D9E7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 18">
              <a:extLst>
                <a:ext uri="{FF2B5EF4-FFF2-40B4-BE49-F238E27FC236}">
                  <a16:creationId xmlns:a16="http://schemas.microsoft.com/office/drawing/2014/main" id="{D0B7D092-23A2-F576-292B-6EB99878D745}"/>
                </a:ext>
              </a:extLst>
            </p:cNvPr>
            <p:cNvSpPr/>
            <p:nvPr/>
          </p:nvSpPr>
          <p:spPr>
            <a:xfrm>
              <a:off x="7040880" y="2223348"/>
              <a:ext cx="2194560" cy="4039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dirty="0">
                  <a:solidFill>
                    <a:srgbClr val="08504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pattern that worked</a:t>
              </a:r>
              <a:endParaRPr lang="en-US" sz="1300" dirty="0"/>
            </a:p>
            <a:p>
              <a:pPr marL="0" indent="0" algn="ctr">
                <a:buNone/>
              </a:pPr>
              <a:r>
                <a:rPr lang="en-US" sz="1300" dirty="0">
                  <a:solidFill>
                    <a:srgbClr val="08504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confirmed conventions</a:t>
              </a:r>
              <a:endParaRPr lang="en-US" sz="1300" dirty="0"/>
            </a:p>
          </p:txBody>
        </p:sp>
        <p:sp>
          <p:nvSpPr>
            <p:cNvPr id="25" name="Shape 19">
              <a:extLst>
                <a:ext uri="{FF2B5EF4-FFF2-40B4-BE49-F238E27FC236}">
                  <a16:creationId xmlns:a16="http://schemas.microsoft.com/office/drawing/2014/main" id="{60FBD6F8-48F2-78A3-3467-A2AC7234975E}"/>
                </a:ext>
              </a:extLst>
            </p:cNvPr>
            <p:cNvSpPr/>
            <p:nvPr/>
          </p:nvSpPr>
          <p:spPr>
            <a:xfrm>
              <a:off x="3337560" y="2904855"/>
              <a:ext cx="3200400" cy="283464"/>
            </a:xfrm>
            <a:prstGeom prst="roundRect">
              <a:avLst>
                <a:gd name="adj" fmla="val 19355"/>
              </a:avLst>
            </a:prstGeom>
            <a:solidFill>
              <a:srgbClr val="F5F0EC"/>
            </a:solidFill>
            <a:ln w="19050">
              <a:solidFill>
                <a:srgbClr val="C8C0B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 20">
              <a:extLst>
                <a:ext uri="{FF2B5EF4-FFF2-40B4-BE49-F238E27FC236}">
                  <a16:creationId xmlns:a16="http://schemas.microsoft.com/office/drawing/2014/main" id="{009507CC-115E-FED1-0579-6C0D2125CDE3}"/>
                </a:ext>
              </a:extLst>
            </p:cNvPr>
            <p:cNvSpPr/>
            <p:nvPr/>
          </p:nvSpPr>
          <p:spPr>
            <a:xfrm>
              <a:off x="3337560" y="2904855"/>
              <a:ext cx="3200400" cy="2834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3A353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Error resolved</a:t>
              </a:r>
              <a:endParaRPr lang="en-US" sz="1600" dirty="0"/>
            </a:p>
          </p:txBody>
        </p:sp>
        <p:sp>
          <p:nvSpPr>
            <p:cNvPr id="27" name="Shape 21">
              <a:extLst>
                <a:ext uri="{FF2B5EF4-FFF2-40B4-BE49-F238E27FC236}">
                  <a16:creationId xmlns:a16="http://schemas.microsoft.com/office/drawing/2014/main" id="{C0F3C7FB-0BA3-47AD-7B14-6FC2BA228011}"/>
                </a:ext>
              </a:extLst>
            </p:cNvPr>
            <p:cNvSpPr/>
            <p:nvPr/>
          </p:nvSpPr>
          <p:spPr>
            <a:xfrm>
              <a:off x="6582918" y="3043225"/>
              <a:ext cx="457200" cy="0"/>
            </a:xfrm>
            <a:prstGeom prst="line">
              <a:avLst/>
            </a:prstGeom>
            <a:noFill/>
            <a:ln w="22860">
              <a:solidFill>
                <a:srgbClr val="1D9E75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Shape 22">
              <a:extLst>
                <a:ext uri="{FF2B5EF4-FFF2-40B4-BE49-F238E27FC236}">
                  <a16:creationId xmlns:a16="http://schemas.microsoft.com/office/drawing/2014/main" id="{5CB0F898-9740-51F6-C647-B8B2F57B52E7}"/>
                </a:ext>
              </a:extLst>
            </p:cNvPr>
            <p:cNvSpPr/>
            <p:nvPr/>
          </p:nvSpPr>
          <p:spPr>
            <a:xfrm>
              <a:off x="7040880" y="2827033"/>
              <a:ext cx="2377440" cy="403975"/>
            </a:xfrm>
            <a:prstGeom prst="roundRect">
              <a:avLst>
                <a:gd name="adj" fmla="val 20690"/>
              </a:avLst>
            </a:prstGeom>
            <a:solidFill>
              <a:srgbClr val="CCEFE3"/>
            </a:solidFill>
            <a:ln w="15240">
              <a:solidFill>
                <a:srgbClr val="1D9E7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 23">
              <a:extLst>
                <a:ext uri="{FF2B5EF4-FFF2-40B4-BE49-F238E27FC236}">
                  <a16:creationId xmlns:a16="http://schemas.microsoft.com/office/drawing/2014/main" id="{5F3BD075-73E3-5B6D-9A6A-78D43E2DC7AC}"/>
                </a:ext>
              </a:extLst>
            </p:cNvPr>
            <p:cNvSpPr/>
            <p:nvPr/>
          </p:nvSpPr>
          <p:spPr>
            <a:xfrm>
              <a:off x="7040880" y="2827033"/>
              <a:ext cx="2194560" cy="4039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dirty="0">
                  <a:solidFill>
                    <a:srgbClr val="08504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root cause + fix</a:t>
              </a:r>
              <a:endParaRPr lang="en-US" sz="1300" dirty="0"/>
            </a:p>
            <a:p>
              <a:pPr marL="0" indent="0" algn="ctr">
                <a:buNone/>
              </a:pPr>
              <a:r>
                <a:rPr lang="en-US" sz="1300" dirty="0">
                  <a:solidFill>
                    <a:srgbClr val="08504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gotcha to avoid</a:t>
              </a:r>
              <a:endParaRPr lang="en-US" sz="1300" dirty="0"/>
            </a:p>
          </p:txBody>
        </p:sp>
        <p:sp>
          <p:nvSpPr>
            <p:cNvPr id="30" name="Shape 24">
              <a:extLst>
                <a:ext uri="{FF2B5EF4-FFF2-40B4-BE49-F238E27FC236}">
                  <a16:creationId xmlns:a16="http://schemas.microsoft.com/office/drawing/2014/main" id="{F2A4A84E-49CD-8C01-130E-8BF63E3C544C}"/>
                </a:ext>
              </a:extLst>
            </p:cNvPr>
            <p:cNvSpPr/>
            <p:nvPr/>
          </p:nvSpPr>
          <p:spPr>
            <a:xfrm>
              <a:off x="3337560" y="3511294"/>
              <a:ext cx="3200400" cy="283465"/>
            </a:xfrm>
            <a:prstGeom prst="roundRect">
              <a:avLst>
                <a:gd name="adj" fmla="val 19355"/>
              </a:avLst>
            </a:prstGeom>
            <a:solidFill>
              <a:srgbClr val="F5F0EC"/>
            </a:solidFill>
            <a:ln w="19050">
              <a:solidFill>
                <a:srgbClr val="C8C0B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 25">
              <a:extLst>
                <a:ext uri="{FF2B5EF4-FFF2-40B4-BE49-F238E27FC236}">
                  <a16:creationId xmlns:a16="http://schemas.microsoft.com/office/drawing/2014/main" id="{EAA62239-B08B-2CF3-08F5-FAB8D9F93DEB}"/>
                </a:ext>
              </a:extLst>
            </p:cNvPr>
            <p:cNvSpPr/>
            <p:nvPr/>
          </p:nvSpPr>
          <p:spPr>
            <a:xfrm>
              <a:off x="3337560" y="3511294"/>
              <a:ext cx="3200400" cy="2834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3A353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Approach abandoned</a:t>
              </a:r>
              <a:endParaRPr lang="en-US" sz="1600" dirty="0"/>
            </a:p>
          </p:txBody>
        </p:sp>
        <p:sp>
          <p:nvSpPr>
            <p:cNvPr id="32" name="Shape 26">
              <a:extLst>
                <a:ext uri="{FF2B5EF4-FFF2-40B4-BE49-F238E27FC236}">
                  <a16:creationId xmlns:a16="http://schemas.microsoft.com/office/drawing/2014/main" id="{23DFEBBF-7D28-DC3C-F9F3-5E8C1975CA49}"/>
                </a:ext>
              </a:extLst>
            </p:cNvPr>
            <p:cNvSpPr/>
            <p:nvPr/>
          </p:nvSpPr>
          <p:spPr>
            <a:xfrm>
              <a:off x="6556248" y="3641198"/>
              <a:ext cx="457200" cy="0"/>
            </a:xfrm>
            <a:prstGeom prst="line">
              <a:avLst/>
            </a:prstGeom>
            <a:noFill/>
            <a:ln w="22860">
              <a:solidFill>
                <a:srgbClr val="E24B4A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Shape 27">
              <a:extLst>
                <a:ext uri="{FF2B5EF4-FFF2-40B4-BE49-F238E27FC236}">
                  <a16:creationId xmlns:a16="http://schemas.microsoft.com/office/drawing/2014/main" id="{DD8649B4-752E-3D24-7282-E17042B09AEA}"/>
                </a:ext>
              </a:extLst>
            </p:cNvPr>
            <p:cNvSpPr/>
            <p:nvPr/>
          </p:nvSpPr>
          <p:spPr>
            <a:xfrm>
              <a:off x="7040880" y="3425006"/>
              <a:ext cx="2377440" cy="403973"/>
            </a:xfrm>
            <a:prstGeom prst="roundRect">
              <a:avLst>
                <a:gd name="adj" fmla="val 20690"/>
              </a:avLst>
            </a:prstGeom>
            <a:solidFill>
              <a:srgbClr val="FDE8E8"/>
            </a:solidFill>
            <a:ln w="15240">
              <a:solidFill>
                <a:srgbClr val="E24B4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 28">
              <a:extLst>
                <a:ext uri="{FF2B5EF4-FFF2-40B4-BE49-F238E27FC236}">
                  <a16:creationId xmlns:a16="http://schemas.microsoft.com/office/drawing/2014/main" id="{2E7E1613-8445-602E-09B5-4A435F17C1F4}"/>
                </a:ext>
              </a:extLst>
            </p:cNvPr>
            <p:cNvSpPr/>
            <p:nvPr/>
          </p:nvSpPr>
          <p:spPr>
            <a:xfrm>
              <a:off x="7040880" y="3425006"/>
              <a:ext cx="2194560" cy="40397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dirty="0">
                  <a:solidFill>
                    <a:srgbClr val="A32D2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do NOT retry</a:t>
              </a:r>
              <a:endParaRPr lang="en-US" sz="1300" dirty="0"/>
            </a:p>
            <a:p>
              <a:pPr marL="0" indent="0" algn="ctr">
                <a:buNone/>
              </a:pPr>
              <a:r>
                <a:rPr lang="en-US" sz="1300" dirty="0">
                  <a:solidFill>
                    <a:srgbClr val="A32D2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why it failed</a:t>
              </a:r>
              <a:endParaRPr lang="en-US" sz="1300" dirty="0"/>
            </a:p>
          </p:txBody>
        </p:sp>
        <p:sp>
          <p:nvSpPr>
            <p:cNvPr id="35" name="Shape 29">
              <a:extLst>
                <a:ext uri="{FF2B5EF4-FFF2-40B4-BE49-F238E27FC236}">
                  <a16:creationId xmlns:a16="http://schemas.microsoft.com/office/drawing/2014/main" id="{9AC8696E-91D7-936A-908A-E81AB6420AFA}"/>
                </a:ext>
              </a:extLst>
            </p:cNvPr>
            <p:cNvSpPr/>
            <p:nvPr/>
          </p:nvSpPr>
          <p:spPr>
            <a:xfrm>
              <a:off x="2880360" y="3671894"/>
              <a:ext cx="438912" cy="0"/>
            </a:xfrm>
            <a:prstGeom prst="line">
              <a:avLst/>
            </a:prstGeom>
            <a:noFill/>
            <a:ln w="15240">
              <a:solidFill>
                <a:srgbClr val="E24B4A"/>
              </a:solidFill>
              <a:prstDash val="dash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Shape 30">
              <a:extLst>
                <a:ext uri="{FF2B5EF4-FFF2-40B4-BE49-F238E27FC236}">
                  <a16:creationId xmlns:a16="http://schemas.microsoft.com/office/drawing/2014/main" id="{ED53C5A3-40DD-FC03-5D41-2184189B03CD}"/>
                </a:ext>
              </a:extLst>
            </p:cNvPr>
            <p:cNvSpPr/>
            <p:nvPr/>
          </p:nvSpPr>
          <p:spPr>
            <a:xfrm>
              <a:off x="667512" y="3469907"/>
              <a:ext cx="2194560" cy="403973"/>
            </a:xfrm>
            <a:prstGeom prst="roundRect">
              <a:avLst>
                <a:gd name="adj" fmla="val 22222"/>
              </a:avLst>
            </a:prstGeom>
            <a:solidFill>
              <a:srgbClr val="FDE8E8"/>
            </a:solidFill>
            <a:ln w="15240">
              <a:solidFill>
                <a:srgbClr val="E24B4A"/>
              </a:solidFill>
              <a:prstDash val="dash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 31">
              <a:extLst>
                <a:ext uri="{FF2B5EF4-FFF2-40B4-BE49-F238E27FC236}">
                  <a16:creationId xmlns:a16="http://schemas.microsoft.com/office/drawing/2014/main" id="{D62BF208-67A4-109D-C37E-F8C6057BB365}"/>
                </a:ext>
              </a:extLst>
            </p:cNvPr>
            <p:cNvSpPr/>
            <p:nvPr/>
          </p:nvSpPr>
          <p:spPr>
            <a:xfrm>
              <a:off x="758952" y="3469907"/>
              <a:ext cx="2011680" cy="40397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i="1" dirty="0">
                  <a:solidFill>
                    <a:srgbClr val="A32D2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highest priority write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en-US" sz="1200" i="1" dirty="0">
                  <a:solidFill>
                    <a:srgbClr val="A32D2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fast-tracked to CLAUDE.md</a:t>
              </a:r>
              <a:endParaRPr lang="en-US" sz="1200" dirty="0"/>
            </a:p>
          </p:txBody>
        </p:sp>
        <p:sp>
          <p:nvSpPr>
            <p:cNvPr id="38" name="Shape 32">
              <a:extLst>
                <a:ext uri="{FF2B5EF4-FFF2-40B4-BE49-F238E27FC236}">
                  <a16:creationId xmlns:a16="http://schemas.microsoft.com/office/drawing/2014/main" id="{0A3B7D7B-8522-8271-1182-F8F646855D98}"/>
                </a:ext>
              </a:extLst>
            </p:cNvPr>
            <p:cNvSpPr/>
            <p:nvPr/>
          </p:nvSpPr>
          <p:spPr>
            <a:xfrm>
              <a:off x="3355848" y="4102062"/>
              <a:ext cx="3200400" cy="283466"/>
            </a:xfrm>
            <a:prstGeom prst="roundRect">
              <a:avLst>
                <a:gd name="adj" fmla="val 19355"/>
              </a:avLst>
            </a:prstGeom>
            <a:solidFill>
              <a:srgbClr val="F5F0EC"/>
            </a:solidFill>
            <a:ln w="19050">
              <a:solidFill>
                <a:srgbClr val="C8C0B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 33">
              <a:extLst>
                <a:ext uri="{FF2B5EF4-FFF2-40B4-BE49-F238E27FC236}">
                  <a16:creationId xmlns:a16="http://schemas.microsoft.com/office/drawing/2014/main" id="{FD206A43-7A6A-728D-71E6-C3C2FF0CCC9F}"/>
                </a:ext>
              </a:extLst>
            </p:cNvPr>
            <p:cNvSpPr/>
            <p:nvPr/>
          </p:nvSpPr>
          <p:spPr>
            <a:xfrm>
              <a:off x="3355848" y="4102062"/>
              <a:ext cx="3200400" cy="28346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3A353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Architecture decision</a:t>
              </a:r>
              <a:endParaRPr lang="en-US" sz="1600" dirty="0"/>
            </a:p>
          </p:txBody>
        </p:sp>
        <p:sp>
          <p:nvSpPr>
            <p:cNvPr id="40" name="Shape 34">
              <a:extLst>
                <a:ext uri="{FF2B5EF4-FFF2-40B4-BE49-F238E27FC236}">
                  <a16:creationId xmlns:a16="http://schemas.microsoft.com/office/drawing/2014/main" id="{2B50EDC8-B05F-ADD6-7200-B73C1BF070CB}"/>
                </a:ext>
              </a:extLst>
            </p:cNvPr>
            <p:cNvSpPr/>
            <p:nvPr/>
          </p:nvSpPr>
          <p:spPr>
            <a:xfrm>
              <a:off x="6591082" y="4246733"/>
              <a:ext cx="457200" cy="0"/>
            </a:xfrm>
            <a:prstGeom prst="line">
              <a:avLst/>
            </a:prstGeom>
            <a:noFill/>
            <a:ln w="22860">
              <a:solidFill>
                <a:srgbClr val="1D9E75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35">
              <a:extLst>
                <a:ext uri="{FF2B5EF4-FFF2-40B4-BE49-F238E27FC236}">
                  <a16:creationId xmlns:a16="http://schemas.microsoft.com/office/drawing/2014/main" id="{F313BB53-2F09-EA7D-974F-4720EC7B71DF}"/>
                </a:ext>
              </a:extLst>
            </p:cNvPr>
            <p:cNvSpPr/>
            <p:nvPr/>
          </p:nvSpPr>
          <p:spPr>
            <a:xfrm>
              <a:off x="7040880" y="3981557"/>
              <a:ext cx="2377440" cy="403971"/>
            </a:xfrm>
            <a:prstGeom prst="roundRect">
              <a:avLst>
                <a:gd name="adj" fmla="val 20690"/>
              </a:avLst>
            </a:prstGeom>
            <a:solidFill>
              <a:srgbClr val="CCEFE3"/>
            </a:solidFill>
            <a:ln w="15240">
              <a:solidFill>
                <a:srgbClr val="1D9E7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 36">
              <a:extLst>
                <a:ext uri="{FF2B5EF4-FFF2-40B4-BE49-F238E27FC236}">
                  <a16:creationId xmlns:a16="http://schemas.microsoft.com/office/drawing/2014/main" id="{FA7B154A-2D18-BCC7-4749-66D7B2017C78}"/>
                </a:ext>
              </a:extLst>
            </p:cNvPr>
            <p:cNvSpPr/>
            <p:nvPr/>
          </p:nvSpPr>
          <p:spPr>
            <a:xfrm>
              <a:off x="7040880" y="3981557"/>
              <a:ext cx="2194560" cy="40397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dirty="0">
                  <a:solidFill>
                    <a:srgbClr val="08504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decision + rationale</a:t>
              </a:r>
              <a:endParaRPr lang="en-US" sz="1300" dirty="0"/>
            </a:p>
            <a:p>
              <a:pPr marL="0" indent="0" algn="ctr">
                <a:buNone/>
              </a:pPr>
              <a:r>
                <a:rPr lang="en-US" sz="1300" dirty="0">
                  <a:solidFill>
                    <a:srgbClr val="08504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alternatives rejected</a:t>
              </a:r>
              <a:endParaRPr lang="en-US" sz="1300" dirty="0"/>
            </a:p>
          </p:txBody>
        </p: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5002E3D6-67F8-7550-3487-45E79C61B35B}"/>
                </a:ext>
              </a:extLst>
            </p:cNvPr>
            <p:cNvGrpSpPr/>
            <p:nvPr/>
          </p:nvGrpSpPr>
          <p:grpSpPr>
            <a:xfrm>
              <a:off x="10603774" y="2885512"/>
              <a:ext cx="1501982" cy="320998"/>
              <a:chOff x="10335986" y="2737641"/>
              <a:chExt cx="1571134" cy="320998"/>
            </a:xfrm>
          </p:grpSpPr>
          <p:sp>
            <p:nvSpPr>
              <p:cNvPr id="87" name="Rectangle: Rounded Corners 86">
                <a:extLst>
                  <a:ext uri="{FF2B5EF4-FFF2-40B4-BE49-F238E27FC236}">
                    <a16:creationId xmlns:a16="http://schemas.microsoft.com/office/drawing/2014/main" id="{23859C9D-5483-79D0-66BE-BC944855004B}"/>
                  </a:ext>
                </a:extLst>
              </p:cNvPr>
              <p:cNvSpPr/>
              <p:nvPr/>
            </p:nvSpPr>
            <p:spPr>
              <a:xfrm>
                <a:off x="10335986" y="2737641"/>
                <a:ext cx="1571134" cy="320998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59E7E5B4-D264-1A5F-E215-7984E677CD30}"/>
                  </a:ext>
                </a:extLst>
              </p:cNvPr>
              <p:cNvSpPr txBox="1"/>
              <p:nvPr/>
            </p:nvSpPr>
            <p:spPr>
              <a:xfrm>
                <a:off x="10349449" y="2737641"/>
                <a:ext cx="155767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dirty="0"/>
                  <a:t>memory</a:t>
                </a:r>
              </a:p>
            </p:txBody>
          </p:sp>
        </p:grp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3034AA59-8D4E-3917-6E1F-A52081E51BAD}"/>
                </a:ext>
              </a:extLst>
            </p:cNvPr>
            <p:cNvCxnSpPr/>
            <p:nvPr/>
          </p:nvCxnSpPr>
          <p:spPr>
            <a:xfrm>
              <a:off x="9919607" y="1826192"/>
              <a:ext cx="0" cy="2357350"/>
            </a:xfrm>
            <a:prstGeom prst="line">
              <a:avLst/>
            </a:prstGeom>
            <a:ln w="12700"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ACA8CA31-68B6-6B8B-DEAC-C06C7A6C0F5A}"/>
                </a:ext>
              </a:extLst>
            </p:cNvPr>
            <p:cNvCxnSpPr>
              <a:endCxn id="15" idx="3"/>
            </p:cNvCxnSpPr>
            <p:nvPr/>
          </p:nvCxnSpPr>
          <p:spPr>
            <a:xfrm flipH="1">
              <a:off x="9418320" y="1826192"/>
              <a:ext cx="501287" cy="4029"/>
            </a:xfrm>
            <a:prstGeom prst="line">
              <a:avLst/>
            </a:prstGeom>
            <a:ln w="12700"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0C42DB80-AFCD-47DF-FD24-922923556C77}"/>
                </a:ext>
              </a:extLst>
            </p:cNvPr>
            <p:cNvCxnSpPr/>
            <p:nvPr/>
          </p:nvCxnSpPr>
          <p:spPr>
            <a:xfrm flipH="1">
              <a:off x="9418319" y="2417716"/>
              <a:ext cx="501287" cy="4029"/>
            </a:xfrm>
            <a:prstGeom prst="line">
              <a:avLst/>
            </a:prstGeom>
            <a:ln w="12700"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D5D408CE-4E57-845D-245D-E38AFFCDA0C8}"/>
                </a:ext>
              </a:extLst>
            </p:cNvPr>
            <p:cNvCxnSpPr/>
            <p:nvPr/>
          </p:nvCxnSpPr>
          <p:spPr>
            <a:xfrm flipH="1">
              <a:off x="9418320" y="3027005"/>
              <a:ext cx="501287" cy="4029"/>
            </a:xfrm>
            <a:prstGeom prst="line">
              <a:avLst/>
            </a:prstGeom>
            <a:ln w="12700"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2D5A3572-FC19-ECBA-EE6F-47BC7C85E4B1}"/>
                </a:ext>
              </a:extLst>
            </p:cNvPr>
            <p:cNvCxnSpPr/>
            <p:nvPr/>
          </p:nvCxnSpPr>
          <p:spPr>
            <a:xfrm flipH="1">
              <a:off x="9418318" y="4179052"/>
              <a:ext cx="501287" cy="4029"/>
            </a:xfrm>
            <a:prstGeom prst="line">
              <a:avLst/>
            </a:prstGeom>
            <a:ln w="12700"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ECCFE489-D861-9FFD-4FAB-468877504FCF}"/>
                </a:ext>
              </a:extLst>
            </p:cNvPr>
            <p:cNvCxnSpPr>
              <a:endCxn id="97" idx="1"/>
            </p:cNvCxnSpPr>
            <p:nvPr/>
          </p:nvCxnSpPr>
          <p:spPr>
            <a:xfrm>
              <a:off x="9919607" y="3024011"/>
              <a:ext cx="697037" cy="1"/>
            </a:xfrm>
            <a:prstGeom prst="line">
              <a:avLst/>
            </a:prstGeom>
            <a:ln w="12700"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25" name="Shape 40">
            <a:extLst>
              <a:ext uri="{FF2B5EF4-FFF2-40B4-BE49-F238E27FC236}">
                <a16:creationId xmlns:a16="http://schemas.microsoft.com/office/drawing/2014/main" id="{A5A86E3C-E3F8-1CDB-6D03-D5CE39020648}"/>
              </a:ext>
            </a:extLst>
          </p:cNvPr>
          <p:cNvSpPr/>
          <p:nvPr/>
        </p:nvSpPr>
        <p:spPr>
          <a:xfrm>
            <a:off x="365760" y="4977325"/>
            <a:ext cx="11612880" cy="1042777"/>
          </a:xfrm>
          <a:prstGeom prst="rect">
            <a:avLst/>
          </a:prstGeom>
          <a:solidFill>
            <a:schemeClr val="bg1"/>
          </a:solidFill>
          <a:ln w="1016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Text 41">
            <a:extLst>
              <a:ext uri="{FF2B5EF4-FFF2-40B4-BE49-F238E27FC236}">
                <a16:creationId xmlns:a16="http://schemas.microsoft.com/office/drawing/2014/main" id="{A0F66291-663C-987E-275C-AD8A3D07248E}"/>
              </a:ext>
            </a:extLst>
          </p:cNvPr>
          <p:cNvSpPr/>
          <p:nvPr/>
        </p:nvSpPr>
        <p:spPr>
          <a:xfrm>
            <a:off x="457200" y="503219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approved</a:t>
            </a:r>
            <a:endParaRPr lang="en-US" sz="1100" dirty="0"/>
          </a:p>
        </p:txBody>
      </p:sp>
      <p:sp>
        <p:nvSpPr>
          <p:cNvPr id="127" name="Shape 42">
            <a:extLst>
              <a:ext uri="{FF2B5EF4-FFF2-40B4-BE49-F238E27FC236}">
                <a16:creationId xmlns:a16="http://schemas.microsoft.com/office/drawing/2014/main" id="{208C5F4F-1B56-1B34-8497-3424D40B747E}"/>
              </a:ext>
            </a:extLst>
          </p:cNvPr>
          <p:cNvSpPr/>
          <p:nvPr/>
        </p:nvSpPr>
        <p:spPr>
          <a:xfrm>
            <a:off x="457200" y="5269934"/>
            <a:ext cx="2057400" cy="0"/>
          </a:xfrm>
          <a:prstGeom prst="line">
            <a:avLst/>
          </a:prstGeom>
          <a:noFill/>
          <a:ln w="762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Text 43">
            <a:extLst>
              <a:ext uri="{FF2B5EF4-FFF2-40B4-BE49-F238E27FC236}">
                <a16:creationId xmlns:a16="http://schemas.microsoft.com/office/drawing/2014/main" id="{C543CA28-55A8-72AF-60EE-6DD716825420}"/>
              </a:ext>
            </a:extLst>
          </p:cNvPr>
          <p:cNvSpPr/>
          <p:nvPr/>
        </p:nvSpPr>
        <p:spPr>
          <a:xfrm>
            <a:off x="457200" y="5324797"/>
            <a:ext cx="2103120" cy="67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Captures the 'why' while intent is freshest. Tools, libraries, constraints, and approach agreed before any code is written.</a:t>
            </a:r>
            <a:endParaRPr lang="en-US" sz="1050" dirty="0"/>
          </a:p>
        </p:txBody>
      </p:sp>
      <p:sp>
        <p:nvSpPr>
          <p:cNvPr id="129" name="Shape 44">
            <a:extLst>
              <a:ext uri="{FF2B5EF4-FFF2-40B4-BE49-F238E27FC236}">
                <a16:creationId xmlns:a16="http://schemas.microsoft.com/office/drawing/2014/main" id="{DC5A8AF9-5F2E-2BA0-F132-37EC71AEB816}"/>
              </a:ext>
            </a:extLst>
          </p:cNvPr>
          <p:cNvSpPr/>
          <p:nvPr/>
        </p:nvSpPr>
        <p:spPr>
          <a:xfrm>
            <a:off x="2651760" y="5050478"/>
            <a:ext cx="0" cy="941338"/>
          </a:xfrm>
          <a:prstGeom prst="line">
            <a:avLst/>
          </a:prstGeom>
          <a:noFill/>
          <a:ln w="5080">
            <a:solidFill>
              <a:srgbClr val="1D9E7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0" name="Text 45">
            <a:extLst>
              <a:ext uri="{FF2B5EF4-FFF2-40B4-BE49-F238E27FC236}">
                <a16:creationId xmlns:a16="http://schemas.microsoft.com/office/drawing/2014/main" id="{3FEE1B07-DD90-3A5C-B733-96ABF30631EA}"/>
              </a:ext>
            </a:extLst>
          </p:cNvPr>
          <p:cNvSpPr/>
          <p:nvPr/>
        </p:nvSpPr>
        <p:spPr>
          <a:xfrm>
            <a:off x="2743200" y="503219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completed</a:t>
            </a:r>
            <a:endParaRPr lang="en-US" sz="1100" dirty="0"/>
          </a:p>
        </p:txBody>
      </p:sp>
      <p:sp>
        <p:nvSpPr>
          <p:cNvPr id="131" name="Shape 46">
            <a:extLst>
              <a:ext uri="{FF2B5EF4-FFF2-40B4-BE49-F238E27FC236}">
                <a16:creationId xmlns:a16="http://schemas.microsoft.com/office/drawing/2014/main" id="{B0A311B6-271A-C296-1D76-447A68DCE6B9}"/>
              </a:ext>
            </a:extLst>
          </p:cNvPr>
          <p:cNvSpPr/>
          <p:nvPr/>
        </p:nvSpPr>
        <p:spPr>
          <a:xfrm>
            <a:off x="2743200" y="5269934"/>
            <a:ext cx="2057400" cy="0"/>
          </a:xfrm>
          <a:prstGeom prst="line">
            <a:avLst/>
          </a:prstGeom>
          <a:noFill/>
          <a:ln w="762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Text 47">
            <a:extLst>
              <a:ext uri="{FF2B5EF4-FFF2-40B4-BE49-F238E27FC236}">
                <a16:creationId xmlns:a16="http://schemas.microsoft.com/office/drawing/2014/main" id="{97B09B4D-FF97-0225-822C-D622EAC034E6}"/>
              </a:ext>
            </a:extLst>
          </p:cNvPr>
          <p:cNvSpPr/>
          <p:nvPr/>
        </p:nvSpPr>
        <p:spPr>
          <a:xfrm>
            <a:off x="2743200" y="5324798"/>
            <a:ext cx="2103120" cy="675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Records what actually worked — not just the plan. Confirms conventions discovered during execution.</a:t>
            </a:r>
            <a:endParaRPr lang="en-US" sz="1050" dirty="0"/>
          </a:p>
        </p:txBody>
      </p:sp>
      <p:sp>
        <p:nvSpPr>
          <p:cNvPr id="133" name="Shape 48">
            <a:extLst>
              <a:ext uri="{FF2B5EF4-FFF2-40B4-BE49-F238E27FC236}">
                <a16:creationId xmlns:a16="http://schemas.microsoft.com/office/drawing/2014/main" id="{4E646C6D-95FB-6C4D-A88E-9896018A6D32}"/>
              </a:ext>
            </a:extLst>
          </p:cNvPr>
          <p:cNvSpPr/>
          <p:nvPr/>
        </p:nvSpPr>
        <p:spPr>
          <a:xfrm>
            <a:off x="4937760" y="5050478"/>
            <a:ext cx="0" cy="941338"/>
          </a:xfrm>
          <a:prstGeom prst="line">
            <a:avLst/>
          </a:prstGeom>
          <a:noFill/>
          <a:ln w="5080">
            <a:solidFill>
              <a:srgbClr val="1D9E7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4" name="Text 49">
            <a:extLst>
              <a:ext uri="{FF2B5EF4-FFF2-40B4-BE49-F238E27FC236}">
                <a16:creationId xmlns:a16="http://schemas.microsoft.com/office/drawing/2014/main" id="{760778AA-6DD0-AF1F-0B6F-9254C3EF65CC}"/>
              </a:ext>
            </a:extLst>
          </p:cNvPr>
          <p:cNvSpPr/>
          <p:nvPr/>
        </p:nvSpPr>
        <p:spPr>
          <a:xfrm>
            <a:off x="5029200" y="503219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resolved</a:t>
            </a:r>
            <a:endParaRPr lang="en-US" sz="1100" dirty="0"/>
          </a:p>
        </p:txBody>
      </p:sp>
      <p:sp>
        <p:nvSpPr>
          <p:cNvPr id="135" name="Shape 50">
            <a:extLst>
              <a:ext uri="{FF2B5EF4-FFF2-40B4-BE49-F238E27FC236}">
                <a16:creationId xmlns:a16="http://schemas.microsoft.com/office/drawing/2014/main" id="{4508FFCC-A115-709C-A2B0-B291A11D7FC7}"/>
              </a:ext>
            </a:extLst>
          </p:cNvPr>
          <p:cNvSpPr/>
          <p:nvPr/>
        </p:nvSpPr>
        <p:spPr>
          <a:xfrm>
            <a:off x="5029200" y="5269934"/>
            <a:ext cx="2057400" cy="0"/>
          </a:xfrm>
          <a:prstGeom prst="line">
            <a:avLst/>
          </a:prstGeom>
          <a:noFill/>
          <a:ln w="762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Text 51">
            <a:extLst>
              <a:ext uri="{FF2B5EF4-FFF2-40B4-BE49-F238E27FC236}">
                <a16:creationId xmlns:a16="http://schemas.microsoft.com/office/drawing/2014/main" id="{612577B6-8C29-95C8-122B-F4275FEBC4E1}"/>
              </a:ext>
            </a:extLst>
          </p:cNvPr>
          <p:cNvSpPr/>
          <p:nvPr/>
        </p:nvSpPr>
        <p:spPr>
          <a:xfrm>
            <a:off x="5029200" y="5324797"/>
            <a:ext cx="2103120" cy="667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Most valuable memory. Captures the exact error, root cause, fix, and gotcha so the same issue is never debugged twice.</a:t>
            </a:r>
            <a:endParaRPr lang="en-US" sz="1050" dirty="0"/>
          </a:p>
        </p:txBody>
      </p:sp>
      <p:sp>
        <p:nvSpPr>
          <p:cNvPr id="137" name="Shape 52">
            <a:extLst>
              <a:ext uri="{FF2B5EF4-FFF2-40B4-BE49-F238E27FC236}">
                <a16:creationId xmlns:a16="http://schemas.microsoft.com/office/drawing/2014/main" id="{CD35D72B-C24F-AA00-5BE0-986F3140B43B}"/>
              </a:ext>
            </a:extLst>
          </p:cNvPr>
          <p:cNvSpPr/>
          <p:nvPr/>
        </p:nvSpPr>
        <p:spPr>
          <a:xfrm>
            <a:off x="7223760" y="5050478"/>
            <a:ext cx="0" cy="941338"/>
          </a:xfrm>
          <a:prstGeom prst="line">
            <a:avLst/>
          </a:prstGeom>
          <a:noFill/>
          <a:ln w="5080">
            <a:solidFill>
              <a:srgbClr val="1D9E7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8" name="Text 53">
            <a:extLst>
              <a:ext uri="{FF2B5EF4-FFF2-40B4-BE49-F238E27FC236}">
                <a16:creationId xmlns:a16="http://schemas.microsoft.com/office/drawing/2014/main" id="{FA84824E-09D6-7BC3-1D55-AB8A24C51688}"/>
              </a:ext>
            </a:extLst>
          </p:cNvPr>
          <p:cNvSpPr/>
          <p:nvPr/>
        </p:nvSpPr>
        <p:spPr>
          <a:xfrm>
            <a:off x="7315200" y="503219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abandoned</a:t>
            </a:r>
            <a:endParaRPr lang="en-US" sz="1100" dirty="0"/>
          </a:p>
        </p:txBody>
      </p:sp>
      <p:sp>
        <p:nvSpPr>
          <p:cNvPr id="139" name="Shape 54">
            <a:extLst>
              <a:ext uri="{FF2B5EF4-FFF2-40B4-BE49-F238E27FC236}">
                <a16:creationId xmlns:a16="http://schemas.microsoft.com/office/drawing/2014/main" id="{DD97197E-00E9-A43A-FCC5-C289668492C1}"/>
              </a:ext>
            </a:extLst>
          </p:cNvPr>
          <p:cNvSpPr/>
          <p:nvPr/>
        </p:nvSpPr>
        <p:spPr>
          <a:xfrm>
            <a:off x="7315200" y="5269934"/>
            <a:ext cx="2057400" cy="0"/>
          </a:xfrm>
          <a:prstGeom prst="line">
            <a:avLst/>
          </a:prstGeom>
          <a:noFill/>
          <a:ln w="762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Text 55">
            <a:extLst>
              <a:ext uri="{FF2B5EF4-FFF2-40B4-BE49-F238E27FC236}">
                <a16:creationId xmlns:a16="http://schemas.microsoft.com/office/drawing/2014/main" id="{46302404-6809-4653-8344-DCF29C5E7C64}"/>
              </a:ext>
            </a:extLst>
          </p:cNvPr>
          <p:cNvSpPr/>
          <p:nvPr/>
        </p:nvSpPr>
        <p:spPr>
          <a:xfrm>
            <a:off x="7315200" y="5324797"/>
            <a:ext cx="2103120" cy="667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Fast-tracked directly to CLAUDE.md. Cannot wait for /dream. Prevents Claude retrying a known-failed approach in future sessions.</a:t>
            </a:r>
            <a:endParaRPr lang="en-US" sz="1050" dirty="0"/>
          </a:p>
        </p:txBody>
      </p:sp>
      <p:sp>
        <p:nvSpPr>
          <p:cNvPr id="141" name="Shape 56">
            <a:extLst>
              <a:ext uri="{FF2B5EF4-FFF2-40B4-BE49-F238E27FC236}">
                <a16:creationId xmlns:a16="http://schemas.microsoft.com/office/drawing/2014/main" id="{B5FC1571-75C0-2C5E-3043-B6477593459F}"/>
              </a:ext>
            </a:extLst>
          </p:cNvPr>
          <p:cNvSpPr/>
          <p:nvPr/>
        </p:nvSpPr>
        <p:spPr>
          <a:xfrm>
            <a:off x="9509760" y="5050478"/>
            <a:ext cx="0" cy="941338"/>
          </a:xfrm>
          <a:prstGeom prst="line">
            <a:avLst/>
          </a:prstGeom>
          <a:noFill/>
          <a:ln w="5080">
            <a:solidFill>
              <a:srgbClr val="1D9E7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2" name="Text 57">
            <a:extLst>
              <a:ext uri="{FF2B5EF4-FFF2-40B4-BE49-F238E27FC236}">
                <a16:creationId xmlns:a16="http://schemas.microsoft.com/office/drawing/2014/main" id="{3C046A9E-F71A-9E87-EFD6-84D559C1FDAE}"/>
              </a:ext>
            </a:extLst>
          </p:cNvPr>
          <p:cNvSpPr/>
          <p:nvPr/>
        </p:nvSpPr>
        <p:spPr>
          <a:xfrm>
            <a:off x="9601200" y="503219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decision</a:t>
            </a:r>
            <a:endParaRPr lang="en-US" sz="1100" dirty="0"/>
          </a:p>
        </p:txBody>
      </p:sp>
      <p:sp>
        <p:nvSpPr>
          <p:cNvPr id="143" name="Shape 58">
            <a:extLst>
              <a:ext uri="{FF2B5EF4-FFF2-40B4-BE49-F238E27FC236}">
                <a16:creationId xmlns:a16="http://schemas.microsoft.com/office/drawing/2014/main" id="{A0F8F073-CE20-56EE-E211-6A9F6F41F24E}"/>
              </a:ext>
            </a:extLst>
          </p:cNvPr>
          <p:cNvSpPr/>
          <p:nvPr/>
        </p:nvSpPr>
        <p:spPr>
          <a:xfrm>
            <a:off x="9601200" y="5269934"/>
            <a:ext cx="2057400" cy="0"/>
          </a:xfrm>
          <a:prstGeom prst="line">
            <a:avLst/>
          </a:prstGeom>
          <a:noFill/>
          <a:ln w="762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Text 59">
            <a:extLst>
              <a:ext uri="{FF2B5EF4-FFF2-40B4-BE49-F238E27FC236}">
                <a16:creationId xmlns:a16="http://schemas.microsoft.com/office/drawing/2014/main" id="{BF2FB655-DF77-BB9D-BB23-DE9ABB54D4A2}"/>
              </a:ext>
            </a:extLst>
          </p:cNvPr>
          <p:cNvSpPr/>
          <p:nvPr/>
        </p:nvSpPr>
        <p:spPr>
          <a:xfrm>
            <a:off x="9601200" y="5324797"/>
            <a:ext cx="2103120" cy="667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decisions shape all future work. Records decision, rationale, and alternatives rejected so context survives across sessions.</a:t>
            </a:r>
            <a:endParaRPr lang="en-US" sz="1050" dirty="0"/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83B88497-EFAD-92F5-13CE-1F9FF38CB7A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35000"/>
          </a:blip>
          <a:stretch>
            <a:fillRect/>
          </a:stretch>
        </p:blipFill>
        <p:spPr>
          <a:xfrm>
            <a:off x="10972800" y="131445"/>
            <a:ext cx="7620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6513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34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4E141D-226C-82BB-6B0D-3DFFB6A2E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0">
            <a:extLst>
              <a:ext uri="{FF2B5EF4-FFF2-40B4-BE49-F238E27FC236}">
                <a16:creationId xmlns:a16="http://schemas.microsoft.com/office/drawing/2014/main" id="{7566B9C2-7B32-6F24-E598-ABBD84F75E2F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434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4BF0BE98-9EA9-7E63-B5CA-30440259F596}"/>
              </a:ext>
            </a:extLst>
          </p:cNvPr>
          <p:cNvSpPr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9FE1C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Ecosystem</a:t>
            </a:r>
            <a:endParaRPr lang="en-US" sz="2800" dirty="0">
              <a:solidFill>
                <a:srgbClr val="9FE1CB"/>
              </a:solidFill>
            </a:endParaRPr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F697BF61-DA8F-32F7-E347-D2ACFE2B890D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D0971B43-47EC-7AF2-0706-5A21BAED74DD}"/>
              </a:ext>
            </a:extLst>
          </p:cNvPr>
          <p:cNvGrpSpPr/>
          <p:nvPr/>
        </p:nvGrpSpPr>
        <p:grpSpPr>
          <a:xfrm>
            <a:off x="1668129" y="2024880"/>
            <a:ext cx="9602448" cy="4415137"/>
            <a:chOff x="1581314" y="1036211"/>
            <a:chExt cx="9602448" cy="4415137"/>
          </a:xfrm>
        </p:grpSpPr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A3B29C8D-20BE-3715-9D30-446E9A98254F}"/>
                </a:ext>
              </a:extLst>
            </p:cNvPr>
            <p:cNvGrpSpPr/>
            <p:nvPr/>
          </p:nvGrpSpPr>
          <p:grpSpPr>
            <a:xfrm>
              <a:off x="2473778" y="1036211"/>
              <a:ext cx="6400799" cy="603178"/>
              <a:chOff x="2473778" y="1036211"/>
              <a:chExt cx="6400799" cy="603178"/>
            </a:xfrm>
          </p:grpSpPr>
          <p:sp>
            <p:nvSpPr>
              <p:cNvPr id="53" name="Rectangle: Rounded Corners 52">
                <a:extLst>
                  <a:ext uri="{FF2B5EF4-FFF2-40B4-BE49-F238E27FC236}">
                    <a16:creationId xmlns:a16="http://schemas.microsoft.com/office/drawing/2014/main" id="{C72861E4-E0E3-12CD-A3EC-E59B996B235A}"/>
                  </a:ext>
                </a:extLst>
              </p:cNvPr>
              <p:cNvSpPr/>
              <p:nvPr/>
            </p:nvSpPr>
            <p:spPr>
              <a:xfrm>
                <a:off x="2473779" y="1051560"/>
                <a:ext cx="6400798" cy="587829"/>
              </a:xfrm>
              <a:prstGeom prst="roundRect">
                <a:avLst/>
              </a:prstGeom>
              <a:solidFill>
                <a:srgbClr val="9FE1CB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Text 7">
                <a:extLst>
                  <a:ext uri="{FF2B5EF4-FFF2-40B4-BE49-F238E27FC236}">
                    <a16:creationId xmlns:a16="http://schemas.microsoft.com/office/drawing/2014/main" id="{DE3CADBD-38F2-332C-EBF7-89CC7469F633}"/>
                  </a:ext>
                </a:extLst>
              </p:cNvPr>
              <p:cNvSpPr/>
              <p:nvPr/>
            </p:nvSpPr>
            <p:spPr>
              <a:xfrm>
                <a:off x="2473778" y="1036211"/>
                <a:ext cx="6400798" cy="38404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b="1" dirty="0">
                    <a:solidFill>
                      <a:srgbClr val="08504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CLAUDE.md</a:t>
                </a:r>
                <a:endParaRPr lang="en-US" dirty="0"/>
              </a:p>
            </p:txBody>
          </p:sp>
          <p:sp>
            <p:nvSpPr>
              <p:cNvPr id="56" name="Text 8">
                <a:extLst>
                  <a:ext uri="{FF2B5EF4-FFF2-40B4-BE49-F238E27FC236}">
                    <a16:creationId xmlns:a16="http://schemas.microsoft.com/office/drawing/2014/main" id="{6D2D0A2F-1634-AB5A-9017-B9E508964213}"/>
                  </a:ext>
                </a:extLst>
              </p:cNvPr>
              <p:cNvSpPr/>
              <p:nvPr/>
            </p:nvSpPr>
            <p:spPr>
              <a:xfrm>
                <a:off x="2473779" y="1331104"/>
                <a:ext cx="6400797" cy="2926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400" dirty="0">
                    <a:solidFill>
                      <a:srgbClr val="0F6E56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promoted knowledge  ·  ≤20 entries  ·  every session starts here</a:t>
                </a:r>
                <a:endParaRPr lang="en-US" sz="1400" dirty="0"/>
              </a:p>
            </p:txBody>
          </p:sp>
        </p:grpSp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E50B4BAA-AFA0-FC5C-FD72-68B1BEF2F908}"/>
                </a:ext>
              </a:extLst>
            </p:cNvPr>
            <p:cNvGrpSpPr/>
            <p:nvPr/>
          </p:nvGrpSpPr>
          <p:grpSpPr>
            <a:xfrm>
              <a:off x="2473779" y="2156460"/>
              <a:ext cx="1796142" cy="624404"/>
              <a:chOff x="2473779" y="2194560"/>
              <a:chExt cx="1796142" cy="624404"/>
            </a:xfrm>
          </p:grpSpPr>
          <p:sp>
            <p:nvSpPr>
              <p:cNvPr id="57" name="Rectangle: Rounded Corners 56">
                <a:extLst>
                  <a:ext uri="{FF2B5EF4-FFF2-40B4-BE49-F238E27FC236}">
                    <a16:creationId xmlns:a16="http://schemas.microsoft.com/office/drawing/2014/main" id="{71CCC443-EE2E-B277-3B68-C367B8DBC590}"/>
                  </a:ext>
                </a:extLst>
              </p:cNvPr>
              <p:cNvSpPr/>
              <p:nvPr/>
            </p:nvSpPr>
            <p:spPr>
              <a:xfrm>
                <a:off x="2473779" y="2212521"/>
                <a:ext cx="1796142" cy="587829"/>
              </a:xfrm>
              <a:prstGeom prst="roundRect">
                <a:avLst/>
              </a:prstGeom>
              <a:solidFill>
                <a:srgbClr val="9FE1CB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Text 10">
                <a:extLst>
                  <a:ext uri="{FF2B5EF4-FFF2-40B4-BE49-F238E27FC236}">
                    <a16:creationId xmlns:a16="http://schemas.microsoft.com/office/drawing/2014/main" id="{1B6FEF1E-B665-350F-800B-AE1E66914F08}"/>
                  </a:ext>
                </a:extLst>
              </p:cNvPr>
              <p:cNvSpPr/>
              <p:nvPr/>
            </p:nvSpPr>
            <p:spPr>
              <a:xfrm>
                <a:off x="2473779" y="2194560"/>
                <a:ext cx="1796142" cy="38404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600" b="1" dirty="0">
                    <a:solidFill>
                      <a:srgbClr val="08504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/dream</a:t>
                </a:r>
                <a:endParaRPr lang="en-US" sz="1600" dirty="0"/>
              </a:p>
            </p:txBody>
          </p:sp>
          <p:sp>
            <p:nvSpPr>
              <p:cNvPr id="59" name="Text 11">
                <a:extLst>
                  <a:ext uri="{FF2B5EF4-FFF2-40B4-BE49-F238E27FC236}">
                    <a16:creationId xmlns:a16="http://schemas.microsoft.com/office/drawing/2014/main" id="{A0594A9E-E565-3164-04D0-6C2E60AB4CF3}"/>
                  </a:ext>
                </a:extLst>
              </p:cNvPr>
              <p:cNvSpPr/>
              <p:nvPr/>
            </p:nvSpPr>
            <p:spPr>
              <a:xfrm>
                <a:off x="2473779" y="2526356"/>
                <a:ext cx="1796142" cy="2926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400" dirty="0">
                    <a:solidFill>
                      <a:srgbClr val="0F6E56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consolidation engine</a:t>
                </a:r>
                <a:endParaRPr lang="en-US" sz="1400" dirty="0"/>
              </a:p>
            </p:txBody>
          </p:sp>
        </p:grpSp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74C2BA10-861C-590D-A1A7-5A5A35A7F97F}"/>
                </a:ext>
              </a:extLst>
            </p:cNvPr>
            <p:cNvGrpSpPr/>
            <p:nvPr/>
          </p:nvGrpSpPr>
          <p:grpSpPr>
            <a:xfrm>
              <a:off x="5331278" y="2137846"/>
              <a:ext cx="3543301" cy="624404"/>
              <a:chOff x="5331278" y="2175946"/>
              <a:chExt cx="3543301" cy="624404"/>
            </a:xfrm>
          </p:grpSpPr>
          <p:sp>
            <p:nvSpPr>
              <p:cNvPr id="60" name="Rectangle: Rounded Corners 59">
                <a:extLst>
                  <a:ext uri="{FF2B5EF4-FFF2-40B4-BE49-F238E27FC236}">
                    <a16:creationId xmlns:a16="http://schemas.microsoft.com/office/drawing/2014/main" id="{AF9468DA-5DA4-58C7-566B-59368CE9154B}"/>
                  </a:ext>
                </a:extLst>
              </p:cNvPr>
              <p:cNvSpPr/>
              <p:nvPr/>
            </p:nvSpPr>
            <p:spPr>
              <a:xfrm>
                <a:off x="5331279" y="2212521"/>
                <a:ext cx="3543300" cy="587829"/>
              </a:xfrm>
              <a:prstGeom prst="roundRect">
                <a:avLst/>
              </a:prstGeom>
              <a:solidFill>
                <a:srgbClr val="9FE1CB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Text 13">
                <a:extLst>
                  <a:ext uri="{FF2B5EF4-FFF2-40B4-BE49-F238E27FC236}">
                    <a16:creationId xmlns:a16="http://schemas.microsoft.com/office/drawing/2014/main" id="{1B2BC7AA-83D5-6266-2DB5-8E916064F7C9}"/>
                  </a:ext>
                </a:extLst>
              </p:cNvPr>
              <p:cNvSpPr/>
              <p:nvPr/>
            </p:nvSpPr>
            <p:spPr>
              <a:xfrm>
                <a:off x="5331278" y="2175946"/>
                <a:ext cx="3543299" cy="38404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600" b="1" dirty="0">
                    <a:solidFill>
                      <a:srgbClr val="08504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memory/topic-*.md</a:t>
                </a:r>
                <a:endParaRPr lang="en-US" sz="1600" dirty="0"/>
              </a:p>
            </p:txBody>
          </p:sp>
          <p:sp>
            <p:nvSpPr>
              <p:cNvPr id="62" name="Text 14">
                <a:extLst>
                  <a:ext uri="{FF2B5EF4-FFF2-40B4-BE49-F238E27FC236}">
                    <a16:creationId xmlns:a16="http://schemas.microsoft.com/office/drawing/2014/main" id="{CF727185-E643-1B29-AD0C-44FD9A6D9764}"/>
                  </a:ext>
                </a:extLst>
              </p:cNvPr>
              <p:cNvSpPr/>
              <p:nvPr/>
            </p:nvSpPr>
            <p:spPr>
              <a:xfrm>
                <a:off x="5331279" y="2468554"/>
                <a:ext cx="3543300" cy="2926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400" dirty="0">
                    <a:solidFill>
                      <a:srgbClr val="0F6E56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scored entries  ·  per topic  ·  dream manages</a:t>
                </a:r>
                <a:endParaRPr lang="en-US" sz="1400" dirty="0"/>
              </a:p>
            </p:txBody>
          </p:sp>
        </p:grp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78CEFA9B-8CCE-0325-5DE9-1C98B33595DD}"/>
                </a:ext>
              </a:extLst>
            </p:cNvPr>
            <p:cNvGrpSpPr/>
            <p:nvPr/>
          </p:nvGrpSpPr>
          <p:grpSpPr>
            <a:xfrm>
              <a:off x="2473779" y="3325368"/>
              <a:ext cx="6400798" cy="645960"/>
              <a:chOff x="2473779" y="3218688"/>
              <a:chExt cx="6400798" cy="645960"/>
            </a:xfrm>
          </p:grpSpPr>
          <p:sp>
            <p:nvSpPr>
              <p:cNvPr id="63" name="Rectangle: Rounded Corners 62">
                <a:extLst>
                  <a:ext uri="{FF2B5EF4-FFF2-40B4-BE49-F238E27FC236}">
                    <a16:creationId xmlns:a16="http://schemas.microsoft.com/office/drawing/2014/main" id="{51A83F0F-1232-B91C-C8BA-C9E2194CF399}"/>
                  </a:ext>
                </a:extLst>
              </p:cNvPr>
              <p:cNvSpPr/>
              <p:nvPr/>
            </p:nvSpPr>
            <p:spPr>
              <a:xfrm>
                <a:off x="2473779" y="3241221"/>
                <a:ext cx="6400797" cy="616894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Text 22">
                <a:extLst>
                  <a:ext uri="{FF2B5EF4-FFF2-40B4-BE49-F238E27FC236}">
                    <a16:creationId xmlns:a16="http://schemas.microsoft.com/office/drawing/2014/main" id="{E040BDC8-DBC7-ED43-7D0D-4BDD2976E7A2}"/>
                  </a:ext>
                </a:extLst>
              </p:cNvPr>
              <p:cNvSpPr/>
              <p:nvPr/>
            </p:nvSpPr>
            <p:spPr>
              <a:xfrm>
                <a:off x="2473779" y="3218688"/>
                <a:ext cx="6400798" cy="38404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600" b="1" dirty="0">
                    <a:solidFill>
                      <a:srgbClr val="3A35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memory/MEMORY.md</a:t>
                </a:r>
                <a:endParaRPr lang="en-US" sz="1600" dirty="0"/>
              </a:p>
            </p:txBody>
          </p:sp>
          <p:sp>
            <p:nvSpPr>
              <p:cNvPr id="65" name="Text 23">
                <a:extLst>
                  <a:ext uri="{FF2B5EF4-FFF2-40B4-BE49-F238E27FC236}">
                    <a16:creationId xmlns:a16="http://schemas.microsoft.com/office/drawing/2014/main" id="{74A70E17-20F1-8BD0-8E64-EE9AC4F2F976}"/>
                  </a:ext>
                </a:extLst>
              </p:cNvPr>
              <p:cNvSpPr/>
              <p:nvPr/>
            </p:nvSpPr>
            <p:spPr>
              <a:xfrm>
                <a:off x="2473779" y="3572040"/>
                <a:ext cx="6400798" cy="2926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400" dirty="0">
                    <a:solidFill>
                      <a:srgbClr val="6B656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rolling inbox  ·  auto-captured  ·  max 200 lines before /dream needed</a:t>
                </a:r>
                <a:endParaRPr lang="en-US" sz="1400" dirty="0"/>
              </a:p>
            </p:txBody>
          </p: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77D10807-0911-05DA-D658-8B3B916A4135}"/>
                </a:ext>
              </a:extLst>
            </p:cNvPr>
            <p:cNvGrpSpPr/>
            <p:nvPr/>
          </p:nvGrpSpPr>
          <p:grpSpPr>
            <a:xfrm>
              <a:off x="2473778" y="4884420"/>
              <a:ext cx="1251422" cy="566928"/>
              <a:chOff x="969264" y="4828032"/>
              <a:chExt cx="1251422" cy="566928"/>
            </a:xfrm>
          </p:grpSpPr>
          <p:sp>
            <p:nvSpPr>
              <p:cNvPr id="67" name="Shape 27">
                <a:extLst>
                  <a:ext uri="{FF2B5EF4-FFF2-40B4-BE49-F238E27FC236}">
                    <a16:creationId xmlns:a16="http://schemas.microsoft.com/office/drawing/2014/main" id="{7AA4EB0F-0932-34FF-453B-D004311A5E0F}"/>
                  </a:ext>
                </a:extLst>
              </p:cNvPr>
              <p:cNvSpPr/>
              <p:nvPr/>
            </p:nvSpPr>
            <p:spPr>
              <a:xfrm>
                <a:off x="969264" y="4828032"/>
                <a:ext cx="1251422" cy="566928"/>
              </a:xfrm>
              <a:prstGeom prst="roundRect">
                <a:avLst>
                  <a:gd name="adj" fmla="val 12903"/>
                </a:avLst>
              </a:prstGeom>
              <a:solidFill>
                <a:srgbClr val="F5F0EC"/>
              </a:solidFill>
              <a:ln w="15240">
                <a:solidFill>
                  <a:srgbClr val="C8C0B8"/>
                </a:solidFill>
                <a:prstDash val="solid"/>
              </a:ln>
            </p:spPr>
            <p:txBody>
              <a:bodyPr/>
              <a:lstStyle/>
              <a:p>
                <a:endParaRPr lang="en-US" b="1"/>
              </a:p>
            </p:txBody>
          </p:sp>
          <p:sp>
            <p:nvSpPr>
              <p:cNvPr id="68" name="Text 28">
                <a:extLst>
                  <a:ext uri="{FF2B5EF4-FFF2-40B4-BE49-F238E27FC236}">
                    <a16:creationId xmlns:a16="http://schemas.microsoft.com/office/drawing/2014/main" id="{98E186F7-C756-A3F4-0A2D-DD7C42EA53DB}"/>
                  </a:ext>
                </a:extLst>
              </p:cNvPr>
              <p:cNvSpPr/>
              <p:nvPr/>
            </p:nvSpPr>
            <p:spPr>
              <a:xfrm>
                <a:off x="969264" y="4828032"/>
                <a:ext cx="1251422" cy="5669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3A35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plan approved</a:t>
                </a:r>
                <a:endParaRPr lang="en-US" sz="1200" b="1" dirty="0"/>
              </a:p>
            </p:txBody>
          </p:sp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127A8E0E-A214-5AA3-CEA2-1BC8D0FAA9F5}"/>
                </a:ext>
              </a:extLst>
            </p:cNvPr>
            <p:cNvGrpSpPr/>
            <p:nvPr/>
          </p:nvGrpSpPr>
          <p:grpSpPr>
            <a:xfrm>
              <a:off x="3926966" y="4884420"/>
              <a:ext cx="1126672" cy="566928"/>
              <a:chOff x="3216729" y="4828032"/>
              <a:chExt cx="1126672" cy="566928"/>
            </a:xfrm>
          </p:grpSpPr>
          <p:sp>
            <p:nvSpPr>
              <p:cNvPr id="69" name="Shape 29">
                <a:extLst>
                  <a:ext uri="{FF2B5EF4-FFF2-40B4-BE49-F238E27FC236}">
                    <a16:creationId xmlns:a16="http://schemas.microsoft.com/office/drawing/2014/main" id="{45B7B85A-FEC5-A0E6-3CCB-E77848A66A14}"/>
                  </a:ext>
                </a:extLst>
              </p:cNvPr>
              <p:cNvSpPr/>
              <p:nvPr/>
            </p:nvSpPr>
            <p:spPr>
              <a:xfrm>
                <a:off x="3216729" y="4828032"/>
                <a:ext cx="1126672" cy="566928"/>
              </a:xfrm>
              <a:prstGeom prst="roundRect">
                <a:avLst>
                  <a:gd name="adj" fmla="val 12903"/>
                </a:avLst>
              </a:prstGeom>
              <a:solidFill>
                <a:srgbClr val="F5F0EC"/>
              </a:solidFill>
              <a:ln w="15240">
                <a:solidFill>
                  <a:srgbClr val="C8C0B8"/>
                </a:solidFill>
                <a:prstDash val="solid"/>
              </a:ln>
            </p:spPr>
            <p:txBody>
              <a:bodyPr/>
              <a:lstStyle/>
              <a:p>
                <a:endParaRPr lang="en-US" b="1"/>
              </a:p>
            </p:txBody>
          </p:sp>
          <p:sp>
            <p:nvSpPr>
              <p:cNvPr id="70" name="Text 30">
                <a:extLst>
                  <a:ext uri="{FF2B5EF4-FFF2-40B4-BE49-F238E27FC236}">
                    <a16:creationId xmlns:a16="http://schemas.microsoft.com/office/drawing/2014/main" id="{B53EC00D-4AB8-1E47-922C-908D4171F194}"/>
                  </a:ext>
                </a:extLst>
              </p:cNvPr>
              <p:cNvSpPr/>
              <p:nvPr/>
            </p:nvSpPr>
            <p:spPr>
              <a:xfrm>
                <a:off x="3216729" y="4828032"/>
                <a:ext cx="1126672" cy="5669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3A35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task done</a:t>
                </a:r>
                <a:endParaRPr lang="en-US" sz="1200" b="1" dirty="0"/>
              </a:p>
            </p:txBody>
          </p:sp>
        </p:grp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01A825BB-5887-20A7-6483-45FBBFBC1D5F}"/>
                </a:ext>
              </a:extLst>
            </p:cNvPr>
            <p:cNvGrpSpPr/>
            <p:nvPr/>
          </p:nvGrpSpPr>
          <p:grpSpPr>
            <a:xfrm>
              <a:off x="6463010" y="4884420"/>
              <a:ext cx="1280160" cy="566928"/>
              <a:chOff x="6949440" y="4828032"/>
              <a:chExt cx="1280160" cy="566928"/>
            </a:xfrm>
          </p:grpSpPr>
          <p:sp>
            <p:nvSpPr>
              <p:cNvPr id="73" name="Shape 33">
                <a:extLst>
                  <a:ext uri="{FF2B5EF4-FFF2-40B4-BE49-F238E27FC236}">
                    <a16:creationId xmlns:a16="http://schemas.microsoft.com/office/drawing/2014/main" id="{E161B1EC-4878-2DDC-8503-B504F60D592B}"/>
                  </a:ext>
                </a:extLst>
              </p:cNvPr>
              <p:cNvSpPr/>
              <p:nvPr/>
            </p:nvSpPr>
            <p:spPr>
              <a:xfrm>
                <a:off x="6949440" y="4828032"/>
                <a:ext cx="1280160" cy="566928"/>
              </a:xfrm>
              <a:prstGeom prst="roundRect">
                <a:avLst>
                  <a:gd name="adj" fmla="val 12903"/>
                </a:avLst>
              </a:prstGeom>
              <a:solidFill>
                <a:srgbClr val="FDE8E8"/>
              </a:solidFill>
              <a:ln w="15240">
                <a:solidFill>
                  <a:srgbClr val="E24B4A"/>
                </a:solidFill>
                <a:prstDash val="solid"/>
              </a:ln>
            </p:spPr>
            <p:txBody>
              <a:bodyPr/>
              <a:lstStyle/>
              <a:p>
                <a:endParaRPr lang="en-US" b="1"/>
              </a:p>
            </p:txBody>
          </p:sp>
          <p:sp>
            <p:nvSpPr>
              <p:cNvPr id="74" name="Text 34">
                <a:extLst>
                  <a:ext uri="{FF2B5EF4-FFF2-40B4-BE49-F238E27FC236}">
                    <a16:creationId xmlns:a16="http://schemas.microsoft.com/office/drawing/2014/main" id="{BDA729BF-68EA-BB55-EED8-7DD0E2E7AE07}"/>
                  </a:ext>
                </a:extLst>
              </p:cNvPr>
              <p:cNvSpPr/>
              <p:nvPr/>
            </p:nvSpPr>
            <p:spPr>
              <a:xfrm>
                <a:off x="6949440" y="4828032"/>
                <a:ext cx="1280160" cy="5669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A32D2D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abandoned → CLAUDE.md</a:t>
                </a:r>
                <a:endParaRPr lang="en-US" sz="1200" b="1" dirty="0"/>
              </a:p>
            </p:txBody>
          </p:sp>
        </p:grp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1F81E7F0-E961-09B2-4F70-C3CC7BA85FB8}"/>
                </a:ext>
              </a:extLst>
            </p:cNvPr>
            <p:cNvGrpSpPr/>
            <p:nvPr/>
          </p:nvGrpSpPr>
          <p:grpSpPr>
            <a:xfrm>
              <a:off x="7944936" y="4884420"/>
              <a:ext cx="929640" cy="566928"/>
              <a:chOff x="9083040" y="4828032"/>
              <a:chExt cx="929640" cy="566928"/>
            </a:xfrm>
          </p:grpSpPr>
          <p:sp>
            <p:nvSpPr>
              <p:cNvPr id="75" name="Shape 35">
                <a:extLst>
                  <a:ext uri="{FF2B5EF4-FFF2-40B4-BE49-F238E27FC236}">
                    <a16:creationId xmlns:a16="http://schemas.microsoft.com/office/drawing/2014/main" id="{2842ECF8-6A25-4D79-A4AB-02426BAD6D97}"/>
                  </a:ext>
                </a:extLst>
              </p:cNvPr>
              <p:cNvSpPr/>
              <p:nvPr/>
            </p:nvSpPr>
            <p:spPr>
              <a:xfrm>
                <a:off x="9083040" y="4828032"/>
                <a:ext cx="929640" cy="566928"/>
              </a:xfrm>
              <a:prstGeom prst="roundRect">
                <a:avLst>
                  <a:gd name="adj" fmla="val 12903"/>
                </a:avLst>
              </a:prstGeom>
              <a:solidFill>
                <a:srgbClr val="F5F0EC"/>
              </a:solidFill>
              <a:ln w="15240">
                <a:solidFill>
                  <a:srgbClr val="C8C0B8"/>
                </a:solidFill>
                <a:prstDash val="solid"/>
              </a:ln>
            </p:spPr>
            <p:txBody>
              <a:bodyPr/>
              <a:lstStyle/>
              <a:p>
                <a:endParaRPr lang="en-US" b="1"/>
              </a:p>
            </p:txBody>
          </p:sp>
          <p:sp>
            <p:nvSpPr>
              <p:cNvPr id="76" name="Text 36">
                <a:extLst>
                  <a:ext uri="{FF2B5EF4-FFF2-40B4-BE49-F238E27FC236}">
                    <a16:creationId xmlns:a16="http://schemas.microsoft.com/office/drawing/2014/main" id="{07A42E4C-D04C-1DB3-03A5-7FE7EC6FDBA9}"/>
                  </a:ext>
                </a:extLst>
              </p:cNvPr>
              <p:cNvSpPr/>
              <p:nvPr/>
            </p:nvSpPr>
            <p:spPr>
              <a:xfrm>
                <a:off x="9083040" y="4828032"/>
                <a:ext cx="929640" cy="5669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3A35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decision</a:t>
                </a:r>
                <a:endParaRPr lang="en-US" sz="1200" b="1" dirty="0"/>
              </a:p>
            </p:txBody>
          </p:sp>
        </p:grp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E99E36A7-BF7D-994B-AAF1-EACA2D6EEC36}"/>
                </a:ext>
              </a:extLst>
            </p:cNvPr>
            <p:cNvGrpSpPr/>
            <p:nvPr/>
          </p:nvGrpSpPr>
          <p:grpSpPr>
            <a:xfrm>
              <a:off x="5255404" y="4732020"/>
              <a:ext cx="1005840" cy="708660"/>
              <a:chOff x="5090160" y="4686300"/>
              <a:chExt cx="1005840" cy="708660"/>
            </a:xfrm>
          </p:grpSpPr>
          <p:sp>
            <p:nvSpPr>
              <p:cNvPr id="66" name="Shape 24">
                <a:extLst>
                  <a:ext uri="{FF2B5EF4-FFF2-40B4-BE49-F238E27FC236}">
                    <a16:creationId xmlns:a16="http://schemas.microsoft.com/office/drawing/2014/main" id="{5BA471E7-410C-D4A5-142E-421153D17585}"/>
                  </a:ext>
                </a:extLst>
              </p:cNvPr>
              <p:cNvSpPr/>
              <p:nvPr/>
            </p:nvSpPr>
            <p:spPr>
              <a:xfrm>
                <a:off x="5669280" y="4791456"/>
                <a:ext cx="0" cy="0"/>
              </a:xfrm>
              <a:prstGeom prst="line">
                <a:avLst/>
              </a:prstGeom>
              <a:noFill/>
              <a:ln w="22860">
                <a:solidFill>
                  <a:srgbClr val="9A9490"/>
                </a:solidFill>
                <a:prstDash val="solid"/>
                <a:tailEnd type="triangle"/>
              </a:ln>
            </p:spPr>
            <p:txBody>
              <a:bodyPr/>
              <a:lstStyle/>
              <a:p>
                <a:endParaRPr lang="en-US" b="1"/>
              </a:p>
            </p:txBody>
          </p:sp>
          <p:sp>
            <p:nvSpPr>
              <p:cNvPr id="71" name="Shape 31">
                <a:extLst>
                  <a:ext uri="{FF2B5EF4-FFF2-40B4-BE49-F238E27FC236}">
                    <a16:creationId xmlns:a16="http://schemas.microsoft.com/office/drawing/2014/main" id="{C4061936-5619-80DF-497B-1E1E2235CE6D}"/>
                  </a:ext>
                </a:extLst>
              </p:cNvPr>
              <p:cNvSpPr/>
              <p:nvPr/>
            </p:nvSpPr>
            <p:spPr>
              <a:xfrm>
                <a:off x="5090160" y="4828032"/>
                <a:ext cx="1005840" cy="566928"/>
              </a:xfrm>
              <a:prstGeom prst="roundRect">
                <a:avLst>
                  <a:gd name="adj" fmla="val 12903"/>
                </a:avLst>
              </a:prstGeom>
              <a:solidFill>
                <a:srgbClr val="F5F0EC"/>
              </a:solidFill>
              <a:ln w="15240">
                <a:solidFill>
                  <a:srgbClr val="C8C0B8"/>
                </a:solidFill>
                <a:prstDash val="solid"/>
              </a:ln>
            </p:spPr>
            <p:txBody>
              <a:bodyPr/>
              <a:lstStyle/>
              <a:p>
                <a:endParaRPr lang="en-US" b="1"/>
              </a:p>
            </p:txBody>
          </p:sp>
          <p:sp>
            <p:nvSpPr>
              <p:cNvPr id="72" name="Text 32">
                <a:extLst>
                  <a:ext uri="{FF2B5EF4-FFF2-40B4-BE49-F238E27FC236}">
                    <a16:creationId xmlns:a16="http://schemas.microsoft.com/office/drawing/2014/main" id="{E321124E-AFA2-3753-5C1D-C1C65E5CC475}"/>
                  </a:ext>
                </a:extLst>
              </p:cNvPr>
              <p:cNvSpPr/>
              <p:nvPr/>
            </p:nvSpPr>
            <p:spPr>
              <a:xfrm>
                <a:off x="5090160" y="4828032"/>
                <a:ext cx="1005840" cy="5669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3A35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error fixed</a:t>
                </a:r>
                <a:endParaRPr lang="en-US" sz="1200" b="1" dirty="0"/>
              </a:p>
            </p:txBody>
          </p:sp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1B8679EF-F268-4A7C-B23A-467D6604764A}"/>
                  </a:ext>
                </a:extLst>
              </p:cNvPr>
              <p:cNvSpPr/>
              <p:nvPr/>
            </p:nvSpPr>
            <p:spPr>
              <a:xfrm>
                <a:off x="5524500" y="4686300"/>
                <a:ext cx="236220" cy="105156"/>
              </a:xfrm>
              <a:prstGeom prst="rect">
                <a:avLst/>
              </a:prstGeom>
              <a:solidFill>
                <a:srgbClr val="04342C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83" name="Text 25">
              <a:extLst>
                <a:ext uri="{FF2B5EF4-FFF2-40B4-BE49-F238E27FC236}">
                  <a16:creationId xmlns:a16="http://schemas.microsoft.com/office/drawing/2014/main" id="{47EFDA49-B35D-4D90-636B-B9839B8BDB25}"/>
                </a:ext>
              </a:extLst>
            </p:cNvPr>
            <p:cNvSpPr/>
            <p:nvPr/>
          </p:nvSpPr>
          <p:spPr>
            <a:xfrm>
              <a:off x="5939570" y="4262301"/>
              <a:ext cx="964121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chemeClr val="accent4">
                      <a:lumMod val="20000"/>
                      <a:lumOff val="80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 triggers write</a:t>
              </a:r>
              <a:endParaRPr lang="en-US" sz="1100" dirty="0">
                <a:solidFill>
                  <a:schemeClr val="accent4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84" name="Text 26">
              <a:extLst>
                <a:ext uri="{FF2B5EF4-FFF2-40B4-BE49-F238E27FC236}">
                  <a16:creationId xmlns:a16="http://schemas.microsoft.com/office/drawing/2014/main" id="{D1F7A9DE-1EAE-F501-EB4F-3A9BFB015997}"/>
                </a:ext>
              </a:extLst>
            </p:cNvPr>
            <p:cNvSpPr/>
            <p:nvPr/>
          </p:nvSpPr>
          <p:spPr>
            <a:xfrm>
              <a:off x="5939570" y="4463469"/>
              <a:ext cx="887921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chemeClr val="accent4">
                      <a:lumMod val="20000"/>
                      <a:lumOff val="80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auto-capture</a:t>
              </a:r>
              <a:endParaRPr lang="en-US" sz="1100" dirty="0">
                <a:solidFill>
                  <a:schemeClr val="accent4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88" name="Arrow: Down 87">
              <a:extLst>
                <a:ext uri="{FF2B5EF4-FFF2-40B4-BE49-F238E27FC236}">
                  <a16:creationId xmlns:a16="http://schemas.microsoft.com/office/drawing/2014/main" id="{5696F387-31D2-BBB0-9135-022D77E7D671}"/>
                </a:ext>
              </a:extLst>
            </p:cNvPr>
            <p:cNvSpPr/>
            <p:nvPr/>
          </p:nvSpPr>
          <p:spPr>
            <a:xfrm rot="10800000">
              <a:off x="5689744" y="4098469"/>
              <a:ext cx="188866" cy="684713"/>
            </a:xfrm>
            <a:prstGeom prst="downArrow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Text 4">
              <a:extLst>
                <a:ext uri="{FF2B5EF4-FFF2-40B4-BE49-F238E27FC236}">
                  <a16:creationId xmlns:a16="http://schemas.microsoft.com/office/drawing/2014/main" id="{4A6C0748-7BFB-442B-5707-4231D5D5FB4E}"/>
                </a:ext>
              </a:extLst>
            </p:cNvPr>
            <p:cNvSpPr/>
            <p:nvPr/>
          </p:nvSpPr>
          <p:spPr>
            <a:xfrm>
              <a:off x="1585315" y="3429000"/>
              <a:ext cx="74980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i="1" dirty="0">
                  <a:solidFill>
                    <a:schemeClr val="accent4">
                      <a:lumMod val="20000"/>
                      <a:lumOff val="80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raw inbox</a:t>
              </a:r>
              <a:endParaRPr lang="en-US" sz="1100" dirty="0">
                <a:solidFill>
                  <a:schemeClr val="accent4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90" name="Text 2">
              <a:extLst>
                <a:ext uri="{FF2B5EF4-FFF2-40B4-BE49-F238E27FC236}">
                  <a16:creationId xmlns:a16="http://schemas.microsoft.com/office/drawing/2014/main" id="{BF14EAED-A779-7515-DFFC-0A5CB9CF99CA}"/>
                </a:ext>
              </a:extLst>
            </p:cNvPr>
            <p:cNvSpPr/>
            <p:nvPr/>
          </p:nvSpPr>
          <p:spPr>
            <a:xfrm>
              <a:off x="1581314" y="2315174"/>
              <a:ext cx="74980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i="1" dirty="0">
                  <a:solidFill>
                    <a:schemeClr val="accent4">
                      <a:lumMod val="20000"/>
                      <a:lumOff val="80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knowledge</a:t>
              </a:r>
              <a:endParaRPr lang="en-US" sz="1100" dirty="0">
                <a:solidFill>
                  <a:schemeClr val="accent4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91" name="Text 0">
              <a:extLst>
                <a:ext uri="{FF2B5EF4-FFF2-40B4-BE49-F238E27FC236}">
                  <a16:creationId xmlns:a16="http://schemas.microsoft.com/office/drawing/2014/main" id="{F0E714A3-B5A6-3F79-6584-D54CA64540A9}"/>
                </a:ext>
              </a:extLst>
            </p:cNvPr>
            <p:cNvSpPr/>
            <p:nvPr/>
          </p:nvSpPr>
          <p:spPr>
            <a:xfrm>
              <a:off x="1585315" y="1130591"/>
              <a:ext cx="74980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i="1" dirty="0">
                  <a:solidFill>
                    <a:schemeClr val="accent4">
                      <a:lumMod val="20000"/>
                      <a:lumOff val="80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every session</a:t>
              </a:r>
              <a:endParaRPr lang="en-US" sz="1100" dirty="0">
                <a:solidFill>
                  <a:schemeClr val="accent4">
                    <a:lumMod val="20000"/>
                    <a:lumOff val="80000"/>
                  </a:schemeClr>
                </a:solidFill>
              </a:endParaRPr>
            </a:p>
          </p:txBody>
        </p: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784A519C-929E-439C-369D-23A9E080E093}"/>
                </a:ext>
              </a:extLst>
            </p:cNvPr>
            <p:cNvGrpSpPr/>
            <p:nvPr/>
          </p:nvGrpSpPr>
          <p:grpSpPr>
            <a:xfrm>
              <a:off x="9876250" y="1065276"/>
              <a:ext cx="1307512" cy="2955036"/>
              <a:chOff x="9421448" y="1051560"/>
              <a:chExt cx="1307512" cy="2806555"/>
            </a:xfrm>
          </p:grpSpPr>
          <p:sp>
            <p:nvSpPr>
              <p:cNvPr id="92" name="Rectangle: Rounded Corners 91">
                <a:extLst>
                  <a:ext uri="{FF2B5EF4-FFF2-40B4-BE49-F238E27FC236}">
                    <a16:creationId xmlns:a16="http://schemas.microsoft.com/office/drawing/2014/main" id="{0FBFB415-40C9-3AD8-0FDE-0304D71AAD4C}"/>
                  </a:ext>
                </a:extLst>
              </p:cNvPr>
              <p:cNvSpPr/>
              <p:nvPr/>
            </p:nvSpPr>
            <p:spPr>
              <a:xfrm>
                <a:off x="9421448" y="1051560"/>
                <a:ext cx="1307512" cy="2806555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" name="Text 38">
                <a:extLst>
                  <a:ext uri="{FF2B5EF4-FFF2-40B4-BE49-F238E27FC236}">
                    <a16:creationId xmlns:a16="http://schemas.microsoft.com/office/drawing/2014/main" id="{CC5E05CA-2BEC-BA9C-A1E2-2FD41ADCAD87}"/>
                  </a:ext>
                </a:extLst>
              </p:cNvPr>
              <p:cNvSpPr/>
              <p:nvPr/>
            </p:nvSpPr>
            <p:spPr>
              <a:xfrm>
                <a:off x="9421448" y="1673352"/>
                <a:ext cx="1307511" cy="34747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500" b="1" dirty="0">
                    <a:solidFill>
                      <a:srgbClr val="3A35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dream-log.md</a:t>
                </a:r>
                <a:endParaRPr lang="en-US" sz="1500" dirty="0"/>
              </a:p>
            </p:txBody>
          </p:sp>
          <p:sp>
            <p:nvSpPr>
              <p:cNvPr id="94" name="Text 39">
                <a:extLst>
                  <a:ext uri="{FF2B5EF4-FFF2-40B4-BE49-F238E27FC236}">
                    <a16:creationId xmlns:a16="http://schemas.microsoft.com/office/drawing/2014/main" id="{D6920960-E018-3CEE-8A43-8CB18BC65A41}"/>
                  </a:ext>
                </a:extLst>
              </p:cNvPr>
              <p:cNvSpPr/>
              <p:nvPr/>
            </p:nvSpPr>
            <p:spPr>
              <a:xfrm>
                <a:off x="9436607" y="2084505"/>
                <a:ext cx="1292352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300" dirty="0">
                    <a:solidFill>
                      <a:srgbClr val="6B656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audit trail</a:t>
                </a:r>
                <a:endParaRPr lang="en-US" sz="1300" dirty="0"/>
              </a:p>
            </p:txBody>
          </p:sp>
          <p:sp>
            <p:nvSpPr>
              <p:cNvPr id="95" name="Text 40">
                <a:extLst>
                  <a:ext uri="{FF2B5EF4-FFF2-40B4-BE49-F238E27FC236}">
                    <a16:creationId xmlns:a16="http://schemas.microsoft.com/office/drawing/2014/main" id="{AE78DE5E-A045-485D-4759-DCBE1DCE1ECF}"/>
                  </a:ext>
                </a:extLst>
              </p:cNvPr>
              <p:cNvSpPr/>
              <p:nvPr/>
            </p:nvSpPr>
            <p:spPr>
              <a:xfrm>
                <a:off x="9436607" y="2398340"/>
                <a:ext cx="1292352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300" dirty="0">
                    <a:solidFill>
                      <a:srgbClr val="6B656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append only</a:t>
                </a:r>
                <a:endParaRPr lang="en-US" sz="1300" dirty="0"/>
              </a:p>
            </p:txBody>
          </p:sp>
        </p:grp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01F1992E-4555-30DC-65A8-306A13BD930D}"/>
                </a:ext>
              </a:extLst>
            </p:cNvPr>
            <p:cNvCxnSpPr/>
            <p:nvPr/>
          </p:nvCxnSpPr>
          <p:spPr>
            <a:xfrm>
              <a:off x="8897436" y="1386623"/>
              <a:ext cx="944880" cy="0"/>
            </a:xfrm>
            <a:prstGeom prst="line">
              <a:avLst/>
            </a:prstGeom>
            <a:ln w="28575" cap="flat" cmpd="sng" algn="ctr">
              <a:solidFill>
                <a:schemeClr val="bg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79CF6157-D1E6-1E29-A97A-D0A9F83C1D46}"/>
                </a:ext>
              </a:extLst>
            </p:cNvPr>
            <p:cNvCxnSpPr/>
            <p:nvPr/>
          </p:nvCxnSpPr>
          <p:spPr>
            <a:xfrm>
              <a:off x="8916130" y="2483577"/>
              <a:ext cx="944880" cy="0"/>
            </a:xfrm>
            <a:prstGeom prst="line">
              <a:avLst/>
            </a:prstGeom>
            <a:ln w="28575" cap="flat" cmpd="sng" algn="ctr">
              <a:solidFill>
                <a:schemeClr val="bg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E2BDE751-729F-FE56-AE7A-09547B569AD5}"/>
                </a:ext>
              </a:extLst>
            </p:cNvPr>
            <p:cNvCxnSpPr/>
            <p:nvPr/>
          </p:nvCxnSpPr>
          <p:spPr>
            <a:xfrm>
              <a:off x="8889819" y="3654009"/>
              <a:ext cx="944880" cy="0"/>
            </a:xfrm>
            <a:prstGeom prst="line">
              <a:avLst/>
            </a:prstGeom>
            <a:ln w="28575" cap="flat" cmpd="sng" algn="ctr">
              <a:solidFill>
                <a:schemeClr val="bg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03" name="Arrow: Down 102">
              <a:extLst>
                <a:ext uri="{FF2B5EF4-FFF2-40B4-BE49-F238E27FC236}">
                  <a16:creationId xmlns:a16="http://schemas.microsoft.com/office/drawing/2014/main" id="{FB5F88C3-E731-B055-F6E8-AFBB8409130E}"/>
                </a:ext>
              </a:extLst>
            </p:cNvPr>
            <p:cNvSpPr/>
            <p:nvPr/>
          </p:nvSpPr>
          <p:spPr>
            <a:xfrm rot="10800000">
              <a:off x="7202639" y="1682441"/>
              <a:ext cx="164592" cy="469065"/>
            </a:xfrm>
            <a:prstGeom prst="downArrow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Text 2">
              <a:extLst>
                <a:ext uri="{FF2B5EF4-FFF2-40B4-BE49-F238E27FC236}">
                  <a16:creationId xmlns:a16="http://schemas.microsoft.com/office/drawing/2014/main" id="{6A034509-E8F2-FFF9-16E2-BCF331FF5C6B}"/>
                </a:ext>
              </a:extLst>
            </p:cNvPr>
            <p:cNvSpPr/>
            <p:nvPr/>
          </p:nvSpPr>
          <p:spPr>
            <a:xfrm>
              <a:off x="7405331" y="1797341"/>
              <a:ext cx="74980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i="1" dirty="0">
                  <a:solidFill>
                    <a:schemeClr val="accent4">
                      <a:lumMod val="20000"/>
                      <a:lumOff val="80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promote</a:t>
              </a:r>
              <a:endParaRPr lang="en-US" sz="1100" dirty="0">
                <a:solidFill>
                  <a:schemeClr val="accent4">
                    <a:lumMod val="20000"/>
                    <a:lumOff val="80000"/>
                  </a:schemeClr>
                </a:solidFill>
              </a:endParaRPr>
            </a:p>
          </p:txBody>
        </p: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5BFC48D5-CF45-6C44-69BD-0DE6338C2BB7}"/>
                </a:ext>
              </a:extLst>
            </p:cNvPr>
            <p:cNvCxnSpPr/>
            <p:nvPr/>
          </p:nvCxnSpPr>
          <p:spPr>
            <a:xfrm>
              <a:off x="2490432" y="4838701"/>
              <a:ext cx="6378565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111" name="Arrow: Down 110">
              <a:extLst>
                <a:ext uri="{FF2B5EF4-FFF2-40B4-BE49-F238E27FC236}">
                  <a16:creationId xmlns:a16="http://schemas.microsoft.com/office/drawing/2014/main" id="{949A4624-C1EE-E778-39B2-2AA79C7D6E38}"/>
                </a:ext>
              </a:extLst>
            </p:cNvPr>
            <p:cNvSpPr/>
            <p:nvPr/>
          </p:nvSpPr>
          <p:spPr>
            <a:xfrm rot="10800000">
              <a:off x="6569033" y="2780862"/>
              <a:ext cx="164592" cy="528827"/>
            </a:xfrm>
            <a:prstGeom prst="downArrow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Text 17">
              <a:extLst>
                <a:ext uri="{FF2B5EF4-FFF2-40B4-BE49-F238E27FC236}">
                  <a16:creationId xmlns:a16="http://schemas.microsoft.com/office/drawing/2014/main" id="{2B1AD77F-8B43-88DE-E935-7DAF9BD1EA7F}"/>
                </a:ext>
              </a:extLst>
            </p:cNvPr>
            <p:cNvSpPr/>
            <p:nvPr/>
          </p:nvSpPr>
          <p:spPr>
            <a:xfrm>
              <a:off x="6827491" y="2836000"/>
              <a:ext cx="164592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chemeClr val="accent4">
                      <a:lumMod val="20000"/>
                      <a:lumOff val="80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consolidates</a:t>
              </a:r>
              <a:endParaRPr lang="en-US" sz="1100" dirty="0">
                <a:solidFill>
                  <a:schemeClr val="accent4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114" name="Text 18">
              <a:extLst>
                <a:ext uri="{FF2B5EF4-FFF2-40B4-BE49-F238E27FC236}">
                  <a16:creationId xmlns:a16="http://schemas.microsoft.com/office/drawing/2014/main" id="{DBDC28EF-5E63-8FA9-A0FC-E012CB0C8E0B}"/>
                </a:ext>
              </a:extLst>
            </p:cNvPr>
            <p:cNvSpPr/>
            <p:nvPr/>
          </p:nvSpPr>
          <p:spPr>
            <a:xfrm>
              <a:off x="6827491" y="3037168"/>
              <a:ext cx="164592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chemeClr val="accent4">
                      <a:lumMod val="20000"/>
                      <a:lumOff val="80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ADD · UPDATE</a:t>
              </a:r>
              <a:endParaRPr lang="en-US" sz="1100" dirty="0">
                <a:solidFill>
                  <a:schemeClr val="accent4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115" name="Arrow: Down 114">
              <a:extLst>
                <a:ext uri="{FF2B5EF4-FFF2-40B4-BE49-F238E27FC236}">
                  <a16:creationId xmlns:a16="http://schemas.microsoft.com/office/drawing/2014/main" id="{4CE088C7-164C-C918-5D14-135174ECC744}"/>
                </a:ext>
              </a:extLst>
            </p:cNvPr>
            <p:cNvSpPr/>
            <p:nvPr/>
          </p:nvSpPr>
          <p:spPr>
            <a:xfrm rot="16200000">
              <a:off x="4716101" y="2023354"/>
              <a:ext cx="188649" cy="889960"/>
            </a:xfrm>
            <a:prstGeom prst="downArrow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Text 4">
              <a:extLst>
                <a:ext uri="{FF2B5EF4-FFF2-40B4-BE49-F238E27FC236}">
                  <a16:creationId xmlns:a16="http://schemas.microsoft.com/office/drawing/2014/main" id="{33153985-BAAB-07E5-5DA8-DD537509308F}"/>
                </a:ext>
              </a:extLst>
            </p:cNvPr>
            <p:cNvSpPr/>
            <p:nvPr/>
          </p:nvSpPr>
          <p:spPr>
            <a:xfrm>
              <a:off x="1581314" y="5029200"/>
              <a:ext cx="74980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i="1" dirty="0">
                  <a:solidFill>
                    <a:schemeClr val="accent4">
                      <a:lumMod val="20000"/>
                      <a:lumOff val="80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Triggers</a:t>
              </a:r>
              <a:endParaRPr lang="en-US" sz="1100" dirty="0">
                <a:solidFill>
                  <a:schemeClr val="accent4">
                    <a:lumMod val="20000"/>
                    <a:lumOff val="80000"/>
                  </a:schemeClr>
                </a:solidFill>
              </a:endParaRPr>
            </a:p>
          </p:txBody>
        </p:sp>
      </p:grp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50947506-5772-0678-C5B4-1F6140CCADE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35000"/>
          </a:blip>
          <a:stretch>
            <a:fillRect/>
          </a:stretch>
        </p:blipFill>
        <p:spPr>
          <a:xfrm>
            <a:off x="10972800" y="131445"/>
            <a:ext cx="762000" cy="762000"/>
          </a:xfrm>
          <a:prstGeom prst="rect">
            <a:avLst/>
          </a:prstGeom>
        </p:spPr>
      </p:pic>
      <p:sp>
        <p:nvSpPr>
          <p:cNvPr id="5" name="Text 4">
            <a:extLst>
              <a:ext uri="{FF2B5EF4-FFF2-40B4-BE49-F238E27FC236}">
                <a16:creationId xmlns:a16="http://schemas.microsoft.com/office/drawing/2014/main" id="{315F4D25-8AF4-B940-FBE0-B99A7BF961DB}"/>
              </a:ext>
            </a:extLst>
          </p:cNvPr>
          <p:cNvSpPr/>
          <p:nvPr/>
        </p:nvSpPr>
        <p:spPr>
          <a:xfrm>
            <a:off x="755345" y="1101089"/>
            <a:ext cx="11430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are the primary source  ·  Auto-capture writes bookmarks to MEMORY.md  ·  /dream reads sessions directly  ·  One exception: abandoned approaches fast-tracked to CLAUDE.md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82256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434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9FE1C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Audit Trail — dream-log.md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5120640" cy="5166360"/>
          </a:xfrm>
          <a:prstGeom prst="rect">
            <a:avLst/>
          </a:prstGeom>
          <a:solidFill>
            <a:srgbClr val="E1F5EE"/>
          </a:solidFill>
          <a:ln w="12700">
            <a:solidFill>
              <a:srgbClr val="1D9E7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each entry contains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47548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</a:rPr>
              <a:t>ISO timestamp · sessions searched · sessions with knowledge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</a:rPr>
              <a:t>Sources table: each session URL + knowledge extracted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</a:rPr>
              <a:t>Operations table: op · entry · file · confidence · source session URL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</a:rPr>
              <a:t>Conflicts section: old vs new, which won, why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</a:rPr>
              <a:t>Pruned entries: what was deleted and the reason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</a:rPr>
              <a:t>Memory health: entries before/after, MEMORY.md entries processed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</a:rPr>
              <a:t>Observations: patterns noticed across sessions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0" y="1051560"/>
            <a:ext cx="5897880" cy="5166360"/>
          </a:xfrm>
          <a:prstGeom prst="rect">
            <a:avLst/>
          </a:prstGeom>
          <a:solidFill>
            <a:srgbClr val="1A1A1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126480" y="117043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dream-log.md — excerpt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080760" y="1572768"/>
            <a:ext cx="5669280" cy="4480560"/>
          </a:xfrm>
          <a:prstGeom prst="rect">
            <a:avLst/>
          </a:prstGeom>
          <a:noFill/>
          <a:ln/>
        </p:spPr>
        <p:txBody>
          <a:bodyPr wrap="square" lIns="50800" tIns="127000" rIns="127000" bIns="50800" rtlCol="0" anchor="t"/>
          <a:lstStyle/>
          <a:p>
            <a:r>
              <a:rPr lang="en-US" sz="1100" dirty="0">
                <a:solidFill>
                  <a:srgbClr val="9FE1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Dream run — 2025-03-12 14:32Sessions searched: 8  |  With knowledge: 5Trigger: manual /dream### Sources this run| Session     | URL        | Extracted        ||-------------|------------|------------------|| session-014 | [link](…)  | </a:t>
            </a:r>
            <a:r>
              <a:rPr lang="en-US" sz="1100" dirty="0" err="1">
                <a:solidFill>
                  <a:srgbClr val="9FE1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pnpm</a:t>
            </a:r>
            <a:r>
              <a:rPr lang="en-US" sz="1100" dirty="0">
                <a:solidFill>
                  <a:srgbClr val="9FE1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correction  || session-012 | [link](…)  | </a:t>
            </a:r>
            <a:r>
              <a:rPr lang="en-US" sz="1100" dirty="0" err="1">
                <a:solidFill>
                  <a:srgbClr val="9FE1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Vitest</a:t>
            </a:r>
            <a:r>
              <a:rPr lang="en-US" sz="1100" dirty="0">
                <a:solidFill>
                  <a:srgbClr val="9FE1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migration || MEMORY.md   | manual     | 2 entries        |### Operations applied| Op      | Entry          | Score | Source      ||---------|----------------|-------|-------------|| ADD     | </a:t>
            </a:r>
            <a:r>
              <a:rPr lang="en-US" sz="1100" dirty="0" err="1">
                <a:solidFill>
                  <a:srgbClr val="9FE1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Vitest</a:t>
            </a:r>
            <a:r>
              <a:rPr lang="en-US" sz="1100" dirty="0">
                <a:solidFill>
                  <a:srgbClr val="9FE1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config  | 0.75  | session-012 || UPDATE  | Package manager| 0.90  | session-014 || PROMOTE | </a:t>
            </a:r>
            <a:r>
              <a:rPr lang="en-US" sz="1100" dirty="0" err="1">
                <a:solidFill>
                  <a:srgbClr val="9FE1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pnpm</a:t>
            </a:r>
            <a:r>
              <a:rPr lang="en-US" sz="1100" dirty="0">
                <a:solidFill>
                  <a:srgbClr val="9FE1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is default| 0.92  | session-014 |### Memory </a:t>
            </a:r>
            <a:r>
              <a:rPr lang="en-US" sz="1100" dirty="0" err="1">
                <a:solidFill>
                  <a:srgbClr val="9FE1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healthEntries</a:t>
            </a:r>
            <a:r>
              <a:rPr lang="en-US" sz="1100" dirty="0">
                <a:solidFill>
                  <a:srgbClr val="9FE1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before: 18  →  after: 15MEMORY.md entries processed: 2 (cleared)</a:t>
            </a:r>
            <a:endParaRPr lang="en-US" sz="1100" dirty="0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68FC9D96-2439-345B-A06E-9F7AD0EFC292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35000"/>
          </a:blip>
          <a:stretch>
            <a:fillRect/>
          </a:stretch>
        </p:blipFill>
        <p:spPr>
          <a:xfrm>
            <a:off x="10972800" y="131445"/>
            <a:ext cx="762000" cy="762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434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9FE1C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 Dashboard — /dream health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feature  ·  on demand  ·  read-only  ·  generates memory/health.html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3200400" cy="1078992"/>
          </a:xfrm>
          <a:prstGeom prst="rect">
            <a:avLst/>
          </a:prstGeom>
          <a:solidFill>
            <a:srgbClr val="FAEEDA"/>
          </a:solidFill>
          <a:ln w="19050">
            <a:solidFill>
              <a:srgbClr val="EF9F2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54F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/dream health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before /dream or when Claude behaves unexpectedly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749040" y="1024128"/>
            <a:ext cx="3200400" cy="1078992"/>
          </a:xfrm>
          <a:prstGeom prst="rect">
            <a:avLst/>
          </a:prstGeom>
          <a:solidFill>
            <a:srgbClr val="E1F5EE"/>
          </a:solidFill>
          <a:ln w="19050">
            <a:solidFill>
              <a:srgbClr val="1D9E7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913632" y="10972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913632" y="13716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6E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memory/health.html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913632" y="17373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 · opens in any browser · no server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223760" y="1024128"/>
            <a:ext cx="4663440" cy="1078992"/>
          </a:xfrm>
          <a:prstGeom prst="rect">
            <a:avLst/>
          </a:prstGeom>
          <a:solidFill>
            <a:srgbClr val="04342C"/>
          </a:solidFill>
          <a:ln w="12700">
            <a:solidFill>
              <a:srgbClr val="1D9E7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406640" y="10972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resolves session URLs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406640" y="1389888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conversation_search to find claude.ai URLs for every session referenced in dream-log.md. Links appear in the justification panel and run history.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" y="224942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sections in the generated report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2633472"/>
            <a:ext cx="1892808" cy="3931920"/>
          </a:xfrm>
          <a:prstGeom prst="rect">
            <a:avLst/>
          </a:prstGeom>
          <a:solidFill>
            <a:srgbClr val="E1F5EE"/>
          </a:solidFill>
          <a:ln w="19050">
            <a:solidFill>
              <a:srgbClr val="1D9E7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2706624"/>
            <a:ext cx="1892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65760" y="3182112"/>
            <a:ext cx="1709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scorecard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8912" y="3547872"/>
            <a:ext cx="1563624" cy="0"/>
          </a:xfrm>
          <a:prstGeom prst="line">
            <a:avLst/>
          </a:prstGeom>
          <a:noFill/>
          <a:ln w="762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84048" y="3639312"/>
            <a:ext cx="167335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Entries · avg confidence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usage · MEMORY.md size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276856" y="2633472"/>
            <a:ext cx="1892808" cy="3931920"/>
          </a:xfrm>
          <a:prstGeom prst="rect">
            <a:avLst/>
          </a:prstGeom>
          <a:solidFill>
            <a:srgbClr val="E1F5EE"/>
          </a:solidFill>
          <a:ln w="19050">
            <a:solidFill>
              <a:srgbClr val="1D9E7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276856" y="2706624"/>
            <a:ext cx="1892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2368296" y="3182112"/>
            <a:ext cx="1709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dist.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441448" y="3547872"/>
            <a:ext cx="1563624" cy="0"/>
          </a:xfrm>
          <a:prstGeom prst="line">
            <a:avLst/>
          </a:prstGeom>
          <a:noFill/>
          <a:ln w="762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386584" y="3639312"/>
            <a:ext cx="167335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per confidence band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colour-coded red → teal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279392" y="2633472"/>
            <a:ext cx="1892808" cy="3931920"/>
          </a:xfrm>
          <a:prstGeom prst="rect">
            <a:avLst/>
          </a:prstGeom>
          <a:solidFill>
            <a:srgbClr val="E1F5EE"/>
          </a:solidFill>
          <a:ln w="19050">
            <a:solidFill>
              <a:srgbClr val="1D9E7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279392" y="2706624"/>
            <a:ext cx="1892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4370832" y="3182112"/>
            <a:ext cx="1709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Decay curve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443984" y="3547872"/>
            <a:ext cx="1563624" cy="0"/>
          </a:xfrm>
          <a:prstGeom prst="line">
            <a:avLst/>
          </a:prstGeom>
          <a:noFill/>
          <a:ln w="762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389120" y="3639312"/>
            <a:ext cx="167335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confidence per dream run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promote / watch thresholds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81928" y="2633472"/>
            <a:ext cx="1892808" cy="3931920"/>
          </a:xfrm>
          <a:prstGeom prst="rect">
            <a:avLst/>
          </a:prstGeom>
          <a:solidFill>
            <a:srgbClr val="E1F5EE"/>
          </a:solidFill>
          <a:ln w="19050">
            <a:solidFill>
              <a:srgbClr val="1D9E7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281928" y="2706624"/>
            <a:ext cx="1892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6373368" y="3182112"/>
            <a:ext cx="1709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coverage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446520" y="3547872"/>
            <a:ext cx="1563624" cy="0"/>
          </a:xfrm>
          <a:prstGeom prst="line">
            <a:avLst/>
          </a:prstGeom>
          <a:noFill/>
          <a:ln w="762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391656" y="3639312"/>
            <a:ext cx="167335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Per-file: entries, avg score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count, promote-ready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284464" y="2633472"/>
            <a:ext cx="1892808" cy="3931920"/>
          </a:xfrm>
          <a:prstGeom prst="rect">
            <a:avLst/>
          </a:prstGeom>
          <a:solidFill>
            <a:srgbClr val="04342C"/>
          </a:solidFill>
          <a:ln w="19050">
            <a:solidFill>
              <a:srgbClr val="1D9E7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284464" y="2706624"/>
            <a:ext cx="1892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FE1C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8375904" y="3182112"/>
            <a:ext cx="1709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history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449056" y="3547872"/>
            <a:ext cx="1563624" cy="0"/>
          </a:xfrm>
          <a:prstGeom prst="line">
            <a:avLst/>
          </a:prstGeom>
          <a:noFill/>
          <a:ln w="762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8394192" y="3639312"/>
            <a:ext cx="167335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Expandable dream runs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clickable operation rows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0287000" y="2633472"/>
            <a:ext cx="1892808" cy="3931920"/>
          </a:xfrm>
          <a:prstGeom prst="rect">
            <a:avLst/>
          </a:prstGeom>
          <a:solidFill>
            <a:srgbClr val="0A4A38"/>
          </a:solidFill>
          <a:ln w="19050">
            <a:solidFill>
              <a:srgbClr val="5DCA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10287000" y="2706624"/>
            <a:ext cx="1892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DCA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10378440" y="3182112"/>
            <a:ext cx="1709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 panel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10451592" y="3547872"/>
            <a:ext cx="1563624" cy="0"/>
          </a:xfrm>
          <a:prstGeom prst="line">
            <a:avLst/>
          </a:prstGeom>
          <a:noFill/>
          <a:ln w="7620">
            <a:solidFill>
              <a:srgbClr val="5DCA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10396728" y="3639312"/>
            <a:ext cx="167335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panel: reason, evidence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before/after, risk, session link</a:t>
            </a:r>
            <a:endParaRPr lang="en-US" sz="1100" dirty="0"/>
          </a:p>
        </p:txBody>
      </p:sp>
      <p:pic>
        <p:nvPicPr>
          <p:cNvPr id="47" name="Image 0" descr="preencoded.png">
            <a:extLst>
              <a:ext uri="{FF2B5EF4-FFF2-40B4-BE49-F238E27FC236}">
                <a16:creationId xmlns:a16="http://schemas.microsoft.com/office/drawing/2014/main" id="{A822BC2F-6C31-D59A-BAE0-BFB89BF1A75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35000"/>
          </a:blip>
          <a:stretch>
            <a:fillRect/>
          </a:stretch>
        </p:blipFill>
        <p:spPr>
          <a:xfrm>
            <a:off x="10972800" y="131445"/>
            <a:ext cx="762000" cy="762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434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9FE1C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 Dashboard — Justification Side Panel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6583680" cy="5394960"/>
          </a:xfrm>
          <a:prstGeom prst="rect">
            <a:avLst/>
          </a:prstGeom>
          <a:solidFill>
            <a:srgbClr val="F1EFE8"/>
          </a:solidFill>
          <a:ln w="12700">
            <a:solidFill>
              <a:srgbClr val="B4B2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 run history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426464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operation row to open justification →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719072"/>
            <a:ext cx="6583680" cy="310896"/>
          </a:xfrm>
          <a:prstGeom prst="rect">
            <a:avLst/>
          </a:prstGeom>
          <a:solidFill>
            <a:srgbClr val="B4B2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719072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   entry   file   confidence   source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066544"/>
            <a:ext cx="658368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F1E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2066544"/>
            <a:ext cx="1005840" cy="603504"/>
          </a:xfrm>
          <a:prstGeom prst="rect">
            <a:avLst/>
          </a:prstGeom>
          <a:solidFill>
            <a:srgbClr val="E1F5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" y="2066544"/>
            <a:ext cx="1005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71600" y="21214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pnpm is the package manager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71600" y="239572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5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topic-tooling.md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0" y="2203704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" y="2724912"/>
            <a:ext cx="6583680" cy="603504"/>
          </a:xfrm>
          <a:prstGeom prst="rect">
            <a:avLst/>
          </a:prstGeom>
          <a:solidFill>
            <a:srgbClr val="EFF8FF"/>
          </a:solidFill>
          <a:ln w="1905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4320" y="2724912"/>
            <a:ext cx="1005840" cy="603504"/>
          </a:xfrm>
          <a:prstGeom prst="rect">
            <a:avLst/>
          </a:prstGeom>
          <a:solidFill>
            <a:srgbClr val="FAEE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" y="2724912"/>
            <a:ext cx="1005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71600" y="277977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runner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71600" y="305409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5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topic-testing.md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0" y="286207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28895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74320" y="3383280"/>
            <a:ext cx="658368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F1E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4320" y="3383280"/>
            <a:ext cx="1005840" cy="603504"/>
          </a:xfrm>
          <a:prstGeom prst="rect">
            <a:avLst/>
          </a:prstGeom>
          <a:solidFill>
            <a:srgbClr val="FCEB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74320" y="3383280"/>
            <a:ext cx="1005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371600" y="34381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webpack for bundling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371600" y="3712464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5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topic-tooling.md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0" y="352044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74320" y="4041648"/>
            <a:ext cx="658368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F1E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74320" y="4041648"/>
            <a:ext cx="1005840" cy="603504"/>
          </a:xfrm>
          <a:prstGeom prst="rect">
            <a:avLst/>
          </a:prstGeom>
          <a:solidFill>
            <a:srgbClr val="0A4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74320" y="4041648"/>
            <a:ext cx="1005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371600" y="40965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pnpm is the package manager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371600" y="437083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5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0" y="417880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132320" y="1005840"/>
            <a:ext cx="475488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4B2A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132320" y="1005840"/>
            <a:ext cx="4754880" cy="1005840"/>
          </a:xfrm>
          <a:prstGeom prst="rect">
            <a:avLst/>
          </a:prstGeom>
          <a:solidFill>
            <a:srgbClr val="FAEEDA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7132320" y="1005840"/>
            <a:ext cx="4754880" cy="54864"/>
          </a:xfrm>
          <a:prstGeom prst="rect">
            <a:avLst/>
          </a:prstGeom>
          <a:solidFill>
            <a:srgbClr val="EF9F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269480" y="1051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269480" y="132588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runner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7269480" y="164592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5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memory/topic-testing.md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269480" y="208483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269480" y="22860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session-012 corrected Jest → Vitest with migration context.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7269480" y="2615184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269480" y="281635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session-012: "switched to Vitest — ESM compat"; session-014: used without question.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7269480" y="3145536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269480" y="3346704"/>
            <a:ext cx="4480560" cy="274320"/>
          </a:xfrm>
          <a:prstGeom prst="rect">
            <a:avLst/>
          </a:prstGeom>
          <a:solidFill>
            <a:srgbClr val="FCEBEB"/>
          </a:solidFill>
          <a:ln w="127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7269480" y="3346704"/>
            <a:ext cx="45720" cy="274320"/>
          </a:xfrm>
          <a:prstGeom prst="rect">
            <a:avLst/>
          </a:prstGeom>
          <a:solidFill>
            <a:srgbClr val="E24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388352" y="3346704"/>
            <a:ext cx="4315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3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Jest for unit tests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269480" y="373075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269480" y="3931920"/>
            <a:ext cx="4480560" cy="274320"/>
          </a:xfrm>
          <a:prstGeom prst="rect">
            <a:avLst/>
          </a:prstGeom>
          <a:solidFill>
            <a:srgbClr val="E1F5EE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7269480" y="3931920"/>
            <a:ext cx="45720" cy="27432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7388352" y="3931920"/>
            <a:ext cx="4315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6E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Vitest (migrated session-012, ESM)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269480" y="431596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269480" y="451713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  ↑ from 0.60 over 2 sessions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7269480" y="484632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IF SKIPPED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269480" y="5047488"/>
            <a:ext cx="4480560" cy="310896"/>
          </a:xfrm>
          <a:prstGeom prst="rect">
            <a:avLst/>
          </a:prstGeom>
          <a:solidFill>
            <a:srgbClr val="FAEEDA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7269480" y="5047488"/>
            <a:ext cx="54864" cy="310896"/>
          </a:xfrm>
          <a:prstGeom prst="rect">
            <a:avLst/>
          </a:prstGeom>
          <a:solidFill>
            <a:srgbClr val="EF9F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7388352" y="5047488"/>
            <a:ext cx="4315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keeps suggesting Jest — commands fail on this project.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7269480" y="5431536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7269480" y="563270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session-012 ↗</a:t>
            </a:r>
            <a:endParaRPr lang="en-US" sz="1200" dirty="0"/>
          </a:p>
        </p:txBody>
      </p:sp>
      <p:pic>
        <p:nvPicPr>
          <p:cNvPr id="60" name="Image 0" descr="preencoded.png">
            <a:extLst>
              <a:ext uri="{FF2B5EF4-FFF2-40B4-BE49-F238E27FC236}">
                <a16:creationId xmlns:a16="http://schemas.microsoft.com/office/drawing/2014/main" id="{6D1F591F-6CAC-1E1C-3FAF-52994B119FC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35000"/>
          </a:blip>
          <a:stretch>
            <a:fillRect/>
          </a:stretch>
        </p:blipFill>
        <p:spPr>
          <a:xfrm>
            <a:off x="10972800" y="131445"/>
            <a:ext cx="762000" cy="762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434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9FE1C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File Structure &amp; Installation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5120640" cy="5486400"/>
          </a:xfrm>
          <a:prstGeom prst="rect">
            <a:avLst/>
          </a:prstGeom>
          <a:solidFill>
            <a:srgbClr val="F1EFE8"/>
          </a:solidFill>
          <a:ln w="19050">
            <a:solidFill>
              <a:srgbClr val="B4B2A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your-project/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4663440" cy="914400"/>
          </a:xfrm>
          <a:prstGeom prst="rect">
            <a:avLst/>
          </a:prstGeom>
          <a:solidFill>
            <a:srgbClr val="04342C"/>
          </a:solidFill>
          <a:ln w="190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1773936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Promoted knowledge — loaded every session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975104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20 entries  ·  session-invariant  ·  whitelist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487168"/>
            <a:ext cx="4663440" cy="749808"/>
          </a:xfrm>
          <a:prstGeom prst="rect">
            <a:avLst/>
          </a:prstGeom>
          <a:solidFill>
            <a:srgbClr val="FAEEDA"/>
          </a:solidFill>
          <a:ln w="1905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55117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.claude/commands/dream.md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807208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/dream command — 6 phases, scoring, operations, tier logic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337560"/>
            <a:ext cx="4663440" cy="2944368"/>
          </a:xfrm>
          <a:prstGeom prst="rect">
            <a:avLst/>
          </a:prstGeom>
          <a:solidFill>
            <a:srgbClr val="E6F1FB"/>
          </a:solidFill>
          <a:ln w="19050">
            <a:solidFill>
              <a:srgbClr val="378ADD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340156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memory/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3749040"/>
            <a:ext cx="4206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85B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3785616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MEMORY.md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400507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overrides &amp; auto-capture bookmarks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31519" y="4460124"/>
            <a:ext cx="420623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85B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31519" y="4514988"/>
            <a:ext cx="42062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topic-*.md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1520" y="4734444"/>
            <a:ext cx="420623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by dream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31520" y="5049222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85B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31520" y="508579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dream-log.md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31520" y="5305254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audit trail of every dream run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760720" y="1600200"/>
            <a:ext cx="6080760" cy="2148840"/>
          </a:xfrm>
          <a:prstGeom prst="rect">
            <a:avLst/>
          </a:prstGeom>
          <a:solidFill>
            <a:srgbClr val="F1EFE8"/>
          </a:solidFill>
          <a:ln w="12700">
            <a:solidFill>
              <a:srgbClr val="B4B2A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943600" y="1673352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During a session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5943600" y="2075688"/>
            <a:ext cx="5760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work normally — no "remember that..." needed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Auto-capture writes bookmarks at 5 trigger points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/dream reads sessions directly via </a:t>
            </a:r>
            <a:r>
              <a:rPr lang="en-US" sz="1250" dirty="0" err="1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conversation_search</a:t>
            </a:r>
            <a:endParaRPr lang="en-US" sz="1250" dirty="0">
              <a:solidFill>
                <a:srgbClr val="2C2C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spcAft>
                <a:spcPts val="300"/>
              </a:spcAft>
              <a:buNone/>
            </a:pPr>
            <a:endParaRPr lang="en-US" sz="1250" dirty="0">
              <a:solidFill>
                <a:srgbClr val="2C2C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MEMORY.md: only for context outside Claude Code sessions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(documents, meetings, urgent manual corrections)</a:t>
            </a:r>
          </a:p>
        </p:txBody>
      </p:sp>
      <p:sp>
        <p:nvSpPr>
          <p:cNvPr id="36" name="Shape 34"/>
          <p:cNvSpPr/>
          <p:nvPr/>
        </p:nvSpPr>
        <p:spPr>
          <a:xfrm>
            <a:off x="5760720" y="3867912"/>
            <a:ext cx="6080760" cy="2011680"/>
          </a:xfrm>
          <a:prstGeom prst="rect">
            <a:avLst/>
          </a:prstGeom>
          <a:solidFill>
            <a:srgbClr val="F1EFE8"/>
          </a:solidFill>
          <a:ln w="12700">
            <a:solidFill>
              <a:srgbClr val="B4B2A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943600" y="3941064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Triggering /dream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5943600" y="4343400"/>
            <a:ext cx="5760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/dream to consolidate immediately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end any message with /dream: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5943600" y="500176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"fixed the auth bug — token expiry /dream"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5943600" y="5312664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runs all 7 phases — reads sessions first, then waits for your approval before touching any file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</p:txBody>
      </p:sp>
      <p:sp>
        <p:nvSpPr>
          <p:cNvPr id="48" name="Shape 28">
            <a:extLst>
              <a:ext uri="{FF2B5EF4-FFF2-40B4-BE49-F238E27FC236}">
                <a16:creationId xmlns:a16="http://schemas.microsoft.com/office/drawing/2014/main" id="{30EC85F0-B659-162F-5861-8968BDA1AA25}"/>
              </a:ext>
            </a:extLst>
          </p:cNvPr>
          <p:cNvSpPr/>
          <p:nvPr/>
        </p:nvSpPr>
        <p:spPr>
          <a:xfrm>
            <a:off x="731518" y="5657877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85B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29">
            <a:extLst>
              <a:ext uri="{FF2B5EF4-FFF2-40B4-BE49-F238E27FC236}">
                <a16:creationId xmlns:a16="http://schemas.microsoft.com/office/drawing/2014/main" id="{3739DAF7-1F33-0584-DBA8-3BC97CE81912}"/>
              </a:ext>
            </a:extLst>
          </p:cNvPr>
          <p:cNvSpPr/>
          <p:nvPr/>
        </p:nvSpPr>
        <p:spPr>
          <a:xfrm>
            <a:off x="731518" y="5694453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health.html</a:t>
            </a:r>
            <a:endParaRPr lang="en-US" sz="1300" dirty="0"/>
          </a:p>
        </p:txBody>
      </p:sp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57FF18B9-D634-4146-1A4C-CAF717287EA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35000"/>
          </a:blip>
          <a:stretch>
            <a:fillRect/>
          </a:stretch>
        </p:blipFill>
        <p:spPr>
          <a:xfrm>
            <a:off x="10972800" y="131445"/>
            <a:ext cx="762000" cy="762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434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9FE1C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Installation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project  ·  or machine-wide so every project inherits it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5577840" cy="5532120"/>
          </a:xfrm>
          <a:prstGeom prst="rect">
            <a:avLst/>
          </a:prstGeom>
          <a:solidFill>
            <a:srgbClr val="F1EFE8"/>
          </a:solidFill>
          <a:ln w="12700">
            <a:solidFill>
              <a:srgbClr val="B4B2A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24128"/>
            <a:ext cx="5577840" cy="475488"/>
          </a:xfrm>
          <a:prstGeom prst="rect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20624" y="1024128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FE1C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Option A — single project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20624" y="153619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inside one repo only. Repeat per project.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4048" y="1883664"/>
            <a:ext cx="310896" cy="310896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84048" y="1883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4672" y="188366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folder structure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84048" y="2194560"/>
            <a:ext cx="5321808" cy="475488"/>
          </a:xfrm>
          <a:prstGeom prst="rect">
            <a:avLst/>
          </a:prstGeom>
          <a:solidFill>
            <a:srgbClr val="1A1A18"/>
          </a:solidFill>
          <a:ln w="6350">
            <a:solidFill>
              <a:srgbClr val="3333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12064" y="219456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E1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-p .claude/commands memory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84048" y="2798064"/>
            <a:ext cx="310896" cy="310896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84048" y="27980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4672" y="279806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command files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84048" y="3108960"/>
            <a:ext cx="5321808" cy="731520"/>
          </a:xfrm>
          <a:prstGeom prst="rect">
            <a:avLst/>
          </a:prstGeom>
          <a:solidFill>
            <a:srgbClr val="1A1A18"/>
          </a:solidFill>
          <a:ln w="6350">
            <a:solidFill>
              <a:srgbClr val="3333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12064" y="310896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E1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dream.md .claude/commands/dream.md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FE1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dream-health.md .claude/commands/dream-health.md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84048" y="3968496"/>
            <a:ext cx="310896" cy="310896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84048" y="3968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04672" y="396849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Initialise memory files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84048" y="4279392"/>
            <a:ext cx="5321808" cy="475488"/>
          </a:xfrm>
          <a:prstGeom prst="rect">
            <a:avLst/>
          </a:prstGeom>
          <a:solidFill>
            <a:srgbClr val="1A1A18"/>
          </a:solidFill>
          <a:ln w="6350">
            <a:solidFill>
              <a:srgbClr val="3333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12064" y="427939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E1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MEMORY.md dream-log.md ./memory/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84048" y="4882896"/>
            <a:ext cx="310896" cy="310896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84048" y="48828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04672" y="488289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into your existing CLAUDE.md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84048" y="5193792"/>
            <a:ext cx="5321808" cy="603504"/>
          </a:xfrm>
          <a:prstGeom prst="rect">
            <a:avLst/>
          </a:prstGeom>
          <a:solidFill>
            <a:srgbClr val="FAEEDA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12064" y="5193792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dream rules section to your existing CLAUDE.md.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don't have one yet, use the provided CLAUDE.md as a starting point.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09360" y="1024128"/>
            <a:ext cx="5577840" cy="5532120"/>
          </a:xfrm>
          <a:prstGeom prst="rect">
            <a:avLst/>
          </a:prstGeom>
          <a:solidFill>
            <a:srgbClr val="F1EFE8"/>
          </a:solidFill>
          <a:ln w="12700">
            <a:solidFill>
              <a:srgbClr val="B4B2A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309360" y="1024128"/>
            <a:ext cx="5577840" cy="475488"/>
          </a:xfrm>
          <a:prstGeom prst="rect">
            <a:avLst/>
          </a:prstGeom>
          <a:solidFill>
            <a:srgbClr val="0434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455664" y="1024128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FE1C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Option B — machine-wide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455664" y="153619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once. Every project on this machine inherits the commands.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55664" y="1865376"/>
            <a:ext cx="5266944" cy="694944"/>
          </a:xfrm>
          <a:prstGeom prst="rect">
            <a:avLst/>
          </a:prstGeom>
          <a:solidFill>
            <a:srgbClr val="E1F5EE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565392" y="19202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reads ~/.claude/commands/ globally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565392" y="21945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 placed here are available in every project, no per-repo copy needed.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00800" y="2688336"/>
            <a:ext cx="310896" cy="310896"/>
          </a:xfrm>
          <a:prstGeom prst="ellipse">
            <a:avLst/>
          </a:prstGeom>
          <a:solidFill>
            <a:srgbClr val="0434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400800" y="2688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821424" y="268833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commands globally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400800" y="2999232"/>
            <a:ext cx="5321808" cy="731520"/>
          </a:xfrm>
          <a:prstGeom prst="rect">
            <a:avLst/>
          </a:prstGeom>
          <a:solidFill>
            <a:srgbClr val="1A1A18"/>
          </a:solidFill>
          <a:ln w="6350">
            <a:solidFill>
              <a:srgbClr val="3333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528816" y="2999232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E1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-p ~/.claude/commands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FE1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dream.md ~/.claude/commands/dream.md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FE1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dream-health.md ~/.claude/commands/dream-health.md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400800" y="3858768"/>
            <a:ext cx="310896" cy="310896"/>
          </a:xfrm>
          <a:prstGeom prst="ellipse">
            <a:avLst/>
          </a:prstGeom>
          <a:solidFill>
            <a:srgbClr val="0434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400800" y="3858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821424" y="38587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project still needs its own memory/ folder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400800" y="4169664"/>
            <a:ext cx="5321808" cy="603504"/>
          </a:xfrm>
          <a:prstGeom prst="rect">
            <a:avLst/>
          </a:prstGeom>
          <a:solidFill>
            <a:srgbClr val="1A1A18"/>
          </a:solidFill>
          <a:ln w="6350">
            <a:solidFill>
              <a:srgbClr val="3333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528816" y="4169664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E1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your-project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FE1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-p memory &amp;&amp; cp MEMORY.md dream-log.md ./memory/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400800" y="4901184"/>
            <a:ext cx="310896" cy="310896"/>
          </a:xfrm>
          <a:prstGeom prst="ellipse">
            <a:avLst/>
          </a:prstGeom>
          <a:solidFill>
            <a:srgbClr val="0434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400800" y="4901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821424" y="490118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dream rules to each project's CLAUDE.md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6400800" y="5212080"/>
            <a:ext cx="5321808" cy="603504"/>
          </a:xfrm>
          <a:prstGeom prst="rect">
            <a:avLst/>
          </a:prstGeom>
          <a:solidFill>
            <a:srgbClr val="FAEEDA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528816" y="5212080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the dream rules section into each project's CLAUDE.md.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Customise thresholds and tier overrides per project.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74320" y="6601968"/>
            <a:ext cx="11612880" cy="0"/>
          </a:xfrm>
          <a:prstGeom prst="rect">
            <a:avLst/>
          </a:prstGeom>
          <a:noFill/>
          <a:ln w="6350">
            <a:solidFill>
              <a:srgbClr val="B4B2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274320" y="6629400"/>
            <a:ext cx="5577840" cy="0"/>
          </a:xfrm>
          <a:prstGeom prst="rect">
            <a:avLst/>
          </a:prstGeom>
          <a:noFill/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3" name="Image 0" descr="preencoded.png">
            <a:extLst>
              <a:ext uri="{FF2B5EF4-FFF2-40B4-BE49-F238E27FC236}">
                <a16:creationId xmlns:a16="http://schemas.microsoft.com/office/drawing/2014/main" id="{EF3A788F-D47A-1FA8-DAD9-38A007EAE90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35000"/>
          </a:blip>
          <a:stretch>
            <a:fillRect/>
          </a:stretch>
        </p:blipFill>
        <p:spPr>
          <a:xfrm>
            <a:off x="10972800" y="131445"/>
            <a:ext cx="762000" cy="762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434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9FE1C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Per-Project Tuning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520440" cy="4389120"/>
          </a:xfrm>
          <a:prstGeom prst="rect">
            <a:avLst/>
          </a:prstGeom>
          <a:solidFill>
            <a:srgbClr val="E6F1FB"/>
          </a:solidFill>
          <a:ln w="19050">
            <a:solidFill>
              <a:srgbClr val="378A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0352" y="11430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85F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Early project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30352" y="157276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trust first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30352" y="1938528"/>
            <a:ext cx="3200400" cy="0"/>
          </a:xfrm>
          <a:prstGeom prst="line">
            <a:avLst/>
          </a:prstGeom>
          <a:noFill/>
          <a:ln w="1016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30352" y="2103120"/>
            <a:ext cx="32004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20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C2C2A"/>
                </a:solidFill>
              </a:rPr>
              <a:t>Run with defaults</a:t>
            </a:r>
            <a:endParaRPr lang="en-US" sz="1400" dirty="0"/>
          </a:p>
          <a:p>
            <a:pPr marL="342900" indent="-342900">
              <a:lnSpc>
                <a:spcPct val="20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C2C2A"/>
                </a:solidFill>
              </a:rPr>
              <a:t>Review everything in Tier 2 and 3
Read every dream-log entry
Understand what Claude decides and why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06240" y="1005840"/>
            <a:ext cx="3520440" cy="4389120"/>
          </a:xfrm>
          <a:prstGeom prst="rect">
            <a:avLst/>
          </a:prstGeom>
          <a:solidFill>
            <a:srgbClr val="E1F5EE"/>
          </a:solidFill>
          <a:ln w="19050">
            <a:solidFill>
              <a:srgbClr val="1D9E7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70832" y="11430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Mid-project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370832" y="157276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delegating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70832" y="1938528"/>
            <a:ext cx="3200400" cy="0"/>
          </a:xfrm>
          <a:prstGeom prst="line">
            <a:avLst/>
          </a:prstGeom>
          <a:noFill/>
          <a:ln w="1016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370832" y="2103120"/>
            <a:ext cx="32004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20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C2C2A"/>
                </a:solidFill>
              </a:rPr>
              <a:t>Move DELETE borderline → Tier 1
Trust UPDATE major diffs
Still review all PROMOTE/DEMOTE
Check avg confidence trend in logs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46720" y="1005840"/>
            <a:ext cx="3520440" cy="4389120"/>
          </a:xfrm>
          <a:prstGeom prst="rect">
            <a:avLst/>
          </a:prstGeom>
          <a:solidFill>
            <a:srgbClr val="FAEEDA"/>
          </a:solidFill>
          <a:ln w="19050">
            <a:solidFill>
              <a:srgbClr val="EF9F2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11312" y="11430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54F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Mature project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211312" y="157276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trust earned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211312" y="1938528"/>
            <a:ext cx="3200400" cy="0"/>
          </a:xfrm>
          <a:prstGeom prst="line">
            <a:avLst/>
          </a:prstGeom>
          <a:noFill/>
          <a:ln w="1016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11312" y="2103120"/>
            <a:ext cx="32004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20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C2C2A"/>
                </a:solidFill>
              </a:rPr>
              <a:t>Only review PROMOTE / DEMOTE
All other ops auto or Tier 2
Run dream every 8–10 sessions
CLAUDE.md stays lean and accurate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0" y="5577840"/>
            <a:ext cx="12192000" cy="1018903"/>
          </a:xfrm>
          <a:prstGeom prst="rect">
            <a:avLst/>
          </a:prstGeom>
          <a:solidFill>
            <a:srgbClr val="1A1A1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565099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DCA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 your CLAUDE.md — override tier assignments per project: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596188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E1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tier1_auto_apply: [KEEP, TIMESTAMP, UPDATE_minor, ADD_new_topic, DELETE_borderline]   tier3_always_human: [PROMOTE, DEMOTE, CONFLICT]</a:t>
            </a:r>
            <a:endParaRPr lang="en-US" sz="1200" dirty="0"/>
          </a:p>
        </p:txBody>
      </p:sp>
      <p:pic>
        <p:nvPicPr>
          <p:cNvPr id="22" name="Image 0" descr="preencoded.png">
            <a:extLst>
              <a:ext uri="{FF2B5EF4-FFF2-40B4-BE49-F238E27FC236}">
                <a16:creationId xmlns:a16="http://schemas.microsoft.com/office/drawing/2014/main" id="{06147905-DCC4-F2E7-9BE1-22A4D51A0D9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35000"/>
          </a:blip>
          <a:stretch>
            <a:fillRect/>
          </a:stretch>
        </p:blipFill>
        <p:spPr>
          <a:xfrm>
            <a:off x="10972800" y="131445"/>
            <a:ext cx="762000" cy="762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434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 — Delivered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built in Phase 1 is manual, auditable, and ready to use today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7772400" cy="694944"/>
          </a:xfrm>
          <a:prstGeom prst="rect">
            <a:avLst/>
          </a:prstGeom>
          <a:solidFill>
            <a:srgbClr val="0A4A38"/>
          </a:solidFill>
          <a:ln w="12700">
            <a:solidFill>
              <a:srgbClr val="5DCA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109728" cy="694944"/>
          </a:xfrm>
          <a:prstGeom prst="rect">
            <a:avLst/>
          </a:prstGeom>
          <a:solidFill>
            <a:srgbClr val="5DCA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85800" y="1408176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FE1C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  /dream command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85800" y="1719072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6-phase consolidation · tiered review · structured justification blocks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2176272"/>
            <a:ext cx="7772400" cy="694944"/>
          </a:xfrm>
          <a:prstGeom prst="rect">
            <a:avLst/>
          </a:prstGeom>
          <a:solidFill>
            <a:srgbClr val="0A4A38"/>
          </a:solidFill>
          <a:ln w="12700">
            <a:solidFill>
              <a:srgbClr val="5DCA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57200" y="2176272"/>
            <a:ext cx="109728" cy="694944"/>
          </a:xfrm>
          <a:prstGeom prst="rect">
            <a:avLst/>
          </a:prstGeom>
          <a:solidFill>
            <a:srgbClr val="5DCA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85800" y="2212848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FE1C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  Auto-capture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85800" y="2523744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trigger points · silent writes · no user prompting needed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2980944"/>
            <a:ext cx="7772400" cy="694944"/>
          </a:xfrm>
          <a:prstGeom prst="rect">
            <a:avLst/>
          </a:prstGeom>
          <a:solidFill>
            <a:srgbClr val="0A4A38"/>
          </a:solidFill>
          <a:ln w="12700">
            <a:solidFill>
              <a:srgbClr val="5DCA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57200" y="2980944"/>
            <a:ext cx="109728" cy="694944"/>
          </a:xfrm>
          <a:prstGeom prst="rect">
            <a:avLst/>
          </a:prstGeom>
          <a:solidFill>
            <a:srgbClr val="5DCA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85800" y="3017520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FE1C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  dream-log.md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85800" y="3328416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audit trail · per-operation justification · session URLs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3785616"/>
            <a:ext cx="7772400" cy="694944"/>
          </a:xfrm>
          <a:prstGeom prst="rect">
            <a:avLst/>
          </a:prstGeom>
          <a:solidFill>
            <a:srgbClr val="0A4A38"/>
          </a:solidFill>
          <a:ln w="12700">
            <a:solidFill>
              <a:srgbClr val="5DCA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57200" y="3785616"/>
            <a:ext cx="109728" cy="694944"/>
          </a:xfrm>
          <a:prstGeom prst="rect">
            <a:avLst/>
          </a:prstGeom>
          <a:solidFill>
            <a:srgbClr val="5DCA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85800" y="3822192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FE1C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  /dream health dashboard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85800" y="4133088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· decay curve · topic coverage · justification side panel · session links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57200" y="4590288"/>
            <a:ext cx="7772400" cy="694944"/>
          </a:xfrm>
          <a:prstGeom prst="rect">
            <a:avLst/>
          </a:prstGeom>
          <a:solidFill>
            <a:srgbClr val="0A4A38"/>
          </a:solidFill>
          <a:ln w="12700">
            <a:solidFill>
              <a:srgbClr val="5DCA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457200" y="4590288"/>
            <a:ext cx="109728" cy="694944"/>
          </a:xfrm>
          <a:prstGeom prst="rect">
            <a:avLst/>
          </a:prstGeom>
          <a:solidFill>
            <a:srgbClr val="5DCA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85800" y="4626864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FE1C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  Per-project tuning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685800" y="4937760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overrides in CLAUDE.md · confidence thresholds · decay rate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8778240" y="1371600"/>
            <a:ext cx="3017520" cy="5029200"/>
          </a:xfrm>
          <a:prstGeom prst="rect">
            <a:avLst/>
          </a:prstGeom>
          <a:solidFill>
            <a:srgbClr val="0A4A38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8961120" y="15361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FE1C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 — next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8961120" y="1956816"/>
            <a:ext cx="2651760" cy="0"/>
          </a:xfrm>
          <a:prstGeom prst="line">
            <a:avLst/>
          </a:prstGeom>
          <a:noFill/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8961120" y="2084832"/>
            <a:ext cx="26517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Auto-trigger after N sessions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Tier 1+2 apply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Cross-project learning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health alerts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8961120" y="4700016"/>
            <a:ext cx="2651760" cy="0"/>
          </a:xfrm>
          <a:prstGeom prst="line">
            <a:avLst/>
          </a:prstGeom>
          <a:noFill/>
          <a:ln w="1016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8961120" y="4809744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automate what you haven't observed. Phase 1 is how you observe.</a:t>
            </a:r>
            <a:endParaRPr lang="en-US" sz="1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6035040"/>
            <a:ext cx="685800" cy="685800"/>
          </a:xfrm>
          <a:prstGeom prst="rect">
            <a:avLst/>
          </a:prstGeom>
        </p:spPr>
      </p:pic>
      <p:pic>
        <p:nvPicPr>
          <p:cNvPr id="32" name="Image 0" descr="preencoded.png">
            <a:extLst>
              <a:ext uri="{FF2B5EF4-FFF2-40B4-BE49-F238E27FC236}">
                <a16:creationId xmlns:a16="http://schemas.microsoft.com/office/drawing/2014/main" id="{EB4A80D4-018A-BCB4-0076-3401B33A9AE9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alphaModFix amt="35000"/>
          </a:blip>
          <a:stretch>
            <a:fillRect/>
          </a:stretch>
        </p:blipFill>
        <p:spPr>
          <a:xfrm>
            <a:off x="10972800" y="131445"/>
            <a:ext cx="762000" cy="762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434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Quick Reference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7589520" cy="1051560"/>
          </a:xfrm>
          <a:prstGeom prst="rect">
            <a:avLst/>
          </a:prstGeom>
          <a:solidFill>
            <a:srgbClr val="0A4A3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46095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9FE1C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 normally — no notes needed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572768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5DCA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Just use Claude Code as usual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86537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/dream reads sessions directly · auto-capture bookmarks MEMORY.md at trigger points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359152"/>
            <a:ext cx="7589520" cy="1051560"/>
          </a:xfrm>
          <a:prstGeom prst="rect">
            <a:avLst/>
          </a:prstGeom>
          <a:solidFill>
            <a:srgbClr val="0A4A3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4505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FE1C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Trigger a dream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834640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DCA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/dream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312724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append to any message: "fixed the auth bug /dream"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621024"/>
            <a:ext cx="7589520" cy="1051560"/>
          </a:xfrm>
          <a:prstGeom prst="rect">
            <a:avLst/>
          </a:prstGeom>
          <a:solidFill>
            <a:srgbClr val="0A4A3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371246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FE1C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View health report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4096512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DCA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/dream health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438912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memory/health.html — open in any browser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882896"/>
            <a:ext cx="7589520" cy="1051560"/>
          </a:xfrm>
          <a:prstGeom prst="rect">
            <a:avLst/>
          </a:prstGeom>
          <a:solidFill>
            <a:srgbClr val="0A4A3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497433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FE1C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Approve operations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5358384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DCA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apply all tier 2  ·  yes / no / revise: ...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565099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batch or individual Tier 3 — each PROMOTE/DEMOTE explicit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686800" y="1097280"/>
            <a:ext cx="3108960" cy="5120640"/>
          </a:xfrm>
          <a:prstGeom prst="rect">
            <a:avLst/>
          </a:prstGeom>
          <a:solidFill>
            <a:srgbClr val="0A4A38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869680" y="126187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FE1C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Files delivered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8869680" y="1691640"/>
            <a:ext cx="2743200" cy="0"/>
          </a:xfrm>
          <a:prstGeom prst="line">
            <a:avLst/>
          </a:prstGeom>
          <a:noFill/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869680" y="1828800"/>
            <a:ext cx="28346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.claude/commands/dream.md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.claude/commands/dream-health.md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memory/MEMORY.md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memory/dream-log.md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memory/health.html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6217920"/>
            <a:ext cx="7589520" cy="0"/>
          </a:xfrm>
          <a:prstGeom prst="line">
            <a:avLst/>
          </a:prstGeom>
          <a:noFill/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630936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 every 5–8 sessions  ·  /dream health before any major review  ·  read the log before debugging odd Claude behaviour</a:t>
            </a:r>
            <a:endParaRPr lang="en-US" sz="1250" dirty="0"/>
          </a:p>
        </p:txBody>
      </p:sp>
      <p:pic>
        <p:nvPicPr>
          <p:cNvPr id="26" name="Image 0" descr="preencoded.png">
            <a:extLst>
              <a:ext uri="{FF2B5EF4-FFF2-40B4-BE49-F238E27FC236}">
                <a16:creationId xmlns:a16="http://schemas.microsoft.com/office/drawing/2014/main" id="{752E8490-63BB-2F78-5DE1-318B5BB6672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35000"/>
          </a:blip>
          <a:stretch>
            <a:fillRect/>
          </a:stretch>
        </p:blipFill>
        <p:spPr>
          <a:xfrm>
            <a:off x="10972800" y="131445"/>
            <a:ext cx="762000" cy="762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434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11247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FE1C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Auto-Capture — Memory Without "Remember That"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writes to memory automatically at 5 natural trigger points in the coding workflow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11612880" cy="475488"/>
          </a:xfrm>
          <a:prstGeom prst="rect">
            <a:avLst/>
          </a:prstGeom>
          <a:solidFill>
            <a:srgbClr val="0A4A38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11430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are the primary source  ·  Auto-capture writes bookmarks to MEMORY.md  ·  /dream reads sessions directly  ·  One exception: abandoned approaches fast-tracked to CLAUDE.md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" y="1572768"/>
            <a:ext cx="2176272" cy="5074920"/>
          </a:xfrm>
          <a:prstGeom prst="rect">
            <a:avLst/>
          </a:prstGeom>
          <a:solidFill>
            <a:srgbClr val="E1F5EE"/>
          </a:solidFill>
          <a:ln w="19050">
            <a:solidFill>
              <a:srgbClr val="1D9E7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" y="1664208"/>
            <a:ext cx="2176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85216" y="2103120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approved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58368" y="2505456"/>
            <a:ext cx="1810512" cy="256032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8368" y="2505456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approval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2834640"/>
            <a:ext cx="1847088" cy="0"/>
          </a:xfrm>
          <a:prstGeom prst="line">
            <a:avLst/>
          </a:prstGeom>
          <a:noFill/>
          <a:ln w="762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12648" y="2907792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12648" y="3108960"/>
            <a:ext cx="19019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agreed · tools &amp; patterns · constraints set during planning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4590288"/>
            <a:ext cx="1847088" cy="0"/>
          </a:xfrm>
          <a:prstGeom prst="line">
            <a:avLst/>
          </a:prstGeom>
          <a:noFill/>
          <a:ln w="6350">
            <a:solidFill>
              <a:srgbClr val="1D9E7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2648" y="4663440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12648" y="4864608"/>
            <a:ext cx="19019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intent before execution — the 'why' is freshest here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0" y="1572768"/>
            <a:ext cx="2176272" cy="5074920"/>
          </a:xfrm>
          <a:prstGeom prst="rect">
            <a:avLst/>
          </a:prstGeom>
          <a:solidFill>
            <a:srgbClr val="E1F5EE"/>
          </a:solidFill>
          <a:ln w="19050">
            <a:solidFill>
              <a:srgbClr val="1D9E7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43200" y="1664208"/>
            <a:ext cx="2176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2852928" y="2103120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completed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926080" y="2505456"/>
            <a:ext cx="1810512" cy="256032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926080" y="2505456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success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907792" y="2834640"/>
            <a:ext cx="1847088" cy="0"/>
          </a:xfrm>
          <a:prstGeom prst="line">
            <a:avLst/>
          </a:prstGeom>
          <a:noFill/>
          <a:ln w="762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880360" y="2907792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880360" y="3108960"/>
            <a:ext cx="19019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that worked · conventions confirmed · non-obvious config or flags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907792" y="4590288"/>
            <a:ext cx="1847088" cy="0"/>
          </a:xfrm>
          <a:prstGeom prst="line">
            <a:avLst/>
          </a:prstGeom>
          <a:noFill/>
          <a:ln w="6350">
            <a:solidFill>
              <a:srgbClr val="1D9E7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880360" y="4663440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880360" y="4864608"/>
            <a:ext cx="19019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Reinforces what actually works, not just what was planned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10912" y="1572768"/>
            <a:ext cx="2176272" cy="5074920"/>
          </a:xfrm>
          <a:prstGeom prst="rect">
            <a:avLst/>
          </a:prstGeom>
          <a:solidFill>
            <a:srgbClr val="E1F5EE"/>
          </a:solidFill>
          <a:ln w="19050">
            <a:solidFill>
              <a:srgbClr val="1D9E7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010912" y="1664208"/>
            <a:ext cx="2176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5120640" y="2103120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resolved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193792" y="2505456"/>
            <a:ext cx="1810512" cy="256032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193792" y="2505456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fix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175504" y="2834640"/>
            <a:ext cx="1847088" cy="0"/>
          </a:xfrm>
          <a:prstGeom prst="line">
            <a:avLst/>
          </a:prstGeom>
          <a:noFill/>
          <a:ln w="762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148072" y="2907792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148072" y="3108960"/>
            <a:ext cx="19019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message · root cause · fix applied · gotcha to avoid next time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175504" y="4590288"/>
            <a:ext cx="1847088" cy="0"/>
          </a:xfrm>
          <a:prstGeom prst="line">
            <a:avLst/>
          </a:prstGeom>
          <a:noFill/>
          <a:ln w="6350">
            <a:solidFill>
              <a:srgbClr val="1D9E7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148072" y="4663440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148072" y="4864608"/>
            <a:ext cx="19019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valuable memory — errors are forgotten fastest between sessions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278624" y="1572768"/>
            <a:ext cx="2176272" cy="5074920"/>
          </a:xfrm>
          <a:prstGeom prst="rect">
            <a:avLst/>
          </a:prstGeom>
          <a:solidFill>
            <a:srgbClr val="FCEBEB"/>
          </a:solidFill>
          <a:ln w="19050">
            <a:solidFill>
              <a:srgbClr val="E24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278624" y="1664208"/>
            <a:ext cx="2176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A3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7388352" y="2103120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abandoned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7461504" y="2505456"/>
            <a:ext cx="1810512" cy="256032"/>
          </a:xfrm>
          <a:prstGeom prst="rect">
            <a:avLst/>
          </a:prstGeom>
          <a:solidFill>
            <a:srgbClr val="E24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461504" y="2505456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FAST-TRACK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443216" y="2834640"/>
            <a:ext cx="1847088" cy="0"/>
          </a:xfrm>
          <a:prstGeom prst="line">
            <a:avLst/>
          </a:prstGeom>
          <a:noFill/>
          <a:ln w="762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415784" y="2907792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415784" y="3108960"/>
            <a:ext cx="19019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tried · why it failed · evidence · alternative chosen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443216" y="4590288"/>
            <a:ext cx="1847088" cy="0"/>
          </a:xfrm>
          <a:prstGeom prst="line">
            <a:avLst/>
          </a:prstGeom>
          <a:noFill/>
          <a:ln w="6350">
            <a:solidFill>
              <a:srgbClr val="E24B4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7415784" y="4663440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415784" y="4864608"/>
            <a:ext cx="19019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urgent in MEMORY.md → fast-tracked to CLAUDE.md. /dream also finds it in sessions. Cannot wait.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9546336" y="1572768"/>
            <a:ext cx="2176272" cy="5074920"/>
          </a:xfrm>
          <a:prstGeom prst="rect">
            <a:avLst/>
          </a:prstGeom>
          <a:solidFill>
            <a:srgbClr val="E1F5EE"/>
          </a:solidFill>
          <a:ln w="19050">
            <a:solidFill>
              <a:srgbClr val="1D9E7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9546336" y="1664208"/>
            <a:ext cx="2176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400" dirty="0"/>
          </a:p>
        </p:txBody>
      </p:sp>
      <p:sp>
        <p:nvSpPr>
          <p:cNvPr id="53" name="Text 51"/>
          <p:cNvSpPr/>
          <p:nvPr/>
        </p:nvSpPr>
        <p:spPr>
          <a:xfrm>
            <a:off x="9656064" y="2103120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decision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9729216" y="2505456"/>
            <a:ext cx="1810512" cy="256032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9729216" y="2505456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decision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9710928" y="2834640"/>
            <a:ext cx="1847088" cy="0"/>
          </a:xfrm>
          <a:prstGeom prst="line">
            <a:avLst/>
          </a:prstGeom>
          <a:noFill/>
          <a:ln w="762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9683496" y="2907792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9683496" y="3108960"/>
            <a:ext cx="19019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made · rationale · alternatives rejected · decided by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9710928" y="4590288"/>
            <a:ext cx="1847088" cy="0"/>
          </a:xfrm>
          <a:prstGeom prst="line">
            <a:avLst/>
          </a:prstGeom>
          <a:noFill/>
          <a:ln w="6350">
            <a:solidFill>
              <a:srgbClr val="1D9E7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9683496" y="4663440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9683496" y="4864608"/>
            <a:ext cx="19019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decisions shape all future work — must survive across sessions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1213</TotalTime>
  <Words>2842</Words>
  <Application>Microsoft Office PowerPoint</Application>
  <PresentationFormat>Widescreen</PresentationFormat>
  <Paragraphs>486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Courier New</vt:lpstr>
      <vt:lpstr>Georgia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Memory &amp; the Dream Skill</dc:title>
  <dc:subject>PptxGenJS Presentation</dc:subject>
  <dc:creator>PptxGenJS</dc:creator>
  <cp:lastModifiedBy>Rawat, Vivek</cp:lastModifiedBy>
  <cp:revision>3</cp:revision>
  <dcterms:created xsi:type="dcterms:W3CDTF">2026-05-19T21:44:27Z</dcterms:created>
  <dcterms:modified xsi:type="dcterms:W3CDTF">2026-05-20T18:06:25Z</dcterms:modified>
</cp:coreProperties>
</file>