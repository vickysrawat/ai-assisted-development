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64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Team Onboarding to an Enterprise-Grade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Governance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PHASE 3, 4 OF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Distributed team  ·  .NET 8 / Angular 17+ / Node.js  ·  Azure DevOps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 Set Out to 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tools alone don't create consistency — they amplify whatever process already exists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279392" cy="166420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79392" cy="45720"/>
          </a:xfrm>
          <a:prstGeom prst="rect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261872"/>
            <a:ext cx="402336" cy="402336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075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AI output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627632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developer prompts differently. Two developers building different layers of the same feature produce incompatible code — not from skill gaps, but from context gaps.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9744" y="1115568"/>
            <a:ext cx="4279392" cy="166420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9744" y="1115568"/>
            <a:ext cx="4279392" cy="45720"/>
          </a:xfrm>
          <a:prstGeom prst="rect">
            <a:avLst/>
          </a:prstGeom>
          <a:solidFill>
            <a:srgbClr val="E08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1261872"/>
            <a:ext cx="402336" cy="402336"/>
          </a:xfrm>
          <a:prstGeom prst="ellipse">
            <a:avLst/>
          </a:prstGeom>
          <a:solidFill>
            <a:srgbClr val="E08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075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spec before coding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68112" y="1627632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 were started from informal descriptions. Silent assumptions accumulated until PR review — the most expensive place to discover them.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7472" y="2944368"/>
            <a:ext cx="4279392" cy="166420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47472" y="2944368"/>
            <a:ext cx="4279392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5488" y="3090672"/>
            <a:ext cx="402336" cy="402336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3639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 on AI output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05840" y="3456432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could generate code outside agreed patterns, add scope not in the brief, or silently skip error handling — with no mechanism to catch it before production.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809744" y="2944368"/>
            <a:ext cx="4279392" cy="166420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09744" y="2944368"/>
            <a:ext cx="4279392" cy="4572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37760" y="3090672"/>
            <a:ext cx="402336" cy="402336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3639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8112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 on AI decisions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68112" y="3456432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audit trail on what the AI generated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traceability from requirement to code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evidence that what shipped matched what was agreed.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Adoption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structured phases — building from individual capability to enterprise governance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60704"/>
            <a:ext cx="2048256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60704"/>
            <a:ext cx="2048256" cy="4572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475488" cy="475488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3" y="133392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2435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5488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enablement / training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212848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2A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" y="22128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5488" y="2578608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AI sessions to introduce Claude Code, agentic design patterns, and spec-driven development to the whole team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" y="3749040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721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fluency in Claude Code across all roles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3776" y="4096512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0690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Shared understanding of AI-assisted delivery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" y="4443984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441655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for spec-first culture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95728" y="2980944"/>
            <a:ext cx="128016" cy="0"/>
          </a:xfrm>
          <a:prstGeom prst="line">
            <a:avLst/>
          </a:prstGeom>
          <a:noFill/>
          <a:ln w="1524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23744" y="1060704"/>
            <a:ext cx="2048256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23744" y="1060704"/>
            <a:ext cx="2048256" cy="4572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633472" y="1243584"/>
            <a:ext cx="475488" cy="475488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815" y="1333927"/>
            <a:ext cx="294803" cy="29480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18688" y="12435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2651760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Workflow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2926080" y="2212848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2A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2926080" y="22128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651760" y="2578608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Introduced ICEA framework (Intent · Context · Examples · Acceptance) as the mandatory gate before any code generation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70048" y="3749040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2816352" y="3721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 template adopted across all features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670048" y="4096512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2816352" y="40690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approval process established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2670048" y="4443984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2816352" y="441655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assumptions eliminated upfront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572000" y="2980944"/>
            <a:ext cx="128016" cy="0"/>
          </a:xfrm>
          <a:prstGeom prst="line">
            <a:avLst/>
          </a:prstGeom>
          <a:noFill/>
          <a:ln w="1524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700016" y="1060704"/>
            <a:ext cx="2048256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700016" y="1060704"/>
            <a:ext cx="2048256" cy="4572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809744" y="1243584"/>
            <a:ext cx="475488" cy="475488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87" y="1333927"/>
            <a:ext cx="294803" cy="29480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394960" y="12435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Text 36"/>
          <p:cNvSpPr/>
          <p:nvPr/>
        </p:nvSpPr>
        <p:spPr>
          <a:xfrm>
            <a:off x="4828032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Constraints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4828032" y="2578608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CLAUDE.md, scoped rules, and multi-layer ICEA gate enforcement so AI follows a predefined path and scope creep is caught automatically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846320" y="3749040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4992624" y="3721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4-layer ICEA enforcement gate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4846320" y="4096512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992624" y="40690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conventions version-controlled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4846320" y="4443984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4992624" y="441655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 review linked to original spec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6748272" y="2980944"/>
            <a:ext cx="128016" cy="0"/>
          </a:xfrm>
          <a:prstGeom prst="line">
            <a:avLst/>
          </a:prstGeom>
          <a:noFill/>
          <a:ln w="1524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6876288" y="1060704"/>
            <a:ext cx="2048256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6876288" y="1060704"/>
            <a:ext cx="2048256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6986016" y="1243584"/>
            <a:ext cx="475488" cy="475488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359" y="1333927"/>
            <a:ext cx="294803" cy="294803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571232" y="12435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Text 51"/>
          <p:cNvSpPr/>
          <p:nvPr/>
        </p:nvSpPr>
        <p:spPr>
          <a:xfrm>
            <a:off x="7004304" y="18105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Plugin</a:t>
            </a:r>
            <a:endParaRPr lang="en-US" sz="1300" dirty="0"/>
          </a:p>
        </p:txBody>
      </p:sp>
      <p:sp>
        <p:nvSpPr>
          <p:cNvPr id="58" name="Shape 52"/>
          <p:cNvSpPr/>
          <p:nvPr/>
        </p:nvSpPr>
        <p:spPr>
          <a:xfrm>
            <a:off x="7278624" y="2212848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7278624" y="22128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7004304" y="2578608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icea-workflow plugin unifying all skills, commands, and rules — installed once, works across every repo on every developer's machine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7022592" y="3749040"/>
            <a:ext cx="91440" cy="9144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/>
          <p:nvPr/>
        </p:nvSpPr>
        <p:spPr>
          <a:xfrm>
            <a:off x="7168896" y="3721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skills + 3 commands + 3 scoped rules</a:t>
            </a:r>
            <a:endParaRPr lang="en-US" sz="950" dirty="0"/>
          </a:p>
        </p:txBody>
      </p:sp>
      <p:sp>
        <p:nvSpPr>
          <p:cNvPr id="63" name="Shape 57"/>
          <p:cNvSpPr/>
          <p:nvPr/>
        </p:nvSpPr>
        <p:spPr>
          <a:xfrm>
            <a:off x="7022592" y="4096512"/>
            <a:ext cx="91440" cy="9144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8"/>
          <p:cNvSpPr/>
          <p:nvPr/>
        </p:nvSpPr>
        <p:spPr>
          <a:xfrm>
            <a:off x="7168896" y="40690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 memory consolidation system</a:t>
            </a:r>
            <a:endParaRPr lang="en-US" sz="950" dirty="0"/>
          </a:p>
        </p:txBody>
      </p:sp>
      <p:sp>
        <p:nvSpPr>
          <p:cNvPr id="67" name="Shape 52">
            <a:extLst>
              <a:ext uri="{FF2B5EF4-FFF2-40B4-BE49-F238E27FC236}">
                <a16:creationId xmlns:a16="http://schemas.microsoft.com/office/drawing/2014/main" id="{DCA9E5BD-4420-74F0-39D2-96AFD1015338}"/>
              </a:ext>
            </a:extLst>
          </p:cNvPr>
          <p:cNvSpPr/>
          <p:nvPr/>
        </p:nvSpPr>
        <p:spPr>
          <a:xfrm>
            <a:off x="5120640" y="2212848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9"/>
          <p:cNvSpPr/>
          <p:nvPr/>
        </p:nvSpPr>
        <p:spPr>
          <a:xfrm>
            <a:off x="7022592" y="4443984"/>
            <a:ext cx="91440" cy="9144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/>
          <p:nvPr/>
        </p:nvSpPr>
        <p:spPr>
          <a:xfrm>
            <a:off x="7168896" y="441655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E6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Consistency · Observability · Governance · Vulnerability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5102352" y="22128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The ICEA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feature starts with an approved specification — no ICEA approved means no code generated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42416"/>
            <a:ext cx="2048256" cy="3072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42416"/>
            <a:ext cx="2048256" cy="4572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15568"/>
            <a:ext cx="2048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47472" y="20116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" y="2395728"/>
            <a:ext cx="17556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before the WHAT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· Affected 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impact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Measurable outcome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23744" y="1042416"/>
            <a:ext cx="2048256" cy="3072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23744" y="1042416"/>
            <a:ext cx="2048256" cy="4572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23744" y="1115568"/>
            <a:ext cx="2048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23744" y="20116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0048" y="2395728"/>
            <a:ext cx="17556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WHO, WHERE, CONDITIONS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Angular route · .NET endpoint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 policy · DB entity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constraints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0016" y="1042416"/>
            <a:ext cx="2048256" cy="3072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1042416"/>
            <a:ext cx="2048256" cy="4572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1115568"/>
            <a:ext cx="2048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B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700016" y="20116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395728"/>
            <a:ext cx="17556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 DON'T TELL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Given / When / Then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Happy path · Edge cases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state · Permission boundary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1042416"/>
            <a:ext cx="2048256" cy="3072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76288" y="1042416"/>
            <a:ext cx="2048256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1115568"/>
            <a:ext cx="2048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876288" y="20116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2395728"/>
            <a:ext cx="17556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DEFINITION OF DONE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 / fail criteria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 maps to an example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vague language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4206240"/>
            <a:ext cx="8449056" cy="658368"/>
          </a:xfrm>
          <a:prstGeom prst="rect">
            <a:avLst/>
          </a:prstGeom>
          <a:solidFill>
            <a:srgbClr val="0C1B2E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4206240"/>
            <a:ext cx="54864" cy="658368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3878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Enforcement Gate: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4" y="433425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1D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4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State Rule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4" y="4471416"/>
            <a:ext cx="128016" cy="0"/>
          </a:xfrm>
          <a:prstGeom prst="line">
            <a:avLst/>
          </a:prstGeom>
          <a:noFill/>
          <a:ln w="1270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14220" y="433425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1D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14220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77260" y="4471416"/>
            <a:ext cx="128016" cy="0"/>
          </a:xfrm>
          <a:prstGeom prst="line">
            <a:avLst/>
          </a:prstGeom>
          <a:noFill/>
          <a:ln w="1270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05276" y="433425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1D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05276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Pre-Push Hook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68316" y="4471416"/>
            <a:ext cx="128016" cy="0"/>
          </a:xfrm>
          <a:prstGeom prst="line">
            <a:avLst/>
          </a:prstGeom>
          <a:noFill/>
          <a:ln w="12700">
            <a:solidFill>
              <a:srgbClr val="6B8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96332" y="433425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1D3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96332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Check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Developer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 trigger automatically — paste your ICEA and the plugin handles the rest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4241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" y="1166774"/>
            <a:ext cx="226771" cy="2267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155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described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52928" y="113385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852928" y="11338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icea-feature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70832" y="111556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 drafted → gaps flagged → APPROVED by developer and PM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517904"/>
            <a:ext cx="0" cy="73152"/>
          </a:xfrm>
          <a:prstGeom prst="line">
            <a:avLst/>
          </a:prstGeom>
          <a:noFill/>
          <a:ln w="15240">
            <a:solidFill>
              <a:srgbClr val="7B5EA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7472" y="159105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1645920"/>
            <a:ext cx="365760" cy="36576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" y="1715414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16642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broken down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852928" y="168249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852928" y="16824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ado-tasks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70832" y="166420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Per-layer ADO tasks created with estimates — Definition of Ready enforced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5800" y="2066544"/>
            <a:ext cx="0" cy="73152"/>
          </a:xfrm>
          <a:prstGeom prst="line">
            <a:avLst/>
          </a:prstGeom>
          <a:noFill/>
          <a:ln w="15240">
            <a:solidFill>
              <a:srgbClr val="2B507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47472" y="213969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2920" y="2194560"/>
            <a:ext cx="365760" cy="36576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" y="2264054"/>
            <a:ext cx="226771" cy="22677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22128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852928" y="223113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852928" y="223113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 builds)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370832" y="221284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rules enforce .NET · Angular · Node.js conventions on every file touched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85800" y="2615184"/>
            <a:ext cx="0" cy="73152"/>
          </a:xfrm>
          <a:prstGeom prst="line">
            <a:avLst/>
          </a:prstGeom>
          <a:noFill/>
          <a:ln w="15240">
            <a:solidFill>
              <a:srgbClr val="2B507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347472" y="268833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4" y="2812694"/>
            <a:ext cx="226771" cy="22677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27614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2852928" y="277977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2852928" y="27797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icea-review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70832" y="276148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7-check pass/fail report — scope creep, ACs, scenarios, security spot check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85800" y="3163824"/>
            <a:ext cx="0" cy="73152"/>
          </a:xfrm>
          <a:prstGeom prst="line">
            <a:avLst/>
          </a:prstGeom>
          <a:noFill/>
          <a:ln w="15240">
            <a:solidFill>
              <a:srgbClr val="1A8C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47472" y="323697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02920" y="3291840"/>
            <a:ext cx="365760" cy="36576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14" y="3361334"/>
            <a:ext cx="226771" cy="22677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005840" y="33101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raised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2852928" y="332841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2852928" y="33284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pr-describe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4370832" y="331012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 diff → full ADO PR description with AC compliance checklist — then pr-create submits to ADO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85800" y="3712464"/>
            <a:ext cx="0" cy="73152"/>
          </a:xfrm>
          <a:prstGeom prst="line">
            <a:avLst/>
          </a:prstGeom>
          <a:noFill/>
          <a:ln w="15240">
            <a:solidFill>
              <a:srgbClr val="C99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47472" y="378561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502920" y="3840480"/>
            <a:ext cx="365760" cy="36576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414" y="3909974"/>
            <a:ext cx="226771" cy="226771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05840" y="385876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reviewed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2852928" y="387705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2852928" y="387705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pr-spec-review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4370832" y="385876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compliance + Traceability Matrix + merge verdict (READY / CAUTION / BLOCK)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85800" y="4261104"/>
            <a:ext cx="0" cy="73152"/>
          </a:xfrm>
          <a:prstGeom prst="line">
            <a:avLst/>
          </a:prstGeom>
          <a:noFill/>
          <a:ln w="15240">
            <a:solidFill>
              <a:srgbClr val="2B507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347472" y="4334256"/>
            <a:ext cx="844905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502920" y="4389120"/>
            <a:ext cx="365760" cy="36576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414" y="4458614"/>
            <a:ext cx="226771" cy="226771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005840" y="4407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2852928" y="4425696"/>
            <a:ext cx="1389888" cy="274320"/>
          </a:xfrm>
          <a:prstGeom prst="roundRect">
            <a:avLst>
              <a:gd name="adj" fmla="val 13333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/>
          <p:nvPr/>
        </p:nvSpPr>
        <p:spPr>
          <a:xfrm>
            <a:off x="2852928" y="442569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4370832" y="440740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knowledge consolidated · CLAUDE.md stays within 80–120 line budget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Guardrails &amp; Constraints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follows a predefined path — conventions are in the system, not in someone's head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42416"/>
            <a:ext cx="4206240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Committed to Git · Loaded automatically · Every session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" y="1865376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8 · Angular 17+ · Node.js conventions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2212848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 Gate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176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feature code without approved ICEA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2560320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Rules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2523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Always do / Never do — explicit guardrails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907792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72768" y="2871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order · file paths · namespaces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3255264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72768" y="3218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Pass/fail checklist against ICEA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602736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Conventions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 names · commit format · PR titles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" y="4100421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06384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Protocol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4063845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 ICEA GAP flag before any code is written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" y="4447893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41131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Bounds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72768" y="4411317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AI must never do without explicit ask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1042416"/>
            <a:ext cx="4041648" cy="3858768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56048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Rules — Zero Context 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56048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Rules load only for the matching file type — invisible otherwise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56048" y="1883664"/>
            <a:ext cx="45720" cy="804672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02352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dotnet-rules.md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50608" y="1901952"/>
            <a:ext cx="1536192" cy="201168"/>
          </a:xfrm>
          <a:prstGeom prst="roundRect">
            <a:avLst>
              <a:gd name="adj" fmla="val 18182"/>
            </a:avLst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50608" y="19019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**/*.cs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20640" y="2212848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66944" y="218541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 Architecture · Controller → Service → Repository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2377440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66944" y="235000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ProblemDetails errors · Azure AD auth from token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20640" y="2542032"/>
            <a:ext cx="91440" cy="91440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66944" y="2514600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xUnit structured test naming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56048" y="2889504"/>
            <a:ext cx="45720" cy="804672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02352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angular-rules.md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50608" y="2907792"/>
            <a:ext cx="1536192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50608" y="29077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**/*.ts, **/*.html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218688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66944" y="319125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Standalone OnPush · async pipe only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20640" y="3383280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66944" y="335584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Reactive forms · loading/error/empty states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20640" y="3547872"/>
            <a:ext cx="91440" cy="91440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266944" y="3520440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WCAG 2.1 AA accessibility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56048" y="3895344"/>
            <a:ext cx="45720" cy="804672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102352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nodejs-rules.md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50608" y="3913632"/>
            <a:ext cx="1536192" cy="201168"/>
          </a:xfrm>
          <a:prstGeom prst="roundRect">
            <a:avLst>
              <a:gd name="adj" fmla="val 18182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50608" y="391363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**/services/**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120640" y="4224528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66944" y="419709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Zod validation · AppError pattern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120640" y="4389120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266944" y="436168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Winston logging · no PII in logs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120640" y="4553712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266944" y="4526280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Jest · all 5 ICEA scenarios tested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9283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The icea-workflow Plugin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519907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install · every repo · every developer · identical AI behaviour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86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67379"/>
            <a:ext cx="45720" cy="7600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3336"/>
            <a:ext cx="438912" cy="43891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05" y="1127072"/>
            <a:ext cx="272125" cy="272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7552" y="94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7552" y="94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20240" y="93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7552" y="127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6-phase memory consolidation — reads Claude Code sessions, proposes every change with justification, waits for tiered approval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9744" y="86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09744" y="867379"/>
            <a:ext cx="45720" cy="76000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01184" y="1053336"/>
            <a:ext cx="438912" cy="438912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577" y="1127072"/>
            <a:ext cx="272125" cy="2721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49824" y="94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49824" y="94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82512" y="93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 health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49824" y="127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Generates memory/health.html — self-contained dashboard with confidence scores, decay curve, and clickable audit trail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47472" y="168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47472" y="1687379"/>
            <a:ext cx="45720" cy="76000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38912" y="1873336"/>
            <a:ext cx="438912" cy="438912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5" y="1947072"/>
            <a:ext cx="272125" cy="27212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87552" y="176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987552" y="176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920240" y="175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/dream-init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87552" y="209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One-time per-project setup — creates memory/, copies rules, offers CLAUDE.md from template. Never overwrites existing files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09744" y="168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809744" y="1687379"/>
            <a:ext cx="45720" cy="76000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901184" y="1873336"/>
            <a:ext cx="438912" cy="438912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4577" y="1947072"/>
            <a:ext cx="272125" cy="27212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449824" y="176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449824" y="176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382512" y="175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icea-feature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49824" y="209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Intercepts any feature request — drafts full ICEA, flags gaps, blocks code generation until APPROVED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47472" y="250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347472" y="2507379"/>
            <a:ext cx="45720" cy="76000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38912" y="2693336"/>
            <a:ext cx="438912" cy="438912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305" y="2767072"/>
            <a:ext cx="272125" cy="272125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987552" y="258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987552" y="258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920240" y="257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icea-review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87552" y="291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7-check compliance report — every finding Pass/Warning/Critical with file:line reference + scope creep detection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4809744" y="250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4809744" y="2507379"/>
            <a:ext cx="45720" cy="7600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4901184" y="2693336"/>
            <a:ext cx="438912" cy="43891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4577" y="2767072"/>
            <a:ext cx="272125" cy="272125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449824" y="258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5449824" y="258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6382512" y="257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ado-tasks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5449824" y="291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 → per-layer ADO task breakdown with effort estimates. Definition of Ready checklist included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347472" y="332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347472" y="3327379"/>
            <a:ext cx="45720" cy="76000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438912" y="3513336"/>
            <a:ext cx="438912" cy="438912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305" y="3587072"/>
            <a:ext cx="272125" cy="272125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987552" y="340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/>
          <p:nvPr/>
        </p:nvSpPr>
        <p:spPr>
          <a:xfrm>
            <a:off x="987552" y="340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58" name="Text 49"/>
          <p:cNvSpPr/>
          <p:nvPr/>
        </p:nvSpPr>
        <p:spPr>
          <a:xfrm>
            <a:off x="1920240" y="339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pr-describe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987552" y="373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 diff → ADO PR description. Maps every changed file to an AC, detects scope creep automatically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4809744" y="332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2"/>
          <p:cNvSpPr/>
          <p:nvPr/>
        </p:nvSpPr>
        <p:spPr>
          <a:xfrm>
            <a:off x="4809744" y="3327379"/>
            <a:ext cx="45720" cy="76000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3"/>
          <p:cNvSpPr/>
          <p:nvPr/>
        </p:nvSpPr>
        <p:spPr>
          <a:xfrm>
            <a:off x="4901184" y="3513336"/>
            <a:ext cx="438912" cy="438912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577" y="3587072"/>
            <a:ext cx="272125" cy="272125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5449824" y="340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5"/>
          <p:cNvSpPr/>
          <p:nvPr/>
        </p:nvSpPr>
        <p:spPr>
          <a:xfrm>
            <a:off x="5449824" y="340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6382512" y="339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pr-spec-review</a:t>
            </a:r>
            <a:endParaRPr lang="en-US" sz="1200" dirty="0"/>
          </a:p>
        </p:txBody>
      </p:sp>
      <p:sp>
        <p:nvSpPr>
          <p:cNvPr id="67" name="Text 57"/>
          <p:cNvSpPr/>
          <p:nvPr/>
        </p:nvSpPr>
        <p:spPr>
          <a:xfrm>
            <a:off x="5449824" y="3731634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 vs spec — Spec Compliance, Code Review, Traceability Matrix, Gaps &amp; Risks + merge verdict</a:t>
            </a:r>
            <a:endParaRPr lang="en-US" sz="1000" dirty="0"/>
          </a:p>
        </p:txBody>
      </p:sp>
      <p:sp>
        <p:nvSpPr>
          <p:cNvPr id="70" name="Shape pr-create-card"/>
          <p:cNvSpPr/>
          <p:nvPr/>
        </p:nvSpPr>
        <p:spPr>
          <a:xfrm>
            <a:off x="347472" y="414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pr-create-bar"/>
          <p:cNvSpPr/>
          <p:nvPr/>
        </p:nvSpPr>
        <p:spPr>
          <a:xfrm>
            <a:off x="347472" y="4147379"/>
            <a:ext cx="45720" cy="76000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pr-create-circle"/>
          <p:cNvSpPr/>
          <p:nvPr/>
        </p:nvSpPr>
        <p:spPr>
          <a:xfrm>
            <a:off x="438912" y="4333336"/>
            <a:ext cx="438912" cy="438912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pr-create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305" y="4407072"/>
            <a:ext cx="272125" cy="272125"/>
          </a:xfrm>
          <a:prstGeom prst="rect">
            <a:avLst/>
          </a:prstGeom>
        </p:spPr>
      </p:pic>
      <p:sp>
        <p:nvSpPr>
          <p:cNvPr id="74" name="Shape pr-create-badge"/>
          <p:cNvSpPr/>
          <p:nvPr/>
        </p:nvSpPr>
        <p:spPr>
          <a:xfrm>
            <a:off x="987552" y="422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pr-create-badge-label"/>
          <p:cNvSpPr/>
          <p:nvPr/>
        </p:nvSpPr>
        <p:spPr>
          <a:xfrm>
            <a:off x="987552" y="422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76" name="Text pr-create-name"/>
          <p:cNvSpPr/>
          <p:nvPr/>
        </p:nvSpPr>
        <p:spPr>
          <a:xfrm>
            <a:off x="1920240" y="421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pr-create</a:t>
            </a:r>
            <a:endParaRPr lang="en-US" sz="1200" dirty="0"/>
          </a:p>
        </p:txBody>
      </p:sp>
      <p:sp>
        <p:nvSpPr>
          <p:cNvPr id="77" name="Text pr-create-desc"/>
          <p:cNvSpPr/>
          <p:nvPr/>
        </p:nvSpPr>
        <p:spPr>
          <a:xfrm>
            <a:off x="987552" y="4440601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 REST API — submits PR from Claude Code. Reads pr-describe output, resolves repo from git remote, requires explicit confirmation before creating</a:t>
            </a:r>
            <a:endParaRPr lang="en-US" sz="1000" dirty="0"/>
          </a:p>
        </p:txBody>
      </p:sp>
      <p:sp>
        <p:nvSpPr>
          <p:cNvPr id="80" name="Shape claude-security-card"/>
          <p:cNvSpPr/>
          <p:nvPr/>
        </p:nvSpPr>
        <p:spPr>
          <a:xfrm>
            <a:off x="4809744" y="4147379"/>
            <a:ext cx="4279392" cy="76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claude-security-bar"/>
          <p:cNvSpPr/>
          <p:nvPr/>
        </p:nvSpPr>
        <p:spPr>
          <a:xfrm>
            <a:off x="4809744" y="4147379"/>
            <a:ext cx="45720" cy="76000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claude-security-circle"/>
          <p:cNvSpPr/>
          <p:nvPr/>
        </p:nvSpPr>
        <p:spPr>
          <a:xfrm>
            <a:off x="4901184" y="4333336"/>
            <a:ext cx="438912" cy="438912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3" name="Image claude-security-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577" y="4407072"/>
            <a:ext cx="272125" cy="272125"/>
          </a:xfrm>
          <a:prstGeom prst="rect">
            <a:avLst/>
          </a:prstGeom>
        </p:spPr>
      </p:pic>
      <p:sp>
        <p:nvSpPr>
          <p:cNvPr id="84" name="Shape claude-security-badge"/>
          <p:cNvSpPr/>
          <p:nvPr/>
        </p:nvSpPr>
        <p:spPr>
          <a:xfrm>
            <a:off x="5449824" y="4228230"/>
            <a:ext cx="859536" cy="201168"/>
          </a:xfrm>
          <a:prstGeom prst="roundRect">
            <a:avLst>
              <a:gd name="adj" fmla="val 18182"/>
            </a:avLst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claude-security-badge-label"/>
          <p:cNvSpPr/>
          <p:nvPr/>
        </p:nvSpPr>
        <p:spPr>
          <a:xfrm>
            <a:off x="5449824" y="422823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86" name="Text claude-security-name"/>
          <p:cNvSpPr/>
          <p:nvPr/>
        </p:nvSpPr>
        <p:spPr>
          <a:xfrm>
            <a:off x="6382512" y="4212059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claude-security</a:t>
            </a:r>
            <a:endParaRPr lang="en-US" sz="1200" dirty="0"/>
          </a:p>
        </p:txBody>
      </p:sp>
      <p:sp>
        <p:nvSpPr>
          <p:cNvPr id="87" name="Text claude-security-desc"/>
          <p:cNvSpPr/>
          <p:nvPr/>
        </p:nvSpPr>
        <p:spPr>
          <a:xfrm>
            <a:off x="5449824" y="4446363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50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SAST, cloud/infra posture, threat modeling, incident response, SOC2/ISO 27001/HIPAA/PCI-DSS compliance — and weekly security health summaries for managers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for the Organisation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585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process and plugin delivers on four enterprise imperatives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4197096" cy="1993392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45720" cy="1993392"/>
          </a:xfrm>
          <a:prstGeom prst="rect">
            <a:avLst/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02336" cy="402336"/>
          </a:xfrm>
          <a:prstGeom prst="ellipse">
            <a:avLst/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44" y="1100572"/>
            <a:ext cx="249448" cy="249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7552" y="1060704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7552" y="106070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7552" y="1353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AI behaviour — every developer, every timezone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3776" y="1828800"/>
            <a:ext cx="91440" cy="91440"/>
          </a:xfrm>
          <a:prstGeom prst="ellipse">
            <a:avLst/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80136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CLAUDE.md + scoped rules eliminate prompt drift — the AI gives the same answer regardless of who asks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" y="2194560"/>
            <a:ext cx="91440" cy="91440"/>
          </a:xfrm>
          <a:prstGeom prst="ellipse">
            <a:avLst/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216712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 gate resolves silent assumptions before code is written — the root cause of most rework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3776" y="2560320"/>
            <a:ext cx="91440" cy="91440"/>
          </a:xfrm>
          <a:prstGeom prst="ellipse">
            <a:avLst/>
          </a:prstGeom>
          <a:solidFill>
            <a:srgbClr val="2ECC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53288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joiners and offshore members productive from day one — conventions live in the system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36008" y="932688"/>
            <a:ext cx="4197096" cy="1993392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36008" y="932688"/>
            <a:ext cx="45720" cy="19933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45736" y="102412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180" y="1100572"/>
            <a:ext cx="249448" cy="24944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276088" y="1060704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276088" y="106070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76088" y="1353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chain from agreed spec to shipped code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82312" y="18288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928616" y="180136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ICEA versioned in Git — permanent record of what was agreed before coding, auditable by anyone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782312" y="21945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928616" y="216712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Traceability Matrix maps each requirement to the exact file and line — evidence, not trust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82312" y="25603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928616" y="2532888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dream-log.md is an append-only audit trail of all AI memory changes with confidence scores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47472" y="3017520"/>
            <a:ext cx="4197096" cy="1993392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347472" y="3017520"/>
            <a:ext cx="45720" cy="1993392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57200" y="3108960"/>
            <a:ext cx="402336" cy="402336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44" y="3185404"/>
            <a:ext cx="249448" cy="24944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987552" y="3145536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987552" y="314553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THINKING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987552" y="34381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encodes institutional knowledge and forces intent-first design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93776" y="3913632"/>
            <a:ext cx="91440" cy="9144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40080" y="388620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 requires articulating business problem and measurable outcome — strategic thinking is the gate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93776" y="4279392"/>
            <a:ext cx="91440" cy="9144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40080" y="425196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 memory promotes architectural decisions and corrected patterns into persistent context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93776" y="4645152"/>
            <a:ext cx="91440" cy="9144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640080" y="461772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Per-layer task estimates give planning the specificity normally available only to seniors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4636008" y="3017520"/>
            <a:ext cx="4197096" cy="1993392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4636008" y="3017520"/>
            <a:ext cx="45720" cy="1993392"/>
          </a:xfrm>
          <a:prstGeom prst="rect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4745736" y="3108960"/>
            <a:ext cx="402336" cy="402336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180" y="3185404"/>
            <a:ext cx="249448" cy="249448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5276088" y="3145536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5276088" y="314553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5276088" y="34381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controls — not a policy document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4782312" y="3913632"/>
            <a:ext cx="91440" cy="91440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4928616" y="388620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4-layer ICEA gate means bypassing requires four deliberate actions, each leaving an audit trace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4782312" y="4279392"/>
            <a:ext cx="91440" cy="91440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4928616" y="425196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rules version-controlled in Git — governance changes deployed like code, reviewed in PRs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4782312" y="4645152"/>
            <a:ext cx="91440" cy="91440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4928616" y="4617720"/>
            <a:ext cx="3776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Dream's tiered approval ensures AI never makes consequential memory decisions unilaterally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Qualitative and measurable outcomes across the delivery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816352" cy="4572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280160"/>
            <a:ext cx="438912" cy="43891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05" y="136355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252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0584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" y="19568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joiners and offshore team members productive from day one — conventions enforced by the system, not tribal knowledge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1078992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078992"/>
            <a:ext cx="2816352" cy="4572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1280160"/>
            <a:ext cx="438912" cy="438912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673" y="136355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2252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950208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 Workshop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38144" y="19568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Prevents hours of rework. Time to resolve a silent assumption in PR review: days. Time to prevent it with ICEA: 30 minutes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36208" y="1078992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36208" y="1078992"/>
            <a:ext cx="2816352" cy="45720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327648" y="1280160"/>
            <a:ext cx="438912" cy="438912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041" y="1363553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94576" y="12252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B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894576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 Gate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82512" y="19568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 state rule · Claude Code gate · git pre-push hook · pipeline check. Bypassing requires four deliberate actions, each audited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47472" y="2926080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47472" y="2926080"/>
            <a:ext cx="2816352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38912" y="3127248"/>
            <a:ext cx="438912" cy="438912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305" y="3210641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5840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100584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" y="3803904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requirement traced to the exact file and line that implements it — 'did we build what we agreed?' answered with evidence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91840" y="2926080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291840" y="2926080"/>
            <a:ext cx="2816352" cy="45720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3383280" y="3127248"/>
            <a:ext cx="438912" cy="438912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673" y="3210641"/>
            <a:ext cx="272125" cy="2721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50208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120</a:t>
            </a:r>
            <a:endParaRPr lang="en-US" sz="2800" dirty="0"/>
          </a:p>
        </p:txBody>
      </p:sp>
      <p:sp>
        <p:nvSpPr>
          <p:cNvPr id="37" name="Text 30"/>
          <p:cNvSpPr/>
          <p:nvPr/>
        </p:nvSpPr>
        <p:spPr>
          <a:xfrm>
            <a:off x="3950208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Lines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438144" y="3803904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 enforces the 80–120 line budget, pruning noise and promoting signal so context quality stays high over months of development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236208" y="2926080"/>
            <a:ext cx="2816352" cy="16824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236208" y="2926080"/>
            <a:ext cx="2816352" cy="45720"/>
          </a:xfrm>
          <a:prstGeom prst="rect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327648" y="3127248"/>
            <a:ext cx="438912" cy="438912"/>
          </a:xfrm>
          <a:prstGeom prst="ellipse">
            <a:avLst/>
          </a:prstGeom>
          <a:solidFill>
            <a:srgbClr val="E05A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041" y="3210641"/>
            <a:ext cx="272125" cy="27212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894576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44" name="Text 36"/>
          <p:cNvSpPr/>
          <p:nvPr/>
        </p:nvSpPr>
        <p:spPr>
          <a:xfrm>
            <a:off x="6894576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Scope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382512" y="3803904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icea-review flags any code not traceable to an AC as scope creep — a critical blocker before merge, not a discovery in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403559" y="27432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403559" y="694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after plugin launch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93831" y="1078992"/>
            <a:ext cx="4992624" cy="7680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93831" y="1078992"/>
            <a:ext cx="45720" cy="7680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21847" y="1261872"/>
            <a:ext cx="402336" cy="402336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1847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33911" y="118872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33911" y="148132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icea-workflow plugin pushed to git repository — one git clone away for every developer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93831" y="2011680"/>
            <a:ext cx="4992624" cy="7680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93831" y="2011680"/>
            <a:ext cx="45720" cy="768096"/>
          </a:xfrm>
          <a:prstGeom prst="rect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1847" y="2194560"/>
            <a:ext cx="402336" cy="402336"/>
          </a:xfrm>
          <a:prstGeom prst="ellipse">
            <a:avLst/>
          </a:prstGeom>
          <a:solidFill>
            <a:srgbClr val="1A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21847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33911" y="2121408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rollout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33911" y="241401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developers run install.sh + /dream-init per project. Estimated rollout: one sprint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93831" y="2944368"/>
            <a:ext cx="4992624" cy="7680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93831" y="2944368"/>
            <a:ext cx="45720" cy="768096"/>
          </a:xfrm>
          <a:prstGeom prst="rect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21847" y="3127248"/>
            <a:ext cx="402336" cy="402336"/>
          </a:xfrm>
          <a:prstGeom prst="ellipse">
            <a:avLst/>
          </a:prstGeom>
          <a:solidFill>
            <a:srgbClr val="2B50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21847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33911" y="3054096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33911" y="334670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first sprint with full plugin active: measure ICEA compliance rate, PR rejection rate, and rework hours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93831" y="3877056"/>
            <a:ext cx="4992624" cy="768096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93831" y="3877056"/>
            <a:ext cx="45720" cy="768096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21847" y="4059936"/>
            <a:ext cx="402336" cy="402336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21847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33911" y="398678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reporting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33911" y="4279392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2D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Dream-log and Traceability Matrix outputs available for compliance and audit reporting on demand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" y="4724829"/>
            <a:ext cx="8449056" cy="329184"/>
          </a:xfrm>
          <a:prstGeom prst="rect">
            <a:avLst/>
          </a:prstGeom>
          <a:solidFill>
            <a:srgbClr val="152638"/>
          </a:solidFill>
          <a:ln w="6350">
            <a:solidFill>
              <a:srgbClr val="1D3A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476140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B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are not asking developers to use AI responsibly — we are building a system where responsible use is the path of least resistance."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1591</Words>
  <Application>Microsoft Office PowerPoint</Application>
  <PresentationFormat>On-screen Show (16:9)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Development — Executive Briefing</dc:title>
  <dc:subject>PptxGenJS Presentation</dc:subject>
  <dc:creator>PptxGenJS</dc:creator>
  <cp:lastModifiedBy>Rawat, Vivek</cp:lastModifiedBy>
  <cp:revision>4</cp:revision>
  <dcterms:created xsi:type="dcterms:W3CDTF">2026-05-27T22:28:12Z</dcterms:created>
  <dcterms:modified xsi:type="dcterms:W3CDTF">2026-05-29T13:47:38Z</dcterms:modified>
</cp:coreProperties>
</file>